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Inter Light"/>
      <p:regular r:id="rId30"/>
      <p:bold r:id="rId31"/>
      <p:italic r:id="rId32"/>
      <p:boldItalic r:id="rId33"/>
    </p:embeddedFont>
    <p:embeddedFont>
      <p:font typeface="Rubik Light"/>
      <p:regular r:id="rId34"/>
      <p:bold r:id="rId35"/>
      <p:italic r:id="rId36"/>
      <p:boldItalic r:id="rId37"/>
    </p:embeddedFont>
    <p:embeddedFont>
      <p:font typeface="Inter"/>
      <p:regular r:id="rId38"/>
      <p:bold r:id="rId39"/>
      <p:italic r:id="rId40"/>
      <p:boldItalic r:id="rId41"/>
    </p:embeddedFont>
    <p:embeddedFont>
      <p:font typeface="Outfit"/>
      <p:regular r:id="rId42"/>
      <p:bold r:id="rId43"/>
    </p:embeddedFont>
    <p:embeddedFont>
      <p:font typeface="Poppins Medium"/>
      <p:regular r:id="rId44"/>
      <p:bold r:id="rId45"/>
      <p:italic r:id="rId46"/>
      <p:boldItalic r:id="rId47"/>
    </p:embeddedFont>
    <p:embeddedFont>
      <p:font typeface="Rubik"/>
      <p:regular r:id="rId48"/>
      <p:bold r:id="rId49"/>
      <p:italic r:id="rId50"/>
      <p:boldItalic r:id="rId51"/>
    </p:embeddedFont>
    <p:embeddedFont>
      <p:font typeface="Inter Black"/>
      <p:bold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08">
          <p15:clr>
            <a:srgbClr val="747775"/>
          </p15:clr>
        </p15:guide>
        <p15:guide id="2" orient="horz" pos="794">
          <p15:clr>
            <a:srgbClr val="747775"/>
          </p15:clr>
        </p15:guide>
        <p15:guide id="3" orient="horz" pos="2211">
          <p15:clr>
            <a:srgbClr val="747775"/>
          </p15:clr>
        </p15:guide>
      </p15:sldGuideLst>
    </p:ext>
    <p:ext uri="GoogleSlidesCustomDataVersion2">
      <go:slidesCustomData xmlns:go="http://customooxmlschemas.google.com/" r:id="rId54" roundtripDataSignature="AMtx7mgUSluq9m7R1gBWJ5REzJSjsmh+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D6B978-897D-4546-A38B-196AFFB3DE68}">
  <a:tblStyle styleId="{FFD6B978-897D-4546-A38B-196AFFB3DE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8"/>
        <p:guide pos="794" orient="horz"/>
        <p:guide pos="221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italic.fntdata"/><Relationship Id="rId42" Type="http://schemas.openxmlformats.org/officeDocument/2006/relationships/font" Target="fonts/Outfit-regular.fntdata"/><Relationship Id="rId41" Type="http://schemas.openxmlformats.org/officeDocument/2006/relationships/font" Target="fonts/Inter-boldItalic.fntdata"/><Relationship Id="rId44" Type="http://schemas.openxmlformats.org/officeDocument/2006/relationships/font" Target="fonts/PoppinsMedium-regular.fntdata"/><Relationship Id="rId43" Type="http://schemas.openxmlformats.org/officeDocument/2006/relationships/font" Target="fonts/Outfit-bold.fntdata"/><Relationship Id="rId46" Type="http://schemas.openxmlformats.org/officeDocument/2006/relationships/font" Target="fonts/PoppinsMedium-italic.fntdata"/><Relationship Id="rId45" Type="http://schemas.openxmlformats.org/officeDocument/2006/relationships/font" Target="fonts/Poppi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ubik-regular.fntdata"/><Relationship Id="rId47" Type="http://schemas.openxmlformats.org/officeDocument/2006/relationships/font" Target="fonts/PoppinsMedium-boldItalic.fntdata"/><Relationship Id="rId49" Type="http://schemas.openxmlformats.org/officeDocument/2006/relationships/font" Target="fonts/Rubi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Light-bold.fntdata"/><Relationship Id="rId30" Type="http://schemas.openxmlformats.org/officeDocument/2006/relationships/font" Target="fonts/InterLight-regular.fntdata"/><Relationship Id="rId33" Type="http://schemas.openxmlformats.org/officeDocument/2006/relationships/font" Target="fonts/InterLight-boldItalic.fntdata"/><Relationship Id="rId32" Type="http://schemas.openxmlformats.org/officeDocument/2006/relationships/font" Target="fonts/InterLight-italic.fntdata"/><Relationship Id="rId35" Type="http://schemas.openxmlformats.org/officeDocument/2006/relationships/font" Target="fonts/RubikLight-bold.fntdata"/><Relationship Id="rId34" Type="http://schemas.openxmlformats.org/officeDocument/2006/relationships/font" Target="fonts/RubikLight-regular.fntdata"/><Relationship Id="rId37" Type="http://schemas.openxmlformats.org/officeDocument/2006/relationships/font" Target="fonts/RubikLight-boldItalic.fntdata"/><Relationship Id="rId36" Type="http://schemas.openxmlformats.org/officeDocument/2006/relationships/font" Target="fonts/RubikLight-italic.fntdata"/><Relationship Id="rId39" Type="http://schemas.openxmlformats.org/officeDocument/2006/relationships/font" Target="fonts/Inter-bold.fntdata"/><Relationship Id="rId38" Type="http://schemas.openxmlformats.org/officeDocument/2006/relationships/font" Target="fonts/Inter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ubik-boldItalic.fntdata"/><Relationship Id="rId50" Type="http://schemas.openxmlformats.org/officeDocument/2006/relationships/font" Target="fonts/Rubik-italic.fntdata"/><Relationship Id="rId53" Type="http://schemas.openxmlformats.org/officeDocument/2006/relationships/font" Target="fonts/InterBlack-boldItalic.fntdata"/><Relationship Id="rId52" Type="http://schemas.openxmlformats.org/officeDocument/2006/relationships/font" Target="fonts/InterBlack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1e4e9d6f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21e4e9d6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1e4e9d6f5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21e4e9d6f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bfffdac8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4bfffdac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30af5585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b30af558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1990b1ac9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81990b1ac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b925e03a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4b925e03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5706e36aa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b5706e36a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1e4e9d6f5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21e4e9d6f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1990b1ac9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81990b1ac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93a63ee67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b93a63ee6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5af48fd3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25af48fd3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-TR"/>
              <a:t>kasım ayındaki düşüş sebebi. birde 2024vs 2025 0.3 teyit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3be2500b3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a3be2500b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927160d8b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b927160d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5706e36aa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b5706e36a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tr-T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 slayttaki görsel, bizim seçtiğimiz parfüm odaklı anahtar kelimeler doğrultusunda oluşturulmuştur. Bu kelimeler aylık toplam 485K tıklama hacmine sahip. Pazarda hangi sitelerin daha görünür olduğunu görebilirsiniz.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5706e36aa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b5706e36a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tr-T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 slayttaki görsel, bizim seçtiğimiz parfüm odaklı anahtar kelimeler doğrultusunda oluşturulmuştur. Bu kelimeler aylık toplam 485K tıklama hacmine sahip. Pazarda hangi sitelerin daha görünür olduğunu görebilirsiniz.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21e4e9d6f5_0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21e4e9d6f5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37164b077c_0_1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37164b077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5706e36aa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b5706e36a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21e7bec024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21e7bec02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21e7bec024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21e7bec02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5706e36aa_0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b5706e36aa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-TR"/>
              <a:t>önemli kelimelerde sayfa iyileştirmesi geliştirmesi yapılabilir mi incelenmesi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13" name="Google Shape;1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12100"/>
            <a:ext cx="830810" cy="36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-Content">
  <p:cSld name="Title and 2-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8"/>
          <p:cNvSpPr txBox="1"/>
          <p:nvPr>
            <p:ph type="title"/>
          </p:nvPr>
        </p:nvSpPr>
        <p:spPr>
          <a:xfrm>
            <a:off x="213064" y="87923"/>
            <a:ext cx="871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53" name="Google Shape;53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9580" y="4746727"/>
            <a:ext cx="822880" cy="39677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8"/>
          <p:cNvSpPr txBox="1"/>
          <p:nvPr>
            <p:ph idx="12" type="sldNum"/>
          </p:nvPr>
        </p:nvSpPr>
        <p:spPr>
          <a:xfrm>
            <a:off x="6457950" y="4809079"/>
            <a:ext cx="184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55" name="Google Shape;55;p48"/>
          <p:cNvSpPr txBox="1"/>
          <p:nvPr>
            <p:ph idx="1" type="body"/>
          </p:nvPr>
        </p:nvSpPr>
        <p:spPr>
          <a:xfrm>
            <a:off x="1021861" y="4820121"/>
            <a:ext cx="336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800"/>
              <a:buNone/>
              <a:defRPr sz="8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48"/>
          <p:cNvSpPr/>
          <p:nvPr>
            <p:ph idx="2" type="pic"/>
          </p:nvPr>
        </p:nvSpPr>
        <p:spPr>
          <a:xfrm>
            <a:off x="78581" y="4819650"/>
            <a:ext cx="872700" cy="273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7" name="Google Shape;57;p48"/>
          <p:cNvCxnSpPr/>
          <p:nvPr/>
        </p:nvCxnSpPr>
        <p:spPr>
          <a:xfrm>
            <a:off x="213064" y="697677"/>
            <a:ext cx="87177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" name="Google Shape;58;p48"/>
          <p:cNvSpPr txBox="1"/>
          <p:nvPr>
            <p:ph idx="3" type="body"/>
          </p:nvPr>
        </p:nvSpPr>
        <p:spPr>
          <a:xfrm>
            <a:off x="213064" y="895404"/>
            <a:ext cx="4172400" cy="36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48"/>
          <p:cNvSpPr txBox="1"/>
          <p:nvPr>
            <p:ph idx="4" type="body"/>
          </p:nvPr>
        </p:nvSpPr>
        <p:spPr>
          <a:xfrm>
            <a:off x="4773529" y="900867"/>
            <a:ext cx="41574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9"/>
          <p:cNvSpPr txBox="1"/>
          <p:nvPr>
            <p:ph type="title"/>
          </p:nvPr>
        </p:nvSpPr>
        <p:spPr>
          <a:xfrm>
            <a:off x="213064" y="87923"/>
            <a:ext cx="871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9pPr>
          </a:lstStyle>
          <a:p/>
        </p:txBody>
      </p:sp>
      <p:sp>
        <p:nvSpPr>
          <p:cNvPr id="62" name="Google Shape;62;p49"/>
          <p:cNvSpPr txBox="1"/>
          <p:nvPr>
            <p:ph idx="1" type="body"/>
          </p:nvPr>
        </p:nvSpPr>
        <p:spPr>
          <a:xfrm>
            <a:off x="213064" y="861432"/>
            <a:ext cx="8717700" cy="3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12" type="sldNum"/>
          </p:nvPr>
        </p:nvSpPr>
        <p:spPr>
          <a:xfrm>
            <a:off x="6457950" y="4809079"/>
            <a:ext cx="184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64" name="Google Shape;6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9580" y="4746727"/>
            <a:ext cx="822880" cy="3967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49"/>
          <p:cNvCxnSpPr/>
          <p:nvPr/>
        </p:nvCxnSpPr>
        <p:spPr>
          <a:xfrm>
            <a:off x="213064" y="697677"/>
            <a:ext cx="87177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" name="Google Shape;66;p49"/>
          <p:cNvSpPr txBox="1"/>
          <p:nvPr>
            <p:ph idx="2" type="body"/>
          </p:nvPr>
        </p:nvSpPr>
        <p:spPr>
          <a:xfrm>
            <a:off x="1021861" y="4820121"/>
            <a:ext cx="336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600"/>
              <a:buNone/>
              <a:defRPr sz="8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5pPr>
            <a:lvl6pPr indent="-29845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67" name="Google Shape;67;p49"/>
          <p:cNvSpPr/>
          <p:nvPr>
            <p:ph idx="3" type="pic"/>
          </p:nvPr>
        </p:nvSpPr>
        <p:spPr>
          <a:xfrm>
            <a:off x="78581" y="4819650"/>
            <a:ext cx="872700" cy="273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0"/>
          <p:cNvSpPr txBox="1"/>
          <p:nvPr>
            <p:ph type="title"/>
          </p:nvPr>
        </p:nvSpPr>
        <p:spPr>
          <a:xfrm>
            <a:off x="213064" y="87923"/>
            <a:ext cx="871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50"/>
          <p:cNvSpPr txBox="1"/>
          <p:nvPr>
            <p:ph idx="1" type="body"/>
          </p:nvPr>
        </p:nvSpPr>
        <p:spPr>
          <a:xfrm>
            <a:off x="213064" y="861432"/>
            <a:ext cx="8717700" cy="3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2" type="sldNum"/>
          </p:nvPr>
        </p:nvSpPr>
        <p:spPr>
          <a:xfrm>
            <a:off x="6457950" y="4809079"/>
            <a:ext cx="184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72" name="Google Shape;72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9580" y="4746727"/>
            <a:ext cx="822880" cy="3967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50"/>
          <p:cNvCxnSpPr/>
          <p:nvPr/>
        </p:nvCxnSpPr>
        <p:spPr>
          <a:xfrm>
            <a:off x="213064" y="697677"/>
            <a:ext cx="87177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" name="Google Shape;74;p50"/>
          <p:cNvSpPr txBox="1"/>
          <p:nvPr>
            <p:ph idx="2" type="body"/>
          </p:nvPr>
        </p:nvSpPr>
        <p:spPr>
          <a:xfrm>
            <a:off x="1021861" y="4820121"/>
            <a:ext cx="336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800"/>
              <a:buNone/>
              <a:defRPr sz="8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50"/>
          <p:cNvSpPr/>
          <p:nvPr>
            <p:ph idx="3" type="pic"/>
          </p:nvPr>
        </p:nvSpPr>
        <p:spPr>
          <a:xfrm>
            <a:off x="78581" y="4819650"/>
            <a:ext cx="872700" cy="273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1"/>
          <p:cNvSpPr txBox="1"/>
          <p:nvPr>
            <p:ph type="title"/>
          </p:nvPr>
        </p:nvSpPr>
        <p:spPr>
          <a:xfrm>
            <a:off x="213064" y="87923"/>
            <a:ext cx="871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8" name="Google Shape;7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9580" y="4746727"/>
            <a:ext cx="822880" cy="39677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1"/>
          <p:cNvSpPr txBox="1"/>
          <p:nvPr>
            <p:ph idx="12" type="sldNum"/>
          </p:nvPr>
        </p:nvSpPr>
        <p:spPr>
          <a:xfrm>
            <a:off x="6457950" y="4809079"/>
            <a:ext cx="184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80" name="Google Shape;80;p51"/>
          <p:cNvSpPr txBox="1"/>
          <p:nvPr>
            <p:ph idx="1" type="body"/>
          </p:nvPr>
        </p:nvSpPr>
        <p:spPr>
          <a:xfrm>
            <a:off x="1021861" y="4820121"/>
            <a:ext cx="336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800"/>
              <a:buNone/>
              <a:defRPr sz="800">
                <a:solidFill>
                  <a:srgbClr val="75707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51"/>
          <p:cNvSpPr/>
          <p:nvPr>
            <p:ph idx="2" type="pic"/>
          </p:nvPr>
        </p:nvSpPr>
        <p:spPr>
          <a:xfrm>
            <a:off x="78581" y="4819650"/>
            <a:ext cx="872700" cy="273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82" name="Google Shape;82;p51"/>
          <p:cNvCxnSpPr/>
          <p:nvPr/>
        </p:nvCxnSpPr>
        <p:spPr>
          <a:xfrm>
            <a:off x="213064" y="697677"/>
            <a:ext cx="8717700" cy="0"/>
          </a:xfrm>
          <a:prstGeom prst="straightConnector1">
            <a:avLst/>
          </a:prstGeom>
          <a:noFill/>
          <a:ln cap="flat" cmpd="sng" w="9525">
            <a:solidFill>
              <a:srgbClr val="AEABAB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42.png"/><Relationship Id="rId5" Type="http://schemas.openxmlformats.org/officeDocument/2006/relationships/image" Target="../media/image18.png"/><Relationship Id="rId6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37.png"/><Relationship Id="rId9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Relationship Id="rId8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41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48.png"/><Relationship Id="rId5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7B5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35114" l="0" r="0" t="36583"/>
          <a:stretch/>
        </p:blipFill>
        <p:spPr>
          <a:xfrm>
            <a:off x="4987900" y="2129224"/>
            <a:ext cx="3023302" cy="885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title="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1025" y="2251913"/>
            <a:ext cx="976350" cy="63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g321e4e9d6f5_0_0"/>
          <p:cNvGrpSpPr/>
          <p:nvPr/>
        </p:nvGrpSpPr>
        <p:grpSpPr>
          <a:xfrm>
            <a:off x="429025" y="2612601"/>
            <a:ext cx="6103800" cy="554100"/>
            <a:chOff x="522900" y="1789388"/>
            <a:chExt cx="6103800" cy="554100"/>
          </a:xfrm>
        </p:grpSpPr>
        <p:sp>
          <p:nvSpPr>
            <p:cNvPr id="94" name="Google Shape;94;g321e4e9d6f5_0_0"/>
            <p:cNvSpPr txBox="1"/>
            <p:nvPr/>
          </p:nvSpPr>
          <p:spPr>
            <a:xfrm>
              <a:off x="522900" y="1789388"/>
              <a:ext cx="922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i="0" sz="24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95" name="Google Shape;95;g321e4e9d6f5_0_0"/>
            <p:cNvSpPr txBox="1"/>
            <p:nvPr/>
          </p:nvSpPr>
          <p:spPr>
            <a:xfrm>
              <a:off x="1150500" y="1835588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Keyword Rank</a:t>
              </a:r>
              <a:endParaRPr b="0" i="0" sz="24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pic>
        <p:nvPicPr>
          <p:cNvPr id="96" name="Google Shape;96;g321e4e9d6f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300" y="0"/>
            <a:ext cx="4617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21e4e9d6f5_0_0"/>
          <p:cNvSpPr txBox="1"/>
          <p:nvPr/>
        </p:nvSpPr>
        <p:spPr>
          <a:xfrm>
            <a:off x="147750" y="133950"/>
            <a:ext cx="54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600" u="none" cap="none" strike="noStrike">
                <a:solidFill>
                  <a:srgbClr val="FF7B5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NELER KONUŞACAĞIZ?</a:t>
            </a:r>
            <a:endParaRPr b="0" i="0" sz="1600" u="none" cap="none" strike="noStrike">
              <a:solidFill>
                <a:srgbClr val="FF7B5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98" name="Google Shape;98;g321e4e9d6f5_0_0"/>
          <p:cNvGrpSpPr/>
          <p:nvPr/>
        </p:nvGrpSpPr>
        <p:grpSpPr>
          <a:xfrm>
            <a:off x="429025" y="1976788"/>
            <a:ext cx="6103800" cy="554100"/>
            <a:chOff x="522900" y="1153575"/>
            <a:chExt cx="6103800" cy="554100"/>
          </a:xfrm>
        </p:grpSpPr>
        <p:sp>
          <p:nvSpPr>
            <p:cNvPr id="99" name="Google Shape;99;g321e4e9d6f5_0_0"/>
            <p:cNvSpPr txBox="1"/>
            <p:nvPr/>
          </p:nvSpPr>
          <p:spPr>
            <a:xfrm>
              <a:off x="522900" y="1153575"/>
              <a:ext cx="922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i="0" sz="24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100" name="Google Shape;100;g321e4e9d6f5_0_0"/>
            <p:cNvSpPr txBox="1"/>
            <p:nvPr/>
          </p:nvSpPr>
          <p:spPr>
            <a:xfrm>
              <a:off x="1150500" y="1199775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Genel Durum &amp; Google Görünürlüğü</a:t>
              </a:r>
              <a:endParaRPr b="0" i="0" sz="24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01" name="Google Shape;101;g321e4e9d6f5_0_0"/>
          <p:cNvGrpSpPr/>
          <p:nvPr/>
        </p:nvGrpSpPr>
        <p:grpSpPr>
          <a:xfrm>
            <a:off x="429025" y="3166701"/>
            <a:ext cx="6103800" cy="554100"/>
            <a:chOff x="522900" y="1789388"/>
            <a:chExt cx="6103800" cy="554100"/>
          </a:xfrm>
        </p:grpSpPr>
        <p:sp>
          <p:nvSpPr>
            <p:cNvPr id="102" name="Google Shape;102;g321e4e9d6f5_0_0"/>
            <p:cNvSpPr txBox="1"/>
            <p:nvPr/>
          </p:nvSpPr>
          <p:spPr>
            <a:xfrm>
              <a:off x="522900" y="1789388"/>
              <a:ext cx="922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i="0" sz="24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103" name="Google Shape;103;g321e4e9d6f5_0_0"/>
            <p:cNvSpPr txBox="1"/>
            <p:nvPr/>
          </p:nvSpPr>
          <p:spPr>
            <a:xfrm>
              <a:off x="1150500" y="1835588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24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Planlanan İşler</a:t>
              </a:r>
              <a:endParaRPr b="0" i="0" sz="24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32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g321e4e9d6f5_0_20"/>
          <p:cNvGrpSpPr/>
          <p:nvPr/>
        </p:nvGrpSpPr>
        <p:grpSpPr>
          <a:xfrm>
            <a:off x="522900" y="2585581"/>
            <a:ext cx="6103800" cy="461700"/>
            <a:chOff x="522900" y="1747381"/>
            <a:chExt cx="6103800" cy="461700"/>
          </a:xfrm>
        </p:grpSpPr>
        <p:sp>
          <p:nvSpPr>
            <p:cNvPr id="109" name="Google Shape;109;g321e4e9d6f5_0_20"/>
            <p:cNvSpPr txBox="1"/>
            <p:nvPr/>
          </p:nvSpPr>
          <p:spPr>
            <a:xfrm>
              <a:off x="522900" y="1747381"/>
              <a:ext cx="922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110" name="Google Shape;110;g321e4e9d6f5_0_20"/>
            <p:cNvSpPr txBox="1"/>
            <p:nvPr/>
          </p:nvSpPr>
          <p:spPr>
            <a:xfrm>
              <a:off x="1150500" y="1747381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Keyword Rank</a:t>
              </a:r>
              <a:endParaRPr b="0" i="0" sz="18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111" name="Google Shape;111;g321e4e9d6f5_0_20"/>
          <p:cNvGrpSpPr/>
          <p:nvPr/>
        </p:nvGrpSpPr>
        <p:grpSpPr>
          <a:xfrm>
            <a:off x="522901" y="2925196"/>
            <a:ext cx="6103799" cy="461700"/>
            <a:chOff x="522901" y="2394288"/>
            <a:chExt cx="6103799" cy="461700"/>
          </a:xfrm>
        </p:grpSpPr>
        <p:sp>
          <p:nvSpPr>
            <p:cNvPr id="112" name="Google Shape;112;g321e4e9d6f5_0_20"/>
            <p:cNvSpPr txBox="1"/>
            <p:nvPr/>
          </p:nvSpPr>
          <p:spPr>
            <a:xfrm>
              <a:off x="522901" y="2394288"/>
              <a:ext cx="627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113" name="Google Shape;113;g321e4e9d6f5_0_20"/>
            <p:cNvSpPr txBox="1"/>
            <p:nvPr/>
          </p:nvSpPr>
          <p:spPr>
            <a:xfrm>
              <a:off x="1150500" y="2394288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Planlanan &amp; Devam Eden İşler</a:t>
              </a:r>
              <a:endParaRPr b="0" i="0" sz="18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sp>
        <p:nvSpPr>
          <p:cNvPr id="114" name="Google Shape;114;g321e4e9d6f5_0_20"/>
          <p:cNvSpPr txBox="1"/>
          <p:nvPr/>
        </p:nvSpPr>
        <p:spPr>
          <a:xfrm>
            <a:off x="522900" y="1690950"/>
            <a:ext cx="922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tr-TR" sz="3200" u="none" cap="none" strike="noStrike">
                <a:solidFill>
                  <a:srgbClr val="FF7B52"/>
                </a:solidFill>
                <a:latin typeface="Inter Black"/>
                <a:ea typeface="Inter Black"/>
                <a:cs typeface="Inter Black"/>
                <a:sym typeface="Inter Black"/>
              </a:rPr>
              <a:t>01</a:t>
            </a:r>
            <a:endParaRPr b="0" i="0" sz="3200" u="none" cap="none" strike="noStrike">
              <a:solidFill>
                <a:srgbClr val="FF7B52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15" name="Google Shape;115;g321e4e9d6f5_0_20"/>
          <p:cNvSpPr txBox="1"/>
          <p:nvPr/>
        </p:nvSpPr>
        <p:spPr>
          <a:xfrm>
            <a:off x="1150499" y="1798650"/>
            <a:ext cx="747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3200" u="none" cap="none" strike="noStrike">
                <a:solidFill>
                  <a:srgbClr val="FF7B52"/>
                </a:solidFill>
                <a:latin typeface="Inter Light"/>
                <a:ea typeface="Inter Light"/>
                <a:cs typeface="Inter Light"/>
                <a:sym typeface="Inter Light"/>
              </a:rPr>
              <a:t>Genel Durum &amp; Google Görünürlüğü</a:t>
            </a:r>
            <a:endParaRPr b="0" i="0" sz="3200" u="none" cap="none" strike="noStrike">
              <a:solidFill>
                <a:srgbClr val="FF7B5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16" name="Google Shape;116;g321e4e9d6f5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300" y="0"/>
            <a:ext cx="4617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g34bfffdac85_0_0"/>
          <p:cNvCxnSpPr/>
          <p:nvPr/>
        </p:nvCxnSpPr>
        <p:spPr>
          <a:xfrm>
            <a:off x="213063" y="947361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2" name="Google Shape;122;g34bfffdac8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4bfffdac85_0_0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GSC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g34bfffdac85_0_0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| Search Console Verileri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25" name="Google Shape;125;g34bfffdac85_0_0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075" y="1142325"/>
            <a:ext cx="8717998" cy="277120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26" name="Google Shape;126;g34bfffdac85_0_0"/>
          <p:cNvSpPr txBox="1"/>
          <p:nvPr/>
        </p:nvSpPr>
        <p:spPr>
          <a:xfrm>
            <a:off x="213075" y="4229500"/>
            <a:ext cx="8178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- 2025 yılında, </a:t>
            </a:r>
            <a:r>
              <a:rPr b="1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yüksek Impression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değeri </a:t>
            </a:r>
            <a:r>
              <a:rPr b="1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Ağustos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ayında elde edilmiştir. En düşük değer ise </a:t>
            </a:r>
            <a:r>
              <a:rPr b="1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Şubat 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ayında gerçekleşmiştir.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- 2025 yılında 2024 yılına göre en yüksek büyüme oranı ise </a:t>
            </a:r>
            <a:r>
              <a:rPr b="1" i="0" lang="tr-TR" sz="10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%34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ile </a:t>
            </a:r>
            <a:r>
              <a:rPr b="1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Ağustos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ayında gerçekleşmiştir. 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g34bfffdac85_0_0"/>
          <p:cNvSpPr txBox="1"/>
          <p:nvPr/>
        </p:nvSpPr>
        <p:spPr>
          <a:xfrm>
            <a:off x="182775" y="294425"/>
            <a:ext cx="877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2025 yılında total impression, 2024’e göre </a:t>
            </a:r>
            <a:r>
              <a:rPr b="1" i="0" lang="tr-TR" sz="1300" u="none" cap="none" strike="noStrik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%1</a:t>
            </a:r>
            <a:r>
              <a:rPr b="0" i="0" lang="tr-TR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azalmıştır. Impression 2024 Aralık ayına göre </a:t>
            </a:r>
            <a:r>
              <a:rPr b="1" i="0" lang="tr-TR" sz="13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%10</a:t>
            </a:r>
            <a:r>
              <a:rPr b="0" i="0" lang="tr-TR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artmış, geçtiğimiz aya göre ise</a:t>
            </a:r>
            <a:r>
              <a:rPr b="0" i="0" lang="tr-T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tr-TR" sz="13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%17 </a:t>
            </a:r>
            <a:r>
              <a:rPr b="0" i="0" lang="tr-TR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artmıştır.</a:t>
            </a:r>
            <a:endParaRPr b="0" i="0" sz="13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132;g3b30af5585b_0_0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3" name="Google Shape;133;g3b30af5585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b30af5585b_0_0"/>
          <p:cNvSpPr txBox="1"/>
          <p:nvPr/>
        </p:nvSpPr>
        <p:spPr>
          <a:xfrm>
            <a:off x="182776" y="294415"/>
            <a:ext cx="8778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Geçen Yıla Göre Non-Brand Impression Azalışı Yaşanan Kelimeler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b30af5585b_0_0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GSC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g3b30af5585b_0_0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 | Search Console Verileri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37" name="Google Shape;137;g3b30af5585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075" y="760927"/>
            <a:ext cx="3046696" cy="397112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38" name="Google Shape;138;g3b30af5585b_0_0"/>
          <p:cNvSpPr/>
          <p:nvPr/>
        </p:nvSpPr>
        <p:spPr>
          <a:xfrm>
            <a:off x="2681675" y="760900"/>
            <a:ext cx="578100" cy="3971100"/>
          </a:xfrm>
          <a:prstGeom prst="rect">
            <a:avLst/>
          </a:prstGeom>
          <a:noFill/>
          <a:ln cap="flat" cmpd="sng" w="200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125" lIns="96125" spcFirstLastPara="1" rIns="96125" wrap="square" tIns="96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2"/>
              <a:buFont typeface="Arial"/>
              <a:buNone/>
            </a:pPr>
            <a:r>
              <a:t/>
            </a:r>
            <a:endParaRPr b="0" i="0" sz="14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b30af5585b_0_0" title="Screenshot 2026-01-08 at 12.37.2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3800" y="2455049"/>
            <a:ext cx="2474344" cy="166529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b30af5585b_0_0"/>
          <p:cNvSpPr/>
          <p:nvPr/>
        </p:nvSpPr>
        <p:spPr>
          <a:xfrm>
            <a:off x="6364709" y="3696456"/>
            <a:ext cx="1968600" cy="423900"/>
          </a:xfrm>
          <a:prstGeom prst="rect">
            <a:avLst/>
          </a:prstGeom>
          <a:noFill/>
          <a:ln cap="flat" cmpd="sng" w="157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375" lIns="75375" spcFirstLastPara="1" rIns="75375" wrap="square" tIns="75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t/>
            </a:r>
            <a:endParaRPr b="0" i="0" sz="115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b30af5585b_0_0"/>
          <p:cNvSpPr txBox="1"/>
          <p:nvPr/>
        </p:nvSpPr>
        <p:spPr>
          <a:xfrm>
            <a:off x="5871673" y="977713"/>
            <a:ext cx="30897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T-shirt ve Salopet gibi sorgular da hem sezonsallığın hemde rekabet tarafındaki ürün sayısının oldukça etkisi olmaktadır.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Jean kelimesinde 3. ve tişört kelimesinde ise 6. sırada yer almaktayız.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2" name="Google Shape;142;g3b30af5585b_0_0" title="Screenshot 2026-01-08 at 12.47.08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9563" y="1234801"/>
            <a:ext cx="2252326" cy="33595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b30af5585b_0_0"/>
          <p:cNvSpPr/>
          <p:nvPr/>
        </p:nvSpPr>
        <p:spPr>
          <a:xfrm>
            <a:off x="3793812" y="4280225"/>
            <a:ext cx="1805100" cy="314100"/>
          </a:xfrm>
          <a:prstGeom prst="rect">
            <a:avLst/>
          </a:prstGeom>
          <a:noFill/>
          <a:ln cap="flat" cmpd="sng" w="123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100" lIns="59100" spcFirstLastPara="1" rIns="59100" wrap="square" tIns="5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5"/>
              <a:buFont typeface="Arial"/>
              <a:buNone/>
            </a:pPr>
            <a:r>
              <a:t/>
            </a:r>
            <a:endParaRPr b="0" i="0" sz="9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g381990b1ac9_0_2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9" name="Google Shape;149;g381990b1ac9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81990b1ac9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99" y="4941525"/>
            <a:ext cx="723475" cy="1165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g381990b1ac9_0_2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g381990b1ac9_0_2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g381990b1ac9_0_2"/>
          <p:cNvSpPr txBox="1"/>
          <p:nvPr/>
        </p:nvSpPr>
        <p:spPr>
          <a:xfrm>
            <a:off x="867125" y="488443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Keyword Planner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4" name="Google Shape;154;g381990b1ac9_0_2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g381990b1ac9_0_2"/>
          <p:cNvSpPr txBox="1"/>
          <p:nvPr/>
        </p:nvSpPr>
        <p:spPr>
          <a:xfrm>
            <a:off x="182776" y="282115"/>
            <a:ext cx="877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Non-Brand Impression Düşüşü Yaşanan Kelimelerin Geçtiğimiz Seneye Göre Arama Hacmi Değişimi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81990b1ac9_0_2"/>
          <p:cNvSpPr txBox="1"/>
          <p:nvPr/>
        </p:nvSpPr>
        <p:spPr>
          <a:xfrm>
            <a:off x="5899425" y="952675"/>
            <a:ext cx="306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Salopet kelimesinin aranma hacmi geçen seneye göre </a:t>
            </a:r>
            <a:r>
              <a:rPr b="1" i="0" lang="tr-TR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%19 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düşmüştür.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1990b1ac9_0_2"/>
          <p:cNvSpPr txBox="1"/>
          <p:nvPr/>
        </p:nvSpPr>
        <p:spPr>
          <a:xfrm>
            <a:off x="5899425" y="2427038"/>
            <a:ext cx="306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Kadın Şort kelimesinin aranma hacmi geçen seneye göre </a:t>
            </a:r>
            <a:r>
              <a:rPr b="1" i="0" lang="tr-TR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%46 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düşmüştür.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81990b1ac9_0_2"/>
          <p:cNvSpPr txBox="1"/>
          <p:nvPr/>
        </p:nvSpPr>
        <p:spPr>
          <a:xfrm>
            <a:off x="5899425" y="3850625"/>
            <a:ext cx="306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Kadın Bluz kelimesinin aranma hacmi geçen seneye göre </a:t>
            </a:r>
            <a:r>
              <a:rPr b="1" i="0" lang="tr-TR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%46 </a:t>
            </a:r>
            <a:r>
              <a:rPr b="0" i="0" lang="tr-T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düşmüştür.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81990b1ac9_0_2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 | Arama Hacmi Değişimi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60" name="Google Shape;160;g381990b1ac9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775" y="875030"/>
            <a:ext cx="5537777" cy="88418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61" name="Google Shape;161;g381990b1ac9_0_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775" y="2224425"/>
            <a:ext cx="5537746" cy="88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62" name="Google Shape;162;g381990b1ac9_0_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1575" y="875025"/>
            <a:ext cx="593125" cy="441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63" name="Google Shape;163;g381990b1ac9_0_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1575" y="2353425"/>
            <a:ext cx="593125" cy="44116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64" name="Google Shape;164;g381990b1ac9_0_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2775" y="3831827"/>
            <a:ext cx="5537751" cy="85176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65" name="Google Shape;165;g381990b1ac9_0_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2450" y="3797188"/>
            <a:ext cx="511375" cy="39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b925e03a4_0_0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Keyword Planner 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1" name="Google Shape;171;g34b925e03a4_0_0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2" name="Google Shape;172;g34b925e03a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g34b925e03a4_0_0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g34b925e03a4_0_0"/>
          <p:cNvSpPr txBox="1"/>
          <p:nvPr/>
        </p:nvSpPr>
        <p:spPr>
          <a:xfrm>
            <a:off x="182776" y="185052"/>
            <a:ext cx="877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Non-Brand Impression düşüşü yaşanan keywordler incelendiğinde aranma hacimlerinin geçtiğimiz seneye göre </a:t>
            </a:r>
            <a:r>
              <a:rPr b="1" i="0" lang="tr-TR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%19 </a:t>
            </a:r>
            <a:r>
              <a:rPr b="0" i="0" lang="tr-T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azalma yaşandığı görülmüştür.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4b925e03a4_0_0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| Arama Hacmi Değişimi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6" name="Google Shape;176;g34b925e03a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775" y="1748451"/>
            <a:ext cx="8778598" cy="159451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77" name="Google Shape;177;g34b925e03a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800" y="1748450"/>
            <a:ext cx="1008900" cy="647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g3b5706e36aa_0_2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3" name="Google Shape;183;g3b5706e36aa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b5706e36aa_0_2"/>
          <p:cNvSpPr txBox="1"/>
          <p:nvPr/>
        </p:nvSpPr>
        <p:spPr>
          <a:xfrm>
            <a:off x="182776" y="294415"/>
            <a:ext cx="8778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Geçen Yıla Göre Non-Brand Impression Artışı Yaşanan Kelimeler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b5706e36aa_0_2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GSC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g3b5706e36aa_0_2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 | Search Console Verileri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87" name="Google Shape;187;g3b5706e36aa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075" y="760925"/>
            <a:ext cx="2892711" cy="4123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88" name="Google Shape;188;g3b5706e36aa_0_2"/>
          <p:cNvSpPr/>
          <p:nvPr/>
        </p:nvSpPr>
        <p:spPr>
          <a:xfrm>
            <a:off x="2527675" y="765975"/>
            <a:ext cx="578100" cy="4123500"/>
          </a:xfrm>
          <a:prstGeom prst="rect">
            <a:avLst/>
          </a:prstGeom>
          <a:noFill/>
          <a:ln cap="flat" cmpd="sng" w="20025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125" lIns="96125" spcFirstLastPara="1" rIns="96125" wrap="square" tIns="96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2"/>
              <a:buFont typeface="Arial"/>
              <a:buNone/>
            </a:pPr>
            <a:r>
              <a:t/>
            </a:r>
            <a:endParaRPr b="0" i="0" sz="14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b5706e36aa_0_2" title="Screenshot 2026-01-02 at 10.48.4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1375" y="1849320"/>
            <a:ext cx="3090626" cy="1794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g3b5706e36aa_0_2"/>
          <p:cNvCxnSpPr/>
          <p:nvPr/>
        </p:nvCxnSpPr>
        <p:spPr>
          <a:xfrm flipH="1" rot="10800000">
            <a:off x="3137800" y="3351100"/>
            <a:ext cx="1423200" cy="130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g3b5706e36aa_0_2"/>
          <p:cNvSpPr/>
          <p:nvPr/>
        </p:nvSpPr>
        <p:spPr>
          <a:xfrm>
            <a:off x="4560867" y="3077850"/>
            <a:ext cx="3021000" cy="565800"/>
          </a:xfrm>
          <a:prstGeom prst="rect">
            <a:avLst/>
          </a:prstGeom>
          <a:noFill/>
          <a:ln cap="flat" cmpd="sng" w="123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100" lIns="59100" spcFirstLastPara="1" rIns="59100" wrap="square" tIns="59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5"/>
              <a:buFont typeface="Arial"/>
              <a:buNone/>
            </a:pPr>
            <a:r>
              <a:t/>
            </a:r>
            <a:endParaRPr b="0" i="0" sz="9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b5706e36aa_0_2"/>
          <p:cNvSpPr txBox="1"/>
          <p:nvPr/>
        </p:nvSpPr>
        <p:spPr>
          <a:xfrm>
            <a:off x="3759273" y="837288"/>
            <a:ext cx="3089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Kış sezonuna ait ürünlerde geçen yıla göre impression oranlarında artışlar bulunmaktadır.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g321e4e9d6f5_0_86"/>
          <p:cNvCxnSpPr/>
          <p:nvPr/>
        </p:nvCxnSpPr>
        <p:spPr>
          <a:xfrm>
            <a:off x="213063" y="788736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8" name="Google Shape;198;g321e4e9d6f5_0_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21e4e9d6f5_0_86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GSC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g321e4e9d6f5_0_86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| Search Console Verileri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01" name="Google Shape;201;g321e4e9d6f5_0_86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75" y="983525"/>
            <a:ext cx="6321674" cy="1963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02" name="Google Shape;202;g321e4e9d6f5_0_86"/>
          <p:cNvSpPr txBox="1"/>
          <p:nvPr/>
        </p:nvSpPr>
        <p:spPr>
          <a:xfrm>
            <a:off x="182778" y="3225275"/>
            <a:ext cx="6081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- 2025 yılında, </a:t>
            </a:r>
            <a:r>
              <a:rPr b="1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yüksek Click 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değeri </a:t>
            </a:r>
            <a:r>
              <a:rPr b="1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Aralık 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ayında elde edilirken en düşük değer ise </a:t>
            </a:r>
            <a:r>
              <a:rPr b="1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Ağustos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ayında gerçekleşmiştir.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- 2025 yılında 2024 yılına göre en yüksek büyüme oranı ise </a:t>
            </a:r>
            <a:r>
              <a:rPr b="1" i="0" lang="tr-TR" sz="10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%39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ile </a:t>
            </a:r>
            <a:r>
              <a:rPr b="1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Aralık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ayında gerçekleşmiştir.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g321e4e9d6f5_0_86"/>
          <p:cNvSpPr txBox="1"/>
          <p:nvPr/>
        </p:nvSpPr>
        <p:spPr>
          <a:xfrm>
            <a:off x="182776" y="294415"/>
            <a:ext cx="877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2025 yılında total click, 2024’e göre </a:t>
            </a:r>
            <a:r>
              <a:rPr b="1" i="0" lang="tr-TR" sz="1300" u="none" cap="none" strike="noStrik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%7</a:t>
            </a:r>
            <a:r>
              <a:rPr b="0" i="0" lang="tr-TR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azalmıştır. Click 2024 Aralık ayına göre </a:t>
            </a:r>
            <a:r>
              <a:rPr b="1" i="0" lang="tr-TR" sz="13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%40</a:t>
            </a:r>
            <a:r>
              <a:rPr b="0" i="0" lang="tr-TR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artmış, geçtiğimiz aya göre ise </a:t>
            </a:r>
            <a:r>
              <a:rPr b="1" i="0" lang="tr-TR" sz="13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%112</a:t>
            </a:r>
            <a:r>
              <a:rPr b="0" i="0" lang="tr-TR" sz="13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tr-TR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artmıştır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g321e4e9d6f5_0_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1200" y="884364"/>
            <a:ext cx="2525225" cy="3374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81990b1ac9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6325" y="1016150"/>
            <a:ext cx="2996664" cy="3868300"/>
          </a:xfrm>
          <a:prstGeom prst="rect">
            <a:avLst/>
          </a:prstGeom>
          <a:noFill/>
          <a:ln>
            <a:noFill/>
          </a:ln>
          <a:effectLst>
            <a:outerShdw blurRad="56322" rotWithShape="0" algn="bl" dir="5400000" dist="18774">
              <a:srgbClr val="000000">
                <a:alpha val="49803"/>
              </a:srgbClr>
            </a:outerShdw>
          </a:effectLst>
        </p:spPr>
      </p:pic>
      <p:cxnSp>
        <p:nvCxnSpPr>
          <p:cNvPr id="210" name="Google Shape;210;g381990b1ac9_0_55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1" name="Google Shape;211;g381990b1ac9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81990b1ac9_0_55"/>
          <p:cNvSpPr txBox="1"/>
          <p:nvPr/>
        </p:nvSpPr>
        <p:spPr>
          <a:xfrm>
            <a:off x="802275" y="4884450"/>
            <a:ext cx="5039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GSC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3" name="Google Shape;213;g381990b1ac9_0_55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g381990b1ac9_0_55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g381990b1ac9_0_55"/>
          <p:cNvSpPr txBox="1"/>
          <p:nvPr/>
        </p:nvSpPr>
        <p:spPr>
          <a:xfrm>
            <a:off x="182776" y="294415"/>
            <a:ext cx="8778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Geçen Yıla Göre Non-Brand Click Düşüşü &amp; Artışı Yaşanan Kelimeler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81990b1ac9_0_55"/>
          <p:cNvSpPr txBox="1"/>
          <p:nvPr/>
        </p:nvSpPr>
        <p:spPr>
          <a:xfrm>
            <a:off x="1503725" y="696425"/>
            <a:ext cx="255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Düşüşü Yaşayan Kelimeler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81990b1ac9_0_55"/>
          <p:cNvSpPr txBox="1"/>
          <p:nvPr/>
        </p:nvSpPr>
        <p:spPr>
          <a:xfrm>
            <a:off x="6166427" y="696425"/>
            <a:ext cx="267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Artışı Yaşayan Kelimeler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81990b1ac9_0_55"/>
          <p:cNvSpPr/>
          <p:nvPr/>
        </p:nvSpPr>
        <p:spPr>
          <a:xfrm>
            <a:off x="3782192" y="1016150"/>
            <a:ext cx="590700" cy="3868200"/>
          </a:xfrm>
          <a:prstGeom prst="rect">
            <a:avLst/>
          </a:prstGeom>
          <a:noFill/>
          <a:ln cap="flat" cmpd="sng" w="187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100" lIns="90100" spcFirstLastPara="1" rIns="90100" wrap="square" tIns="9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t/>
            </a:r>
            <a:endParaRPr b="0" i="0" sz="13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81990b1ac9_0_55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 | Search Console Verileri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20" name="Google Shape;220;g381990b1ac9_0_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2458" y="1016250"/>
            <a:ext cx="2790542" cy="3868233"/>
          </a:xfrm>
          <a:prstGeom prst="rect">
            <a:avLst/>
          </a:prstGeom>
          <a:noFill/>
          <a:ln>
            <a:noFill/>
          </a:ln>
          <a:effectLst>
            <a:outerShdw blurRad="56321" rotWithShape="0" algn="bl" dir="5400000" dist="18774">
              <a:srgbClr val="000000">
                <a:alpha val="49803"/>
              </a:srgbClr>
            </a:outerShdw>
          </a:effectLst>
        </p:spPr>
      </p:pic>
      <p:sp>
        <p:nvSpPr>
          <p:cNvPr id="221" name="Google Shape;221;g381990b1ac9_0_55"/>
          <p:cNvSpPr/>
          <p:nvPr/>
        </p:nvSpPr>
        <p:spPr>
          <a:xfrm>
            <a:off x="8131072" y="1016299"/>
            <a:ext cx="541800" cy="3868200"/>
          </a:xfrm>
          <a:prstGeom prst="rect">
            <a:avLst/>
          </a:prstGeom>
          <a:noFill/>
          <a:ln cap="flat" cmpd="sng" w="18775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100" lIns="90100" spcFirstLastPara="1" rIns="90100" wrap="square" tIns="9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t/>
            </a:r>
            <a:endParaRPr b="0" i="0" sz="13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Google Shape;226;g3b93a63ee67_0_12"/>
          <p:cNvCxnSpPr/>
          <p:nvPr/>
        </p:nvCxnSpPr>
        <p:spPr>
          <a:xfrm>
            <a:off x="212988" y="777598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7" name="Google Shape;227;g3b93a63ee67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b93a63ee67_0_12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3941654" y="261257"/>
            <a:ext cx="520234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b93a63ee67_0_12"/>
          <p:cNvSpPr txBox="1"/>
          <p:nvPr/>
        </p:nvSpPr>
        <p:spPr>
          <a:xfrm>
            <a:off x="554825" y="491278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Keyword Planner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g3b93a63ee67_0_12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 |  Marka Arama Hacimleri 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231" name="Google Shape;231;g3b93a63ee67_0_12"/>
          <p:cNvGraphicFramePr/>
          <p:nvPr/>
        </p:nvGraphicFramePr>
        <p:xfrm>
          <a:off x="850163" y="90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{FFD6B978-897D-4546-A38B-196AFFB3DE68}</a:tableStyleId>
              </a:tblPr>
              <a:tblGrid>
                <a:gridCol w="564000"/>
                <a:gridCol w="580575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497650"/>
                <a:gridCol w="505950"/>
              </a:tblGrid>
              <a:tr h="16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Marka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Tarih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Feb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Jul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Aug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Oct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0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loft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69,125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BC28"/>
                    </a:solidFill>
                    <a:extLst>
                      <a:ext uri="http://customooxmlschemas.google.com/">
                        <go:slidesCustomData xmlns:go="http://customooxmlschemas.google.com/" cellId="231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BC28"/>
                    </a:solidFill>
                    <a:extLst>
                      <a:ext uri="http://customooxmlschemas.google.com/">
                        <go:slidesCustomData xmlns:go="http://customooxmlschemas.google.com/" cellId="231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BC55"/>
                    </a:solidFill>
                    <a:extLst>
                      <a:ext uri="http://customooxmlschemas.google.com/">
                        <go:slidesCustomData xmlns:go="http://customooxmlschemas.google.com/" cellId="231: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BC55"/>
                    </a:solidFill>
                    <a:extLst>
                      <a:ext uri="http://customooxmlschemas.google.com/">
                        <go:slidesCustomData xmlns:go="http://customooxmlschemas.google.com/" cellId="231:1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70,000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231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231: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C41"/>
                    </a:solidFill>
                    <a:extLst>
                      <a:ext uri="http://customooxmlschemas.google.com/">
                        <go:slidesCustomData xmlns:go="http://customooxmlschemas.google.com/" cellId="231:2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6AA8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1.27%</a:t>
                      </a:r>
                      <a:endParaRPr b="1" sz="800" u="none" cap="none" strike="noStrike">
                        <a:solidFill>
                          <a:srgbClr val="6AA84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6AA8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22.31%</a:t>
                      </a:r>
                      <a:endParaRPr b="1" sz="800" u="none" cap="none" strike="noStrike">
                        <a:solidFill>
                          <a:srgbClr val="6AA84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6AA8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81.82%</a:t>
                      </a:r>
                      <a:endParaRPr b="1" sz="800" u="none" cap="none" strike="noStrike">
                        <a:solidFill>
                          <a:srgbClr val="6AA84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6AA8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22.31%</a:t>
                      </a:r>
                      <a:endParaRPr b="1" sz="800" u="none" cap="none" strike="noStrike">
                        <a:solidFill>
                          <a:srgbClr val="6AA84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-18.24%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-32.73%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3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colins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173,250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C3F"/>
                    </a:solidFill>
                    <a:extLst>
                      <a:ext uri="http://customooxmlschemas.google.com/">
                        <go:slidesCustomData xmlns:go="http://customooxmlschemas.google.com/" cellId="231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C3F"/>
                    </a:solidFill>
                    <a:extLst>
                      <a:ext uri="http://customooxmlschemas.google.com/">
                        <go:slidesCustomData xmlns:go="http://customooxmlschemas.google.com/" cellId="231: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246,000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4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3BC3F"/>
                    </a:solidFill>
                    <a:extLst>
                      <a:ext uri="http://customooxmlschemas.google.com/">
                        <go:slidesCustomData xmlns:go="http://customooxmlschemas.google.com/" cellId="231:4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149,333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BC40"/>
                    </a:solidFill>
                    <a:extLst>
                      <a:ext uri="http://customooxmlschemas.google.com/">
                        <go:slidesCustomData xmlns:go="http://customooxmlschemas.google.com/" cellId="231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BC40"/>
                    </a:solidFill>
                    <a:extLst>
                      <a:ext uri="http://customooxmlschemas.google.com/">
                        <go:slidesCustomData xmlns:go="http://customooxmlschemas.google.com/" cellId="231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BC40"/>
                    </a:solidFill>
                    <a:extLst>
                      <a:ext uri="http://customooxmlschemas.google.com/">
                        <go:slidesCustomData xmlns:go="http://customooxmlschemas.google.com/" cellId="231:5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5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-13.80%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-18.18%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-18.18%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-32.84%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-18.52%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-18.52%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-18.18%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-32.93%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6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defacto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1,084,083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231: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842"/>
                    </a:solidFill>
                    <a:extLst>
                      <a:ext uri="http://customooxmlschemas.google.com/">
                        <go:slidesCustomData xmlns:go="http://customooxmlschemas.google.com/" cellId="231: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7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7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913,750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231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231: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231: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9941"/>
                    </a:solidFill>
                    <a:extLst>
                      <a:ext uri="http://customooxmlschemas.google.com/">
                        <go:slidesCustomData xmlns:go="http://customooxmlschemas.google.com/" cellId="231:8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8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-15.71%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-44.84%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-17.70%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9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lcw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1,360,000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0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1,198,333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1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-11.89%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-33.33%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-18.67%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-18.67%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2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24,675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BC27"/>
                    </a:solidFill>
                    <a:extLst>
                      <a:ext uri="http://customooxmlschemas.google.com/">
                        <go:slidesCustomData xmlns:go="http://customooxmlschemas.google.com/" cellId="231:1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BC27"/>
                    </a:solidFill>
                    <a:extLst>
                      <a:ext uri="http://customooxmlschemas.google.com/">
                        <go:slidesCustomData xmlns:go="http://customooxmlschemas.google.com/" cellId="231:1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3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3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3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3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BC27"/>
                    </a:solidFill>
                    <a:extLst>
                      <a:ext uri="http://customooxmlschemas.google.com/">
                        <go:slidesCustomData xmlns:go="http://customooxmlschemas.google.com/" cellId="231:13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3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BC27"/>
                    </a:solidFill>
                    <a:extLst>
                      <a:ext uri="http://customooxmlschemas.google.com/">
                        <go:slidesCustomData xmlns:go="http://customooxmlschemas.google.com/" cellId="231:13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17,958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14,800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4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14,800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4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14,800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4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18,100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4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-27.22%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-18.47%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-33.21%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-33.21%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-33.33%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-18.47%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-33.21%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-55.31%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-33.21%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5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ltb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101,833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6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6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6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6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6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6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6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6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6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6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93,333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231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C40"/>
                    </a:solidFill>
                    <a:extLst>
                      <a:ext uri="http://customooxmlschemas.google.com/">
                        <go:slidesCustomData xmlns:go="http://customooxmlschemas.google.com/" cellId="231:1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7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7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7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7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7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7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7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7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90,500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17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7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-8.35%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-33.33%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34A8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21.55%</a:t>
                      </a:r>
                      <a:endParaRPr b="1" sz="800" u="none" cap="none" strike="noStrike">
                        <a:solidFill>
                          <a:srgbClr val="34A85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22.73%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-17.73%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-17.73%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-32.73%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8:14"/>
                      </a:ext>
                    </a:extLst>
                  </a:tcPr>
                </a:tc>
              </a:tr>
              <a:tr h="16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mavi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1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904,833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1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231:1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A42E"/>
                    </a:solidFill>
                    <a:extLst>
                      <a:ext uri="http://customooxmlschemas.google.com/">
                        <go:slidesCustomData xmlns:go="http://customooxmlschemas.google.com/" cellId="231:1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231:19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231:19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A42E"/>
                    </a:solidFill>
                    <a:extLst>
                      <a:ext uri="http://customooxmlschemas.google.com/">
                        <go:slidesCustomData xmlns:go="http://customooxmlschemas.google.com/" cellId="231:19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A42E"/>
                    </a:solidFill>
                    <a:extLst>
                      <a:ext uri="http://customooxmlschemas.google.com/">
                        <go:slidesCustomData xmlns:go="http://customooxmlschemas.google.com/" cellId="231:19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9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19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A42E"/>
                    </a:solidFill>
                    <a:extLst>
                      <a:ext uri="http://customooxmlschemas.google.com/">
                        <go:slidesCustomData xmlns:go="http://customooxmlschemas.google.com/" cellId="231:19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231:19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1,220,000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19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BC2A"/>
                    </a:solidFill>
                    <a:extLst>
                      <a:ext uri="http://customooxmlschemas.google.com/">
                        <go:slidesCustomData xmlns:go="http://customooxmlschemas.google.com/" cellId="231:19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2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844,500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2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  <a:extLst>
                      <a:ext uri="http://customooxmlschemas.google.com/">
                        <go:slidesCustomData xmlns:go="http://customooxmlschemas.google.com/" cellId="231:2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BC04"/>
                    </a:solidFill>
                    <a:extLst>
                      <a:ext uri="http://customooxmlschemas.google.com/">
                        <go:slidesCustomData xmlns:go="http://customooxmlschemas.google.com/" cellId="231:2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20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20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1,000,000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  <a:extLst>
                      <a:ext uri="http://customooxmlschemas.google.com/">
                        <go:slidesCustomData xmlns:go="http://customooxmlschemas.google.com/" cellId="231:20:14"/>
                      </a:ext>
                    </a:extLst>
                  </a:tcPr>
                </a:tc>
              </a:tr>
              <a:tr h="164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  <a:extLst>
                      <a:ext uri="http://customooxmlschemas.google.com/">
                        <go:slidesCustomData xmlns:go="http://customooxmlschemas.google.com/" cellId="231:2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-6.67%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-17.70%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-17.70%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-18.23%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1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tr-TR" sz="800" u="none" cap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-18.03%</a:t>
                      </a:r>
                      <a:endParaRPr b="1" sz="8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1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tr-TR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0.00%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  <a:extLst>
                      <a:ext uri="http://customooxmlschemas.google.com/">
                        <go:slidesCustomData xmlns:go="http://customooxmlschemas.google.com/" cellId="231:21:14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232" name="Google Shape;232;g3b93a63ee67_0_12"/>
          <p:cNvSpPr txBox="1"/>
          <p:nvPr/>
        </p:nvSpPr>
        <p:spPr>
          <a:xfrm>
            <a:off x="213088" y="261238"/>
            <a:ext cx="8896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2025 yılında marka aranma hacmi, bir önceki yıla kıyasla </a:t>
            </a:r>
            <a:r>
              <a:rPr b="1" i="0" lang="tr-TR" sz="13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%1 </a:t>
            </a:r>
            <a:r>
              <a:rPr b="0" i="0" lang="tr-TR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artış göstermiştir. Geçtiğimiz aya göre ise </a:t>
            </a:r>
            <a:r>
              <a:rPr b="1" i="0" lang="tr-TR" sz="12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%22</a:t>
            </a:r>
            <a:r>
              <a:rPr b="0" i="0" lang="tr-TR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artmıştır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Bir önceki yıla kıyasla arama hacminde diğer markalarda ise düşüş yaşanmıştır.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g325af48fd31_0_5"/>
          <p:cNvCxnSpPr/>
          <p:nvPr/>
        </p:nvCxnSpPr>
        <p:spPr>
          <a:xfrm>
            <a:off x="212988" y="750961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8" name="Google Shape;238;g325af48fd31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25af48fd31_0_5"/>
          <p:cNvSpPr txBox="1"/>
          <p:nvPr/>
        </p:nvSpPr>
        <p:spPr>
          <a:xfrm>
            <a:off x="802275" y="488443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Analytics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g325af48fd31_0_5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 |  Organik Trafik Ölçümlemesi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41" name="Google Shape;241;g325af48fd31_0_5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512" y="847650"/>
            <a:ext cx="8318561" cy="339563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42" name="Google Shape;242;g325af48fd31_0_5"/>
          <p:cNvSpPr txBox="1"/>
          <p:nvPr/>
        </p:nvSpPr>
        <p:spPr>
          <a:xfrm>
            <a:off x="293400" y="4239875"/>
            <a:ext cx="8557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2025 yılında, </a:t>
            </a:r>
            <a:r>
              <a:rPr b="1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yüksek organik trafik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değeri </a:t>
            </a:r>
            <a:r>
              <a:rPr b="1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Aralık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ayında elde edilirken, en düşük organik trafik değeri </a:t>
            </a:r>
            <a:r>
              <a:rPr b="1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Ağustos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ayında kaydedilmiştir.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2025 yılında 2024 yılına göre en yüksek büyüme oranı ise </a:t>
            </a:r>
            <a:r>
              <a:rPr b="1" i="0" lang="tr-TR" sz="1000" u="none" cap="none" strike="noStrike">
                <a:solidFill>
                  <a:srgbClr val="00B050"/>
                </a:solidFill>
                <a:latin typeface="Inter"/>
                <a:ea typeface="Inter"/>
                <a:cs typeface="Inter"/>
                <a:sym typeface="Inter"/>
              </a:rPr>
              <a:t>%44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ile Mart ayında gerçekleşmiştir.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g325af48fd31_0_5"/>
          <p:cNvSpPr txBox="1"/>
          <p:nvPr/>
        </p:nvSpPr>
        <p:spPr>
          <a:xfrm>
            <a:off x="213075" y="261250"/>
            <a:ext cx="888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2025 yılında organik trafik, 2024’e göre </a:t>
            </a:r>
            <a:r>
              <a:rPr b="1" i="0" lang="tr-TR" sz="13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%0.3</a:t>
            </a:r>
            <a:r>
              <a:rPr b="0" i="0" lang="tr-TR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artmıştır. Organik Trafik 2024 Aralık ayına göre</a:t>
            </a:r>
            <a:r>
              <a:rPr b="1" i="0" lang="tr-TR" sz="13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 %7</a:t>
            </a:r>
            <a:r>
              <a:rPr b="1" i="0" lang="tr-TR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tr-TR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artmış, geçtiğimiz aya göre ise </a:t>
            </a:r>
            <a:r>
              <a:rPr b="1" i="0" lang="tr-TR" sz="13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%15</a:t>
            </a:r>
            <a:r>
              <a:rPr b="0" i="0" lang="tr-TR" sz="1300" u="none" cap="none" strike="noStrike">
                <a:solidFill>
                  <a:srgbClr val="70AD4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tr-TR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artmıştır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248;g3a3be2500b3_0_93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9" name="Google Shape;249;g3a3be2500b3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a3be2500b3_0_93"/>
          <p:cNvSpPr txBox="1"/>
          <p:nvPr/>
        </p:nvSpPr>
        <p:spPr>
          <a:xfrm>
            <a:off x="213075" y="294413"/>
            <a:ext cx="8889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 Yılı Landing Page Özelinde Organic Session Durumu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a3be2500b3_0_93"/>
          <p:cNvSpPr txBox="1"/>
          <p:nvPr/>
        </p:nvSpPr>
        <p:spPr>
          <a:xfrm>
            <a:off x="954675" y="488443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Analytics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g3a3be2500b3_0_93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|  Organic Session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53" name="Google Shape;253;g3a3be2500b3_0_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675" y="760913"/>
            <a:ext cx="8340193" cy="39711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g3b927160d8b_0_5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9" name="Google Shape;259;g3b927160d8b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b927160d8b_0_5"/>
          <p:cNvSpPr txBox="1"/>
          <p:nvPr/>
        </p:nvSpPr>
        <p:spPr>
          <a:xfrm>
            <a:off x="213075" y="294413"/>
            <a:ext cx="8889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 Aralık Landing Page Özelinde Organic Session Durumu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b927160d8b_0_5"/>
          <p:cNvSpPr txBox="1"/>
          <p:nvPr/>
        </p:nvSpPr>
        <p:spPr>
          <a:xfrm>
            <a:off x="954675" y="488443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Analytics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g3b927160d8b_0_5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|  Organic Session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63" name="Google Shape;263;g3b927160d8b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925" y="804863"/>
            <a:ext cx="8340193" cy="39711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b5706e36aa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775" y="1005225"/>
            <a:ext cx="1859053" cy="2765908"/>
          </a:xfrm>
          <a:prstGeom prst="rect">
            <a:avLst/>
          </a:prstGeom>
          <a:noFill/>
          <a:ln>
            <a:noFill/>
          </a:ln>
          <a:effectLst>
            <a:outerShdw blurRad="65730" rotWithShape="0" algn="bl" dir="5400000" dist="21910">
              <a:srgbClr val="000000">
                <a:alpha val="49803"/>
              </a:srgbClr>
            </a:outerShdw>
          </a:effectLst>
        </p:spPr>
      </p:pic>
      <p:pic>
        <p:nvPicPr>
          <p:cNvPr id="269" name="Google Shape;269;g3b5706e36aa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9832" y="1005225"/>
            <a:ext cx="2285275" cy="2765908"/>
          </a:xfrm>
          <a:prstGeom prst="rect">
            <a:avLst/>
          </a:prstGeom>
          <a:noFill/>
          <a:ln>
            <a:noFill/>
          </a:ln>
          <a:effectLst>
            <a:outerShdw blurRad="65730" rotWithShape="0" algn="bl" dir="5400000" dist="21910">
              <a:srgbClr val="000000">
                <a:alpha val="49803"/>
              </a:srgbClr>
            </a:outerShdw>
          </a:effectLst>
        </p:spPr>
      </p:pic>
      <p:cxnSp>
        <p:nvCxnSpPr>
          <p:cNvPr id="270" name="Google Shape;270;g3b5706e36aa_0_44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1" name="Google Shape;271;g3b5706e36aa_0_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b5706e36aa_0_44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|  Markalar Visibility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3" name="Google Shape;273;g3b5706e36aa_0_44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g3b5706e36aa_0_44"/>
          <p:cNvSpPr txBox="1"/>
          <p:nvPr/>
        </p:nvSpPr>
        <p:spPr>
          <a:xfrm>
            <a:off x="200775" y="315263"/>
            <a:ext cx="88899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2025 &amp; 2024 Aralık Visibility Değişimi</a:t>
            </a:r>
            <a:endParaRPr b="1" i="0" sz="13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g3b5706e36aa_0_44"/>
          <p:cNvSpPr txBox="1"/>
          <p:nvPr/>
        </p:nvSpPr>
        <p:spPr>
          <a:xfrm>
            <a:off x="902125" y="4558500"/>
            <a:ext cx="767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8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SEOMonitor // SEO Visibility, bir web sitesinin belirli bir anahtar kelime listesindeki sıralama performansını ifade etmek için anahtar kelimelerin hem sıralamalarını hem de arama hacimlerini dikkate alan grup düzeyinde bir ölçümdür.</a:t>
            </a:r>
            <a:endParaRPr b="0" i="0" sz="8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8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Görünürlük (visibility) yüzde olarak ifade edilir ve anahtar kelimelerin toplam arama hacminin gösterim payı olarak hesaplanır. </a:t>
            </a:r>
            <a:endParaRPr b="0" i="0" sz="8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g3b5706e36aa_0_44"/>
          <p:cNvSpPr/>
          <p:nvPr/>
        </p:nvSpPr>
        <p:spPr>
          <a:xfrm>
            <a:off x="200777" y="1005230"/>
            <a:ext cx="4144500" cy="406200"/>
          </a:xfrm>
          <a:prstGeom prst="rect">
            <a:avLst/>
          </a:prstGeom>
          <a:noFill/>
          <a:ln cap="flat" cmpd="sng" w="32875">
            <a:solidFill>
              <a:srgbClr val="70A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150" lIns="105150" spcFirstLastPara="1" rIns="105150" wrap="square" tIns="105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0"/>
              <a:buFont typeface="Arial"/>
              <a:buNone/>
            </a:pPr>
            <a:r>
              <a:t/>
            </a:r>
            <a:endParaRPr b="0" i="0" sz="16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b5706e36aa_0_44"/>
          <p:cNvSpPr txBox="1"/>
          <p:nvPr/>
        </p:nvSpPr>
        <p:spPr>
          <a:xfrm>
            <a:off x="4469375" y="990925"/>
            <a:ext cx="1600800" cy="539100"/>
          </a:xfrm>
          <a:prstGeom prst="rect">
            <a:avLst/>
          </a:prstGeom>
          <a:noFill/>
          <a:ln cap="flat" cmpd="sng" w="19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150" lIns="93150" spcFirstLastPara="1" rIns="93150" wrap="square" tIns="9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rPr b="1" i="0" lang="tr-TR" sz="1124" u="none" cap="none" strike="noStrike">
                <a:solidFill>
                  <a:srgbClr val="EAAC38"/>
                </a:solidFill>
                <a:latin typeface="Calibri"/>
                <a:ea typeface="Calibri"/>
                <a:cs typeface="Calibri"/>
                <a:sym typeface="Calibri"/>
              </a:rPr>
              <a:t>2025 Dec vs 2024 Dec</a:t>
            </a:r>
            <a:endParaRPr b="1" i="0" sz="1124" u="none" cap="none" strike="noStrike">
              <a:solidFill>
                <a:srgbClr val="EAA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rPr b="1" i="0" lang="tr-TR" sz="1124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Desktop: </a:t>
            </a:r>
            <a:r>
              <a:rPr b="1" i="0" lang="tr-TR" sz="1124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2.4%,</a:t>
            </a:r>
            <a:endParaRPr b="1" i="0" sz="1124" u="none" cap="none" strike="noStrik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rPr b="1" i="0" lang="tr-TR" sz="1124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Mobile:</a:t>
            </a:r>
            <a:r>
              <a:rPr b="1" i="0" lang="tr-TR" sz="1124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3.3% </a:t>
            </a:r>
            <a:r>
              <a:rPr b="0" i="0" lang="tr-TR" sz="11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artmıştır</a:t>
            </a:r>
            <a:endParaRPr b="0" i="0" sz="112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b5706e36aa_0_44"/>
          <p:cNvSpPr txBox="1"/>
          <p:nvPr/>
        </p:nvSpPr>
        <p:spPr>
          <a:xfrm>
            <a:off x="6531000" y="970275"/>
            <a:ext cx="19797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tr-TR" sz="1000" u="none" cap="none" strike="noStrike">
                <a:solidFill>
                  <a:srgbClr val="25347B"/>
                </a:solidFill>
                <a:latin typeface="Inter"/>
                <a:ea typeface="Inter"/>
                <a:cs typeface="Inter"/>
                <a:sym typeface="Inter"/>
              </a:rPr>
              <a:t>Takip Edilen Kelimelerdeki Arama Trendi Değişimi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g3b5706e36aa_0_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5400" y="1576375"/>
            <a:ext cx="2741400" cy="247209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" name="Google Shape;284;g3b5706e36aa_0_66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5" name="Google Shape;285;g3b5706e36aa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b5706e36aa_0_66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|  Visibility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87" name="Google Shape;287;g3b5706e36aa_0_66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g3b5706e36aa_0_66"/>
          <p:cNvCxnSpPr/>
          <p:nvPr/>
        </p:nvCxnSpPr>
        <p:spPr>
          <a:xfrm>
            <a:off x="213063" y="696423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g3b5706e36aa_0_66"/>
          <p:cNvSpPr txBox="1"/>
          <p:nvPr/>
        </p:nvSpPr>
        <p:spPr>
          <a:xfrm>
            <a:off x="213075" y="315263"/>
            <a:ext cx="88899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Visibility Değişimi</a:t>
            </a:r>
            <a:endParaRPr b="1" i="0" sz="13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g3b5706e36aa_0_66"/>
          <p:cNvSpPr txBox="1"/>
          <p:nvPr/>
        </p:nvSpPr>
        <p:spPr>
          <a:xfrm>
            <a:off x="5879500" y="3579800"/>
            <a:ext cx="33687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2025 Ocak-Aralık arasındaki 12 aylık visibility skorumuz Desktop’ta</a:t>
            </a:r>
            <a:r>
              <a:rPr b="0" i="0" lang="tr-TR" sz="1000" u="none" cap="none" strike="noStrike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tr-TR" sz="1000" u="none" cap="none" strike="noStrike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2.6%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Mobile’da ise </a:t>
            </a:r>
            <a:r>
              <a:rPr b="1" i="0" lang="tr-TR" sz="1000" u="none" cap="none" strike="noStrike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3.1%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artmıştır.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Google Shape;291;g3b5706e36aa_0_66"/>
          <p:cNvSpPr txBox="1"/>
          <p:nvPr/>
        </p:nvSpPr>
        <p:spPr>
          <a:xfrm>
            <a:off x="4055238" y="2218813"/>
            <a:ext cx="1656000" cy="539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rPr b="1" i="0" lang="tr-TR" sz="1100" u="none" cap="none" strike="noStrike">
                <a:solidFill>
                  <a:srgbClr val="EAAC38"/>
                </a:solidFill>
                <a:latin typeface="Calibri"/>
                <a:ea typeface="Calibri"/>
                <a:cs typeface="Calibri"/>
                <a:sym typeface="Calibri"/>
              </a:rPr>
              <a:t>2025 Dec vs 2025 Nov</a:t>
            </a:r>
            <a:endParaRPr b="1" i="0" sz="1100" u="none" cap="none" strike="noStrike">
              <a:solidFill>
                <a:srgbClr val="E66B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rPr b="1" i="0" lang="tr-TR" sz="11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Desktop: </a:t>
            </a:r>
            <a:r>
              <a:rPr b="1" i="0" lang="tr-TR" sz="1124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0.9%</a:t>
            </a: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rPr b="1" i="0" lang="tr-TR" sz="11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Mobile:</a:t>
            </a:r>
            <a:r>
              <a:rPr b="1" i="0" lang="tr-TR" sz="1100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tr-TR" sz="1124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2.3%</a:t>
            </a:r>
            <a:r>
              <a:rPr b="1" i="0" lang="tr-TR" sz="1100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artmıştır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b5706e36aa_0_66"/>
          <p:cNvSpPr txBox="1"/>
          <p:nvPr/>
        </p:nvSpPr>
        <p:spPr>
          <a:xfrm>
            <a:off x="4055264" y="3631426"/>
            <a:ext cx="1784400" cy="539100"/>
          </a:xfrm>
          <a:prstGeom prst="rect">
            <a:avLst/>
          </a:prstGeom>
          <a:noFill/>
          <a:ln cap="flat" cmpd="sng" w="19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150" lIns="93150" spcFirstLastPara="1" rIns="93150" wrap="square" tIns="9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rPr b="1" i="0" lang="tr-TR" sz="1124" u="none" cap="none" strike="noStrike">
                <a:solidFill>
                  <a:srgbClr val="EAAC38"/>
                </a:solidFill>
                <a:latin typeface="Calibri"/>
                <a:ea typeface="Calibri"/>
                <a:cs typeface="Calibri"/>
                <a:sym typeface="Calibri"/>
              </a:rPr>
              <a:t>2025 Jan&amp;Dec</a:t>
            </a:r>
            <a:endParaRPr b="1" i="0" sz="1124" u="none" cap="none" strike="noStrike">
              <a:solidFill>
                <a:srgbClr val="EAA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rPr b="1" i="0" lang="tr-TR" sz="1124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Desktop: </a:t>
            </a:r>
            <a:r>
              <a:rPr b="1" i="0" lang="tr-TR" sz="1124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2.6%,</a:t>
            </a:r>
            <a:endParaRPr b="1" i="0" sz="1124" u="none" cap="none" strike="noStrike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rPr b="1" i="0" lang="tr-TR" sz="1124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Mobile:</a:t>
            </a:r>
            <a:r>
              <a:rPr b="1" i="0" lang="tr-TR" sz="1124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3.1% </a:t>
            </a:r>
            <a:r>
              <a:rPr b="0" i="0" lang="tr-TR" sz="11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artmıştır</a:t>
            </a:r>
            <a:endParaRPr b="0" i="0" sz="112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b5706e36aa_0_66"/>
          <p:cNvSpPr txBox="1"/>
          <p:nvPr/>
        </p:nvSpPr>
        <p:spPr>
          <a:xfrm>
            <a:off x="4055263" y="909025"/>
            <a:ext cx="1656000" cy="539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rPr b="1" i="0" lang="tr-TR" sz="1100" u="none" cap="none" strike="noStrike">
                <a:solidFill>
                  <a:srgbClr val="EAAC38"/>
                </a:solidFill>
                <a:latin typeface="Calibri"/>
                <a:ea typeface="Calibri"/>
                <a:cs typeface="Calibri"/>
                <a:sym typeface="Calibri"/>
              </a:rPr>
              <a:t>2024 Dec vs 2024 Nov</a:t>
            </a:r>
            <a:endParaRPr b="1" i="0" sz="1100" u="none" cap="none" strike="noStrike">
              <a:solidFill>
                <a:srgbClr val="E66B8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rPr b="1" i="0" lang="tr-TR" sz="11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Desktop: </a:t>
            </a:r>
            <a:r>
              <a:rPr b="1" i="0" lang="tr-TR" sz="1124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0.1%</a:t>
            </a: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4"/>
              <a:buFont typeface="Arial"/>
              <a:buNone/>
            </a:pPr>
            <a:r>
              <a:rPr b="1" i="0" lang="tr-TR" sz="11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Mobile:</a:t>
            </a:r>
            <a:r>
              <a:rPr b="1" i="0" lang="tr-TR" sz="1100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tr-TR" sz="1124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0.3%</a:t>
            </a:r>
            <a:r>
              <a:rPr b="1" i="0" lang="tr-TR" sz="1100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artmıştır</a:t>
            </a:r>
            <a:endParaRPr b="1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b5706e36aa_0_66"/>
          <p:cNvSpPr txBox="1"/>
          <p:nvPr/>
        </p:nvSpPr>
        <p:spPr>
          <a:xfrm>
            <a:off x="5879500" y="2233925"/>
            <a:ext cx="3223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Visibility oranı geçtiğimiz aya göre ise Desktop’ta</a:t>
            </a:r>
            <a:r>
              <a:rPr b="0" i="0" lang="tr-TR" sz="1000" u="none" cap="none" strike="noStrike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tr-TR" sz="1000" u="none" cap="none" strike="noStrike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0.9%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Mobile’da ise </a:t>
            </a:r>
            <a:r>
              <a:rPr b="1" i="0" lang="tr-TR" sz="1000" u="none" cap="none" strike="noStrike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2.3%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artmıştır.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g3b5706e36aa_0_66"/>
          <p:cNvSpPr txBox="1"/>
          <p:nvPr/>
        </p:nvSpPr>
        <p:spPr>
          <a:xfrm>
            <a:off x="5839675" y="909025"/>
            <a:ext cx="32235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Visibility oranı geçtiğimiz sene Aralık ayında Desktop’ta</a:t>
            </a:r>
            <a:r>
              <a:rPr b="0" i="0" lang="tr-TR" sz="1000" u="none" cap="none" strike="noStrike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tr-TR" sz="1124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0.1%</a:t>
            </a: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Mobile’da ise </a:t>
            </a:r>
            <a:r>
              <a:rPr b="1" i="0" lang="tr-TR" sz="1124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0.3%</a:t>
            </a: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artmıştır.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g3b5706e36aa_0_66"/>
          <p:cNvSpPr txBox="1"/>
          <p:nvPr/>
        </p:nvSpPr>
        <p:spPr>
          <a:xfrm>
            <a:off x="902125" y="4782225"/>
            <a:ext cx="767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SEOMonitor // SEO Visibility, bir web sitesinin belirli bir anahtar kelime listesindeki sıralama performansını ifade etmek için anahtar kelimelerin hem sıralamalarını hem de arama hacimlerini dikkate alan grup düzeyinde bir ölçümdür.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7" name="Google Shape;297;g3b5706e36aa_0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213" y="859550"/>
            <a:ext cx="723475" cy="153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3b5706e36aa_0_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025" y="3569350"/>
            <a:ext cx="710681" cy="1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g3b5706e36aa_0_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225" y="2137450"/>
            <a:ext cx="529062" cy="1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3b5706e36aa_0_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16" y="1012750"/>
            <a:ext cx="1150885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301" name="Google Shape;301;g3b5706e36aa_0_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57900" y="1012777"/>
            <a:ext cx="2112792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302" name="Google Shape;302;g3b5706e36aa_0_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57900" y="2291050"/>
            <a:ext cx="2112793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303" name="Google Shape;303;g3b5706e36aa_0_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16" y="2291050"/>
            <a:ext cx="1150885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304" name="Google Shape;304;g3b5706e36aa_0_6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57899" y="3722550"/>
            <a:ext cx="2112801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305" name="Google Shape;305;g3b5706e36aa_0_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016" y="3729000"/>
            <a:ext cx="1150885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32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g321e4e9d6f5_0_173"/>
          <p:cNvGrpSpPr/>
          <p:nvPr/>
        </p:nvGrpSpPr>
        <p:grpSpPr>
          <a:xfrm>
            <a:off x="522900" y="1871406"/>
            <a:ext cx="6103800" cy="461700"/>
            <a:chOff x="522900" y="1747381"/>
            <a:chExt cx="6103800" cy="461700"/>
          </a:xfrm>
        </p:grpSpPr>
        <p:sp>
          <p:nvSpPr>
            <p:cNvPr id="311" name="Google Shape;311;g321e4e9d6f5_0_173"/>
            <p:cNvSpPr txBox="1"/>
            <p:nvPr/>
          </p:nvSpPr>
          <p:spPr>
            <a:xfrm>
              <a:off x="522900" y="1747381"/>
              <a:ext cx="922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12" name="Google Shape;312;g321e4e9d6f5_0_173"/>
            <p:cNvSpPr txBox="1"/>
            <p:nvPr/>
          </p:nvSpPr>
          <p:spPr>
            <a:xfrm>
              <a:off x="1150500" y="1747381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Genel Durum &amp; Google Görünürlüğü</a:t>
              </a:r>
              <a:endParaRPr b="0" i="0" sz="18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313" name="Google Shape;313;g321e4e9d6f5_0_173"/>
          <p:cNvGrpSpPr/>
          <p:nvPr/>
        </p:nvGrpSpPr>
        <p:grpSpPr>
          <a:xfrm>
            <a:off x="437000" y="2333100"/>
            <a:ext cx="6103800" cy="677100"/>
            <a:chOff x="492500" y="2629100"/>
            <a:chExt cx="6103800" cy="677100"/>
          </a:xfrm>
        </p:grpSpPr>
        <p:sp>
          <p:nvSpPr>
            <p:cNvPr id="314" name="Google Shape;314;g321e4e9d6f5_0_173"/>
            <p:cNvSpPr txBox="1"/>
            <p:nvPr/>
          </p:nvSpPr>
          <p:spPr>
            <a:xfrm>
              <a:off x="492500" y="2629100"/>
              <a:ext cx="9222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tr-TR" sz="3200" u="none" cap="none" strike="noStrike">
                  <a:solidFill>
                    <a:srgbClr val="FF7B52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i="0" sz="3200" u="none" cap="none" strike="noStrike">
                <a:solidFill>
                  <a:srgbClr val="FF7B52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15" name="Google Shape;315;g321e4e9d6f5_0_173"/>
            <p:cNvSpPr txBox="1"/>
            <p:nvPr/>
          </p:nvSpPr>
          <p:spPr>
            <a:xfrm>
              <a:off x="1120100" y="2736800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tr-TR" sz="3200" u="none" cap="none" strike="noStrike">
                  <a:solidFill>
                    <a:srgbClr val="FF7B52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Keyword Rank</a:t>
              </a:r>
              <a:endParaRPr b="0" i="0" sz="3200" u="none" cap="none" strike="noStrike">
                <a:solidFill>
                  <a:srgbClr val="FF7B52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pic>
        <p:nvPicPr>
          <p:cNvPr id="316" name="Google Shape;316;g321e4e9d6f5_0_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300" y="0"/>
            <a:ext cx="461700" cy="461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g321e4e9d6f5_0_173"/>
          <p:cNvGrpSpPr/>
          <p:nvPr/>
        </p:nvGrpSpPr>
        <p:grpSpPr>
          <a:xfrm>
            <a:off x="538099" y="2968810"/>
            <a:ext cx="6103801" cy="461700"/>
            <a:chOff x="522899" y="3034006"/>
            <a:chExt cx="6103801" cy="461700"/>
          </a:xfrm>
        </p:grpSpPr>
        <p:sp>
          <p:nvSpPr>
            <p:cNvPr id="318" name="Google Shape;318;g321e4e9d6f5_0_173"/>
            <p:cNvSpPr txBox="1"/>
            <p:nvPr/>
          </p:nvSpPr>
          <p:spPr>
            <a:xfrm>
              <a:off x="522899" y="3066256"/>
              <a:ext cx="627600" cy="39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19" name="Google Shape;319;g321e4e9d6f5_0_173"/>
            <p:cNvSpPr txBox="1"/>
            <p:nvPr/>
          </p:nvSpPr>
          <p:spPr>
            <a:xfrm>
              <a:off x="1150500" y="3034006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Planlanan &amp; Devam Eden İşler</a:t>
              </a:r>
              <a:endParaRPr b="0" i="0" sz="1800" u="none" cap="none" strike="noStrike">
                <a:solidFill>
                  <a:srgbClr val="476B67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g337164b077c_0_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37164b077c_0_179"/>
          <p:cNvSpPr txBox="1"/>
          <p:nvPr/>
        </p:nvSpPr>
        <p:spPr>
          <a:xfrm>
            <a:off x="802275" y="4937088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SEOMonitor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g337164b077c_0_179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| Anahtar Kelime Sıralamaları 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327" name="Google Shape;327;g337164b077c_0_179"/>
          <p:cNvCxnSpPr/>
          <p:nvPr/>
        </p:nvCxnSpPr>
        <p:spPr>
          <a:xfrm>
            <a:off x="212988" y="643398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g337164b077c_0_179"/>
          <p:cNvSpPr txBox="1"/>
          <p:nvPr/>
        </p:nvSpPr>
        <p:spPr>
          <a:xfrm>
            <a:off x="213075" y="305213"/>
            <a:ext cx="619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2025 Top Kelime Sıralamaları</a:t>
            </a:r>
            <a:endParaRPr b="0" i="0" sz="13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29" name="Google Shape;329;g337164b077c_0_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5825" y="650368"/>
            <a:ext cx="1138120" cy="23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330" name="Google Shape;330;g337164b077c_0_1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933725"/>
            <a:ext cx="3974849" cy="400383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331" name="Google Shape;331;g337164b077c_0_1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1625" y="933725"/>
            <a:ext cx="3974849" cy="40038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g3b5706e36aa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b5706e36aa_0_157"/>
          <p:cNvSpPr txBox="1"/>
          <p:nvPr/>
        </p:nvSpPr>
        <p:spPr>
          <a:xfrm>
            <a:off x="802275" y="4968313"/>
            <a:ext cx="6718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900" u="none" cap="none" strike="noStrik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Source: SEOMonitor</a:t>
            </a:r>
            <a:endParaRPr b="0" i="0" sz="900" u="none" cap="none" strike="noStrik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g3b5706e36aa_0_157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| Anahtar Kelime Sıralamaları 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339" name="Google Shape;339;g3b5706e36aa_0_157"/>
          <p:cNvCxnSpPr/>
          <p:nvPr/>
        </p:nvCxnSpPr>
        <p:spPr>
          <a:xfrm>
            <a:off x="212988" y="643398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g3b5706e36aa_0_157"/>
          <p:cNvSpPr txBox="1"/>
          <p:nvPr/>
        </p:nvSpPr>
        <p:spPr>
          <a:xfrm>
            <a:off x="213075" y="305213"/>
            <a:ext cx="619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Aralık Kelime Sıralamaları</a:t>
            </a:r>
            <a:endParaRPr b="1" i="0" sz="13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1" name="Google Shape;341;g3b5706e36aa_0_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000" y="743600"/>
            <a:ext cx="4094700" cy="412453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342" name="Google Shape;342;g3b5706e36aa_0_1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0350" y="743600"/>
            <a:ext cx="4094700" cy="41245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332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g321e7bec024_0_7"/>
          <p:cNvGrpSpPr/>
          <p:nvPr/>
        </p:nvGrpSpPr>
        <p:grpSpPr>
          <a:xfrm>
            <a:off x="522899" y="1871403"/>
            <a:ext cx="6103800" cy="461700"/>
            <a:chOff x="522900" y="1871403"/>
            <a:chExt cx="6103800" cy="461700"/>
          </a:xfrm>
        </p:grpSpPr>
        <p:sp>
          <p:nvSpPr>
            <p:cNvPr id="348" name="Google Shape;348;g321e7bec024_0_7"/>
            <p:cNvSpPr txBox="1"/>
            <p:nvPr/>
          </p:nvSpPr>
          <p:spPr>
            <a:xfrm>
              <a:off x="522900" y="1871403"/>
              <a:ext cx="627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01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49" name="Google Shape;349;g321e7bec024_0_7"/>
            <p:cNvSpPr txBox="1"/>
            <p:nvPr/>
          </p:nvSpPr>
          <p:spPr>
            <a:xfrm>
              <a:off x="1150500" y="1871403"/>
              <a:ext cx="5476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Google Search Console Metrikleri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g321e7bec024_0_7"/>
          <p:cNvGrpSpPr/>
          <p:nvPr/>
        </p:nvGrpSpPr>
        <p:grpSpPr>
          <a:xfrm>
            <a:off x="522899" y="2279165"/>
            <a:ext cx="6065625" cy="461700"/>
            <a:chOff x="522900" y="2202750"/>
            <a:chExt cx="6065625" cy="461700"/>
          </a:xfrm>
        </p:grpSpPr>
        <p:sp>
          <p:nvSpPr>
            <p:cNvPr id="351" name="Google Shape;351;g321e7bec024_0_7"/>
            <p:cNvSpPr txBox="1"/>
            <p:nvPr/>
          </p:nvSpPr>
          <p:spPr>
            <a:xfrm>
              <a:off x="522900" y="2202750"/>
              <a:ext cx="665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02</a:t>
              </a:r>
              <a:endParaRPr b="0" i="0" sz="1800" u="none" cap="none" strike="noStrike">
                <a:solidFill>
                  <a:srgbClr val="476B67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52" name="Google Shape;352;g321e7bec024_0_7"/>
            <p:cNvSpPr txBox="1"/>
            <p:nvPr/>
          </p:nvSpPr>
          <p:spPr>
            <a:xfrm>
              <a:off x="1139625" y="2202750"/>
              <a:ext cx="544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tr-TR" sz="1800" u="none" cap="none" strike="noStrike">
                  <a:solidFill>
                    <a:srgbClr val="476B67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Keyword Rank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g321e7bec024_0_7"/>
          <p:cNvGrpSpPr/>
          <p:nvPr/>
        </p:nvGrpSpPr>
        <p:grpSpPr>
          <a:xfrm>
            <a:off x="522888" y="2740880"/>
            <a:ext cx="7240514" cy="677100"/>
            <a:chOff x="492500" y="2594250"/>
            <a:chExt cx="7240514" cy="677100"/>
          </a:xfrm>
        </p:grpSpPr>
        <p:sp>
          <p:nvSpPr>
            <p:cNvPr id="354" name="Google Shape;354;g321e7bec024_0_7"/>
            <p:cNvSpPr txBox="1"/>
            <p:nvPr/>
          </p:nvSpPr>
          <p:spPr>
            <a:xfrm>
              <a:off x="492500" y="2594250"/>
              <a:ext cx="9222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tr-TR" sz="3200" u="none" cap="none" strike="noStrike">
                  <a:solidFill>
                    <a:srgbClr val="FF7B52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03</a:t>
              </a:r>
              <a:endParaRPr b="0" i="0" sz="3200" u="none" cap="none" strike="noStrike">
                <a:solidFill>
                  <a:srgbClr val="FF7B52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355" name="Google Shape;355;g321e7bec024_0_7"/>
            <p:cNvSpPr txBox="1"/>
            <p:nvPr/>
          </p:nvSpPr>
          <p:spPr>
            <a:xfrm>
              <a:off x="1120114" y="2701945"/>
              <a:ext cx="661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tr-TR" sz="3200" u="none" cap="none" strike="noStrike">
                  <a:solidFill>
                    <a:srgbClr val="FF7B52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Neler Yaptık</a:t>
              </a:r>
              <a:endParaRPr b="0" i="0" sz="3200" u="none" cap="none" strike="noStrike">
                <a:solidFill>
                  <a:srgbClr val="FF7B52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pic>
        <p:nvPicPr>
          <p:cNvPr id="356" name="Google Shape;356;g321e7bec024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300" y="0"/>
            <a:ext cx="4617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g321e7bec024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21e7bec024_0_23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 |  Next Step 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63" name="Google Shape;363;g321e7bec024_0_23"/>
          <p:cNvSpPr txBox="1"/>
          <p:nvPr/>
        </p:nvSpPr>
        <p:spPr>
          <a:xfrm>
            <a:off x="238100" y="611163"/>
            <a:ext cx="4473600" cy="4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Kategori URL Yönlendirme 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Kategori URL/Navigasyon Optimizasyonu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Sitemap.xml Optimizasyonu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Duplicate URL Yönlendirme Listesi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Duplicate URL Yönlendirme No Response Sorunu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Ürün Detay Sayfaları Heading Tag Önerileri &amp; Güncellenmesi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Kategori Sayfaları H1 Optimizasyonu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Meta Title &amp; Description Optimizasyon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Ürün Detay Sayfaları Heading Tag Önerileri &amp; Güncellenmesi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Kategori Sayfaları H1 Optimizasyonu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- 75 adet Kategori İçerik Optimizasyonu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4" name="Google Shape;364;g321e7bec024_0_23"/>
          <p:cNvCxnSpPr/>
          <p:nvPr/>
        </p:nvCxnSpPr>
        <p:spPr>
          <a:xfrm>
            <a:off x="142588" y="577098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g321e7bec024_0_23"/>
          <p:cNvSpPr txBox="1"/>
          <p:nvPr/>
        </p:nvSpPr>
        <p:spPr>
          <a:xfrm>
            <a:off x="142604" y="97200"/>
            <a:ext cx="6370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tr-TR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2025’te Neler Yaptık?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g3b5706e36aa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5422" y="4790253"/>
            <a:ext cx="298578" cy="353247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b5706e36aa_0_186"/>
          <p:cNvSpPr/>
          <p:nvPr/>
        </p:nvSpPr>
        <p:spPr>
          <a:xfrm>
            <a:off x="291125" y="52900"/>
            <a:ext cx="27414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7B52"/>
              </a:buClr>
              <a:buSzPts val="2400"/>
              <a:buFont typeface="Outfit"/>
              <a:buNone/>
            </a:pPr>
            <a:r>
              <a:rPr b="1" i="0" lang="tr-TR" sz="900" u="none" cap="none" strike="noStrike">
                <a:solidFill>
                  <a:srgbClr val="FF7B52"/>
                </a:solidFill>
                <a:latin typeface="Outfit"/>
                <a:ea typeface="Outfit"/>
                <a:cs typeface="Outfit"/>
                <a:sym typeface="Outfit"/>
              </a:rPr>
              <a:t>Loft  |  Next Step </a:t>
            </a:r>
            <a:endParaRPr b="1" i="0" sz="9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372" name="Google Shape;372;g3b5706e36aa_0_186"/>
          <p:cNvCxnSpPr/>
          <p:nvPr/>
        </p:nvCxnSpPr>
        <p:spPr>
          <a:xfrm>
            <a:off x="142588" y="577098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g3b5706e36aa_0_186"/>
          <p:cNvSpPr txBox="1"/>
          <p:nvPr/>
        </p:nvSpPr>
        <p:spPr>
          <a:xfrm>
            <a:off x="212875" y="462750"/>
            <a:ext cx="4526100" cy="4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Breadcrumb Optimizasyonu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Sitemap.xml Optimizasyonu &amp; Kontrolleri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Robots.txt Güncellemeleri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- 404 ve 301 Hatası Veren Site İçi Linklerin Güncellenmesi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Site Hızı İyileştirmeleri ( Pagespeed)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Toxic Backlink İncelemesi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Kategori İçerikleri Geliştirme &amp; FAQ Eklenmesi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Schema Markup Optimizasyonları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Product Meta Title &amp; Description Ruleset Çalışması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Kelime Bazlı Sayfa İncelemeleri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AI görünürlüğü arttıracak aksiyonlar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-"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Structured Data optimizasyonları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-"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AI’ın referans alabileceği içerikler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-"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Backlink’lerde AI tarafından referans alınan sitelere yönelim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-"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FAQ çalışmaları (Informational sorgularda görünürlük arttırma)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-"/>
            </a:pPr>
            <a:r>
              <a:rPr b="0" i="0" lang="tr-TR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LLMS.txt </a:t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4" name="Google Shape;374;g3b5706e36aa_0_186"/>
          <p:cNvCxnSpPr/>
          <p:nvPr/>
        </p:nvCxnSpPr>
        <p:spPr>
          <a:xfrm>
            <a:off x="142588" y="577098"/>
            <a:ext cx="871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g3b5706e36aa_0_186"/>
          <p:cNvSpPr txBox="1"/>
          <p:nvPr/>
        </p:nvSpPr>
        <p:spPr>
          <a:xfrm>
            <a:off x="142604" y="97200"/>
            <a:ext cx="6370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2026’da Neler Planlıyoruz?</a:t>
            </a:r>
            <a:endParaRPr b="1" i="0" sz="13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/>
          <p:nvPr/>
        </p:nvSpPr>
        <p:spPr>
          <a:xfrm>
            <a:off x="1852938" y="2941800"/>
            <a:ext cx="54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www.inbound.com.tr</a:t>
            </a:r>
            <a:endParaRPr b="0" i="0" sz="1400" u="none" cap="none" strike="noStrik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81" name="Google Shape;381;p34"/>
          <p:cNvSpPr txBox="1"/>
          <p:nvPr/>
        </p:nvSpPr>
        <p:spPr>
          <a:xfrm>
            <a:off x="1852925" y="4751550"/>
            <a:ext cx="543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tr-TR" sz="1000" u="none" cap="none" strike="noStrik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All rights reserved. </a:t>
            </a:r>
            <a:r>
              <a:rPr b="0" i="0" lang="tr-TR" sz="1000" u="none" cap="none" strike="noStrike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© 2024</a:t>
            </a:r>
            <a:endParaRPr b="0" i="0" sz="500" u="none" cap="none" strike="noStrike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382" name="Google Shape;382;p34"/>
          <p:cNvPicPr preferRelativeResize="0"/>
          <p:nvPr/>
        </p:nvPicPr>
        <p:blipFill rotWithShape="1">
          <a:blip r:embed="rId3">
            <a:alphaModFix/>
          </a:blip>
          <a:srcRect b="11863" l="0" r="0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9575" y="1993800"/>
            <a:ext cx="2644899" cy="100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4"/>
          <p:cNvSpPr txBox="1"/>
          <p:nvPr/>
        </p:nvSpPr>
        <p:spPr>
          <a:xfrm>
            <a:off x="1852938" y="2941800"/>
            <a:ext cx="543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www.inbound.com.tr</a:t>
            </a:r>
            <a:endParaRPr b="0" i="0" sz="14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1852963" y="4751550"/>
            <a:ext cx="543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tr-TR" sz="800" u="none" cap="none" strike="noStrike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Tüm hakları saklıdır. © 2024</a:t>
            </a:r>
            <a:endParaRPr b="0" i="0" sz="800" u="none" cap="none" strike="noStrike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