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rdoğan Özdemi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7T12:14:53.732">
    <p:pos x="6000" y="0"/>
    <p:text>alttaki tabloya toplamı da ekleyelim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84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inbound-buyuk-o.png" id="16" name="Google Shape;16;p3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 flipH="1">
            <a:off x="-2286000" y="-914400"/>
            <a:ext cx="5029200" cy="896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256032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VitrA | Q1 2026 Performans Analizi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GA4 Traffic &amp; Ecommerce Analizi | YoY ve QoQ Karşılaştırma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bound-yazi-logo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6217920"/>
            <a:ext cx="2103120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nbound-buyuk-o.png" id="26" name="Google Shape;26;p4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 flipH="1">
            <a:off x="-2286000" y="-914400"/>
            <a:ext cx="5029200" cy="89611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457200" y="0"/>
            <a:ext cx="457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SUNUM AKIŞI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bound-kucuk-logo.png" id="28" name="Google Shape;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6400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943600" y="8229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943600" y="107899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Yönetici Özeti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0" y="15361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0" y="1792224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Kanal Bazlı YoY &amp; QoQ Analizi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943600" y="22494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0" y="2505456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Aylık Trend ve Dönüşüm Sapması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943600" y="29626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43600" y="321868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Top Ürün Performansı (Q1 2026)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0" y="36758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943600" y="393192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Kategori &amp; Kanal × Ürün Kesişimi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943600" y="4389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0" y="46451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Migration Stabilizasyon Takibi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943600" y="51023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43600" y="5358384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Değerlendirme ve Öneriler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Yönetici Özeti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5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YÖNETİCİ ÖZETİ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Q1 2026 Performans Özeti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Q1 2026: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Trafik Patlaması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, Revenue Yatay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2026 (1 Oca - 31 Mar 2026) &amp; Q1 2025 (1 Oca - 31 Mar 2025) | YoY karşılaştırma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274320" y="1508760"/>
            <a:ext cx="2697480" cy="1417320"/>
          </a:xfrm>
          <a:prstGeom prst="roundRect">
            <a:avLst>
              <a:gd fmla="val 5161" name="adj"/>
            </a:avLst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411480" y="1645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Sessions (Q1)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11480" y="187452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1.04M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11480" y="2560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YoY: +248.1%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081528" y="1508760"/>
            <a:ext cx="2697480" cy="1417320"/>
          </a:xfrm>
          <a:prstGeom prst="roundRect">
            <a:avLst>
              <a:gd fmla="val 5161" name="adj"/>
            </a:avLst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3218688" y="1645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Users (Q1)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218688" y="187452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486K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218688" y="2560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YoY: +150.8%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888736" y="1508760"/>
            <a:ext cx="2697480" cy="1417320"/>
          </a:xfrm>
          <a:prstGeom prst="roundRect">
            <a:avLst>
              <a:gd fmla="val 516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6025896" y="1645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Purchases (Q1)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025896" y="187452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025896" y="2560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DD2"/>
                </a:solidFill>
                <a:latin typeface="Calibri"/>
                <a:ea typeface="Calibri"/>
                <a:cs typeface="Calibri"/>
                <a:sym typeface="Calibri"/>
              </a:rPr>
              <a:t>YoY: -4.0%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8695944" y="1508760"/>
            <a:ext cx="2697480" cy="1417320"/>
          </a:xfrm>
          <a:prstGeom prst="roundRect">
            <a:avLst>
              <a:gd fmla="val 516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8833104" y="1645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(Q1)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833104" y="187452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₺4.39M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833104" y="2560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DD2"/>
                </a:solidFill>
                <a:latin typeface="Calibri"/>
                <a:ea typeface="Calibri"/>
                <a:cs typeface="Calibri"/>
                <a:sym typeface="Calibri"/>
              </a:rPr>
              <a:t>YoY: -3.1%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74320" y="3200400"/>
            <a:ext cx="5760720" cy="283464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74320" y="3200400"/>
            <a:ext cx="73152" cy="2834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02920" y="33375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KRİTİK TESPİT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02920" y="36118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Sessions ile Revenue Arasında Ayrışma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2920" y="406908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Q1 2026 Sessions </a:t>
            </a: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+%248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YoY büyürken Revenue </a:t>
            </a:r>
            <a:r>
              <a:rPr b="1" i="0" lang="en-US" sz="11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-%3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, Purchases </a:t>
            </a:r>
            <a:r>
              <a:rPr b="1" i="0" lang="en-US" sz="11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-%4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seviyesinde kalmıştır. Bu tablo, </a:t>
            </a: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online.vitra.com.tr → vitra.com.tr domain birleşmesi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ile tutarlıdır: Direct Sessions </a:t>
            </a: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+%313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, Organic Search Sessions </a:t>
            </a: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+%234</a:t>
            </a:r>
            <a:r>
              <a:rPr b="0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artarken aynı oranda Revenue büyümesi gerçekleşmemiştir.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263640" y="3200400"/>
            <a:ext cx="5650992" cy="283464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263640" y="3200400"/>
            <a:ext cx="73152" cy="283464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446520" y="33375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DÖNEMİN ÖNE ÇIKANLARI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46520" y="3703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766560" y="37033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Paid Search en verimli kanal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766560" y="395935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Sessions +%197, Revenue +%43 YoY - tek pozitif divergence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46520" y="4270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766560" y="427024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Social dramatik büyüme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766560" y="45262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Sessions +%452, Revenue +%781 - düşük baz, yüksek ivme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446520" y="4837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766560" y="483717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Direct kanal revenue düşüşü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766560" y="509320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Sessions +%313 olmasına rağmen Revenue -%42, Purchases -%43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46520" y="54041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766560" y="540410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Q4→Q1 sezonsal düşüş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766560" y="566013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Revenue QoQ -%39, Purchases -%32 (Q4 2025 outlier yüksek baz)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85800" y="6446520"/>
            <a:ext cx="2619756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85800" y="6446520"/>
            <a:ext cx="26197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Google Analytics 4 (vitra.com.tr)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 Bazlı YoY &amp; QoQ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7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KANAL ANALİZİ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Q1 YoY ve QoQ Kanal Karşılaştırma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Kanal Bazlı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YoY &amp; QoQ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Karşılaştırma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YoY: Q1 2026 (1 Oca - 31 Mar 2026) &amp; Q1 2025 | QoQ: Q1 2026 &amp; Q4 2025 (1 Eki - 31 Ara 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74320" y="155448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Q1 2026 vs Q1 2025 (YoY)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74320" y="1874520"/>
            <a:ext cx="173736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20040" y="187452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011680" y="1874520"/>
            <a:ext cx="77724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2057400" y="187452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Q1 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2788920" y="1874520"/>
            <a:ext cx="77724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2834640" y="187452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Q1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566160" y="1874520"/>
            <a:ext cx="59436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3611880" y="187452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160520" y="1874520"/>
            <a:ext cx="86868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206240" y="187452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Q1 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029200" y="1874520"/>
            <a:ext cx="77724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074920" y="187452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Q1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806440" y="1874520"/>
            <a:ext cx="50292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852160" y="1874520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4320" y="2258568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47472" y="225856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2011680" y="225856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161K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788920" y="225856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537K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593592" y="2304288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566160" y="2258568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+234%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160520" y="2258568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₺1.94M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029200" y="225856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₺1.86M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833872" y="2304288"/>
            <a:ext cx="4480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806440" y="225856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74320" y="2642616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47472" y="264261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011680" y="264261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70K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788920" y="264261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207K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593592" y="2688336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566160" y="2642616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+197%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160520" y="2642616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₺1.13M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029200" y="264261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₺1.63M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833872" y="2688336"/>
            <a:ext cx="4480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806440" y="2642616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74320" y="3026664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47472" y="302666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011680" y="3026664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788920" y="3026664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167K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593592" y="3072384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566160" y="3026664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+313%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160520" y="302666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₺1.06M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029200" y="3026664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₺613K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833872" y="3072384"/>
            <a:ext cx="4480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806440" y="302666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-42%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74320" y="3410712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47472" y="341071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Social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011680" y="341071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788920" y="341071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68K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593592" y="3456432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566160" y="3410712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+452%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160520" y="3410712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0" y="341071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₺151K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833872" y="3456432"/>
            <a:ext cx="4480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806440" y="341071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+781%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74320" y="3794760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47472" y="37947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011680" y="379476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949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788920" y="379476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593592" y="3840480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566160" y="379476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+4331%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160520" y="37947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₺657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029200" y="379476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833872" y="3840480"/>
            <a:ext cx="4480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806440" y="37947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+8809%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74320" y="4178808"/>
            <a:ext cx="6035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47472" y="41788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Unassigned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011680" y="41788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88920" y="41788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14K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593592" y="4224528"/>
            <a:ext cx="5394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566160" y="4178808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160520" y="4178808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₺213K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29200" y="41788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833872" y="4224528"/>
            <a:ext cx="4480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806440" y="417880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-73%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53796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Q1 2026 vs Q4 2025 (QoQ) - Öne Çıkanlar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537960" y="1874520"/>
            <a:ext cx="155448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6583680" y="18745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92440" y="1874520"/>
            <a:ext cx="96012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138160" y="18745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QoQ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052560" y="1874520"/>
            <a:ext cx="96012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098280" y="187452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QoQ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0012680" y="1874520"/>
            <a:ext cx="105156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0058400" y="187452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 QoQ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1064240" y="1874520"/>
            <a:ext cx="914400" cy="384048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1109960" y="187452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Q1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37960" y="2258568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611112" y="225856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119872" y="2304288"/>
            <a:ext cx="9052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8092440" y="2258568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+60%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079992" y="2304288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9052560" y="2258568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040112" y="2304288"/>
            <a:ext cx="99669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012680" y="225856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1064240" y="2258568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₺1.86M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537960" y="2642616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6611112" y="264261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119872" y="2688336"/>
            <a:ext cx="9052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092440" y="2642616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079992" y="2688336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9052560" y="2642616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-33%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040112" y="2688336"/>
            <a:ext cx="99669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0012680" y="264261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-40%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064240" y="2642616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₺1.63M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537960" y="3026664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611112" y="302666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119872" y="3072384"/>
            <a:ext cx="9052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8092440" y="3026664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079992" y="3072384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9052560" y="3026664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-68%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0040112" y="3072384"/>
            <a:ext cx="99669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0012680" y="302666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-60%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064240" y="3026664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₺613K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537960" y="3410712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611112" y="34107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Social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119872" y="3456432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8092440" y="3410712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-71%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079992" y="3456432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9052560" y="3410712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-51%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0040112" y="3456432"/>
            <a:ext cx="99669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012680" y="3410712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1064240" y="3410712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₺151K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537960" y="3794760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6611112" y="37947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8119872" y="3840480"/>
            <a:ext cx="9052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8092440" y="379476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+52%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079992" y="3840480"/>
            <a:ext cx="905256" cy="29260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9052560" y="379476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+279%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0040112" y="3840480"/>
            <a:ext cx="99669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10012680" y="37947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064240" y="379476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537960" y="4178808"/>
            <a:ext cx="54406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611112" y="417880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Unassigned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119872" y="4224528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8092440" y="4178808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-83%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079992" y="4224528"/>
            <a:ext cx="90525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9052560" y="4178808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-85%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0040112" y="4224528"/>
            <a:ext cx="996696" cy="29260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10012680" y="417880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-73%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11064240" y="4178808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74320" y="4617720"/>
            <a:ext cx="11612880" cy="169164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274320" y="4617720"/>
            <a:ext cx="73152" cy="1691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02920" y="472744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KANAL İÇGÖRÜLERİ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02920" y="500176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777240" y="5001768"/>
            <a:ext cx="11064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yegane sağlıklı büyüme kanalı: Sessions </a:t>
            </a: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+%197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YoY artarken Revenue </a:t>
            </a: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+%43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ve Purchases </a:t>
            </a: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+%23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büyümesi elde edilmiştir. Kampanya bütçesi ve anahtar kelime stratejisinin korunması önerilebilir.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" y="543153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77240" y="5431536"/>
            <a:ext cx="11064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kanalında Sessions </a:t>
            </a: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+%313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YoY büyürken Revenue </a:t>
            </a:r>
            <a:r>
              <a:rPr b="1" i="0" lang="en-US" sz="10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-%42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ve Purchases </a:t>
            </a:r>
            <a:r>
              <a:rPr b="1" i="0" lang="en-US" sz="10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-%43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düşmüştür - trafiğin önemli bölümünün düşük dönüşümlü ziyaretçilerden oluştuğu değerlendirilebilir (domain birleşmesi bot/tracking sapması dahil).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02920" y="5861304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77240" y="5861304"/>
            <a:ext cx="11064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Organic Search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: Sessions </a:t>
            </a: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+%234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YoY iken Revenue </a:t>
            </a:r>
            <a:r>
              <a:rPr b="1" i="0" lang="en-US" sz="10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-%4</a:t>
            </a:r>
            <a:r>
              <a:rPr b="0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; Purchases hafif büyümüş (+%9). SEO kaynaklı trafiğin yüksek-dönüşümlü sorgulara kanalize edilmesi, conversion-focused landing page optimizasyonu öncelikli eylem olarak önerilebilir.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bound-kucuk-logo.png"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400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685800" y="6446520"/>
            <a:ext cx="3630168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85800" y="6446520"/>
            <a:ext cx="3630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Google Analytics 4 - Session Default Channel Group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Aylık Trend ve Dönüşüm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9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9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AYLIK TREND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Sessions &amp; Revenue Gelişimi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Aylık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Sessions ↔ Revenue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Ayrışması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80160"/>
            <a:ext cx="73152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7818120" y="1280160"/>
            <a:ext cx="4114800" cy="40233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7818120" y="1280160"/>
            <a:ext cx="73152" cy="402336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001000" y="14173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TREND OKUMALARI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001000" y="178308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229600" y="17830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Aralık 2025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: Sessions 672K ile yılın zirvesine ulaşırken Revenue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₺1.49M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seviyesine gerilemiş; muhtemel domain merge etkisiyle trafik yüksek ama dönüşüm zayıf.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001000" y="265176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229600" y="26517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Kasım 2025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yıl içindeki en güçlü revenue ayı: </a:t>
            </a: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₺3.34M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ve 312 purchase - Black Friday/sezonsal etkinin yoğun hissedildiği dönem.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001000" y="35204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229600" y="35204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Mart 2026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: Q1'in en güçlü ayı (</a:t>
            </a: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₺1.92M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, 188 purchase) - ilk aylara göre toparlanma belirgin.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001000" y="43891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229600" y="438912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Q1 2026 ortalama conversion rate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≈ %0.05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seviyesinde (Q1 2025: %0.17). Dönüşüm hunisi genelinde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~3x zayıflama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gözlemlenmektedir.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74320" y="5440680"/>
            <a:ext cx="2852928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274320" y="5440680"/>
            <a:ext cx="2852928" cy="73152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365760" y="557784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25 Conv.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65760" y="5769864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%0.17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236976" y="5440680"/>
            <a:ext cx="2852928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236976" y="5440680"/>
            <a:ext cx="2852928" cy="73152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328416" y="557784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26 Conv.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328416" y="5769864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%0.05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312664" y="58064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-3.4x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199632" y="5440680"/>
            <a:ext cx="2852928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199632" y="5440680"/>
            <a:ext cx="2852928" cy="73152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291072" y="557784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25 AOV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291072" y="5769864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₺8.666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162288" y="5440680"/>
            <a:ext cx="2852928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9162288" y="5440680"/>
            <a:ext cx="2852928" cy="73152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9253728" y="557784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26 AOV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9253728" y="5769864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₺8.753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1237976" y="58064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+%1.0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bound-kucuk-logo.png" id="313" name="Google Shape;3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6400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685800" y="6446520"/>
            <a:ext cx="3570732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685800" y="6446520"/>
            <a:ext cx="35707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GA4 - Aylık Agregasyon | 1 Oca 2025 - 31 Mar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Ürün Performansı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1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1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ÜRÜN PERFORMANSI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Q1 2026 En Çok Performans Gösteren Ürünler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Q1 2026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Top Ürünler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| Funnel Bakışı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2026 (1 Oca - 31 Mar 2026) | 4 metrik için Top 5 sıralaması | View → Cart → Purchase → Revenue funneli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74320" y="1463040"/>
            <a:ext cx="5760720" cy="347472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411480" y="14813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ÇOK GÖRÜNTÜLENEN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11480" y="1655064"/>
            <a:ext cx="5486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Funnel girişi - PDP trafiği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274320" y="1810512"/>
            <a:ext cx="576072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20040" y="181051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94360" y="181051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074920" y="18105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74320" y="2066544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347472" y="2130552"/>
            <a:ext cx="182880" cy="18288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347472" y="213055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94360" y="20665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Sento Asma Klozet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074920" y="2066544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21K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274320" y="2377440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347472" y="2441448"/>
            <a:ext cx="182880" cy="18288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47472" y="24414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94360" y="237744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Outline Çanak Lavabo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074920" y="23774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18K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274320" y="2688336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47472" y="2752344"/>
            <a:ext cx="182880" cy="18288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347472" y="275234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94360" y="268833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S20 Tezgahaltı Lavabo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074920" y="268833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274320" y="2999232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347472" y="3063240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347472" y="30632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94360" y="299923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Ardea Banyo Dolabı Seti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074920" y="299923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74320" y="3310128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347472" y="3374136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347472" y="337413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94360" y="33101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Shift T20 Çamaşır ve Kurutma Mak. Dol.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074920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172200" y="1463040"/>
            <a:ext cx="57607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6309360" y="14813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ÇOK SEPETE EKLENEN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309360" y="1655064"/>
            <a:ext cx="5486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Satın alma niyeti - cart additions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172200" y="1810512"/>
            <a:ext cx="576072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6217920" y="181051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492240" y="181051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0972800" y="18105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to Cart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172200" y="2066544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6245352" y="2130552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6245352" y="213055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492240" y="20665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Sento Takım Klozet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10972800" y="2066544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172200" y="2377440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245352" y="2441448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245352" y="24414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6492240" y="237744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Universal Klozet Kapağı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0972800" y="23774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172200" y="2688336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245352" y="2752344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6245352" y="275234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492240" y="268833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Sento Asma Klozet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0972800" y="268833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6172200" y="2999232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245352" y="3063240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245352" y="30632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6492240" y="299923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V-Fix Prime Gömme Rezervuar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10972800" y="299923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172200" y="3310128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245352" y="3374136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245352" y="337413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492240" y="33101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Root Round Kumanda Paneli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0972800" y="331012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960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74320" y="3813048"/>
            <a:ext cx="5760720" cy="34747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11480" y="383133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ÇOK SATILAN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11480" y="4005072"/>
            <a:ext cx="5486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Adet bazlı - purchase volume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274320" y="4160520"/>
            <a:ext cx="576072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320040" y="41605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94360" y="416052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5074920" y="4160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74320" y="4416552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347472" y="4480560"/>
            <a:ext cx="182880" cy="182880"/>
          </a:xfrm>
          <a:prstGeom prst="ellipse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347472" y="44805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94360" y="441655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Ankastre Stop Valf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074920" y="441655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274320" y="4727448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347472" y="4791456"/>
            <a:ext cx="182880" cy="182880"/>
          </a:xfrm>
          <a:prstGeom prst="ellipse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47472" y="47914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94360" y="472744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Armatür ve Duş Sistemleri Montaj Hizmeti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074920" y="47274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274320" y="5038344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347472" y="5102352"/>
            <a:ext cx="182880" cy="182880"/>
          </a:xfrm>
          <a:prstGeom prst="ellipse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347472" y="510235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94360" y="50383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Diğer Banyo Mobilyaları Montaj Hizmeti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074920" y="5038344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274320" y="5349240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347472" y="5413248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347472" y="54132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94360" y="534924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Universal Klozet Kapağı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5074920" y="53492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274320" y="5660136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347472" y="5724144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347472" y="572414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94360" y="566013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Klozet Montaj Hizmeti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074920" y="566013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172200" y="3813048"/>
            <a:ext cx="57607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6309360" y="383133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YÜKSEK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309360" y="4005072"/>
            <a:ext cx="5486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Ciro bazlı - top earners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172200" y="4160520"/>
            <a:ext cx="576072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217920" y="416052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492240" y="416052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0972800" y="4160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172200" y="4416552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6245352" y="448056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6245352" y="44805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492240" y="441655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Pure Lavabo Dolabı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0972800" y="441655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₺152K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172200" y="4727448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6245352" y="4791456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6245352" y="47914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492240" y="472744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Core Aynalı Banyo Dolabı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10972800" y="47274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₺121K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172200" y="5038344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6245352" y="5102352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6245352" y="510235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492240" y="50383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S20 Tezgahaltı Lavabo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10972800" y="5038344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₺115K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172200" y="5349240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245352" y="5413248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6245352" y="54132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492240" y="534924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Ardea Banyo Dolabı Seti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10972800" y="53492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₺100K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172200" y="5660136"/>
            <a:ext cx="576072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6245352" y="5724144"/>
            <a:ext cx="182880" cy="18288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6245352" y="572414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6492240" y="566013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Lavabo Dolabı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10972800" y="566013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₺96K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274320" y="6080760"/>
            <a:ext cx="73152" cy="36576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502920" y="6080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➔  </a:t>
            </a: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View vs Purchase ayrışması: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Sento Asma Klozet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21K view /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1 purchase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- PDP optimizasyonu yüksek ROI.  | 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Montaj hizmetleri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düşük view ile top purchase - cross-sell + bundling fırsatı.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685800" y="6446520"/>
            <a:ext cx="2738628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685800" y="6446520"/>
            <a:ext cx="27386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GA4 Ecommerce Purchases - Item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Kategori &amp; Kanal × Ürün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13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13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KATEGORİ &amp; KANAL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Kategori Dağılımı ve Kanal-Ürün Kesişimi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Kategori Payları &amp;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Kanal × Ürün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Kesişimi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2026 (1 Oca - 31 Mar 2026) | Revenue dağılımı ve her kanalda en yüksek ciro yaratan ürünler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508760"/>
            <a:ext cx="57607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/>
          <p:nvPr/>
        </p:nvSpPr>
        <p:spPr>
          <a:xfrm>
            <a:off x="6263640" y="1508760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Kategori Detay - Revenue vs Purchase Dağılımı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6263640" y="1828800"/>
            <a:ext cx="182880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6300216" y="1828800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Kategori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8092440" y="1828800"/>
            <a:ext cx="91440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8129016" y="182880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9006840" y="1828800"/>
            <a:ext cx="68580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9043416" y="1828800"/>
            <a:ext cx="612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9692640" y="1828800"/>
            <a:ext cx="64008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9729216" y="182880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10332720" y="1828800"/>
            <a:ext cx="77724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10369296" y="1828800"/>
            <a:ext cx="704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 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11109960" y="1828800"/>
            <a:ext cx="777240" cy="256032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11146536" y="1828800"/>
            <a:ext cx="704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6263640" y="2084832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6336792" y="20848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Armatür/Batarya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8092440" y="208483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₺1.02M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9006840" y="208483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21.4%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9692640" y="208483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10332720" y="20848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19.9%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11109960" y="20848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1.08x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263640" y="2340864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6336792" y="23408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Banyo Dolabı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8092440" y="2340864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₺779K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9006840" y="234086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16.4%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9692640" y="2340864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10332720" y="234086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11109960" y="234086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3.64x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6263640" y="2596896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6336792" y="259689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Klozet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8092440" y="259689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₺698K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9006840" y="259689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14.6%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9692640" y="2596896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127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10332720" y="259689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12.5%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1109960" y="259689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1.17x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6263640" y="2852928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6336792" y="285292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Lavabo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8092440" y="285292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₺650K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9006840" y="2852928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13.6%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692640" y="285292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10332720" y="285292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10.7%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11109960" y="285292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1.27x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263640" y="3108960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6336792" y="31089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Banyo Aksesuarı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8092440" y="310896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₺560K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9006840" y="3108960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11.8%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9692640" y="31089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10332720" y="310896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20.3%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11109960" y="310896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0.58x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6263640" y="3364992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6336792" y="33649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Duş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8092440" y="336499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₺380K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9006840" y="336499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8.0%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9692640" y="3364992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10332720" y="33649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9.7%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11109960" y="33649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0.82x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6263640" y="3621024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6336792" y="362102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Hizmet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8092440" y="3621024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₺162K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9006840" y="362102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3.4%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9692640" y="3621024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10332720" y="362102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9.9%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11109960" y="362102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0.34x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6263640" y="3877056"/>
            <a:ext cx="5623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6336792" y="387705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Rezervuar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8092440" y="387705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₺150K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9006840" y="387705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9692640" y="3877056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0332720" y="387705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11109960" y="387705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0.54x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6263640" y="4206240"/>
            <a:ext cx="5623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Kanal × Ürün | Kanalın #1 Revenue Ürünü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6263640" y="4498848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6263640" y="4498848"/>
            <a:ext cx="73152" cy="65836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6400800" y="453542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Organic Search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6400800" y="470001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Pure Lavabo Dolabı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8138160" y="470001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₺152K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9144000" y="4498848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9144000" y="4498848"/>
            <a:ext cx="73152" cy="65836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9281160" y="453542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Paid Search - Brand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9281160" y="470001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Lavabo Dolabı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11018520" y="470001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₺96K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6263640" y="5230368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6263640" y="5230368"/>
            <a:ext cx="73152" cy="65836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6400800" y="526694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6400800" y="543153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V-Care Ultra Akıllı Asma Klozet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8138160" y="543153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₺73K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9144000" y="5230368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9144000" y="5230368"/>
            <a:ext cx="73152" cy="65836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9281160" y="526694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Paid Search - Generic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9281160" y="543153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Pure Boy Dolabı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11018520" y="543153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₺42K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274320" y="5980176"/>
            <a:ext cx="11612880" cy="384048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274320" y="5980176"/>
            <a:ext cx="73152" cy="38404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502920" y="598017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➔  Banyo Dolabı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Rev %16.4 / Purch %4.5 (3.61x) - </a:t>
            </a: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yüksek-AOV stratejik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.  | 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Banyo Aksesuarı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Purch %20.3 / Rev %11.8 (0.58x) - </a:t>
            </a: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volume ürünleri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.  | 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Metropole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hem Organic hem Paid Brand kanallarında #1 - SEO+Brand PPC sinerjisi.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685800" y="6446520"/>
            <a:ext cx="3867912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685800" y="6446520"/>
            <a:ext cx="3867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GA4 Ecommerce Purchases - Item Name × Session Campaign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5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Migration Stabilizasyon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15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15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MIGRATION STABİLİZASYON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Kanal Bazlı - Geçiş Sonrası Trafik &amp; Revenue Karşılaştırma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Trafik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-%30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, Revenue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+%22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&amp; Kalite Artışı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Geçiş sonrası ilk 2 ay (4 Ara 2025 - 31 Oca 2026) &amp; Son 2 ay (1 Şub - 31 Mar 2026) | Kanal bazlı karşılaştırma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274320" y="1508760"/>
            <a:ext cx="2724912" cy="1371600"/>
          </a:xfrm>
          <a:prstGeom prst="roundRect">
            <a:avLst>
              <a:gd fmla="val 533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411480" y="160020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411480" y="1828800"/>
            <a:ext cx="2450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Ara'25-Oca'26: 1.00M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411480" y="2011680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1947672" y="246888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CDD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CDD2"/>
                </a:solidFill>
                <a:latin typeface="Calibri"/>
                <a:ea typeface="Calibri"/>
                <a:cs typeface="Calibri"/>
                <a:sym typeface="Calibri"/>
              </a:rPr>
              <a:t>-30.2%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411480" y="2560320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Şub'26-Mar'26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3136392" y="1508760"/>
            <a:ext cx="2724912" cy="1371600"/>
          </a:xfrm>
          <a:prstGeom prst="roundRect">
            <a:avLst>
              <a:gd fmla="val 5333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3273552" y="160020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3273552" y="1828800"/>
            <a:ext cx="2450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Ara'25-Oca'26: 457K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3273552" y="2011680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309K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4809744" y="246888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CDD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CDD2"/>
                </a:solidFill>
                <a:latin typeface="Calibri"/>
                <a:ea typeface="Calibri"/>
                <a:cs typeface="Calibri"/>
                <a:sym typeface="Calibri"/>
              </a:rPr>
              <a:t>-32.4%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3273552" y="2560320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Şub'26-Mar'26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5998464" y="1508760"/>
            <a:ext cx="2724912" cy="1371600"/>
          </a:xfrm>
          <a:prstGeom prst="roundRect">
            <a:avLst>
              <a:gd fmla="val 5333" name="adj"/>
            </a:avLst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6135624" y="160020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6135624" y="1828800"/>
            <a:ext cx="2450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Ara'25-Oca'26: 286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6135624" y="2011680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7671816" y="246888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+24.8%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6135624" y="2560320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Şub'26-Mar'26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8860536" y="1508760"/>
            <a:ext cx="2724912" cy="1371600"/>
          </a:xfrm>
          <a:prstGeom prst="roundRect">
            <a:avLst>
              <a:gd fmla="val 5333" name="adj"/>
            </a:avLst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8997696" y="160020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8997696" y="1828800"/>
            <a:ext cx="2450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Ara'25-Oca'26: ₺2.57M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8997696" y="2011680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₺3.15M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10533888" y="246888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+22.3%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8997696" y="2560320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Şub'26-Mar'26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274320" y="30632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Kanal Bazlı Dönüşüm Dinamikleri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274320" y="3410712"/>
            <a:ext cx="11612880" cy="329184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301752" y="3410712"/>
            <a:ext cx="1636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1993392" y="3410712"/>
            <a:ext cx="9052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Ara-Oca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2953512" y="3410712"/>
            <a:ext cx="9052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Şub-Mar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3913632" y="3410712"/>
            <a:ext cx="676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 Δ%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4645152" y="3410712"/>
            <a:ext cx="996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Ara-Oca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5696712" y="3410712"/>
            <a:ext cx="996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Şub-Mar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6748272" y="3410712"/>
            <a:ext cx="676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 Δ%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7479792" y="3410712"/>
            <a:ext cx="9052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Prch Ara-Oca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8439912" y="3410712"/>
            <a:ext cx="996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Prch Şub-Mar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9491472" y="3410712"/>
            <a:ext cx="6766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Prch Δ%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10222992" y="3410712"/>
            <a:ext cx="1636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Yorum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274320" y="3739896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347472" y="373989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1965960" y="373989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396K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2926080" y="373989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350K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3922776" y="3794760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3886200" y="373989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-11.6%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4617720" y="3739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₺1.16M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5669280" y="3739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₺1.30M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6757416" y="3794760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6720840" y="373989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+11.9%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7452360" y="373989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8412480" y="373989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162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9500616" y="3794760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9464040" y="373989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+27.6%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10241280" y="373989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Organik ziyaret </a:t>
            </a:r>
            <a:r>
              <a:rPr b="1" i="0" lang="en-US" sz="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 kalitesi arttı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274320" y="4069080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347472" y="406908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1965960" y="406908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157K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6"/>
          <p:cNvSpPr/>
          <p:nvPr/>
        </p:nvSpPr>
        <p:spPr>
          <a:xfrm>
            <a:off x="2926080" y="406908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138K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3922776" y="4123944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3886200" y="406908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-11.7%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4617720" y="4069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₺792K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5669280" y="4069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₺1.17M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6757416" y="4123944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6720840" y="406908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+48.1%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7452360" y="4069080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8412480" y="406908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9500616" y="4123944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6"/>
          <p:cNvSpPr/>
          <p:nvPr/>
        </p:nvSpPr>
        <p:spPr>
          <a:xfrm>
            <a:off x="9464040" y="406908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+48.1%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10241280" y="406908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En verimli toparlanma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274320" y="4398264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347472" y="4398264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1965960" y="439826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141K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2926080" y="439826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123K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3922776" y="4453128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3886200" y="43982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-13.1%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4617720" y="439826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₺417K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5669280" y="439826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₺473K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6757416" y="4453128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6720840" y="43982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+13.5%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7452360" y="4398264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8412480" y="439826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9500616" y="4453128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6"/>
          <p:cNvSpPr/>
          <p:nvPr/>
        </p:nvSpPr>
        <p:spPr>
          <a:xfrm>
            <a:off x="9464040" y="4398264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-7.1%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6"/>
          <p:cNvSpPr/>
          <p:nvPr/>
        </p:nvSpPr>
        <p:spPr>
          <a:xfrm>
            <a:off x="10241280" y="4398264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Brand trafiği stabilize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274320" y="4727448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347472" y="4727448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Organic Social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1965960" y="472744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176K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6"/>
          <p:cNvSpPr/>
          <p:nvPr/>
        </p:nvSpPr>
        <p:spPr>
          <a:xfrm>
            <a:off x="2926080" y="472744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50K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3922776" y="4782312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3886200" y="4727448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-71.5%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4617720" y="4727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₺80K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5669280" y="4727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₺96K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6757416" y="4782312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6720840" y="4727448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+20.0%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7452360" y="4727448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8412480" y="472744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9500616" y="4782312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9464040" y="4727448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+36.4%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10241280" y="4727448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Bot/spam temizliği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274320" y="5056632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6"/>
          <p:cNvSpPr/>
          <p:nvPr/>
        </p:nvSpPr>
        <p:spPr>
          <a:xfrm>
            <a:off x="347472" y="5056632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1965960" y="505663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48K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2926080" y="505663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22K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3922776" y="5111496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3886200" y="505663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-54.2%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4617720" y="505663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5669280" y="505663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₺43K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6757416" y="5111496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6720840" y="505663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+123.1%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7452360" y="5056632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8412480" y="505663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9500616" y="5111496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9464040" y="505663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-57.1%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0241280" y="5056632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Düşük kaliteli kaynak filtre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274320" y="5385816"/>
            <a:ext cx="1161288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347472" y="538581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Unassigned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965960" y="538581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80K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/>
          <p:nvPr/>
        </p:nvSpPr>
        <p:spPr>
          <a:xfrm>
            <a:off x="2926080" y="538581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11K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3922776" y="5440680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3886200" y="538581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-86.0%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4617720" y="538581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₺96K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5669280" y="538581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₺45K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6757416" y="5440680"/>
            <a:ext cx="658368" cy="219456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6720840" y="538581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-53.1%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7452360" y="538581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8412480" y="538581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9500616" y="5440680"/>
            <a:ext cx="658368" cy="219456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9464040" y="5385816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+20.0%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10241280" y="5385816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Attribution düzelmesi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274320" y="5852160"/>
            <a:ext cx="11612880" cy="36576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274320" y="5852160"/>
            <a:ext cx="73152" cy="36576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502920" y="58521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➔  </a:t>
            </a: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Conversion rate ~1.7x iyileşme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(trafik -%30 ama revenue +%22).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+%48 revenue büyümesi ile lider kanal.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Organic Social -%71 session düşüşü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geçiş sonrası ilk 2 aydaki bot/spam trafiğinin filtrelendiğini gösterir.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274320" y="6519672"/>
            <a:ext cx="5532120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274320" y="6519672"/>
            <a:ext cx="5532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GA4 Traffic Acquisition - Session Default Channel Group | 4 Ara 2025 - 31 Mar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7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MIGRATION STABİLİZASYON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Ürün Bazlı - Toparlanan ve Kaybolan Ürünler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Ürün Bazlı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Toparlanma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Kayıp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Listesi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Ecommerce purchases | Geçiş sonrası ilk 2 ay (4 Ara 2025 - 31 Oca 2026) &amp; Son 2 ay (1 Şub - 31 Mar 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274320" y="1554480"/>
            <a:ext cx="576072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7"/>
          <p:cNvSpPr/>
          <p:nvPr/>
        </p:nvSpPr>
        <p:spPr>
          <a:xfrm>
            <a:off x="274320" y="155448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411480" y="1609344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 2 AYDA TOPARLANAN ÜRÜNLER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411480" y="1783080"/>
            <a:ext cx="5577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bazında en yüksek büyümeyi gösterenler (Şub-Mar Rev ≥ ₺5K)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274320" y="1938528"/>
            <a:ext cx="5760720" cy="27432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310896" y="193852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585216" y="1938528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3191256" y="1938528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Ara-Oca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3968496" y="1938528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Şub-Mar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4745736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5385816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Prch 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274320" y="2212848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338328" y="2313432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7"/>
          <p:cNvSpPr/>
          <p:nvPr/>
        </p:nvSpPr>
        <p:spPr>
          <a:xfrm>
            <a:off x="338328" y="231343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7"/>
          <p:cNvSpPr/>
          <p:nvPr/>
        </p:nvSpPr>
        <p:spPr>
          <a:xfrm>
            <a:off x="594360" y="2212848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Suit Lavabo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7"/>
          <p:cNvSpPr/>
          <p:nvPr/>
        </p:nvSpPr>
        <p:spPr>
          <a:xfrm>
            <a:off x="3154680" y="2212848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₺12K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7"/>
          <p:cNvSpPr/>
          <p:nvPr/>
        </p:nvSpPr>
        <p:spPr>
          <a:xfrm>
            <a:off x="3931920" y="2212848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₺50K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4745736" y="2304288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>
            <a:off x="4709160" y="2212848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+305%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5349240" y="2212848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7"/>
          <p:cNvSpPr/>
          <p:nvPr/>
        </p:nvSpPr>
        <p:spPr>
          <a:xfrm>
            <a:off x="274320" y="2587752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7"/>
          <p:cNvSpPr/>
          <p:nvPr/>
        </p:nvSpPr>
        <p:spPr>
          <a:xfrm>
            <a:off x="338328" y="268833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338328" y="268833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594360" y="2587752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Origin Tuvalet Fırçalığı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7"/>
          <p:cNvSpPr/>
          <p:nvPr/>
        </p:nvSpPr>
        <p:spPr>
          <a:xfrm>
            <a:off x="3154680" y="2587752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₺22K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7"/>
          <p:cNvSpPr/>
          <p:nvPr/>
        </p:nvSpPr>
        <p:spPr>
          <a:xfrm>
            <a:off x="3931920" y="2587752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₺78K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4745736" y="2679192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>
            <a:off x="4709160" y="2587752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+259%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7"/>
          <p:cNvSpPr/>
          <p:nvPr/>
        </p:nvSpPr>
        <p:spPr>
          <a:xfrm>
            <a:off x="5349240" y="2587752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7"/>
          <p:cNvSpPr/>
          <p:nvPr/>
        </p:nvSpPr>
        <p:spPr>
          <a:xfrm>
            <a:off x="274320" y="2962656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338328" y="3063240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7"/>
          <p:cNvSpPr/>
          <p:nvPr/>
        </p:nvSpPr>
        <p:spPr>
          <a:xfrm>
            <a:off x="338328" y="306324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7"/>
          <p:cNvSpPr/>
          <p:nvPr/>
        </p:nvSpPr>
        <p:spPr>
          <a:xfrm>
            <a:off x="594360" y="2962656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Metropole Klozet Kapağı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7"/>
          <p:cNvSpPr/>
          <p:nvPr/>
        </p:nvSpPr>
        <p:spPr>
          <a:xfrm>
            <a:off x="3154680" y="2962656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₺7K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7"/>
          <p:cNvSpPr/>
          <p:nvPr/>
        </p:nvSpPr>
        <p:spPr>
          <a:xfrm>
            <a:off x="3931920" y="2962656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₺23K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4745736" y="3054096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4709160" y="2962656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+234%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5349240" y="2962656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274320" y="3337560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7"/>
          <p:cNvSpPr/>
          <p:nvPr/>
        </p:nvSpPr>
        <p:spPr>
          <a:xfrm>
            <a:off x="338328" y="3438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338328" y="34381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594360" y="3337560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İstanbul Klozet Kapağı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7"/>
          <p:cNvSpPr/>
          <p:nvPr/>
        </p:nvSpPr>
        <p:spPr>
          <a:xfrm>
            <a:off x="3154680" y="3337560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₺5K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/>
          <p:nvPr/>
        </p:nvSpPr>
        <p:spPr>
          <a:xfrm>
            <a:off x="3931920" y="3337560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7"/>
          <p:cNvSpPr/>
          <p:nvPr/>
        </p:nvSpPr>
        <p:spPr>
          <a:xfrm>
            <a:off x="4745736" y="3429000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4709160" y="3337560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+230%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7"/>
          <p:cNvSpPr/>
          <p:nvPr/>
        </p:nvSpPr>
        <p:spPr>
          <a:xfrm>
            <a:off x="5349240" y="3337560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7"/>
          <p:cNvSpPr/>
          <p:nvPr/>
        </p:nvSpPr>
        <p:spPr>
          <a:xfrm>
            <a:off x="274320" y="3712464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338328" y="3813048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7"/>
          <p:cNvSpPr/>
          <p:nvPr/>
        </p:nvSpPr>
        <p:spPr>
          <a:xfrm>
            <a:off x="338328" y="381304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7"/>
          <p:cNvSpPr/>
          <p:nvPr/>
        </p:nvSpPr>
        <p:spPr>
          <a:xfrm>
            <a:off x="594360" y="3712464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Diğer Banyo Mobilyaları Montaj Hiz.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7"/>
          <p:cNvSpPr/>
          <p:nvPr/>
        </p:nvSpPr>
        <p:spPr>
          <a:xfrm>
            <a:off x="3154680" y="3712464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₺14K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7"/>
          <p:cNvSpPr/>
          <p:nvPr/>
        </p:nvSpPr>
        <p:spPr>
          <a:xfrm>
            <a:off x="3931920" y="3712464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₺47K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7"/>
          <p:cNvSpPr/>
          <p:nvPr/>
        </p:nvSpPr>
        <p:spPr>
          <a:xfrm>
            <a:off x="4745736" y="3803904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7"/>
          <p:cNvSpPr/>
          <p:nvPr/>
        </p:nvSpPr>
        <p:spPr>
          <a:xfrm>
            <a:off x="4709160" y="3712464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+226%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7"/>
          <p:cNvSpPr/>
          <p:nvPr/>
        </p:nvSpPr>
        <p:spPr>
          <a:xfrm>
            <a:off x="5349240" y="3712464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7"/>
          <p:cNvSpPr/>
          <p:nvPr/>
        </p:nvSpPr>
        <p:spPr>
          <a:xfrm>
            <a:off x="274320" y="4087368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7"/>
          <p:cNvSpPr/>
          <p:nvPr/>
        </p:nvSpPr>
        <p:spPr>
          <a:xfrm>
            <a:off x="338328" y="4187952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338328" y="418795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7"/>
          <p:cNvSpPr/>
          <p:nvPr/>
        </p:nvSpPr>
        <p:spPr>
          <a:xfrm>
            <a:off x="594360" y="4087368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Minimax S Eviye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7"/>
          <p:cNvSpPr/>
          <p:nvPr/>
        </p:nvSpPr>
        <p:spPr>
          <a:xfrm>
            <a:off x="3154680" y="4087368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₺10K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7"/>
          <p:cNvSpPr/>
          <p:nvPr/>
        </p:nvSpPr>
        <p:spPr>
          <a:xfrm>
            <a:off x="3931920" y="4087368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₺32K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7"/>
          <p:cNvSpPr/>
          <p:nvPr/>
        </p:nvSpPr>
        <p:spPr>
          <a:xfrm>
            <a:off x="4745736" y="4178808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"/>
          <p:cNvSpPr/>
          <p:nvPr/>
        </p:nvSpPr>
        <p:spPr>
          <a:xfrm>
            <a:off x="4709160" y="4087368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+221%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5349240" y="4087368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7"/>
          <p:cNvSpPr/>
          <p:nvPr/>
        </p:nvSpPr>
        <p:spPr>
          <a:xfrm>
            <a:off x="274320" y="4462272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338328" y="45628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7"/>
          <p:cNvSpPr/>
          <p:nvPr/>
        </p:nvSpPr>
        <p:spPr>
          <a:xfrm>
            <a:off x="338328" y="456285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7"/>
          <p:cNvSpPr/>
          <p:nvPr/>
        </p:nvSpPr>
        <p:spPr>
          <a:xfrm>
            <a:off x="594360" y="4462272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Universal Klozet Kapağı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7"/>
          <p:cNvSpPr/>
          <p:nvPr/>
        </p:nvSpPr>
        <p:spPr>
          <a:xfrm>
            <a:off x="3154680" y="4462272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₺13K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7"/>
          <p:cNvSpPr/>
          <p:nvPr/>
        </p:nvSpPr>
        <p:spPr>
          <a:xfrm>
            <a:off x="3931920" y="4462272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₺42K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7"/>
          <p:cNvSpPr/>
          <p:nvPr/>
        </p:nvSpPr>
        <p:spPr>
          <a:xfrm>
            <a:off x="4745736" y="4553712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7"/>
          <p:cNvSpPr/>
          <p:nvPr/>
        </p:nvSpPr>
        <p:spPr>
          <a:xfrm>
            <a:off x="4709160" y="4462272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+218%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5349240" y="4462272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7"/>
          <p:cNvSpPr/>
          <p:nvPr/>
        </p:nvSpPr>
        <p:spPr>
          <a:xfrm>
            <a:off x="274320" y="4837176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7"/>
          <p:cNvSpPr/>
          <p:nvPr/>
        </p:nvSpPr>
        <p:spPr>
          <a:xfrm>
            <a:off x="338328" y="4937760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7"/>
          <p:cNvSpPr/>
          <p:nvPr/>
        </p:nvSpPr>
        <p:spPr>
          <a:xfrm>
            <a:off x="338328" y="493776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7"/>
          <p:cNvSpPr/>
          <p:nvPr/>
        </p:nvSpPr>
        <p:spPr>
          <a:xfrm>
            <a:off x="594360" y="4837176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Masterline Pull-Down Eviye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3154680" y="4837176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₺22K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3931920" y="4837176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₺65K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7"/>
          <p:cNvSpPr/>
          <p:nvPr/>
        </p:nvSpPr>
        <p:spPr>
          <a:xfrm>
            <a:off x="4745736" y="4928616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7"/>
          <p:cNvSpPr/>
          <p:nvPr/>
        </p:nvSpPr>
        <p:spPr>
          <a:xfrm>
            <a:off x="4709160" y="4837176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+200%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7"/>
          <p:cNvSpPr/>
          <p:nvPr/>
        </p:nvSpPr>
        <p:spPr>
          <a:xfrm>
            <a:off x="5349240" y="4837176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/>
          <p:cNvSpPr/>
          <p:nvPr/>
        </p:nvSpPr>
        <p:spPr>
          <a:xfrm>
            <a:off x="274320" y="5212080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7"/>
          <p:cNvSpPr/>
          <p:nvPr/>
        </p:nvSpPr>
        <p:spPr>
          <a:xfrm>
            <a:off x="338328" y="531266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7"/>
          <p:cNvSpPr/>
          <p:nvPr/>
        </p:nvSpPr>
        <p:spPr>
          <a:xfrm>
            <a:off x="338328" y="531266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7"/>
          <p:cNvSpPr/>
          <p:nvPr/>
        </p:nvSpPr>
        <p:spPr>
          <a:xfrm>
            <a:off x="594360" y="5212080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Core Aynalı Banyo Dolabı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/>
          <p:nvPr/>
        </p:nvSpPr>
        <p:spPr>
          <a:xfrm>
            <a:off x="3154680" y="5212080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₺42K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3931920" y="5212080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₺99K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7"/>
          <p:cNvSpPr/>
          <p:nvPr/>
        </p:nvSpPr>
        <p:spPr>
          <a:xfrm>
            <a:off x="4745736" y="5303520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7"/>
          <p:cNvSpPr/>
          <p:nvPr/>
        </p:nvSpPr>
        <p:spPr>
          <a:xfrm>
            <a:off x="4709160" y="5212080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+134%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7"/>
          <p:cNvSpPr/>
          <p:nvPr/>
        </p:nvSpPr>
        <p:spPr>
          <a:xfrm>
            <a:off x="5349240" y="5212080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274320" y="5586984"/>
            <a:ext cx="576072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338328" y="5687568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338328" y="568756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594360" y="5586984"/>
            <a:ext cx="25146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Duş Dirseği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3154680" y="5586984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₺6K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3931920" y="5586984"/>
            <a:ext cx="731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₺13K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4745736" y="5678424"/>
            <a:ext cx="566928" cy="192024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>
            <a:off x="4709160" y="5586984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+107%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5349240" y="5586984"/>
            <a:ext cx="6400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+3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/>
          <p:nvPr/>
        </p:nvSpPr>
        <p:spPr>
          <a:xfrm>
            <a:off x="6172200" y="1554480"/>
            <a:ext cx="5742432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7"/>
          <p:cNvSpPr/>
          <p:nvPr/>
        </p:nvSpPr>
        <p:spPr>
          <a:xfrm>
            <a:off x="6172200" y="1554480"/>
            <a:ext cx="5742432" cy="38404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7"/>
          <p:cNvSpPr/>
          <p:nvPr/>
        </p:nvSpPr>
        <p:spPr>
          <a:xfrm>
            <a:off x="6309360" y="1609344"/>
            <a:ext cx="5559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 2 AYDA KAYBOLAN ÜRÜNLER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7"/>
          <p:cNvSpPr/>
          <p:nvPr/>
        </p:nvSpPr>
        <p:spPr>
          <a:xfrm>
            <a:off x="6309360" y="1783080"/>
            <a:ext cx="55595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İlk 2 ayda ₺10K+ revenue yarattı, son 2 ayda sıfırladı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7"/>
          <p:cNvSpPr/>
          <p:nvPr/>
        </p:nvSpPr>
        <p:spPr>
          <a:xfrm>
            <a:off x="6172200" y="1938528"/>
            <a:ext cx="5742432" cy="27432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7"/>
          <p:cNvSpPr/>
          <p:nvPr/>
        </p:nvSpPr>
        <p:spPr>
          <a:xfrm>
            <a:off x="6208776" y="193852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7"/>
          <p:cNvSpPr/>
          <p:nvPr/>
        </p:nvSpPr>
        <p:spPr>
          <a:xfrm>
            <a:off x="6483096" y="1938528"/>
            <a:ext cx="3218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Ürün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7"/>
          <p:cNvSpPr/>
          <p:nvPr/>
        </p:nvSpPr>
        <p:spPr>
          <a:xfrm>
            <a:off x="9774936" y="1938528"/>
            <a:ext cx="1069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Ara-Oca Rev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10917936" y="1938528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Ara-Oca Purch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7"/>
          <p:cNvSpPr/>
          <p:nvPr/>
        </p:nvSpPr>
        <p:spPr>
          <a:xfrm>
            <a:off x="6172200" y="2212848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6236208" y="2313432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6236208" y="231343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6492240" y="2212848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AquaHeat Bliss 240 2F Duş Sistemi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9738360" y="2212848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₺36K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10881360" y="2212848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6172200" y="2587752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7"/>
          <p:cNvSpPr/>
          <p:nvPr/>
        </p:nvSpPr>
        <p:spPr>
          <a:xfrm>
            <a:off x="6236208" y="2688336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7"/>
          <p:cNvSpPr/>
          <p:nvPr/>
        </p:nvSpPr>
        <p:spPr>
          <a:xfrm>
            <a:off x="6236208" y="268833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6492240" y="2587752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Liquid Lavabo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7"/>
          <p:cNvSpPr/>
          <p:nvPr/>
        </p:nvSpPr>
        <p:spPr>
          <a:xfrm>
            <a:off x="9738360" y="2587752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₺33K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7"/>
          <p:cNvSpPr/>
          <p:nvPr/>
        </p:nvSpPr>
        <p:spPr>
          <a:xfrm>
            <a:off x="10881360" y="2587752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6172200" y="2962656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7"/>
          <p:cNvSpPr/>
          <p:nvPr/>
        </p:nvSpPr>
        <p:spPr>
          <a:xfrm>
            <a:off x="6236208" y="3063240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7"/>
          <p:cNvSpPr/>
          <p:nvPr/>
        </p:nvSpPr>
        <p:spPr>
          <a:xfrm>
            <a:off x="6236208" y="306324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7"/>
          <p:cNvSpPr/>
          <p:nvPr/>
        </p:nvSpPr>
        <p:spPr>
          <a:xfrm>
            <a:off x="6492240" y="2962656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Integra Round Rim-ex Asma Klozet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7"/>
          <p:cNvSpPr/>
          <p:nvPr/>
        </p:nvSpPr>
        <p:spPr>
          <a:xfrm>
            <a:off x="9738360" y="2962656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₺24K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7"/>
          <p:cNvSpPr/>
          <p:nvPr/>
        </p:nvSpPr>
        <p:spPr>
          <a:xfrm>
            <a:off x="10881360" y="2962656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7"/>
          <p:cNvSpPr/>
          <p:nvPr/>
        </p:nvSpPr>
        <p:spPr>
          <a:xfrm>
            <a:off x="6172200" y="3337560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7"/>
          <p:cNvSpPr/>
          <p:nvPr/>
        </p:nvSpPr>
        <p:spPr>
          <a:xfrm>
            <a:off x="6236208" y="3438144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7"/>
          <p:cNvSpPr/>
          <p:nvPr/>
        </p:nvSpPr>
        <p:spPr>
          <a:xfrm>
            <a:off x="6236208" y="34381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7"/>
          <p:cNvSpPr/>
          <p:nvPr/>
        </p:nvSpPr>
        <p:spPr>
          <a:xfrm>
            <a:off x="6492240" y="3337560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DK100 Elegant Duş Kanalı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7"/>
          <p:cNvSpPr/>
          <p:nvPr/>
        </p:nvSpPr>
        <p:spPr>
          <a:xfrm>
            <a:off x="9738360" y="3337560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7"/>
          <p:cNvSpPr/>
          <p:nvPr/>
        </p:nvSpPr>
        <p:spPr>
          <a:xfrm>
            <a:off x="10881360" y="3337560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7"/>
          <p:cNvSpPr/>
          <p:nvPr/>
        </p:nvSpPr>
        <p:spPr>
          <a:xfrm>
            <a:off x="6172200" y="3712464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7"/>
          <p:cNvSpPr/>
          <p:nvPr/>
        </p:nvSpPr>
        <p:spPr>
          <a:xfrm>
            <a:off x="6236208" y="3813048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7"/>
          <p:cNvSpPr/>
          <p:nvPr/>
        </p:nvSpPr>
        <p:spPr>
          <a:xfrm>
            <a:off x="6236208" y="381304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7"/>
          <p:cNvSpPr/>
          <p:nvPr/>
        </p:nvSpPr>
        <p:spPr>
          <a:xfrm>
            <a:off x="6492240" y="3712464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1F El Duşu Takımı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7"/>
          <p:cNvSpPr/>
          <p:nvPr/>
        </p:nvSpPr>
        <p:spPr>
          <a:xfrm>
            <a:off x="9738360" y="3712464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₺19K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10881360" y="3712464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6172200" y="4087368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7"/>
          <p:cNvSpPr/>
          <p:nvPr/>
        </p:nvSpPr>
        <p:spPr>
          <a:xfrm>
            <a:off x="6236208" y="4187952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7"/>
          <p:cNvSpPr/>
          <p:nvPr/>
        </p:nvSpPr>
        <p:spPr>
          <a:xfrm>
            <a:off x="6236208" y="418795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7"/>
          <p:cNvSpPr/>
          <p:nvPr/>
        </p:nvSpPr>
        <p:spPr>
          <a:xfrm>
            <a:off x="6492240" y="4087368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Integra Etajerli Lavabo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7"/>
          <p:cNvSpPr/>
          <p:nvPr/>
        </p:nvSpPr>
        <p:spPr>
          <a:xfrm>
            <a:off x="9738360" y="4087368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₺18K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7"/>
          <p:cNvSpPr/>
          <p:nvPr/>
        </p:nvSpPr>
        <p:spPr>
          <a:xfrm>
            <a:off x="10881360" y="4087368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/>
          <p:nvPr/>
        </p:nvSpPr>
        <p:spPr>
          <a:xfrm>
            <a:off x="6172200" y="4462272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7"/>
          <p:cNvSpPr/>
          <p:nvPr/>
        </p:nvSpPr>
        <p:spPr>
          <a:xfrm>
            <a:off x="6236208" y="4562856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7"/>
          <p:cNvSpPr/>
          <p:nvPr/>
        </p:nvSpPr>
        <p:spPr>
          <a:xfrm>
            <a:off x="6236208" y="456285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7"/>
          <p:cNvSpPr/>
          <p:nvPr/>
        </p:nvSpPr>
        <p:spPr>
          <a:xfrm>
            <a:off x="6492240" y="4462272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Eternity Kısa Havluluk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7"/>
          <p:cNvSpPr/>
          <p:nvPr/>
        </p:nvSpPr>
        <p:spPr>
          <a:xfrm>
            <a:off x="9738360" y="4462272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7"/>
          <p:cNvSpPr/>
          <p:nvPr/>
        </p:nvSpPr>
        <p:spPr>
          <a:xfrm>
            <a:off x="10881360" y="4462272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7"/>
          <p:cNvSpPr/>
          <p:nvPr/>
        </p:nvSpPr>
        <p:spPr>
          <a:xfrm>
            <a:off x="6172200" y="4837176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7"/>
          <p:cNvSpPr/>
          <p:nvPr/>
        </p:nvSpPr>
        <p:spPr>
          <a:xfrm>
            <a:off x="6236208" y="4937760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7"/>
          <p:cNvSpPr/>
          <p:nvPr/>
        </p:nvSpPr>
        <p:spPr>
          <a:xfrm>
            <a:off x="6236208" y="493776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7"/>
          <p:cNvSpPr/>
          <p:nvPr/>
        </p:nvSpPr>
        <p:spPr>
          <a:xfrm>
            <a:off x="6492240" y="4837176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AquaHeat Termostatik Duş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7"/>
          <p:cNvSpPr/>
          <p:nvPr/>
        </p:nvSpPr>
        <p:spPr>
          <a:xfrm>
            <a:off x="9738360" y="4837176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₺14K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7"/>
          <p:cNvSpPr/>
          <p:nvPr/>
        </p:nvSpPr>
        <p:spPr>
          <a:xfrm>
            <a:off x="10881360" y="4837176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7"/>
          <p:cNvSpPr/>
          <p:nvPr/>
        </p:nvSpPr>
        <p:spPr>
          <a:xfrm>
            <a:off x="6172200" y="5212080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7"/>
          <p:cNvSpPr/>
          <p:nvPr/>
        </p:nvSpPr>
        <p:spPr>
          <a:xfrm>
            <a:off x="6236208" y="5312664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7"/>
          <p:cNvSpPr/>
          <p:nvPr/>
        </p:nvSpPr>
        <p:spPr>
          <a:xfrm>
            <a:off x="6236208" y="531266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7"/>
          <p:cNvSpPr/>
          <p:nvPr/>
        </p:nvSpPr>
        <p:spPr>
          <a:xfrm>
            <a:off x="6492240" y="5212080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Liquid Tabure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7"/>
          <p:cNvSpPr/>
          <p:nvPr/>
        </p:nvSpPr>
        <p:spPr>
          <a:xfrm>
            <a:off x="9738360" y="5212080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₺13K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7"/>
          <p:cNvSpPr/>
          <p:nvPr/>
        </p:nvSpPr>
        <p:spPr>
          <a:xfrm>
            <a:off x="10881360" y="5212080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7"/>
          <p:cNvSpPr/>
          <p:nvPr/>
        </p:nvSpPr>
        <p:spPr>
          <a:xfrm>
            <a:off x="6172200" y="5586984"/>
            <a:ext cx="5742432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7"/>
          <p:cNvSpPr/>
          <p:nvPr/>
        </p:nvSpPr>
        <p:spPr>
          <a:xfrm>
            <a:off x="6236208" y="5687568"/>
            <a:ext cx="164592" cy="16459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7"/>
          <p:cNvSpPr/>
          <p:nvPr/>
        </p:nvSpPr>
        <p:spPr>
          <a:xfrm>
            <a:off x="6236208" y="568756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7"/>
          <p:cNvSpPr/>
          <p:nvPr/>
        </p:nvSpPr>
        <p:spPr>
          <a:xfrm>
            <a:off x="6492240" y="5586984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Maestro Pro Eviye Bataryası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7"/>
          <p:cNvSpPr/>
          <p:nvPr/>
        </p:nvSpPr>
        <p:spPr>
          <a:xfrm>
            <a:off x="9738360" y="5586984"/>
            <a:ext cx="10972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₺11K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7"/>
          <p:cNvSpPr/>
          <p:nvPr/>
        </p:nvSpPr>
        <p:spPr>
          <a:xfrm>
            <a:off x="10881360" y="5586984"/>
            <a:ext cx="10058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7"/>
          <p:cNvSpPr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7"/>
          <p:cNvSpPr/>
          <p:nvPr/>
        </p:nvSpPr>
        <p:spPr>
          <a:xfrm>
            <a:off x="274320" y="6217920"/>
            <a:ext cx="73152" cy="3200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7"/>
          <p:cNvSpPr/>
          <p:nvPr/>
        </p:nvSpPr>
        <p:spPr>
          <a:xfrm>
            <a:off x="502920" y="62179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➔  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Toparlanan listede </a:t>
            </a:r>
            <a:r>
              <a:rPr b="1" i="0" lang="en-US" sz="95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Metropole, Origin, Sento, Masterline, Core, Universal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serileri baskın - marka serileri stabilize oldu.  |  Kayıp listesinde </a:t>
            </a:r>
            <a:r>
              <a:rPr b="1" i="0" lang="en-US" sz="95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AquaHeat, Liquid, Integra, DK100</a:t>
            </a:r>
            <a:r>
              <a:rPr b="0" i="0" lang="en-US" sz="95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- bu serilerin indexing/erişim denetimi öncelikli.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7"/>
          <p:cNvSpPr/>
          <p:nvPr/>
        </p:nvSpPr>
        <p:spPr>
          <a:xfrm>
            <a:off x="274320" y="6519672"/>
            <a:ext cx="4343400" cy="256032"/>
          </a:xfrm>
          <a:prstGeom prst="roundRect">
            <a:avLst>
              <a:gd fmla="val 28571" name="adj"/>
            </a:avLst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7"/>
          <p:cNvSpPr/>
          <p:nvPr/>
        </p:nvSpPr>
        <p:spPr>
          <a:xfrm>
            <a:off x="274320" y="651967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Kaynak: GA4 Ecommerce Purchases - Item Name | 4 Ara 2025 - 31 Mar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36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8"/>
          <p:cNvSpPr/>
          <p:nvPr/>
        </p:nvSpPr>
        <p:spPr>
          <a:xfrm>
            <a:off x="-365760" y="3200400"/>
            <a:ext cx="457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4E48"/>
              </a:buClr>
              <a:buSzPts val="20000"/>
              <a:buFont typeface="Calibri"/>
              <a:buNone/>
            </a:pPr>
            <a:r>
              <a:rPr b="1" i="0" lang="en-US" sz="20000" u="none" cap="none" strike="noStrike">
                <a:solidFill>
                  <a:srgbClr val="2A4E4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Değerlendirme ve Öneriler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p18"/>
          <p:cNvCxnSpPr/>
          <p:nvPr/>
        </p:nvCxnSpPr>
        <p:spPr>
          <a:xfrm>
            <a:off x="5865876" y="301752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18"/>
          <p:cNvCxnSpPr/>
          <p:nvPr/>
        </p:nvCxnSpPr>
        <p:spPr>
          <a:xfrm>
            <a:off x="5865876" y="3840480"/>
            <a:ext cx="457200" cy="0"/>
          </a:xfrm>
          <a:prstGeom prst="straightConnector1">
            <a:avLst/>
          </a:prstGeom>
          <a:noFill/>
          <a:ln cap="flat" cmpd="sng" w="4445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9"/>
          <p:cNvSpPr/>
          <p:nvPr/>
        </p:nvSpPr>
        <p:spPr>
          <a:xfrm>
            <a:off x="274320" y="228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DEĞERLENDİRME</a:t>
            </a:r>
            <a:r>
              <a:rPr b="0" i="0" lang="en-US" sz="10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0" i="0" lang="en-US" sz="1000" u="none" cap="none" strike="noStrike">
                <a:solidFill>
                  <a:srgbClr val="F6A088"/>
                </a:solidFill>
                <a:latin typeface="Calibri"/>
                <a:ea typeface="Calibri"/>
                <a:cs typeface="Calibri"/>
                <a:sym typeface="Calibri"/>
              </a:rPr>
              <a:t>Öncelikli Aksiyon ve Öneriler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9"/>
          <p:cNvSpPr/>
          <p:nvPr/>
        </p:nvSpPr>
        <p:spPr>
          <a:xfrm>
            <a:off x="274320" y="59436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Öncelikli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Aksiyonlar</a:t>
            </a:r>
            <a:r>
              <a:rPr b="1" i="0" lang="en-US" sz="26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 ve SEO Değerlendirmesi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9"/>
          <p:cNvSpPr/>
          <p:nvPr/>
        </p:nvSpPr>
        <p:spPr>
          <a:xfrm>
            <a:off x="274320" y="114300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Q1 2026 analizi ışığında 6 ana başlıkta öneri seti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9"/>
          <p:cNvSpPr/>
          <p:nvPr/>
        </p:nvSpPr>
        <p:spPr>
          <a:xfrm>
            <a:off x="274320" y="1508760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9"/>
          <p:cNvSpPr/>
          <p:nvPr/>
        </p:nvSpPr>
        <p:spPr>
          <a:xfrm>
            <a:off x="274320" y="1508760"/>
            <a:ext cx="91440" cy="23317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9"/>
          <p:cNvSpPr/>
          <p:nvPr/>
        </p:nvSpPr>
        <p:spPr>
          <a:xfrm>
            <a:off x="3154680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9"/>
          <p:cNvSpPr/>
          <p:nvPr/>
        </p:nvSpPr>
        <p:spPr>
          <a:xfrm>
            <a:off x="502920" y="1709928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Domain Merge Doğrulaması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19"/>
          <p:cNvCxnSpPr/>
          <p:nvPr/>
        </p:nvCxnSpPr>
        <p:spPr>
          <a:xfrm>
            <a:off x="502920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19"/>
          <p:cNvSpPr/>
          <p:nvPr/>
        </p:nvSpPr>
        <p:spPr>
          <a:xfrm>
            <a:off x="502920" y="2606040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vitra.com.tr birleşmesi sonrası Direct kanalındaki %313 Sessions büyümesi ile Revenue -%42 ayrışması, GA4 traffic attribution denetimi ile doğrulanmalıdır. Referrer exclusion listesi ve UTM tagging gözden geçirilebilir.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9"/>
          <p:cNvSpPr/>
          <p:nvPr/>
        </p:nvSpPr>
        <p:spPr>
          <a:xfrm>
            <a:off x="4197096" y="1508760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9"/>
          <p:cNvSpPr/>
          <p:nvPr/>
        </p:nvSpPr>
        <p:spPr>
          <a:xfrm>
            <a:off x="4197096" y="1508760"/>
            <a:ext cx="91440" cy="233172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9"/>
          <p:cNvSpPr/>
          <p:nvPr/>
        </p:nvSpPr>
        <p:spPr>
          <a:xfrm>
            <a:off x="7077456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9"/>
          <p:cNvSpPr/>
          <p:nvPr/>
        </p:nvSpPr>
        <p:spPr>
          <a:xfrm>
            <a:off x="4425696" y="1709928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PDP Conversion Optimizasyonu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19"/>
          <p:cNvCxnSpPr/>
          <p:nvPr/>
        </p:nvCxnSpPr>
        <p:spPr>
          <a:xfrm>
            <a:off x="4425696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B3A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9" name="Google Shape;939;p19"/>
          <p:cNvSpPr/>
          <p:nvPr/>
        </p:nvSpPr>
        <p:spPr>
          <a:xfrm>
            <a:off x="4425696" y="2606040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Sento Asma Klozet gibi 21K+ view alan ama 1 purchase dönüştüren PDP'lerde CTA netliği, stok/teslimat bilgisi, fiyat görünürlüğü ve trust elementleri gözden geçirilmelidir. Organic %234 Sessions büyümesine rağmen -%4 revenue bu sayfalarda yoğunlaşmaktadır.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9"/>
          <p:cNvSpPr/>
          <p:nvPr/>
        </p:nvSpPr>
        <p:spPr>
          <a:xfrm>
            <a:off x="8119872" y="1508760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9"/>
          <p:cNvSpPr/>
          <p:nvPr/>
        </p:nvSpPr>
        <p:spPr>
          <a:xfrm>
            <a:off x="8119872" y="1508760"/>
            <a:ext cx="91440" cy="23317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9"/>
          <p:cNvSpPr/>
          <p:nvPr/>
        </p:nvSpPr>
        <p:spPr>
          <a:xfrm>
            <a:off x="11000232" y="15544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9"/>
          <p:cNvSpPr/>
          <p:nvPr/>
        </p:nvSpPr>
        <p:spPr>
          <a:xfrm>
            <a:off x="8348472" y="1709928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Paid Search Ölçekleme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19"/>
          <p:cNvCxnSpPr/>
          <p:nvPr/>
        </p:nvCxnSpPr>
        <p:spPr>
          <a:xfrm>
            <a:off x="8348472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19"/>
          <p:cNvSpPr/>
          <p:nvPr/>
        </p:nvSpPr>
        <p:spPr>
          <a:xfrm>
            <a:off x="8348472" y="2606040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Tek pozitif ROI kanalı: Sessions +%197, Revenue +%43, Purchases +%23. Brand dışı Generic kampanyaların bütçe tahsisatı artırılarak; high-intent keyword'lerde (örn: "lavabo dolabı seti", "asma klozet fiyat") Shopping ve PMax genişletilebilir.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9"/>
          <p:cNvSpPr/>
          <p:nvPr/>
        </p:nvSpPr>
        <p:spPr>
          <a:xfrm>
            <a:off x="274320" y="3950208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9"/>
          <p:cNvSpPr/>
          <p:nvPr/>
        </p:nvSpPr>
        <p:spPr>
          <a:xfrm>
            <a:off x="274320" y="3950208"/>
            <a:ext cx="91440" cy="233172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9"/>
          <p:cNvSpPr/>
          <p:nvPr/>
        </p:nvSpPr>
        <p:spPr>
          <a:xfrm>
            <a:off x="3154680" y="399592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9"/>
          <p:cNvSpPr/>
          <p:nvPr/>
        </p:nvSpPr>
        <p:spPr>
          <a:xfrm>
            <a:off x="502920" y="4151376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Yüksek-AOV Kategoriye SEO Fokus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19"/>
          <p:cNvCxnSpPr/>
          <p:nvPr/>
        </p:nvCxnSpPr>
        <p:spPr>
          <a:xfrm>
            <a:off x="502920" y="491032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B3A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p19"/>
          <p:cNvSpPr/>
          <p:nvPr/>
        </p:nvSpPr>
        <p:spPr>
          <a:xfrm>
            <a:off x="502920" y="5047488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Banyo Dolabı kategorisi %16.4 revenue / %4.5 purchase dengesizliği ile 3.61x index - yüksek-AOV segmenti. Metropole, Core, Ardea serilerinde kategori sayfası zenginleştirme, karşılaştırma içerikleri ve FAQ yapılanması öncelikli değerlendirilebilir.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9"/>
          <p:cNvSpPr/>
          <p:nvPr/>
        </p:nvSpPr>
        <p:spPr>
          <a:xfrm>
            <a:off x="4197096" y="3950208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9"/>
          <p:cNvSpPr/>
          <p:nvPr/>
        </p:nvSpPr>
        <p:spPr>
          <a:xfrm>
            <a:off x="4197096" y="3950208"/>
            <a:ext cx="91440" cy="233172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9"/>
          <p:cNvSpPr/>
          <p:nvPr/>
        </p:nvSpPr>
        <p:spPr>
          <a:xfrm>
            <a:off x="7077456" y="399592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9"/>
          <p:cNvSpPr/>
          <p:nvPr/>
        </p:nvSpPr>
        <p:spPr>
          <a:xfrm>
            <a:off x="4425696" y="4151376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Montaj Hizmetleri Cross-sell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19"/>
          <p:cNvCxnSpPr/>
          <p:nvPr/>
        </p:nvCxnSpPr>
        <p:spPr>
          <a:xfrm>
            <a:off x="4425696" y="491032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484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19"/>
          <p:cNvSpPr/>
          <p:nvPr/>
        </p:nvSpPr>
        <p:spPr>
          <a:xfrm>
            <a:off x="4425696" y="5047488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Armatür/Duş Sistemleri ve Klozet Montaj Hizmetleri düşük view hacmi (100-500) ile top satan ürünler arasında. İlgili ürün sayfalarına "sepete birlikte ekle" modülü ve bundling stratejisi, AOV'yi yukarı taşıyabilir.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9"/>
          <p:cNvSpPr/>
          <p:nvPr/>
        </p:nvSpPr>
        <p:spPr>
          <a:xfrm>
            <a:off x="8119872" y="3950208"/>
            <a:ext cx="379476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9"/>
          <p:cNvSpPr/>
          <p:nvPr/>
        </p:nvSpPr>
        <p:spPr>
          <a:xfrm>
            <a:off x="8119872" y="3950208"/>
            <a:ext cx="91440" cy="2331720"/>
          </a:xfrm>
          <a:prstGeom prst="rect">
            <a:avLst/>
          </a:prstGeom>
          <a:solidFill>
            <a:srgbClr val="1B3A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9"/>
          <p:cNvSpPr/>
          <p:nvPr/>
        </p:nvSpPr>
        <p:spPr>
          <a:xfrm>
            <a:off x="11000232" y="399592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9"/>
          <p:cNvSpPr/>
          <p:nvPr/>
        </p:nvSpPr>
        <p:spPr>
          <a:xfrm>
            <a:off x="8348472" y="4151376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36"/>
                </a:solidFill>
                <a:latin typeface="Calibri"/>
                <a:ea typeface="Calibri"/>
                <a:cs typeface="Calibri"/>
                <a:sym typeface="Calibri"/>
              </a:rPr>
              <a:t>GEO / AI Search Hazırlık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19"/>
          <p:cNvCxnSpPr/>
          <p:nvPr/>
        </p:nvCxnSpPr>
        <p:spPr>
          <a:xfrm>
            <a:off x="8348472" y="4910328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B3A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19"/>
          <p:cNvSpPr/>
          <p:nvPr/>
        </p:nvSpPr>
        <p:spPr>
          <a:xfrm>
            <a:off x="8348472" y="5047488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Organic trafik patlaması ancak revenue sabitliği, keyword bazlı değil entity bazlı değerlendirme gerektirir. ChatGPT / Gemini / Perplexity'de "VitrA lavabo", "en iyi asma klozet" gibi sorgularda marka ve ürün mention takibi önerilebilir (Google AI Mode TR henüz aktif değildir).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nbound-kucuk-logo.png" id="964" name="Google Shape;9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400800"/>
            <a:ext cx="32004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845F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inbound-buyuk-o.png" id="970" name="Google Shape;970;p20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8686800" y="-914400"/>
            <a:ext cx="5029200" cy="896112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Teşekkürler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2" name="Google Shape;972;p20"/>
          <p:cNvCxnSpPr/>
          <p:nvPr/>
        </p:nvCxnSpPr>
        <p:spPr>
          <a:xfrm>
            <a:off x="5820156" y="2926080"/>
            <a:ext cx="548640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3" name="Google Shape;973;p20"/>
          <p:cNvCxnSpPr/>
          <p:nvPr/>
        </p:nvCxnSpPr>
        <p:spPr>
          <a:xfrm>
            <a:off x="5820156" y="3931920"/>
            <a:ext cx="548640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