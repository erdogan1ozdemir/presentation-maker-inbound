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Inter Light"/>
      <p:regular r:id="rId30"/>
      <p:bold r:id="rId31"/>
      <p:italic r:id="rId32"/>
      <p:boldItalic r:id="rId33"/>
    </p:embeddedFont>
    <p:embeddedFont>
      <p:font typeface="Rubik Light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Outfit"/>
      <p:regular r:id="rId42"/>
      <p:bold r:id="rId43"/>
    </p:embeddedFont>
    <p:embeddedFont>
      <p:font typeface="Poppins Medium"/>
      <p:regular r:id="rId44"/>
      <p:bold r:id="rId45"/>
      <p:italic r:id="rId46"/>
      <p:boldItalic r:id="rId47"/>
    </p:embeddedFont>
    <p:embeddedFont>
      <p:font typeface="Rubik"/>
      <p:regular r:id="rId48"/>
      <p:bold r:id="rId49"/>
      <p:italic r:id="rId50"/>
      <p:boldItalic r:id="rId51"/>
    </p:embeddedFont>
    <p:embeddedFont>
      <p:font typeface="Inter Black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08">
          <p15:clr>
            <a:srgbClr val="747775"/>
          </p15:clr>
        </p15:guide>
        <p15:guide id="2" orient="horz" pos="794">
          <p15:clr>
            <a:srgbClr val="747775"/>
          </p15:clr>
        </p15:guide>
        <p15:guide id="3" orient="horz" pos="2211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gUSluq9m7R1gBWJ5REzJSjsmh+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D6B978-897D-4546-A38B-196AFFB3DE68}">
  <a:tblStyle styleId="{FFD6B978-897D-4546-A38B-196AFFB3DE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8"/>
        <p:guide pos="794" orient="horz"/>
        <p:guide pos="221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font" Target="fonts/InterLight-regular.fntdata"/><Relationship Id="rId31" Type="http://schemas.openxmlformats.org/officeDocument/2006/relationships/font" Target="fonts/InterLight-bold.fntdata"/><Relationship Id="rId32" Type="http://schemas.openxmlformats.org/officeDocument/2006/relationships/font" Target="fonts/InterLight-italic.fntdata"/><Relationship Id="rId33" Type="http://schemas.openxmlformats.org/officeDocument/2006/relationships/font" Target="fonts/InterLight-boldItalic.fntdata"/><Relationship Id="rId34" Type="http://schemas.openxmlformats.org/officeDocument/2006/relationships/font" Target="fonts/RubikLight-regular.fntdata"/><Relationship Id="rId35" Type="http://schemas.openxmlformats.org/officeDocument/2006/relationships/font" Target="fonts/RubikLight-bold.fntdata"/><Relationship Id="rId36" Type="http://schemas.openxmlformats.org/officeDocument/2006/relationships/font" Target="fonts/RubikLight-italic.fntdata"/><Relationship Id="rId37" Type="http://schemas.openxmlformats.org/officeDocument/2006/relationships/font" Target="fonts/RubikLight-boldItalic.fntdata"/><Relationship Id="rId38" Type="http://schemas.openxmlformats.org/officeDocument/2006/relationships/font" Target="fonts/Inter-regular.fntdata"/><Relationship Id="rId39" Type="http://schemas.openxmlformats.org/officeDocument/2006/relationships/font" Target="fonts/Inter-bold.fntdata"/><Relationship Id="rId40" Type="http://schemas.openxmlformats.org/officeDocument/2006/relationships/font" Target="fonts/Inter-italic.fntdata"/><Relationship Id="rId41" Type="http://schemas.openxmlformats.org/officeDocument/2006/relationships/font" Target="fonts/Inter-boldItalic.fntdata"/><Relationship Id="rId42" Type="http://schemas.openxmlformats.org/officeDocument/2006/relationships/font" Target="fonts/Outfit-regular.fntdata"/><Relationship Id="rId43" Type="http://schemas.openxmlformats.org/officeDocument/2006/relationships/font" Target="fonts/Outfit-bold.fntdata"/><Relationship Id="rId44" Type="http://schemas.openxmlformats.org/officeDocument/2006/relationships/font" Target="fonts/PoppinsMedium-regular.fntdata"/><Relationship Id="rId45" Type="http://schemas.openxmlformats.org/officeDocument/2006/relationships/font" Target="fonts/PoppinsMedium-bold.fntdata"/><Relationship Id="rId46" Type="http://schemas.openxmlformats.org/officeDocument/2006/relationships/font" Target="fonts/PoppinsMedium-italic.fntdata"/><Relationship Id="rId47" Type="http://schemas.openxmlformats.org/officeDocument/2006/relationships/font" Target="fonts/PoppinsMedium-boldItalic.fntdata"/><Relationship Id="rId48" Type="http://schemas.openxmlformats.org/officeDocument/2006/relationships/font" Target="fonts/Rubik-regular.fntdata"/><Relationship Id="rId49" Type="http://schemas.openxmlformats.org/officeDocument/2006/relationships/font" Target="fonts/Rubik-bold.fntdata"/><Relationship Id="rId50" Type="http://schemas.openxmlformats.org/officeDocument/2006/relationships/font" Target="fonts/Rubik-italic.fntdata"/><Relationship Id="rId51" Type="http://schemas.openxmlformats.org/officeDocument/2006/relationships/font" Target="fonts/Rubik-boldItalic.fntdata"/><Relationship Id="rId52" Type="http://schemas.openxmlformats.org/officeDocument/2006/relationships/font" Target="fonts/InterBlack-bold.fntdata"/><Relationship Id="rId53" Type="http://schemas.openxmlformats.org/officeDocument/2006/relationships/font" Target="fonts/InterBlack-boldItalic.fntdata"/><Relationship Id="rId5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1e4e9d6f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21e4e9d6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1e4e9d6f5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21e4e9d6f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fffdac8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4bfffdac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30af5585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b30af558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990b1ac9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81990b1a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b925e03a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4b925e0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706e36aa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b5706e36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1e4e9d6f5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21e4e9d6f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1990b1ac9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1990b1ac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93a63ee67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93a63ee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5af48fd3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25af48fd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-TR"/>
              <a:t>kasım ayındaki düşüş sebebi. birde 2024vs 2025 0.3 teyit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3be2500b3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a3be2500b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927160d8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b927160d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5706e36aa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b5706e36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tr-T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 slayttaki görsel, bizim seçtiğimiz parfüm odaklı anahtar kelimeler doğrultusunda oluşturulmuştur. Bu kelimeler aylık toplam 485K tıklama hacmine sahip. Pazarda hangi sitelerin daha görünür olduğunu görebilirsiniz.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5706e36aa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b5706e36a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tr-T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 slayttaki görsel, bizim seçtiğimiz parfüm odaklı anahtar kelimeler doğrultusunda oluşturulmuştur. Bu kelimeler aylık toplam 485K tıklama hacmine sahip. Pazarda hangi sitelerin daha görünür olduğunu görebilirsiniz.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21e4e9d6f5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21e4e9d6f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7164b077c_0_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37164b077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5706e36aa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b5706e36a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1e7bec02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21e7bec0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1e7bec02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21e7bec02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5706e36aa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b5706e36aa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-TR"/>
              <a:t>önemli kelimelerde sayfa iyileştirmesi geliştirmesi yapılabilir mi incelenmesi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13" name="Google Shape;1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12100"/>
            <a:ext cx="830810" cy="36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-Content">
  <p:cSld name="Title and 2-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8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53" name="Google Shape;5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8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55" name="Google Shape;55;p48"/>
          <p:cNvSpPr txBox="1"/>
          <p:nvPr>
            <p:ph idx="1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8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48"/>
          <p:cNvSpPr/>
          <p:nvPr>
            <p:ph idx="2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7" name="Google Shape;57;p48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" name="Google Shape;58;p48"/>
          <p:cNvSpPr txBox="1"/>
          <p:nvPr>
            <p:ph idx="3" type="body"/>
          </p:nvPr>
        </p:nvSpPr>
        <p:spPr>
          <a:xfrm>
            <a:off x="213064" y="895404"/>
            <a:ext cx="4172400" cy="36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4" type="body"/>
          </p:nvPr>
        </p:nvSpPr>
        <p:spPr>
          <a:xfrm>
            <a:off x="4773529" y="900867"/>
            <a:ext cx="41574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9pPr>
          </a:lstStyle>
          <a:p/>
        </p:txBody>
      </p:sp>
      <p:sp>
        <p:nvSpPr>
          <p:cNvPr id="62" name="Google Shape;62;p49"/>
          <p:cNvSpPr txBox="1"/>
          <p:nvPr>
            <p:ph idx="1" type="body"/>
          </p:nvPr>
        </p:nvSpPr>
        <p:spPr>
          <a:xfrm>
            <a:off x="213064" y="861432"/>
            <a:ext cx="8717700" cy="3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64" name="Google Shape;6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49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49"/>
          <p:cNvSpPr txBox="1"/>
          <p:nvPr>
            <p:ph idx="2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6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5pPr>
            <a:lvl6pPr indent="-2984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p49"/>
          <p:cNvSpPr/>
          <p:nvPr>
            <p:ph idx="3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50"/>
          <p:cNvSpPr txBox="1"/>
          <p:nvPr>
            <p:ph idx="1" type="body"/>
          </p:nvPr>
        </p:nvSpPr>
        <p:spPr>
          <a:xfrm>
            <a:off x="213064" y="861432"/>
            <a:ext cx="8717700" cy="3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72" name="Google Shape;72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50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" name="Google Shape;74;p50"/>
          <p:cNvSpPr txBox="1"/>
          <p:nvPr>
            <p:ph idx="2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8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50"/>
          <p:cNvSpPr/>
          <p:nvPr>
            <p:ph idx="3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1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8" name="Google Shape;7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1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80" name="Google Shape;80;p51"/>
          <p:cNvSpPr txBox="1"/>
          <p:nvPr>
            <p:ph idx="1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8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51"/>
          <p:cNvSpPr/>
          <p:nvPr>
            <p:ph idx="2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2" name="Google Shape;82;p51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Relationship Id="rId9" Type="http://schemas.openxmlformats.org/officeDocument/2006/relationships/image" Target="../media/image34.png"/><Relationship Id="rId10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45.png"/><Relationship Id="rId6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Relationship Id="rId6" Type="http://schemas.openxmlformats.org/officeDocument/2006/relationships/image" Target="../media/image5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40.png"/><Relationship Id="rId5" Type="http://schemas.openxmlformats.org/officeDocument/2006/relationships/image" Target="../media/image5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5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6.png"/><Relationship Id="rId5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35.png"/><Relationship Id="rId9" Type="http://schemas.openxmlformats.org/officeDocument/2006/relationships/image" Target="../media/image30.png"/><Relationship Id="rId10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41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35114" l="0" r="0" t="36583"/>
          <a:stretch/>
        </p:blipFill>
        <p:spPr>
          <a:xfrm>
            <a:off x="4987900" y="2129224"/>
            <a:ext cx="3023302" cy="88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title="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1025" y="2251913"/>
            <a:ext cx="976350" cy="6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g321e4e9d6f5_0_0"/>
          <p:cNvGrpSpPr/>
          <p:nvPr/>
        </p:nvGrpSpPr>
        <p:grpSpPr>
          <a:xfrm>
            <a:off x="429025" y="2612601"/>
            <a:ext cx="6103800" cy="554100"/>
            <a:chOff x="522900" y="1789388"/>
            <a:chExt cx="6103800" cy="554100"/>
          </a:xfrm>
        </p:grpSpPr>
        <p:sp>
          <p:nvSpPr>
            <p:cNvPr id="94" name="Google Shape;94;g321e4e9d6f5_0_0"/>
            <p:cNvSpPr txBox="1"/>
            <p:nvPr/>
          </p:nvSpPr>
          <p:spPr>
            <a:xfrm>
              <a:off x="522900" y="1789388"/>
              <a:ext cx="922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24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95" name="Google Shape;95;g321e4e9d6f5_0_0"/>
            <p:cNvSpPr txBox="1"/>
            <p:nvPr/>
          </p:nvSpPr>
          <p:spPr>
            <a:xfrm>
              <a:off x="1150500" y="1835588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24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96" name="Google Shape;96;g321e4e9d6f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21e4e9d6f5_0_0"/>
          <p:cNvSpPr txBox="1"/>
          <p:nvPr/>
        </p:nvSpPr>
        <p:spPr>
          <a:xfrm>
            <a:off x="147750" y="133950"/>
            <a:ext cx="54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600" u="none" cap="none" strike="noStrike">
                <a:solidFill>
                  <a:srgbClr val="FF7B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NELER KONUŞACAĞIZ?</a:t>
            </a:r>
            <a:endParaRPr b="0" i="0" sz="1600" u="none" cap="none" strike="noStrike">
              <a:solidFill>
                <a:srgbClr val="FF7B5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98" name="Google Shape;98;g321e4e9d6f5_0_0"/>
          <p:cNvGrpSpPr/>
          <p:nvPr/>
        </p:nvGrpSpPr>
        <p:grpSpPr>
          <a:xfrm>
            <a:off x="429025" y="1976788"/>
            <a:ext cx="6103800" cy="554100"/>
            <a:chOff x="522900" y="1153575"/>
            <a:chExt cx="6103800" cy="554100"/>
          </a:xfrm>
        </p:grpSpPr>
        <p:sp>
          <p:nvSpPr>
            <p:cNvPr id="99" name="Google Shape;99;g321e4e9d6f5_0_0"/>
            <p:cNvSpPr txBox="1"/>
            <p:nvPr/>
          </p:nvSpPr>
          <p:spPr>
            <a:xfrm>
              <a:off x="522900" y="1153575"/>
              <a:ext cx="922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i="0" sz="24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00" name="Google Shape;100;g321e4e9d6f5_0_0"/>
            <p:cNvSpPr txBox="1"/>
            <p:nvPr/>
          </p:nvSpPr>
          <p:spPr>
            <a:xfrm>
              <a:off x="1150500" y="1199775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Genel Durum &amp; Google Görünürlüğü</a:t>
              </a:r>
              <a:endParaRPr b="0" i="0" sz="24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01" name="Google Shape;101;g321e4e9d6f5_0_0"/>
          <p:cNvGrpSpPr/>
          <p:nvPr/>
        </p:nvGrpSpPr>
        <p:grpSpPr>
          <a:xfrm>
            <a:off x="429025" y="3166701"/>
            <a:ext cx="6103800" cy="554100"/>
            <a:chOff x="522900" y="1789388"/>
            <a:chExt cx="6103800" cy="554100"/>
          </a:xfrm>
        </p:grpSpPr>
        <p:sp>
          <p:nvSpPr>
            <p:cNvPr id="102" name="Google Shape;102;g321e4e9d6f5_0_0"/>
            <p:cNvSpPr txBox="1"/>
            <p:nvPr/>
          </p:nvSpPr>
          <p:spPr>
            <a:xfrm>
              <a:off x="522900" y="1789388"/>
              <a:ext cx="922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24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03" name="Google Shape;103;g321e4e9d6f5_0_0"/>
            <p:cNvSpPr txBox="1"/>
            <p:nvPr/>
          </p:nvSpPr>
          <p:spPr>
            <a:xfrm>
              <a:off x="1150500" y="1835588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Planlanan İşler</a:t>
              </a:r>
              <a:endParaRPr b="0" i="0" sz="24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32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g321e4e9d6f5_0_20"/>
          <p:cNvGrpSpPr/>
          <p:nvPr/>
        </p:nvGrpSpPr>
        <p:grpSpPr>
          <a:xfrm>
            <a:off x="522900" y="2585581"/>
            <a:ext cx="6103800" cy="461700"/>
            <a:chOff x="522900" y="1747381"/>
            <a:chExt cx="6103800" cy="461700"/>
          </a:xfrm>
        </p:grpSpPr>
        <p:sp>
          <p:nvSpPr>
            <p:cNvPr id="109" name="Google Shape;109;g321e4e9d6f5_0_20"/>
            <p:cNvSpPr txBox="1"/>
            <p:nvPr/>
          </p:nvSpPr>
          <p:spPr>
            <a:xfrm>
              <a:off x="522900" y="1747381"/>
              <a:ext cx="922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10" name="Google Shape;110;g321e4e9d6f5_0_20"/>
            <p:cNvSpPr txBox="1"/>
            <p:nvPr/>
          </p:nvSpPr>
          <p:spPr>
            <a:xfrm>
              <a:off x="1150500" y="1747381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11" name="Google Shape;111;g321e4e9d6f5_0_20"/>
          <p:cNvGrpSpPr/>
          <p:nvPr/>
        </p:nvGrpSpPr>
        <p:grpSpPr>
          <a:xfrm>
            <a:off x="522901" y="2925196"/>
            <a:ext cx="6103799" cy="461700"/>
            <a:chOff x="522901" y="2394288"/>
            <a:chExt cx="6103799" cy="461700"/>
          </a:xfrm>
        </p:grpSpPr>
        <p:sp>
          <p:nvSpPr>
            <p:cNvPr id="112" name="Google Shape;112;g321e4e9d6f5_0_20"/>
            <p:cNvSpPr txBox="1"/>
            <p:nvPr/>
          </p:nvSpPr>
          <p:spPr>
            <a:xfrm>
              <a:off x="522901" y="2394288"/>
              <a:ext cx="627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13" name="Google Shape;113;g321e4e9d6f5_0_20"/>
            <p:cNvSpPr txBox="1"/>
            <p:nvPr/>
          </p:nvSpPr>
          <p:spPr>
            <a:xfrm>
              <a:off x="1150500" y="2394288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Planlanan &amp; Devam Eden İşler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114" name="Google Shape;114;g321e4e9d6f5_0_20"/>
          <p:cNvSpPr txBox="1"/>
          <p:nvPr/>
        </p:nvSpPr>
        <p:spPr>
          <a:xfrm>
            <a:off x="522900" y="1690950"/>
            <a:ext cx="922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tr-TR" sz="3200" u="none" cap="none" strike="noStrike">
                <a:solidFill>
                  <a:srgbClr val="FF7B52"/>
                </a:solidFill>
                <a:latin typeface="Inter Black"/>
                <a:ea typeface="Inter Black"/>
                <a:cs typeface="Inter Black"/>
                <a:sym typeface="Inter Black"/>
              </a:rPr>
              <a:t>01</a:t>
            </a:r>
            <a:endParaRPr b="0" i="0" sz="3200" u="none" cap="none" strike="noStrike">
              <a:solidFill>
                <a:srgbClr val="FF7B52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15" name="Google Shape;115;g321e4e9d6f5_0_20"/>
          <p:cNvSpPr txBox="1"/>
          <p:nvPr/>
        </p:nvSpPr>
        <p:spPr>
          <a:xfrm>
            <a:off x="1150499" y="1798650"/>
            <a:ext cx="747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3200" u="none" cap="none" strike="noStrike">
                <a:solidFill>
                  <a:srgbClr val="FF7B52"/>
                </a:solidFill>
                <a:latin typeface="Inter Light"/>
                <a:ea typeface="Inter Light"/>
                <a:cs typeface="Inter Light"/>
                <a:sym typeface="Inter Light"/>
              </a:rPr>
              <a:t>Genel Durum &amp; Google Görünürlüğü</a:t>
            </a:r>
            <a:endParaRPr b="0" i="0" sz="3200" u="none" cap="none" strike="noStrike">
              <a:solidFill>
                <a:srgbClr val="FF7B5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16" name="Google Shape;116;g321e4e9d6f5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Search Console Verileri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Şubat 2026'da total impression, Şubat 2025'e göre %323.4 artmıştır. Impression Ocak 2026'ya göre %59.0 artmıştır.</a:t>
            </a:r>
            <a:br/>
            <a:r>
              <a:t>Non-Brand impression'da YoY %552 artış dikkat çekicidir.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- Toplam Impression: 876.3K (Şub 2026) vs 207.0K (Şub 2025)</a:t>
            </a:r>
            <a:br/>
            <a:r>
              <a:t>- Brand Impression: 106.6K (YoY -13.5%)</a:t>
            </a:r>
            <a:br/>
            <a:r>
              <a:t>- Non-Brand Impression: 838.7K (YoY +552.3%)</a:t>
            </a:r>
            <a:br/>
            <a:r>
              <a:t>- Mobile impression ağırlıklı: 1.0M (116% pay)</a:t>
            </a:r>
          </a:p>
        </p:txBody>
      </p:sp>
      <p:pic>
        <p:nvPicPr>
          <p:cNvPr id="125" name="Picture 124" descr="impression_click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75" y="850000"/>
            <a:ext cx="8778600" cy="320000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GSC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Search Console Verileri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Geçen Yıla Göre Non-Brand Impression Azalışı Yaşanan Kelimeler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Geçen yıla göre impression düşüşü yaşanan kelimeler: fashion (-100.0%), boğazlı kazak kadın (-100.0%), kadın bluz (-100.0%), erkek çanta (-100.0%), erkek pijama (-100.0%)</a:t>
            </a:r>
            <a:br/>
            <a:r>
              <a:t>Bu kelimelerin büyük çoğunluğu sezonsallık etkisi veya site yapısı değişikliklerinden kaynaklanmaktadır.</a:t>
            </a:r>
          </a:p>
        </p:txBody>
      </p:sp>
      <p:pic>
        <p:nvPicPr>
          <p:cNvPr id="136" name="Picture 135" descr="nb_imp_decre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75" y="850000"/>
            <a:ext cx="8778600" cy="320000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GSC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Arama Hacmi Değişimi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Non-Brand Impression Düşüşü Yaşanan Kelimelerin Geçtiğimiz Seneye Göre Arama Hacmi Değişimi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Not: Bu slide için Keyword Planner verisi gereklidir. Veri temin edildiğinde güncellenecektir.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Keyword Planner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Arama Hacmi Değişimi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Arama Hacmi Toplam Değişim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Not: Bu slide için Keyword Planner verisi gereklidir. Veri temin edildiğinde güncellenecektir.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Keyword Planner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Search Console Verileri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Geçen Yıla Göre Non-Brand Impression Artışı Yaşanan Kelimeler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Non-brand keyword'lerde büyük impression artışları gözlemlenmektedir. Özellikle outlet, mont, sweatshirt gibi genel kategori kelimelerinde çok yüksek artışlar dikkat çekmektedir.</a:t>
            </a:r>
            <a:br/>
            <a:r>
              <a:t>- outlet erkek giyim: 84 → 92.3K (+99999.0%)</a:t>
            </a:r>
            <a:br/>
            <a:r>
              <a:t>- outlet giyim: 40 → 84.8K (+99999.0%)</a:t>
            </a:r>
            <a:br/>
            <a:r>
              <a:t>- outlet mont: 37 → 58.9K (+99999.0%)</a:t>
            </a:r>
            <a:br/>
            <a:r>
              <a:t>- giyim mağazası: 847 → 48.1K (+5580.0%)</a:t>
            </a:r>
            <a:br/>
            <a:r>
              <a:t>- erkek giyim mağazası: 0 → 36.8K (+99999.0%)</a:t>
            </a:r>
          </a:p>
        </p:txBody>
      </p:sp>
      <p:pic>
        <p:nvPicPr>
          <p:cNvPr id="186" name="Picture 185" descr="nb_imp_incre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75" y="850000"/>
            <a:ext cx="8778600" cy="3200000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GSC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96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Search Console Verileri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Şubat 2026'da total click, Şubat 2025'e göre %29.7 artmıştır. Click Ocak 2026'ya göre %0.1 azalmıştır.</a:t>
            </a:r>
            <a:br/>
            <a:r>
              <a:t>Non-Brand click'te YoY %529 artış gerçekleşmiştir.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- Toplam Click: 31.3K (Şub 2026) vs 24.2K (Şub 2025)</a:t>
            </a:r>
            <a:br/>
            <a:r>
              <a:t>- Brand Click: 23.1K (YoY +1.3%)</a:t>
            </a:r>
            <a:br/>
            <a:r>
              <a:t>- Non-Brand Click: 8.9K (YoY +529.1%)</a:t>
            </a:r>
            <a:br/>
            <a:r>
              <a:t>- Genel CTR: 3.58%</a:t>
            </a:r>
          </a:p>
        </p:txBody>
      </p:sp>
      <p:pic>
        <p:nvPicPr>
          <p:cNvPr id="201" name="Picture 200" descr="device_breakd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75" y="850000"/>
            <a:ext cx="8778600" cy="3200000"/>
          </a:xfrm>
          <a:prstGeom prst="rect">
            <a:avLst/>
          </a:prstGeom>
        </p:spPr>
      </p:pic>
      <p:sp>
        <p:nvSpPr>
          <p:cNvPr id="202" name="TextBox 201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GSC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Search Console Verileri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Geçen Yıla Göre Non-Brand Click Düşüşü &amp; Artışı Yaşanan Kelimeler</a:t>
            </a:r>
          </a:p>
        </p:txBody>
      </p:sp>
      <p:pic>
        <p:nvPicPr>
          <p:cNvPr id="212" name="Picture 211" descr="nb_click_du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75" y="850000"/>
            <a:ext cx="8778600" cy="3800000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GSC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Google Shape;226;g3b93a63ee67_0_12"/>
          <p:cNvCxnSpPr/>
          <p:nvPr/>
        </p:nvCxnSpPr>
        <p:spPr>
          <a:xfrm>
            <a:off x="212988" y="777598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7" name="Google Shape;227;g3b93a63ee67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b93a63ee67_0_12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3941654" y="261257"/>
            <a:ext cx="52023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b93a63ee67_0_12"/>
          <p:cNvSpPr txBox="1"/>
          <p:nvPr/>
        </p:nvSpPr>
        <p:spPr>
          <a:xfrm>
            <a:off x="554825" y="491278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Keyword Planner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g3b93a63ee67_0_12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 Marka Arama Hacimleri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31" name="Google Shape;231;g3b93a63ee67_0_12"/>
          <p:cNvGraphicFramePr/>
          <p:nvPr/>
        </p:nvGraphicFramePr>
        <p:xfrm>
          <a:off x="850163" y="90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{FFD6B978-897D-4546-A38B-196AFFB3DE68}</a:tableStyleId>
              </a:tblPr>
              <a:tblGrid>
                <a:gridCol w="564000"/>
                <a:gridCol w="580575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505950"/>
              </a:tblGrid>
              <a:tr h="16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Marka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Tarih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Jul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Aug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Oct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loft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69,125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BC28"/>
                    </a:solidFill>
                    <a:extLst>
                      <a:ext uri="http://customooxmlschemas.google.com/">
                        <go:slidesCustomData xmlns:go="http://customooxmlschemas.google.com/" cellId="23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BC28"/>
                    </a:solidFill>
                    <a:extLst>
                      <a:ext uri="http://customooxmlschemas.google.com/">
                        <go:slidesCustomData xmlns:go="http://customooxmlschemas.google.com/" cellId="231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BC55"/>
                    </a:solidFill>
                    <a:extLst>
                      <a:ext uri="http://customooxmlschemas.google.com/">
                        <go:slidesCustomData xmlns:go="http://customooxmlschemas.google.com/" cellId="231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BC55"/>
                    </a:solidFill>
                    <a:extLst>
                      <a:ext uri="http://customooxmlschemas.google.com/">
                        <go:slidesCustomData xmlns:go="http://customooxmlschemas.google.com/" cellId="231:1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70,000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C41"/>
                    </a:solidFill>
                    <a:extLst>
                      <a:ext uri="http://customooxmlschemas.google.com/">
                        <go:slidesCustomData xmlns:go="http://customooxmlschemas.google.com/" cellId="231:2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1.27%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22.31%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81.82%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22.31%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-18.24%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colins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173,250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C3F"/>
                    </a:solidFill>
                    <a:extLst>
                      <a:ext uri="http://customooxmlschemas.google.com/">
                        <go:slidesCustomData xmlns:go="http://customooxmlschemas.google.com/" cellId="231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C3F"/>
                    </a:solidFill>
                    <a:extLst>
                      <a:ext uri="http://customooxmlschemas.google.com/">
                        <go:slidesCustomData xmlns:go="http://customooxmlschemas.google.com/" cellId="231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246,000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C3F"/>
                    </a:solidFill>
                    <a:extLst>
                      <a:ext uri="http://customooxmlschemas.google.com/">
                        <go:slidesCustomData xmlns:go="http://customooxmlschemas.google.com/" cellId="231:4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149,333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BC40"/>
                    </a:solidFill>
                    <a:extLst>
                      <a:ext uri="http://customooxmlschemas.google.com/">
                        <go:slidesCustomData xmlns:go="http://customooxmlschemas.google.com/" cellId="231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BC40"/>
                    </a:solidFill>
                    <a:extLst>
                      <a:ext uri="http://customooxmlschemas.google.com/">
                        <go:slidesCustomData xmlns:go="http://customooxmlschemas.google.com/" cellId="231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BC40"/>
                    </a:solidFill>
                    <a:extLst>
                      <a:ext uri="http://customooxmlschemas.google.com/">
                        <go:slidesCustomData xmlns:go="http://customooxmlschemas.google.com/" cellId="231: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5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-13.80%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-18.18%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-18.18%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-32.84%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-18.52%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-18.52%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-18.18%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-32.93%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defacto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1,084,083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913,750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-15.71%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-44.84%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lcw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1,360,000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1,198,333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-11.89%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-33.33%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-18.67%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-18.67%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24,675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17,958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14,800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14,800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14,800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-27.22%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-18.47%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-33.33%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-18.47%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-55.31%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ltb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101,833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93,333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231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231:1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-8.35%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-33.33%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34A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21.55%</a:t>
                      </a:r>
                      <a:endParaRPr b="1" sz="800" u="none" cap="none" strike="noStrike">
                        <a:solidFill>
                          <a:srgbClr val="34A85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22.73%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mavi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904,833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9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2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844,500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2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-6.67%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4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232" name="Google Shape;232;g3b93a63ee67_0_12"/>
          <p:cNvSpPr txBox="1"/>
          <p:nvPr/>
        </p:nvSpPr>
        <p:spPr>
          <a:xfrm>
            <a:off x="213088" y="261238"/>
            <a:ext cx="8896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2025 yılında marka aranma hacmi, bir önceki yıla kıyasla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%1 </a:t>
            </a: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artış göstermiştir. Geçtiğimiz aya göre ise </a:t>
            </a:r>
            <a:r>
              <a:rPr b="1" i="0" lang="tr-TR" sz="12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%22</a:t>
            </a: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artmıştır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Bir önceki yıla kıyasla arama hacminde diğer markalarda ise düşüş yaşanmıştır.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236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Organik Trafik Ölçümlemesi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Şubat 2026'da organik trafik (session), Şubat 2025'e göre %67.4 artmıştır. Ocak 2026'ya göre ise %18.3 azalmıştır.</a:t>
            </a:r>
            <a:br/>
            <a:r>
              <a:t>Organic Search sessions: 50.0K (Şub 2026)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- Organic Search: 29.9K → 50.0K (YoY +67.4%)</a:t>
            </a:r>
            <a:br/>
            <a:r>
              <a:t>- Organic Social: 14.3K sessions</a:t>
            </a:r>
            <a:br/>
            <a:r>
              <a:t>- Organic Shopping: 11.9K sessions</a:t>
            </a:r>
          </a:p>
        </p:txBody>
      </p:sp>
      <p:pic>
        <p:nvPicPr>
          <p:cNvPr id="241" name="Picture 240" descr="organic_traff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75" y="850000"/>
            <a:ext cx="8778600" cy="3200000"/>
          </a:xfrm>
          <a:prstGeom prst="rect">
            <a:avLst/>
          </a:prstGeom>
        </p:spPr>
      </p:pic>
      <p:sp>
        <p:nvSpPr>
          <p:cNvPr id="242" name="TextBox 241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247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Organic Session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Şubat 2026 Landing Page Özelinde Organic Session Durumu</a:t>
            </a:r>
          </a:p>
        </p:txBody>
      </p:sp>
      <p:pic>
        <p:nvPicPr>
          <p:cNvPr id="251" name="Picture 250" descr="landing_pa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75" y="850000"/>
            <a:ext cx="8778600" cy="380000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257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Top Non-Brand Sorgular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Şubat 2026 Top Non-Brand Sorgular - Impression Karşılaştırma</a:t>
            </a:r>
          </a:p>
        </p:txBody>
      </p:sp>
      <p:pic>
        <p:nvPicPr>
          <p:cNvPr id="261" name="Picture 260" descr="top_que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75" y="850000"/>
            <a:ext cx="8778600" cy="3800000"/>
          </a:xfrm>
          <a:prstGeom prst="rect">
            <a:avLst/>
          </a:prstGeom>
        </p:spPr>
      </p:pic>
      <p:sp>
        <p:nvSpPr>
          <p:cNvPr id="262" name="TextBox 261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GSC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267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Visibility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SEOMonitor Visibility Verileri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Not: Bu slide için SEOMonitor verisi gereklidir. Veri temin edildiğinde güncellenecektir.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SEOMonitor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283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Visibility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SEOMonitor Visibility Verileri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Not: Bu slide için SEOMonitor verisi gereklidir. Veri temin edildiğinde güncellenecektir.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SEOMonitor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32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g321e4e9d6f5_0_173"/>
          <p:cNvGrpSpPr/>
          <p:nvPr/>
        </p:nvGrpSpPr>
        <p:grpSpPr>
          <a:xfrm>
            <a:off x="522900" y="1871406"/>
            <a:ext cx="6103800" cy="461700"/>
            <a:chOff x="522900" y="1747381"/>
            <a:chExt cx="6103800" cy="461700"/>
          </a:xfrm>
        </p:grpSpPr>
        <p:sp>
          <p:nvSpPr>
            <p:cNvPr id="311" name="Google Shape;311;g321e4e9d6f5_0_173"/>
            <p:cNvSpPr txBox="1"/>
            <p:nvPr/>
          </p:nvSpPr>
          <p:spPr>
            <a:xfrm>
              <a:off x="522900" y="1747381"/>
              <a:ext cx="922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12" name="Google Shape;312;g321e4e9d6f5_0_173"/>
            <p:cNvSpPr txBox="1"/>
            <p:nvPr/>
          </p:nvSpPr>
          <p:spPr>
            <a:xfrm>
              <a:off x="1150500" y="1747381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Genel Durum &amp; Google Görünürlüğü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313" name="Google Shape;313;g321e4e9d6f5_0_173"/>
          <p:cNvGrpSpPr/>
          <p:nvPr/>
        </p:nvGrpSpPr>
        <p:grpSpPr>
          <a:xfrm>
            <a:off x="437000" y="2333100"/>
            <a:ext cx="6103800" cy="677100"/>
            <a:chOff x="492500" y="2629100"/>
            <a:chExt cx="6103800" cy="677100"/>
          </a:xfrm>
        </p:grpSpPr>
        <p:sp>
          <p:nvSpPr>
            <p:cNvPr id="314" name="Google Shape;314;g321e4e9d6f5_0_173"/>
            <p:cNvSpPr txBox="1"/>
            <p:nvPr/>
          </p:nvSpPr>
          <p:spPr>
            <a:xfrm>
              <a:off x="492500" y="2629100"/>
              <a:ext cx="922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3200" u="none" cap="none" strike="noStrike">
                <a:solidFill>
                  <a:srgbClr val="FF7B52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15" name="Google Shape;315;g321e4e9d6f5_0_173"/>
            <p:cNvSpPr txBox="1"/>
            <p:nvPr/>
          </p:nvSpPr>
          <p:spPr>
            <a:xfrm>
              <a:off x="1120100" y="2736800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3200" u="none" cap="none" strike="noStrike">
                <a:solidFill>
                  <a:srgbClr val="FF7B52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316" name="Google Shape;316;g321e4e9d6f5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g321e4e9d6f5_0_173"/>
          <p:cNvGrpSpPr/>
          <p:nvPr/>
        </p:nvGrpSpPr>
        <p:grpSpPr>
          <a:xfrm>
            <a:off x="538099" y="2968810"/>
            <a:ext cx="6103801" cy="461700"/>
            <a:chOff x="522899" y="3034006"/>
            <a:chExt cx="6103801" cy="461700"/>
          </a:xfrm>
        </p:grpSpPr>
        <p:sp>
          <p:nvSpPr>
            <p:cNvPr id="318" name="Google Shape;318;g321e4e9d6f5_0_173"/>
            <p:cNvSpPr txBox="1"/>
            <p:nvPr/>
          </p:nvSpPr>
          <p:spPr>
            <a:xfrm>
              <a:off x="522899" y="3066256"/>
              <a:ext cx="6276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19" name="Google Shape;319;g321e4e9d6f5_0_173"/>
            <p:cNvSpPr txBox="1"/>
            <p:nvPr/>
          </p:nvSpPr>
          <p:spPr>
            <a:xfrm>
              <a:off x="1150500" y="3034006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Planlanan &amp; Devam Eden İşler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323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Anahtar Kelime Sıralamaları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SEOMonitor Kelime Sıralama Verileri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Not: Bu slide için SEOMonitor verisi gereklidir. Veri temin edildiğinde güncellenecektir.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SEOMonitor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335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Loft | Anahtar Kelime Sıralamaları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213063" y="750000"/>
            <a:ext cx="8718000" cy="127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82776" y="260000"/>
            <a:ext cx="8778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SEOMonitor Kelime Sıralama Verileri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82776" y="4100000"/>
            <a:ext cx="8557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4057"/>
                </a:solidFill>
                <a:latin typeface="Calibri"/>
              </a:defRPr>
            </a:pPr>
            <a:r>
              <a:t>Not: Bu slide için SEOMonitor verisi gereklidir. Veri temin edildiğinde güncellenecektir.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5A5A6"/>
                </a:solidFill>
                <a:latin typeface="Calibri"/>
              </a:defRPr>
            </a:pPr>
            <a:r>
              <a:t>Source: SEOMonitor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32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g321e7bec024_0_7"/>
          <p:cNvGrpSpPr/>
          <p:nvPr/>
        </p:nvGrpSpPr>
        <p:grpSpPr>
          <a:xfrm>
            <a:off x="522899" y="1871403"/>
            <a:ext cx="6103800" cy="461700"/>
            <a:chOff x="522900" y="1871403"/>
            <a:chExt cx="6103800" cy="461700"/>
          </a:xfrm>
        </p:grpSpPr>
        <p:sp>
          <p:nvSpPr>
            <p:cNvPr id="348" name="Google Shape;348;g321e7bec024_0_7"/>
            <p:cNvSpPr txBox="1"/>
            <p:nvPr/>
          </p:nvSpPr>
          <p:spPr>
            <a:xfrm>
              <a:off x="522900" y="1871403"/>
              <a:ext cx="627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49" name="Google Shape;349;g321e7bec024_0_7"/>
            <p:cNvSpPr txBox="1"/>
            <p:nvPr/>
          </p:nvSpPr>
          <p:spPr>
            <a:xfrm>
              <a:off x="1150500" y="1871403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Google Search Console Metrikleri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g321e7bec024_0_7"/>
          <p:cNvGrpSpPr/>
          <p:nvPr/>
        </p:nvGrpSpPr>
        <p:grpSpPr>
          <a:xfrm>
            <a:off x="522899" y="2279165"/>
            <a:ext cx="6065625" cy="461700"/>
            <a:chOff x="522900" y="2202750"/>
            <a:chExt cx="6065625" cy="461700"/>
          </a:xfrm>
        </p:grpSpPr>
        <p:sp>
          <p:nvSpPr>
            <p:cNvPr id="351" name="Google Shape;351;g321e7bec024_0_7"/>
            <p:cNvSpPr txBox="1"/>
            <p:nvPr/>
          </p:nvSpPr>
          <p:spPr>
            <a:xfrm>
              <a:off x="522900" y="2202750"/>
              <a:ext cx="66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52" name="Google Shape;352;g321e7bec024_0_7"/>
            <p:cNvSpPr txBox="1"/>
            <p:nvPr/>
          </p:nvSpPr>
          <p:spPr>
            <a:xfrm>
              <a:off x="1139625" y="2202750"/>
              <a:ext cx="544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g321e7bec024_0_7"/>
          <p:cNvGrpSpPr/>
          <p:nvPr/>
        </p:nvGrpSpPr>
        <p:grpSpPr>
          <a:xfrm>
            <a:off x="522888" y="2740880"/>
            <a:ext cx="7240514" cy="677100"/>
            <a:chOff x="492500" y="2594250"/>
            <a:chExt cx="7240514" cy="677100"/>
          </a:xfrm>
        </p:grpSpPr>
        <p:sp>
          <p:nvSpPr>
            <p:cNvPr id="354" name="Google Shape;354;g321e7bec024_0_7"/>
            <p:cNvSpPr txBox="1"/>
            <p:nvPr/>
          </p:nvSpPr>
          <p:spPr>
            <a:xfrm>
              <a:off x="492500" y="2594250"/>
              <a:ext cx="922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3200" u="none" cap="none" strike="noStrike">
                <a:solidFill>
                  <a:srgbClr val="FF7B52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55" name="Google Shape;355;g321e7bec024_0_7"/>
            <p:cNvSpPr txBox="1"/>
            <p:nvPr/>
          </p:nvSpPr>
          <p:spPr>
            <a:xfrm>
              <a:off x="1120114" y="2701945"/>
              <a:ext cx="66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Neler Yaptık</a:t>
              </a:r>
              <a:endParaRPr b="0" i="0" sz="3200" u="none" cap="none" strike="noStrike">
                <a:solidFill>
                  <a:srgbClr val="FF7B52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356" name="Google Shape;356;g321e7bec024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g321e7bec02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21e7bec024_0_23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 Next Step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63" name="Google Shape;363;g321e7bec024_0_23"/>
          <p:cNvSpPr txBox="1"/>
          <p:nvPr/>
        </p:nvSpPr>
        <p:spPr>
          <a:xfrm>
            <a:off x="238100" y="611163"/>
            <a:ext cx="4473600" cy="4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Kategori URL Yönlendirme 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Kategori URL/Navigasyon Optimizasyonu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Sitemap.xml Optimizasyonu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Duplicate URL Yönlendirme Listesi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Duplicate URL Yönlendirme No Response Sorunu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Ürün Detay Sayfaları Heading Tag Önerileri &amp; Güncellenmesi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Kategori Sayfaları H1 Optimizasyonu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Meta Title &amp; Description Optimizasyon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Ürün Detay Sayfaları Heading Tag Önerileri &amp; Güncellenmesi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Kategori Sayfaları H1 Optimizasyonu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- 75 adet Kategori İçerik Optimizasyonu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4" name="Google Shape;364;g321e7bec024_0_23"/>
          <p:cNvCxnSpPr/>
          <p:nvPr/>
        </p:nvCxnSpPr>
        <p:spPr>
          <a:xfrm>
            <a:off x="142588" y="5770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g321e7bec024_0_23"/>
          <p:cNvSpPr txBox="1"/>
          <p:nvPr/>
        </p:nvSpPr>
        <p:spPr>
          <a:xfrm>
            <a:off x="142604" y="97200"/>
            <a:ext cx="6370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2025’te Neler Yaptık?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g3b5706e36aa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b5706e36aa_0_186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 Next Step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72" name="Google Shape;372;g3b5706e36aa_0_186"/>
          <p:cNvCxnSpPr/>
          <p:nvPr/>
        </p:nvCxnSpPr>
        <p:spPr>
          <a:xfrm>
            <a:off x="142588" y="5770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g3b5706e36aa_0_186"/>
          <p:cNvSpPr txBox="1"/>
          <p:nvPr/>
        </p:nvSpPr>
        <p:spPr>
          <a:xfrm>
            <a:off x="212875" y="462750"/>
            <a:ext cx="4526100" cy="4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Breadcrumb Optimizasyonu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Sitemap.xml Optimizasyonu &amp; Kontrolleri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Robots.txt Güncellemeleri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- 404 ve 301 Hatası Veren Site İçi Linklerin Güncellenmesi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Site Hızı İyileştirmeleri ( Pagespeed)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Toxic Backlink İncelemesi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Kategori İçerikleri Geliştirme &amp; FAQ Eklenmesi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Schema Markup Optimizasyonları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Product Meta Title &amp; Description Ruleset Çalışması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Kelime Bazlı Sayfa İncelemeleri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AI görünürlüğü arttıracak aksiyonlar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Structured Data optimizasyonları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AI’ın referans alabileceği içerikler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Backlink’lerde AI tarafından referans alınan sitelere yönelim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FAQ çalışmaları (Informational sorgularda görünürlük arttırma)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LLMS.txt 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4" name="Google Shape;374;g3b5706e36aa_0_186"/>
          <p:cNvCxnSpPr/>
          <p:nvPr/>
        </p:nvCxnSpPr>
        <p:spPr>
          <a:xfrm>
            <a:off x="142588" y="5770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g3b5706e36aa_0_186"/>
          <p:cNvSpPr txBox="1"/>
          <p:nvPr/>
        </p:nvSpPr>
        <p:spPr>
          <a:xfrm>
            <a:off x="142604" y="97200"/>
            <a:ext cx="6370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2026’da Neler Planlıyoruz?</a:t>
            </a:r>
            <a:endParaRPr b="1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/>
        </p:nvSpPr>
        <p:spPr>
          <a:xfrm>
            <a:off x="1852938" y="2941800"/>
            <a:ext cx="54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www.inbound.com.tr</a:t>
            </a:r>
            <a:endParaRPr b="0" i="0" sz="1400" u="none" cap="none" strike="noStrik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1852925" y="4751550"/>
            <a:ext cx="543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All rights reserved. </a:t>
            </a:r>
            <a:r>
              <a:rPr b="0" i="0" lang="tr-TR" sz="1000" u="none" cap="none" strike="noStrike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© 2024</a:t>
            </a:r>
            <a:endParaRPr b="0" i="0" sz="500" u="none" cap="none" strike="noStrike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382" name="Google Shape;382;p34"/>
          <p:cNvPicPr preferRelativeResize="0"/>
          <p:nvPr/>
        </p:nvPicPr>
        <p:blipFill rotWithShape="1">
          <a:blip r:embed="rId3">
            <a:alphaModFix/>
          </a:blip>
          <a:srcRect b="11863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575" y="1993800"/>
            <a:ext cx="2644899" cy="10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4"/>
          <p:cNvSpPr txBox="1"/>
          <p:nvPr/>
        </p:nvSpPr>
        <p:spPr>
          <a:xfrm>
            <a:off x="1852938" y="2941800"/>
            <a:ext cx="54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www.inbound.com.tr</a:t>
            </a:r>
            <a:endParaRPr b="0" i="0" sz="14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1852963" y="4751550"/>
            <a:ext cx="543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tr-TR" sz="8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Tüm hakları saklıdır. © 2024</a:t>
            </a:r>
            <a:endParaRPr b="0" i="0" sz="8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