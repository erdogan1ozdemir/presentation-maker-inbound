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7B5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art-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3857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619375"/>
            <a:ext cx="11049000" cy="6454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7000"/>
              </a:lnSpc>
            </a:pPr>
            <a:r>
              <a:rPr sz="4750" b="1">
                <a:solidFill>
                  <a:srgbClr val="FEFEF7"/>
                </a:solidFill>
                <a:latin typeface="Bricolage Grotesque"/>
              </a:rPr>
              <a:t>Game+ SEO Değerlendirme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474402"/>
            <a:ext cx="11049000" cy="5734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4300" b="1">
                <a:solidFill>
                  <a:srgbClr val="FEFEF7"/>
                </a:solidFill>
                <a:latin typeface="Bricolage Grotesque"/>
              </a:rPr>
              <a:t>Temmuz 2026</a:t>
            </a:r>
          </a:p>
        </p:txBody>
      </p:sp>
      <p:pic>
        <p:nvPicPr>
          <p:cNvPr id="5" name="Picture 4" descr="wordmark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575" y="6048375"/>
            <a:ext cx="1457325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genda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0"/>
            <a:ext cx="6096000" cy="6858000"/>
          </a:xfrm>
          <a:prstGeom prst="rect">
            <a:avLst/>
          </a:prstGeom>
        </p:spPr>
      </p:pic>
      <p:pic>
        <p:nvPicPr>
          <p:cNvPr id="3" name="Picture 2" descr="cover-art-fr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0"/>
            <a:ext cx="383857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7175" y="190500"/>
            <a:ext cx="55245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EFEF7"/>
                </a:solidFill>
                <a:latin typeface="Outfit"/>
              </a:rPr>
              <a:t>TEMMUZ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28575" y="2630805"/>
            <a:ext cx="6153150" cy="701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4800" b="0">
                <a:solidFill>
                  <a:srgbClr val="FEFEF7"/>
                </a:solidFill>
                <a:latin typeface="Bricolage Grotesque"/>
              </a:rPr>
              <a:t>SUNUM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8575" y="3331845"/>
            <a:ext cx="6153150" cy="701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4800" b="0">
                <a:solidFill>
                  <a:srgbClr val="FEFEF7"/>
                </a:solidFill>
                <a:latin typeface="Bricolage Grotesque"/>
              </a:rPr>
              <a:t>AKIŞI</a:t>
            </a:r>
          </a:p>
        </p:txBody>
      </p:sp>
      <p:pic>
        <p:nvPicPr>
          <p:cNvPr id="7" name="Picture 6" descr="agenda-logo-i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75" y="6019800"/>
            <a:ext cx="495300" cy="4857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34125" y="730250"/>
            <a:ext cx="5457825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>
                <a:solidFill>
                  <a:srgbClr val="8A8A8A"/>
                </a:solidFill>
                <a:latin typeface="Bricolage Grotesq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4125" y="1047750"/>
            <a:ext cx="5457825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10332F"/>
                </a:solidFill>
                <a:latin typeface="Bricolage Grotesque"/>
              </a:rPr>
              <a:t>Genel Görünüm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4125" y="1536700"/>
            <a:ext cx="5457825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>
                <a:solidFill>
                  <a:srgbClr val="8A8A8A"/>
                </a:solidFill>
                <a:latin typeface="Bricolage Grotesque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4125" y="1854200"/>
            <a:ext cx="5457825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10332F"/>
                </a:solidFill>
                <a:latin typeface="Bricolage Grotesque"/>
              </a:rPr>
              <a:t>Google Search Console Metrikleri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4125" y="2343150"/>
            <a:ext cx="5457825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>
                <a:solidFill>
                  <a:srgbClr val="8A8A8A"/>
                </a:solidFill>
                <a:latin typeface="Bricolage Grotesque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4125" y="2660650"/>
            <a:ext cx="5457825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10332F"/>
                </a:solidFill>
                <a:latin typeface="Bricolage Grotesque"/>
              </a:rPr>
              <a:t>SSR Geçişi Etkisi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4125" y="3149600"/>
            <a:ext cx="5457825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>
                <a:solidFill>
                  <a:srgbClr val="8A8A8A"/>
                </a:solidFill>
                <a:latin typeface="Bricolage Grotesque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4125" y="3467100"/>
            <a:ext cx="5457825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10332F"/>
                </a:solidFill>
                <a:latin typeface="Bricolage Grotesque"/>
              </a:rPr>
              <a:t>GA4 Trafik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4125" y="3956050"/>
            <a:ext cx="5457825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>
                <a:solidFill>
                  <a:srgbClr val="8A8A8A"/>
                </a:solidFill>
                <a:latin typeface="Bricolage Grotesque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4125" y="4273550"/>
            <a:ext cx="5457825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10332F"/>
                </a:solidFill>
                <a:latin typeface="Bricolage Grotesque"/>
              </a:rPr>
              <a:t>İçerik Performansı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4125" y="4762500"/>
            <a:ext cx="5457825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>
                <a:solidFill>
                  <a:srgbClr val="8A8A8A"/>
                </a:solidFill>
                <a:latin typeface="Bricolage Grotesque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4125" y="5080000"/>
            <a:ext cx="5457825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10332F"/>
                </a:solidFill>
                <a:latin typeface="Bricolage Grotesque"/>
              </a:rPr>
              <a:t>Yapay Zeka Görünürlüğü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4125" y="5568950"/>
            <a:ext cx="5457825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>
                <a:solidFill>
                  <a:srgbClr val="8A8A8A"/>
                </a:solidFill>
                <a:latin typeface="Bricolage Grotesque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4125" y="5886450"/>
            <a:ext cx="5457825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>
                <a:solidFill>
                  <a:srgbClr val="10332F"/>
                </a:solidFill>
                <a:latin typeface="Bricolage Grotesque"/>
              </a:rPr>
              <a:t>Yapılan ve Planlanan İşler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2900" y="2438400"/>
            <a:ext cx="2095500" cy="190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0" b="1">
                <a:solidFill>
                  <a:srgbClr val="254E49"/>
                </a:solidFill>
                <a:latin typeface="Bricolage Grotesque"/>
              </a:rPr>
              <a:t>01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891212" y="2841879"/>
            <a:ext cx="409575" cy="104775"/>
          </a:xfrm>
          <a:prstGeom prst="roundRect">
            <a:avLst>
              <a:gd name="adj" fmla="val 27272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071938" y="3175254"/>
            <a:ext cx="4048125" cy="5074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3700" b="1">
                <a:solidFill>
                  <a:srgbClr val="FEFEF7"/>
                </a:solidFill>
                <a:latin typeface="Bricolage Grotesque"/>
              </a:rPr>
              <a:t>Genel Görünüm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1212" y="3911346"/>
            <a:ext cx="409575" cy="104775"/>
          </a:xfrm>
          <a:prstGeom prst="roundRect">
            <a:avLst>
              <a:gd name="adj" fmla="val 27272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GENEL GÖRÜNÜM</a:t>
            </a:r>
            <a:r>
              <a:rPr sz="1000" b="0">
                <a:solidFill>
                  <a:srgbClr val="FF7B52"/>
                </a:solidFill>
                <a:latin typeface="Outfit"/>
              </a:rPr>
              <a:t>  |  </a:t>
            </a:r>
            <a:r>
              <a:rPr sz="1000" b="0">
                <a:solidFill>
                  <a:srgbClr val="FF7B52"/>
                </a:solidFill>
                <a:latin typeface="Outfit"/>
              </a:rPr>
              <a:t>Yönetici Özeti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11049000" cy="394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332F"/>
                </a:solidFill>
                <a:latin typeface="Bricolage Grotesque"/>
              </a:rPr>
              <a:t>Non-Brand Büyürken Brand ve GFN Talebi Daralıyor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785"/>
            <a:ext cx="1104900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A4A"/>
                </a:solidFill>
                <a:latin typeface="Outfit"/>
              </a:rPr>
              <a:t>Temmuz 2026 | Search Console tüm cihazlar, GA4 tüm kanallar</a:t>
            </a:r>
          </a:p>
        </p:txBody>
      </p:sp>
      <p:pic>
        <p:nvPicPr>
          <p:cNvPr id="5" name="Picture 4" descr="inbound-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210300"/>
            <a:ext cx="342900" cy="3429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500" y="6267450"/>
            <a:ext cx="2400300" cy="209550"/>
          </a:xfrm>
          <a:prstGeom prst="roundRect">
            <a:avLst>
              <a:gd name="adj" fmla="val 36363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Bricolage Grotesque"/>
              </a:rPr>
              <a:t>Kaynak: Google Search Console &amp; GA4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701165"/>
            <a:ext cx="2633662" cy="1066800"/>
          </a:xfrm>
          <a:prstGeom prst="roundRect">
            <a:avLst>
              <a:gd name="adj" fmla="val 14285"/>
            </a:avLst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71500" y="1868805"/>
            <a:ext cx="2633662" cy="2933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Bricolage Grotesque"/>
              </a:rPr>
              <a:t>23.7K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38375"/>
            <a:ext cx="2405062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FFFFFF"/>
                </a:solidFill>
                <a:latin typeface="Outfit"/>
              </a:rPr>
              <a:t>ORGANIK CLICK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2428875"/>
            <a:ext cx="248126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Outfit"/>
              </a:rPr>
              <a:t>MoM  </a:t>
            </a:r>
            <a:r>
              <a:rPr sz="1000" b="1">
                <a:solidFill>
                  <a:srgbClr val="FFFFFF"/>
                </a:solidFill>
                <a:latin typeface="Bricolage Grotesque"/>
              </a:rPr>
              <a:t>+%5.3</a:t>
            </a:r>
            <a:r>
              <a:rPr sz="1000" b="0">
                <a:solidFill>
                  <a:srgbClr val="FFFFFF"/>
                </a:solidFill>
                <a:latin typeface="Outfit"/>
              </a:rPr>
              <a:t>     </a:t>
            </a:r>
            <a:r>
              <a:rPr sz="1000" b="0">
                <a:solidFill>
                  <a:srgbClr val="FFFFFF"/>
                </a:solidFill>
                <a:latin typeface="Outfit"/>
              </a:rPr>
              <a:t>YoY  </a:t>
            </a:r>
            <a:r>
              <a:rPr sz="1000" b="1">
                <a:solidFill>
                  <a:srgbClr val="FFFFFF"/>
                </a:solidFill>
                <a:latin typeface="Bricolage Grotesque"/>
              </a:rPr>
              <a:t>+%44.6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6612" y="1701165"/>
            <a:ext cx="2633662" cy="1066800"/>
          </a:xfrm>
          <a:prstGeom prst="roundRect">
            <a:avLst>
              <a:gd name="adj" fmla="val 14285"/>
            </a:avLst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376612" y="1868805"/>
            <a:ext cx="2633662" cy="2933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Bricolage Grotesque"/>
              </a:rPr>
              <a:t>752.3K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0912" y="2238375"/>
            <a:ext cx="2405062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FFFFFF"/>
                </a:solidFill>
                <a:latin typeface="Outfit"/>
              </a:rPr>
              <a:t>IMPRESSION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2812" y="2428875"/>
            <a:ext cx="248126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Outfit"/>
              </a:rPr>
              <a:t>MoM  </a:t>
            </a:r>
            <a:r>
              <a:rPr sz="1000" b="1">
                <a:solidFill>
                  <a:srgbClr val="FFFFFF"/>
                </a:solidFill>
                <a:latin typeface="Bricolage Grotesque"/>
              </a:rPr>
              <a:t>+%15.1</a:t>
            </a:r>
            <a:r>
              <a:rPr sz="1000" b="0">
                <a:solidFill>
                  <a:srgbClr val="FFFFFF"/>
                </a:solidFill>
                <a:latin typeface="Outfit"/>
              </a:rPr>
              <a:t>     </a:t>
            </a:r>
            <a:r>
              <a:rPr sz="1000" b="0">
                <a:solidFill>
                  <a:srgbClr val="FFFFFF"/>
                </a:solidFill>
                <a:latin typeface="Outfit"/>
              </a:rPr>
              <a:t>YoY  </a:t>
            </a:r>
            <a:r>
              <a:rPr sz="1000" b="1">
                <a:solidFill>
                  <a:srgbClr val="FFFFFF"/>
                </a:solidFill>
                <a:latin typeface="Bricolage Grotesque"/>
              </a:rPr>
              <a:t>+%106.7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725" y="1701165"/>
            <a:ext cx="2633662" cy="1066800"/>
          </a:xfrm>
          <a:prstGeom prst="roundRect">
            <a:avLst>
              <a:gd name="adj" fmla="val 14285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181725" y="1868805"/>
            <a:ext cx="2633662" cy="2933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Bricolage Grotesque"/>
              </a:rPr>
              <a:t>436.2K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6025" y="2238375"/>
            <a:ext cx="2405062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FFFFFF"/>
                </a:solidFill>
                <a:latin typeface="Outfit"/>
              </a:rPr>
              <a:t>TOPLAM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7925" y="2428875"/>
            <a:ext cx="248126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Outfit"/>
              </a:rPr>
              <a:t>MoM  </a:t>
            </a:r>
            <a:r>
              <a:rPr sz="1000" b="1">
                <a:solidFill>
                  <a:srgbClr val="FFFFFF"/>
                </a:solidFill>
                <a:latin typeface="Bricolage Grotesque"/>
              </a:rPr>
              <a:t>+%8.6</a:t>
            </a:r>
            <a:r>
              <a:rPr sz="1000" b="0">
                <a:solidFill>
                  <a:srgbClr val="FFFFFF"/>
                </a:solidFill>
                <a:latin typeface="Outfit"/>
              </a:rPr>
              <a:t>     </a:t>
            </a:r>
            <a:r>
              <a:rPr sz="1000" b="0">
                <a:solidFill>
                  <a:srgbClr val="FFFFFF"/>
                </a:solidFill>
                <a:latin typeface="Outfit"/>
              </a:rPr>
              <a:t>YoY  </a:t>
            </a:r>
            <a:r>
              <a:rPr sz="1000" b="1">
                <a:solidFill>
                  <a:srgbClr val="FFFFFF"/>
                </a:solidFill>
                <a:latin typeface="Bricolage Grotesque"/>
              </a:rPr>
              <a:t>-%38.7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6838" y="1701165"/>
            <a:ext cx="2633662" cy="1066800"/>
          </a:xfrm>
          <a:prstGeom prst="roundRect">
            <a:avLst>
              <a:gd name="adj" fmla="val 14285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986838" y="1868805"/>
            <a:ext cx="2633662" cy="2933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Bricolage Grotesque"/>
              </a:rPr>
              <a:t>37.7K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1138" y="2238375"/>
            <a:ext cx="2405062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FFFFFF"/>
                </a:solidFill>
                <a:latin typeface="Outfit"/>
              </a:rPr>
              <a:t>ORGANIK 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3038" y="2428875"/>
            <a:ext cx="248126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Outfit"/>
              </a:rPr>
              <a:t>MoM  </a:t>
            </a:r>
            <a:r>
              <a:rPr sz="1000" b="1">
                <a:solidFill>
                  <a:srgbClr val="FFFFFF"/>
                </a:solidFill>
                <a:latin typeface="Bricolage Grotesque"/>
              </a:rPr>
              <a:t>+%8.9</a:t>
            </a:r>
            <a:r>
              <a:rPr sz="1000" b="0">
                <a:solidFill>
                  <a:srgbClr val="FFFFFF"/>
                </a:solidFill>
                <a:latin typeface="Outfit"/>
              </a:rPr>
              <a:t>     </a:t>
            </a:r>
            <a:r>
              <a:rPr sz="1000" b="0">
                <a:solidFill>
                  <a:srgbClr val="FFFFFF"/>
                </a:solidFill>
                <a:latin typeface="Outfit"/>
              </a:rPr>
              <a:t>YoY  </a:t>
            </a:r>
            <a:r>
              <a:rPr sz="1000" b="1">
                <a:solidFill>
                  <a:srgbClr val="FFFFFF"/>
                </a:solidFill>
                <a:latin typeface="Bricolage Grotesque"/>
              </a:rPr>
              <a:t>+%5.0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3091815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50" y="3091815"/>
            <a:ext cx="108013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Organik click yıllık bazda 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+%44.6</a:t>
            </a:r>
            <a:r>
              <a:rPr sz="1050" b="0">
                <a:solidFill>
                  <a:srgbClr val="10332F"/>
                </a:solidFill>
                <a:latin typeface="Outfit"/>
              </a:rPr>
              <a:t>, impression 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+%106.7</a:t>
            </a:r>
            <a:r>
              <a:rPr sz="1050" b="0">
                <a:solidFill>
                  <a:srgbClr val="10332F"/>
                </a:solidFill>
                <a:latin typeface="Outfit"/>
              </a:rPr>
              <a:t> artmıştır. Büyümenin tamamı </a:t>
            </a:r>
            <a:r>
              <a:rPr sz="1050" b="1">
                <a:solidFill>
                  <a:srgbClr val="FF7B52"/>
                </a:solidFill>
                <a:latin typeface="Bricolage Grotesque"/>
              </a:rPr>
              <a:t>non-brand</a:t>
            </a:r>
            <a:r>
              <a:rPr sz="1050" b="0">
                <a:solidFill>
                  <a:srgbClr val="10332F"/>
                </a:solidFill>
                <a:latin typeface="Outfit"/>
              </a:rPr>
              <a:t> tarafından gelmektedir: click 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+%56.1</a:t>
            </a:r>
            <a:r>
              <a:rPr sz="1050" b="0">
                <a:solidFill>
                  <a:srgbClr val="10332F"/>
                </a:solidFill>
                <a:latin typeface="Outfit"/>
              </a:rPr>
              <a:t>, impression 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+%110.3</a:t>
            </a:r>
            <a:r>
              <a:rPr sz="1050" b="0">
                <a:solidFill>
                  <a:srgbClr val="10332F"/>
                </a:solidFill>
                <a:latin typeface="Outfit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3406140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150" y="3406140"/>
            <a:ext cx="108013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1">
                <a:solidFill>
                  <a:srgbClr val="FF7B52"/>
                </a:solidFill>
                <a:latin typeface="Bricolage Grotesque"/>
              </a:rPr>
              <a:t>Brand</a:t>
            </a:r>
            <a:r>
              <a:rPr sz="1050" b="0">
                <a:solidFill>
                  <a:srgbClr val="10332F"/>
                </a:solidFill>
                <a:latin typeface="Outfit"/>
              </a:rPr>
              <a:t> sorgularında click </a:t>
            </a:r>
            <a:r>
              <a:rPr sz="1050" b="1">
                <a:solidFill>
                  <a:srgbClr val="D32F2F"/>
                </a:solidFill>
                <a:latin typeface="Bricolage Grotesque"/>
              </a:rPr>
              <a:t>-%30.6</a:t>
            </a:r>
            <a:r>
              <a:rPr sz="1050" b="0">
                <a:solidFill>
                  <a:srgbClr val="10332F"/>
                </a:solidFill>
                <a:latin typeface="Outfit"/>
              </a:rPr>
              <a:t> gerilemiş, impression </a:t>
            </a:r>
            <a:r>
              <a:rPr sz="1050" b="1">
                <a:solidFill>
                  <a:srgbClr val="10332F"/>
                </a:solidFill>
                <a:latin typeface="Bricolage Grotesque"/>
              </a:rPr>
              <a:t>yatay</a:t>
            </a:r>
            <a:r>
              <a:rPr sz="1050" b="0">
                <a:solidFill>
                  <a:srgbClr val="10332F"/>
                </a:solidFill>
                <a:latin typeface="Outfit"/>
              </a:rPr>
              <a:t> kalmıştır. </a:t>
            </a:r>
            <a:r>
              <a:rPr sz="1050" b="1">
                <a:solidFill>
                  <a:srgbClr val="FF7B52"/>
                </a:solidFill>
                <a:latin typeface="Bricolage Grotesque"/>
              </a:rPr>
              <a:t>GFN</a:t>
            </a:r>
            <a:r>
              <a:rPr sz="1050" b="0">
                <a:solidFill>
                  <a:srgbClr val="10332F"/>
                </a:solidFill>
                <a:latin typeface="Outfit"/>
              </a:rPr>
              <a:t> tarafında hem click </a:t>
            </a:r>
            <a:r>
              <a:rPr sz="1050" b="1">
                <a:solidFill>
                  <a:srgbClr val="D32F2F"/>
                </a:solidFill>
                <a:latin typeface="Bricolage Grotesque"/>
              </a:rPr>
              <a:t>-%64.1</a:t>
            </a:r>
            <a:r>
              <a:rPr sz="1050" b="0">
                <a:solidFill>
                  <a:srgbClr val="10332F"/>
                </a:solidFill>
                <a:latin typeface="Outfit"/>
              </a:rPr>
              <a:t> hem impression </a:t>
            </a:r>
            <a:r>
              <a:rPr sz="1050" b="1">
                <a:solidFill>
                  <a:srgbClr val="D32F2F"/>
                </a:solidFill>
                <a:latin typeface="Bricolage Grotesque"/>
              </a:rPr>
              <a:t>-%30.8</a:t>
            </a:r>
            <a:r>
              <a:rPr sz="1050" b="0">
                <a:solidFill>
                  <a:srgbClr val="10332F"/>
                </a:solidFill>
                <a:latin typeface="Outfit"/>
              </a:rPr>
              <a:t> daralmıştır.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" y="3720465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150" y="3720465"/>
            <a:ext cx="108013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Click'in </a:t>
            </a:r>
            <a:r>
              <a:rPr sz="1050" b="1">
                <a:solidFill>
                  <a:srgbClr val="10332F"/>
                </a:solidFill>
                <a:latin typeface="Bricolage Grotesque"/>
              </a:rPr>
              <a:t>%93.6</a:t>
            </a:r>
            <a:r>
              <a:rPr sz="1050" b="0">
                <a:solidFill>
                  <a:srgbClr val="10332F"/>
                </a:solidFill>
                <a:latin typeface="Outfit"/>
              </a:rPr>
              <a:t>'sı non-brand sorgulardan gelmektedir; GFN grubu toplam click'in </a:t>
            </a:r>
            <a:r>
              <a:rPr sz="1050" b="1">
                <a:solidFill>
                  <a:srgbClr val="10332F"/>
                </a:solidFill>
                <a:latin typeface="Bricolage Grotesque"/>
              </a:rPr>
              <a:t>%15.0</a:t>
            </a:r>
            <a:r>
              <a:rPr sz="1050" b="0">
                <a:solidFill>
                  <a:srgbClr val="10332F"/>
                </a:solidFill>
                <a:latin typeface="Outfit"/>
              </a:rPr>
              <a:t>'ini kapsamaktadır.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1500" y="4358640"/>
            <a:ext cx="11049000" cy="990600"/>
          </a:xfrm>
          <a:prstGeom prst="roundRect">
            <a:avLst>
              <a:gd name="adj" fmla="val 11538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23900" y="4511040"/>
            <a:ext cx="107442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85F36"/>
                </a:solidFill>
                <a:latin typeface="Bricolage Grotesque"/>
              </a:rPr>
              <a:t>KRİTİK TESPİT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900" y="4739640"/>
            <a:ext cx="10744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0332F"/>
                </a:solidFill>
                <a:latin typeface="Outfit"/>
              </a:rPr>
              <a:t>Brand ve GFN daralırken toplam trafiğin artması, büyümenin marka talebinden değil kategori içeriğinden geldiğini göstermektedir. SSR geçişi ve blog çalışmasının etkisi bu eksende okunmaktadır; marka tarafındaki daralma ise ayrı bir izleme başlığıdır.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GENEL GÖRÜNÜM</a:t>
            </a:r>
            <a:r>
              <a:rPr sz="1000" b="0">
                <a:solidFill>
                  <a:srgbClr val="FF7B52"/>
                </a:solidFill>
                <a:latin typeface="Outfit"/>
              </a:rPr>
              <a:t>  |  </a:t>
            </a:r>
            <a:r>
              <a:rPr sz="1000" b="0">
                <a:solidFill>
                  <a:srgbClr val="FF7B52"/>
                </a:solidFill>
                <a:latin typeface="Outfit"/>
              </a:rPr>
              <a:t>Yöntem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11049000" cy="394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332F"/>
                </a:solidFill>
                <a:latin typeface="Bricolage Grotesque"/>
              </a:rPr>
              <a:t>Segment Tanımları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785"/>
            <a:ext cx="1104900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A4A"/>
                </a:solidFill>
                <a:latin typeface="Outfit"/>
              </a:rPr>
              <a:t>Sorgu segmentleri, GSC dashboard projesindeki hesapla aynı yöntemle kurulmuştur</a:t>
            </a:r>
          </a:p>
        </p:txBody>
      </p:sp>
      <p:pic>
        <p:nvPicPr>
          <p:cNvPr id="5" name="Picture 4" descr="inbound-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210300"/>
            <a:ext cx="342900" cy="3429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500" y="6267450"/>
            <a:ext cx="3705225" cy="209550"/>
          </a:xfrm>
          <a:prstGeom prst="roundRect">
            <a:avLst>
              <a:gd name="adj" fmla="val 36363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Bricolage Grotesque"/>
              </a:rPr>
              <a:t>Kaynak: Google Search Console - sc-domain:gameplus.com.tr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701165"/>
            <a:ext cx="3568700" cy="2034858"/>
          </a:xfrm>
          <a:prstGeom prst="roundRect">
            <a:avLst>
              <a:gd name="adj" fmla="val 748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2950" y="1872615"/>
            <a:ext cx="3225800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Brand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2144078"/>
            <a:ext cx="3225800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doğrudan ölçülür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380298"/>
            <a:ext cx="114300" cy="202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380298"/>
            <a:ext cx="3092450" cy="202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Query içinde şu ifadeler geçen sorgular: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2640012"/>
            <a:ext cx="114300" cy="202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640012"/>
            <a:ext cx="3092450" cy="202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"gameplus" · "game plus" · "game+"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2899728"/>
            <a:ext cx="114300" cy="202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2899728"/>
            <a:ext cx="3092450" cy="202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GSC regex filtresiyle ölçülür.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1650" y="1701165"/>
            <a:ext cx="3568700" cy="2034858"/>
          </a:xfrm>
          <a:prstGeom prst="roundRect">
            <a:avLst>
              <a:gd name="adj" fmla="val 748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83100" y="1872615"/>
            <a:ext cx="3225800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Non-Brand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3100" y="2144078"/>
            <a:ext cx="3225800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toplamdan çıkarılır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3100" y="2380298"/>
            <a:ext cx="114300" cy="202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6450" y="2380298"/>
            <a:ext cx="3092450" cy="202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Toplam eksi brand olarak hesaplanır.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3100" y="2640012"/>
            <a:ext cx="114300" cy="6076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6450" y="2640012"/>
            <a:ext cx="3092450" cy="6076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Query filtresi uygulandığında anonim sorgular sonuç kümesinden düştüğü için bu hacim non-brand satırında yer alır.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3100" y="3304858"/>
            <a:ext cx="114300" cy="202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6450" y="3304858"/>
            <a:ext cx="3092450" cy="202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Pozisyon değeri ayrıca ölçülür.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1800" y="1701165"/>
            <a:ext cx="3568700" cy="2034858"/>
          </a:xfrm>
          <a:prstGeom prst="roundRect">
            <a:avLst>
              <a:gd name="adj" fmla="val 7489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23250" y="1872615"/>
            <a:ext cx="3225800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GFN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3250" y="2144078"/>
            <a:ext cx="3225800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kesişen grup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3250" y="2380298"/>
            <a:ext cx="114300" cy="202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600" y="2380298"/>
            <a:ext cx="3092450" cy="202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Query içinde şu ifadeler geçen sorgular: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3250" y="2640012"/>
            <a:ext cx="114300" cy="202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6600" y="2640012"/>
            <a:ext cx="3092450" cy="202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"gfn" · "geforce now" · "geforcenow"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3250" y="2899728"/>
            <a:ext cx="11430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6600" y="2899728"/>
            <a:ext cx="309245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Brand ve non-brand'in üzerine biner; üç grubun toplamı toplam click'e eşit değildir.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4078922"/>
            <a:ext cx="1714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150" y="4078922"/>
            <a:ext cx="108013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Brand ve Non-Brand birbirini tamamlar, toplamları toplam click'i verir. GFN ise kesişen bir gruptur: bir sorgu hem brand hem GFN olabilir (</a:t>
            </a:r>
            <a:r>
              <a:rPr sz="1100" b="1">
                <a:solidFill>
                  <a:srgbClr val="10332F"/>
                </a:solidFill>
                <a:latin typeface="Bricolage Grotesque"/>
              </a:rPr>
              <a:t>"gameplus geforce now"</a:t>
            </a:r>
            <a:r>
              <a:rPr sz="1100" b="0">
                <a:solidFill>
                  <a:srgbClr val="10332F"/>
                </a:solidFill>
                <a:latin typeface="Outfit"/>
              </a:rPr>
              <a:t> gibi).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4402772"/>
            <a:ext cx="1714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150" y="4402772"/>
            <a:ext cx="108013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Ayrım, marka talebi ile kategori talebini birbirinden ayırmak ve GeForce NOW kaynaklı hareketi ayrıca izleyebilmek için kurulmuştur.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" y="2438400"/>
            <a:ext cx="2552700" cy="190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0" b="1">
                <a:solidFill>
                  <a:srgbClr val="254E49"/>
                </a:solidFill>
                <a:latin typeface="Bricolage Grotesque"/>
              </a:rPr>
              <a:t>02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891212" y="2841879"/>
            <a:ext cx="409575" cy="104775"/>
          </a:xfrm>
          <a:prstGeom prst="roundRect">
            <a:avLst>
              <a:gd name="adj" fmla="val 27272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085975" y="3175254"/>
            <a:ext cx="8020050" cy="5074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3700" b="1">
                <a:solidFill>
                  <a:srgbClr val="FEFEF7"/>
                </a:solidFill>
                <a:latin typeface="Bricolage Grotesque"/>
              </a:rPr>
              <a:t>Google Search Console Metrikleri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1212" y="3911346"/>
            <a:ext cx="409575" cy="104775"/>
          </a:xfrm>
          <a:prstGeom prst="roundRect">
            <a:avLst>
              <a:gd name="adj" fmla="val 27272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SEARCH CONSOLE</a:t>
            </a:r>
            <a:r>
              <a:rPr sz="1000" b="0">
                <a:solidFill>
                  <a:srgbClr val="FF7B52"/>
                </a:solidFill>
                <a:latin typeface="Outfit"/>
              </a:rPr>
              <a:t>  |  </a:t>
            </a:r>
            <a:r>
              <a:rPr sz="1000" b="0">
                <a:solidFill>
                  <a:srgbClr val="FF7B52"/>
                </a:solidFill>
                <a:latin typeface="Outfit"/>
              </a:rPr>
              <a:t>Aylık Seri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11049000" cy="394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332F"/>
                </a:solidFill>
                <a:latin typeface="Bricolage Grotesque"/>
              </a:rPr>
              <a:t>Brand, Non-Brand ve GFN Aylık Click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785"/>
            <a:ext cx="1104900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A4A"/>
                </a:solidFill>
                <a:latin typeface="Outfit"/>
              </a:rPr>
              <a:t>Tem 2025 - Tem 2026 | 13 aylık seri | Search Console</a:t>
            </a:r>
          </a:p>
        </p:txBody>
      </p:sp>
      <p:pic>
        <p:nvPicPr>
          <p:cNvPr id="5" name="Picture 4" descr="inbound-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210300"/>
            <a:ext cx="342900" cy="3429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500" y="6267450"/>
            <a:ext cx="3705225" cy="209550"/>
          </a:xfrm>
          <a:prstGeom prst="roundRect">
            <a:avLst>
              <a:gd name="adj" fmla="val 36363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Bricolage Grotesque"/>
              </a:rPr>
              <a:t>Kaynak: Google Search Console - sc-domain:gameplus.com.tr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26430"/>
            <a:ext cx="11049000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Toplam satırı Brand ile Non-Brand'in toplamıdır; GFN kesişen grup olduğu için toplama dahil değildir.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Isı haritasında satırın en yüksek ayı yeşil, en düşük ayı kırmızı gösterilmektedir.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48200" y="173926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819650" y="1720215"/>
            <a:ext cx="45720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Toplam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8300" y="1777365"/>
            <a:ext cx="133350" cy="28575"/>
          </a:xfrm>
          <a:prstGeom prst="roundRect">
            <a:avLst>
              <a:gd name="adj" fmla="val 50000"/>
            </a:avLst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5491162" y="1753553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19750" y="1720215"/>
            <a:ext cx="63817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Non-Brand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29375" y="1777365"/>
            <a:ext cx="133350" cy="28575"/>
          </a:xfrm>
          <a:prstGeom prst="roundRect">
            <a:avLst>
              <a:gd name="adj" fmla="val 50000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472238" y="1753553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825" y="1720215"/>
            <a:ext cx="2857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GFN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58025" y="1777365"/>
            <a:ext cx="133350" cy="28575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100888" y="1753553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9475" y="1720215"/>
            <a:ext cx="37147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Brand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5850" y="3015615"/>
            <a:ext cx="100203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" y="29489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2350" y="29489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5850" y="2739390"/>
            <a:ext cx="1002030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" y="2672715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8.2K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2672715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4.8K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5850" y="2463165"/>
            <a:ext cx="1002030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" y="239649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16.4K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2350" y="239649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9.7K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85850" y="2186940"/>
            <a:ext cx="1002030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" y="2120265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24.6K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2350" y="2120265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14.5K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85850" y="1910715"/>
            <a:ext cx="1002030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" y="18440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32.7K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82350" y="18440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19.4K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56946" y="2463526"/>
            <a:ext cx="228600" cy="552089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2127738" y="2167997"/>
            <a:ext cx="228600" cy="84761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2898531" y="2594674"/>
            <a:ext cx="228600" cy="420941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3669323" y="2513967"/>
            <a:ext cx="228600" cy="50164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440115" y="2317668"/>
            <a:ext cx="228600" cy="697947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210908" y="2158043"/>
            <a:ext cx="228600" cy="857572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981700" y="2211454"/>
            <a:ext cx="228600" cy="804161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752492" y="2394089"/>
            <a:ext cx="228600" cy="621526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523285" y="2147685"/>
            <a:ext cx="228600" cy="86793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294077" y="2124000"/>
            <a:ext cx="228600" cy="89161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9064869" y="2054832"/>
            <a:ext cx="228600" cy="960783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9835662" y="2257678"/>
            <a:ext cx="228600" cy="757937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10606454" y="2217392"/>
            <a:ext cx="228600" cy="798223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Freeform 46"/>
          <p:cNvSpPr/>
          <p:nvPr/>
        </p:nvSpPr>
        <p:spPr>
          <a:xfrm>
            <a:off x="1471246" y="2109795"/>
            <a:ext cx="9249508" cy="547163"/>
          </a:xfrm>
          <a:custGeom>
            <a:avLst/>
            <a:gdLst/>
            <a:ahLst/>
            <a:cxnLst/>
            <a:rect l="l" t="t" r="r" b="b"/>
            <a:pathLst>
              <a:path w="9249508" h="547163">
                <a:moveTo>
                  <a:pt x="0" y="426981"/>
                </a:moveTo>
                <a:lnTo>
                  <a:pt x="770792" y="142214"/>
                </a:lnTo>
                <a:lnTo>
                  <a:pt x="1541585" y="547163"/>
                </a:lnTo>
                <a:lnTo>
                  <a:pt x="2312377" y="469021"/>
                </a:lnTo>
                <a:lnTo>
                  <a:pt x="3083169" y="282371"/>
                </a:lnTo>
                <a:lnTo>
                  <a:pt x="3853962" y="119305"/>
                </a:lnTo>
                <a:lnTo>
                  <a:pt x="4624754" y="155474"/>
                </a:lnTo>
                <a:lnTo>
                  <a:pt x="5395546" y="331699"/>
                </a:lnTo>
                <a:lnTo>
                  <a:pt x="6166339" y="91503"/>
                </a:lnTo>
                <a:lnTo>
                  <a:pt x="6937131" y="61373"/>
                </a:lnTo>
                <a:lnTo>
                  <a:pt x="7707923" y="0"/>
                </a:lnTo>
                <a:lnTo>
                  <a:pt x="8478716" y="191205"/>
                </a:lnTo>
                <a:lnTo>
                  <a:pt x="9249508" y="158443"/>
                </a:lnTo>
              </a:path>
            </a:pathLst>
          </a:custGeom>
          <a:noFill/>
          <a:ln w="28575">
            <a:solidFill>
              <a:srgbClr val="103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33146" y="2498676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203938" y="2213909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974731" y="2618858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745523" y="2540716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516315" y="2354066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287108" y="2191000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057900" y="2227169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828692" y="2403394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599485" y="2163198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370277" y="2133068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141069" y="2071695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911862" y="2262900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682654" y="2230138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471246" y="2054832"/>
            <a:ext cx="9249508" cy="758144"/>
          </a:xfrm>
          <a:custGeom>
            <a:avLst/>
            <a:gdLst/>
            <a:ahLst/>
            <a:cxnLst/>
            <a:rect l="l" t="t" r="r" b="b"/>
            <a:pathLst>
              <a:path w="9249508" h="758144">
                <a:moveTo>
                  <a:pt x="0" y="396505"/>
                </a:moveTo>
                <a:lnTo>
                  <a:pt x="770792" y="0"/>
                </a:lnTo>
                <a:lnTo>
                  <a:pt x="1541585" y="580800"/>
                </a:lnTo>
                <a:lnTo>
                  <a:pt x="2312377" y="569520"/>
                </a:lnTo>
                <a:lnTo>
                  <a:pt x="3083169" y="497055"/>
                </a:lnTo>
                <a:lnTo>
                  <a:pt x="3853962" y="425958"/>
                </a:lnTo>
                <a:lnTo>
                  <a:pt x="4624754" y="582509"/>
                </a:lnTo>
                <a:lnTo>
                  <a:pt x="5395546" y="741395"/>
                </a:lnTo>
                <a:lnTo>
                  <a:pt x="6166339" y="692516"/>
                </a:lnTo>
                <a:lnTo>
                  <a:pt x="6937131" y="757404"/>
                </a:lnTo>
                <a:lnTo>
                  <a:pt x="7707923" y="743503"/>
                </a:lnTo>
                <a:lnTo>
                  <a:pt x="8478716" y="753302"/>
                </a:lnTo>
                <a:lnTo>
                  <a:pt x="9249508" y="758144"/>
                </a:lnTo>
              </a:path>
            </a:pathLst>
          </a:custGeom>
          <a:noFill/>
          <a:ln w="28575">
            <a:solidFill>
              <a:srgbClr val="FF7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433146" y="2413237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203938" y="2016732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974731" y="2597532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745523" y="2586252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516315" y="2513787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287108" y="2442690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057900" y="2599241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828692" y="2758127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599485" y="2709248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370277" y="2774136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069" y="2760235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11862" y="2770034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682654" y="2774876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471246" y="2873762"/>
            <a:ext cx="9249508" cy="68705"/>
          </a:xfrm>
          <a:custGeom>
            <a:avLst/>
            <a:gdLst/>
            <a:ahLst/>
            <a:cxnLst/>
            <a:rect l="l" t="t" r="r" b="b"/>
            <a:pathLst>
              <a:path w="9249508" h="68705">
                <a:moveTo>
                  <a:pt x="0" y="18173"/>
                </a:moveTo>
                <a:lnTo>
                  <a:pt x="770792" y="0"/>
                </a:lnTo>
                <a:lnTo>
                  <a:pt x="1541585" y="36688"/>
                </a:lnTo>
                <a:lnTo>
                  <a:pt x="2312377" y="32359"/>
                </a:lnTo>
                <a:lnTo>
                  <a:pt x="3083169" y="16065"/>
                </a:lnTo>
                <a:lnTo>
                  <a:pt x="3853962" y="21876"/>
                </a:lnTo>
                <a:lnTo>
                  <a:pt x="4624754" y="50987"/>
                </a:lnTo>
                <a:lnTo>
                  <a:pt x="5395546" y="61812"/>
                </a:lnTo>
                <a:lnTo>
                  <a:pt x="6166339" y="51329"/>
                </a:lnTo>
                <a:lnTo>
                  <a:pt x="6937131" y="62210"/>
                </a:lnTo>
                <a:lnTo>
                  <a:pt x="7707923" y="49050"/>
                </a:lnTo>
                <a:lnTo>
                  <a:pt x="8478716" y="68705"/>
                </a:lnTo>
                <a:lnTo>
                  <a:pt x="9249508" y="56001"/>
                </a:lnTo>
              </a:path>
            </a:pathLst>
          </a:custGeom>
          <a:noFill/>
          <a:ln w="285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433146" y="2853835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203938" y="2835662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974731" y="2872350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745523" y="2868021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516315" y="2851727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287108" y="2857538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057900" y="2886649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828692" y="2897474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7599485" y="2886991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370277" y="2897872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141069" y="2884712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911862" y="2904367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682654" y="2891663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85850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Tem'25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56642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Ağu'25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627435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Eyl'25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98227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Eki'25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69019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Kas'25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39812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Ara'25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10604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Oca'26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81396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Şub'26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252188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Mar'26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022981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Nis'26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793773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May'26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64565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Haz'26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35358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Tem'26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71500" y="3491865"/>
            <a:ext cx="11049000" cy="228600"/>
          </a:xfrm>
          <a:prstGeom prst="rect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685800" y="3491865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Segment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600200" y="3491865"/>
            <a:ext cx="581758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Tem'25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410558" y="3491865"/>
            <a:ext cx="562708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Ağu'25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201865" y="3491865"/>
            <a:ext cx="496033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Eyl'25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26498" y="3491865"/>
            <a:ext cx="496033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Eki'25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651131" y="3491865"/>
            <a:ext cx="543658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Kas'25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23388" y="3491865"/>
            <a:ext cx="534133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Ara'25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186121" y="3491865"/>
            <a:ext cx="562708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Oca'26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977429" y="3491865"/>
            <a:ext cx="562708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Şub'26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68737" y="3491865"/>
            <a:ext cx="562708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Mar'26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560044" y="3491865"/>
            <a:ext cx="534133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Nis'26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322777" y="3491865"/>
            <a:ext cx="581758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May'26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133135" y="3491865"/>
            <a:ext cx="553183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Haz'26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14917" y="3491865"/>
            <a:ext cx="591283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Tem'26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85800" y="3720465"/>
            <a:ext cx="6858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GFN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600200" y="3720465"/>
            <a:ext cx="58175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9.9K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296258" y="3720465"/>
            <a:ext cx="791308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2410558" y="3720465"/>
            <a:ext cx="56270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16.9K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201865" y="3720465"/>
            <a:ext cx="496033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6.7K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926498" y="3720465"/>
            <a:ext cx="496033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6.9K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651131" y="3720465"/>
            <a:ext cx="54365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8.1K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423388" y="3720465"/>
            <a:ext cx="534133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9.4K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186121" y="3720465"/>
            <a:ext cx="56270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6.6K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977429" y="3720465"/>
            <a:ext cx="56270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3.9K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768737" y="3720465"/>
            <a:ext cx="56270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4.7K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560044" y="3720465"/>
            <a:ext cx="534133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3.6K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322777" y="3720465"/>
            <a:ext cx="58175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3.8K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133135" y="3720465"/>
            <a:ext cx="553183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3.6K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914917" y="3720465"/>
            <a:ext cx="591283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3.6K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71500" y="372046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85800" y="3995738"/>
            <a:ext cx="6858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Brand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600200" y="3995738"/>
            <a:ext cx="58175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2.2K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296258" y="3995738"/>
            <a:ext cx="791308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2410558" y="3995738"/>
            <a:ext cx="56270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2.5K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201865" y="3995738"/>
            <a:ext cx="496033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1.8K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926498" y="3995738"/>
            <a:ext cx="496033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1.9K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651131" y="3995738"/>
            <a:ext cx="54365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2.2K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423388" y="3995738"/>
            <a:ext cx="534133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2.1K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186121" y="3995738"/>
            <a:ext cx="56270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1.6K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77429" y="3995738"/>
            <a:ext cx="56270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1.4K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768737" y="3995738"/>
            <a:ext cx="56270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1.6K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560044" y="3995738"/>
            <a:ext cx="534133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1.4K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322777" y="3995738"/>
            <a:ext cx="58175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1.6K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0018835" y="3995738"/>
            <a:ext cx="781783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10133135" y="3995738"/>
            <a:ext cx="553183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1.3K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914917" y="3995738"/>
            <a:ext cx="591283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1.5K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71500" y="3995738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85800" y="4271010"/>
            <a:ext cx="6858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600200" y="4271010"/>
            <a:ext cx="58175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14.2K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410558" y="4271010"/>
            <a:ext cx="56270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22.6K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087565" y="4271010"/>
            <a:ext cx="724633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3201865" y="4271010"/>
            <a:ext cx="496033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10.6K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926498" y="4271010"/>
            <a:ext cx="496033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12.9K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651131" y="4271010"/>
            <a:ext cx="54365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18.5K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423388" y="4271010"/>
            <a:ext cx="534133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23.3K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186121" y="4271010"/>
            <a:ext cx="56270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22.2K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977429" y="4271010"/>
            <a:ext cx="56270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17.0K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768737" y="4271010"/>
            <a:ext cx="56270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24.1K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560044" y="4271010"/>
            <a:ext cx="534133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25.0K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9208477" y="4271010"/>
            <a:ext cx="810358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TextBox 162"/>
          <p:cNvSpPr txBox="1"/>
          <p:nvPr/>
        </p:nvSpPr>
        <p:spPr>
          <a:xfrm>
            <a:off x="9322777" y="4271010"/>
            <a:ext cx="58175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26.8K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133135" y="4271010"/>
            <a:ext cx="553183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21.2K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914917" y="4271010"/>
            <a:ext cx="591283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22.2K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71500" y="427101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85800" y="4546282"/>
            <a:ext cx="6858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Toplam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600200" y="4546282"/>
            <a:ext cx="58175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16.4K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410558" y="4546282"/>
            <a:ext cx="56270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25.1K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3087565" y="4546282"/>
            <a:ext cx="724633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TextBox 170"/>
          <p:cNvSpPr txBox="1"/>
          <p:nvPr/>
        </p:nvSpPr>
        <p:spPr>
          <a:xfrm>
            <a:off x="3201865" y="4546282"/>
            <a:ext cx="496033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12.5K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926498" y="4546282"/>
            <a:ext cx="496033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14.9K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651131" y="4546282"/>
            <a:ext cx="54365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20.7K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423388" y="4546282"/>
            <a:ext cx="534133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25.4K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186121" y="4546282"/>
            <a:ext cx="56270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23.8K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977429" y="4546282"/>
            <a:ext cx="56270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18.4K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768737" y="4546282"/>
            <a:ext cx="56270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25.7K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560044" y="4546282"/>
            <a:ext cx="534133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26.4K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9208477" y="4546282"/>
            <a:ext cx="810358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TextBox 179"/>
          <p:cNvSpPr txBox="1"/>
          <p:nvPr/>
        </p:nvSpPr>
        <p:spPr>
          <a:xfrm>
            <a:off x="9322777" y="4546282"/>
            <a:ext cx="58175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28.5K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133135" y="4546282"/>
            <a:ext cx="553183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22.5K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914917" y="4546282"/>
            <a:ext cx="591283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23.7K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571500" y="4546282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571500" y="482155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71500" y="5107305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819150" y="5107305"/>
            <a:ext cx="10801350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Toplam click Mart-Mayıs döneminde </a:t>
            </a:r>
            <a:r>
              <a:rPr sz="1050" b="1">
                <a:solidFill>
                  <a:srgbClr val="10332F"/>
                </a:solidFill>
                <a:latin typeface="Bricolage Grotesque"/>
              </a:rPr>
              <a:t>25-28K</a:t>
            </a:r>
            <a:r>
              <a:rPr sz="1050" b="0">
                <a:solidFill>
                  <a:srgbClr val="10332F"/>
                </a:solidFill>
                <a:latin typeface="Outfit"/>
              </a:rPr>
              <a:t> bandına çıkmış, Temmuz'da </a:t>
            </a:r>
            <a:r>
              <a:rPr sz="1050" b="1">
                <a:solidFill>
                  <a:srgbClr val="10332F"/>
                </a:solidFill>
                <a:latin typeface="Bricolage Grotesque"/>
              </a:rPr>
              <a:t>23.7K</a:t>
            </a:r>
            <a:r>
              <a:rPr sz="1050" b="0">
                <a:solidFill>
                  <a:srgbClr val="10332F"/>
                </a:solidFill>
                <a:latin typeface="Outfit"/>
              </a:rPr>
              <a:t> seviyesindedir. Seriyi non-brand taşımaktadır; </a:t>
            </a:r>
            <a:r>
              <a:rPr sz="1050" b="1">
                <a:solidFill>
                  <a:srgbClr val="FF7B52"/>
                </a:solidFill>
                <a:latin typeface="Bricolage Grotesque"/>
              </a:rPr>
              <a:t>GFN</a:t>
            </a:r>
            <a:r>
              <a:rPr sz="1050" b="0">
                <a:solidFill>
                  <a:srgbClr val="10332F"/>
                </a:solidFill>
                <a:latin typeface="Outfit"/>
              </a:rPr>
              <a:t> </a:t>
            </a:r>
            <a:r>
              <a:rPr sz="1050" b="1">
                <a:solidFill>
                  <a:srgbClr val="D32F2F"/>
                </a:solidFill>
                <a:latin typeface="Bricolage Grotesque"/>
              </a:rPr>
              <a:t>16.9K → 3.6K</a:t>
            </a:r>
            <a:r>
              <a:rPr sz="1050" b="0">
                <a:solidFill>
                  <a:srgbClr val="10332F"/>
                </a:solidFill>
                <a:latin typeface="Outfit"/>
              </a:rPr>
              <a:t> ve </a:t>
            </a:r>
            <a:r>
              <a:rPr sz="1050" b="1">
                <a:solidFill>
                  <a:srgbClr val="FF7B52"/>
                </a:solidFill>
                <a:latin typeface="Bricolage Grotesque"/>
              </a:rPr>
              <a:t>Brand</a:t>
            </a:r>
            <a:r>
              <a:rPr sz="1050" b="0">
                <a:solidFill>
                  <a:srgbClr val="10332F"/>
                </a:solidFill>
                <a:latin typeface="Outfit"/>
              </a:rPr>
              <a:t> </a:t>
            </a:r>
            <a:r>
              <a:rPr sz="1050" b="1">
                <a:solidFill>
                  <a:srgbClr val="D32F2F"/>
                </a:solidFill>
                <a:latin typeface="Bricolage Grotesque"/>
              </a:rPr>
              <a:t>2.2K → 1.5K</a:t>
            </a:r>
            <a:r>
              <a:rPr sz="1050" b="0">
                <a:solidFill>
                  <a:srgbClr val="10332F"/>
                </a:solidFill>
                <a:latin typeface="Outfit"/>
              </a:rPr>
              <a:t> ile daralmaktadır.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SEARCH CONSOLE</a:t>
            </a:r>
            <a:r>
              <a:rPr sz="1000" b="0">
                <a:solidFill>
                  <a:srgbClr val="FF7B52"/>
                </a:solidFill>
                <a:latin typeface="Outfit"/>
              </a:rPr>
              <a:t>  |  </a:t>
            </a:r>
            <a:r>
              <a:rPr sz="1000" b="0">
                <a:solidFill>
                  <a:srgbClr val="FF7B52"/>
                </a:solidFill>
                <a:latin typeface="Outfit"/>
              </a:rPr>
              <a:t>Aylık Seri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11049000" cy="394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332F"/>
                </a:solidFill>
                <a:latin typeface="Bricolage Grotesque"/>
              </a:rPr>
              <a:t>Brand, Non-Brand ve GFN Aylık Impression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785"/>
            <a:ext cx="1104900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A4A"/>
                </a:solidFill>
                <a:latin typeface="Outfit"/>
              </a:rPr>
              <a:t>Tem 2025 - Tem 2026 | 13 aylık seri | Search Console</a:t>
            </a:r>
          </a:p>
        </p:txBody>
      </p:sp>
      <p:pic>
        <p:nvPicPr>
          <p:cNvPr id="5" name="Picture 4" descr="inbound-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210300"/>
            <a:ext cx="342900" cy="3429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500" y="6267450"/>
            <a:ext cx="3705225" cy="209550"/>
          </a:xfrm>
          <a:prstGeom prst="roundRect">
            <a:avLst>
              <a:gd name="adj" fmla="val 36363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Bricolage Grotesque"/>
              </a:rPr>
              <a:t>Kaynak: Google Search Console - sc-domain:gameplus.com.tr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26430"/>
            <a:ext cx="11049000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Brand ve GFN ölçekleri Non-Brand'in yanında küçük kaldığı için grafikte sağ eksende verilmiştir.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Isı haritasında satırın en yüksek ayı yeşil, en düşük ayı kırmızı gösterilmektedir.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48200" y="173926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819650" y="1720215"/>
            <a:ext cx="45720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Toplam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8300" y="1777365"/>
            <a:ext cx="133350" cy="28575"/>
          </a:xfrm>
          <a:prstGeom prst="roundRect">
            <a:avLst>
              <a:gd name="adj" fmla="val 50000"/>
            </a:avLst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5491162" y="1753553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19750" y="1720215"/>
            <a:ext cx="63817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Non-Brand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29375" y="1777365"/>
            <a:ext cx="133350" cy="28575"/>
          </a:xfrm>
          <a:prstGeom prst="roundRect">
            <a:avLst>
              <a:gd name="adj" fmla="val 50000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472238" y="1753553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825" y="1720215"/>
            <a:ext cx="2857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GFN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58025" y="1777365"/>
            <a:ext cx="133350" cy="28575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100888" y="1753553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9475" y="1720215"/>
            <a:ext cx="37147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Brand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5850" y="3015615"/>
            <a:ext cx="100203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" y="29489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2350" y="29489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5850" y="2739390"/>
            <a:ext cx="1002030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" y="2672715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254.4K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2672715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48.7K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5850" y="2463165"/>
            <a:ext cx="1002030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" y="239649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508.9K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2350" y="239649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97.3K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85850" y="2186940"/>
            <a:ext cx="1002030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" y="2120265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763.3K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2350" y="2120265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146.0K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85850" y="1910715"/>
            <a:ext cx="1002030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" y="18440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1.0M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82350" y="18440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194.7K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56946" y="2620548"/>
            <a:ext cx="228600" cy="395067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2127738" y="2544447"/>
            <a:ext cx="228600" cy="47116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2898531" y="2675705"/>
            <a:ext cx="228600" cy="33991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3669323" y="2664357"/>
            <a:ext cx="228600" cy="35125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440115" y="2525757"/>
            <a:ext cx="228600" cy="48985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210908" y="2437501"/>
            <a:ext cx="228600" cy="57811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981700" y="2380988"/>
            <a:ext cx="228600" cy="634627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752492" y="2473450"/>
            <a:ext cx="228600" cy="54216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523285" y="2228405"/>
            <a:ext cx="228600" cy="78721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294077" y="2225507"/>
            <a:ext cx="228600" cy="79010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9064869" y="2054832"/>
            <a:ext cx="228600" cy="960783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9835662" y="2306330"/>
            <a:ext cx="228600" cy="70928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10606454" y="2198951"/>
            <a:ext cx="228600" cy="81666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Freeform 46"/>
          <p:cNvSpPr/>
          <p:nvPr/>
        </p:nvSpPr>
        <p:spPr>
          <a:xfrm>
            <a:off x="1471246" y="2068980"/>
            <a:ext cx="9249508" cy="618747"/>
          </a:xfrm>
          <a:custGeom>
            <a:avLst/>
            <a:gdLst/>
            <a:ahLst/>
            <a:cxnLst/>
            <a:rect l="l" t="t" r="r" b="b"/>
            <a:pathLst>
              <a:path w="9249508" h="618747">
                <a:moveTo>
                  <a:pt x="0" y="564385"/>
                </a:moveTo>
                <a:lnTo>
                  <a:pt x="770792" y="488288"/>
                </a:lnTo>
                <a:lnTo>
                  <a:pt x="1541585" y="618747"/>
                </a:lnTo>
                <a:lnTo>
                  <a:pt x="2312377" y="608587"/>
                </a:lnTo>
                <a:lnTo>
                  <a:pt x="3083169" y="473245"/>
                </a:lnTo>
                <a:lnTo>
                  <a:pt x="3853962" y="384853"/>
                </a:lnTo>
                <a:lnTo>
                  <a:pt x="4624754" y="328783"/>
                </a:lnTo>
                <a:lnTo>
                  <a:pt x="5395546" y="432753"/>
                </a:lnTo>
                <a:lnTo>
                  <a:pt x="6166339" y="173710"/>
                </a:lnTo>
                <a:lnTo>
                  <a:pt x="6937131" y="169006"/>
                </a:lnTo>
                <a:lnTo>
                  <a:pt x="7707923" y="0"/>
                </a:lnTo>
                <a:lnTo>
                  <a:pt x="8478716" y="249396"/>
                </a:lnTo>
                <a:lnTo>
                  <a:pt x="9249508" y="142581"/>
                </a:lnTo>
              </a:path>
            </a:pathLst>
          </a:custGeom>
          <a:noFill/>
          <a:ln w="28575">
            <a:solidFill>
              <a:srgbClr val="103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33146" y="2595265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203938" y="2519168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974731" y="2649627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745523" y="2639467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516315" y="2504125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287108" y="2415733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057900" y="2359663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828692" y="2463633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599485" y="2204590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370277" y="2199886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141069" y="2030880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911862" y="2280276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682654" y="2173461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471246" y="2054832"/>
            <a:ext cx="9249508" cy="405146"/>
          </a:xfrm>
          <a:custGeom>
            <a:avLst/>
            <a:gdLst/>
            <a:ahLst/>
            <a:cxnLst/>
            <a:rect l="l" t="t" r="r" b="b"/>
            <a:pathLst>
              <a:path w="9249508" h="405146">
                <a:moveTo>
                  <a:pt x="0" y="157428"/>
                </a:moveTo>
                <a:lnTo>
                  <a:pt x="770792" y="139225"/>
                </a:lnTo>
                <a:lnTo>
                  <a:pt x="1541585" y="298679"/>
                </a:lnTo>
                <a:lnTo>
                  <a:pt x="2312377" y="218049"/>
                </a:lnTo>
                <a:lnTo>
                  <a:pt x="3083169" y="114011"/>
                </a:lnTo>
                <a:lnTo>
                  <a:pt x="3853962" y="0"/>
                </a:lnTo>
                <a:lnTo>
                  <a:pt x="4624754" y="98027"/>
                </a:lnTo>
                <a:lnTo>
                  <a:pt x="5395546" y="351399"/>
                </a:lnTo>
                <a:lnTo>
                  <a:pt x="6166339" y="264781"/>
                </a:lnTo>
                <a:lnTo>
                  <a:pt x="6937131" y="377503"/>
                </a:lnTo>
                <a:lnTo>
                  <a:pt x="7707923" y="315100"/>
                </a:lnTo>
                <a:lnTo>
                  <a:pt x="8478716" y="400128"/>
                </a:lnTo>
                <a:lnTo>
                  <a:pt x="9249508" y="405146"/>
                </a:lnTo>
              </a:path>
            </a:pathLst>
          </a:custGeom>
          <a:noFill/>
          <a:ln w="28575">
            <a:solidFill>
              <a:srgbClr val="FF7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433146" y="2174160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203938" y="2155957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974731" y="2315411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745523" y="2234781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516315" y="2130743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287108" y="2016732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057900" y="2114759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828692" y="2368131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599485" y="2281513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370277" y="2394235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069" y="2331832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11862" y="2416860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682654" y="2421878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471246" y="2867735"/>
            <a:ext cx="9249508" cy="85022"/>
          </a:xfrm>
          <a:custGeom>
            <a:avLst/>
            <a:gdLst/>
            <a:ahLst/>
            <a:cxnLst/>
            <a:rect l="l" t="t" r="r" b="b"/>
            <a:pathLst>
              <a:path w="9249508" h="85022">
                <a:moveTo>
                  <a:pt x="0" y="80868"/>
                </a:moveTo>
                <a:lnTo>
                  <a:pt x="770792" y="80845"/>
                </a:lnTo>
                <a:lnTo>
                  <a:pt x="1541585" y="85022"/>
                </a:lnTo>
                <a:lnTo>
                  <a:pt x="2312377" y="78813"/>
                </a:lnTo>
                <a:lnTo>
                  <a:pt x="3083169" y="61779"/>
                </a:lnTo>
                <a:lnTo>
                  <a:pt x="3853962" y="62488"/>
                </a:lnTo>
                <a:lnTo>
                  <a:pt x="4624754" y="60172"/>
                </a:lnTo>
                <a:lnTo>
                  <a:pt x="5395546" y="0"/>
                </a:lnTo>
                <a:lnTo>
                  <a:pt x="6166339" y="73193"/>
                </a:lnTo>
                <a:lnTo>
                  <a:pt x="6937131" y="82633"/>
                </a:lnTo>
                <a:lnTo>
                  <a:pt x="7707923" y="73909"/>
                </a:lnTo>
                <a:lnTo>
                  <a:pt x="8478716" y="84898"/>
                </a:lnTo>
                <a:lnTo>
                  <a:pt x="9249508" y="81952"/>
                </a:lnTo>
              </a:path>
            </a:pathLst>
          </a:custGeom>
          <a:noFill/>
          <a:ln w="285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433146" y="2910503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203938" y="2910480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974731" y="2914657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745523" y="2908448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516315" y="2891414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287108" y="2892123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057900" y="2889807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828692" y="2829635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7599485" y="2902828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370277" y="2912268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141069" y="2903544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911862" y="2914533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682654" y="2911587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85850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Tem'25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56642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Ağu'25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627435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Eyl'25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98227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Eki'25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69019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Kas'25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39812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Ara'25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10604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Oca'26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81396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Şub'26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252188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Mar'26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022981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Nis'26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793773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May'26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64565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Haz'26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335358" y="30632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Tem'26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71500" y="3491865"/>
            <a:ext cx="11049000" cy="228600"/>
          </a:xfrm>
          <a:prstGeom prst="rect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685800" y="3491865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Segment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600200" y="3491865"/>
            <a:ext cx="5634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Tem'25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392240" y="3491865"/>
            <a:ext cx="57296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Ağu'25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193806" y="3491865"/>
            <a:ext cx="5253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Eyl'25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47746" y="3491865"/>
            <a:ext cx="55391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Eki'25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30262" y="3491865"/>
            <a:ext cx="51581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Kas'25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74677" y="3491865"/>
            <a:ext cx="54439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Ara'25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47667" y="3491865"/>
            <a:ext cx="57296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Oca'26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049233" y="3491865"/>
            <a:ext cx="58249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Şub'26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0323" y="3491865"/>
            <a:ext cx="50629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Mar'26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595213" y="3491865"/>
            <a:ext cx="55391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Nis'26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377729" y="3491865"/>
            <a:ext cx="57296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May'26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179294" y="3491865"/>
            <a:ext cx="55391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Haz'26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61810" y="3491865"/>
            <a:ext cx="54439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Tem'26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85800" y="3720465"/>
            <a:ext cx="6858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GFN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600200" y="3720465"/>
            <a:ext cx="56344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141.5K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392240" y="3720465"/>
            <a:ext cx="57296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144.7K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193806" y="3720465"/>
            <a:ext cx="52534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116.6K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947746" y="3720465"/>
            <a:ext cx="55391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130.9K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730262" y="3720465"/>
            <a:ext cx="51581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149.2K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360377" y="3720465"/>
            <a:ext cx="77299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5474677" y="3720465"/>
            <a:ext cx="54439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169.3K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247667" y="3720465"/>
            <a:ext cx="57296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152.0K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049233" y="3720465"/>
            <a:ext cx="58249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107.4K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860323" y="3720465"/>
            <a:ext cx="50629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122.6K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595213" y="3720465"/>
            <a:ext cx="55391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102.8K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377729" y="3720465"/>
            <a:ext cx="57296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113.8K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179294" y="3720465"/>
            <a:ext cx="55391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98.8K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847510" y="3720465"/>
            <a:ext cx="772990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10961810" y="3720465"/>
            <a:ext cx="54439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97.9K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71500" y="372046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85800" y="3995738"/>
            <a:ext cx="6858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Brand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600200" y="3995738"/>
            <a:ext cx="56344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11.8K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392240" y="3995738"/>
            <a:ext cx="57296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11.8K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079506" y="3995738"/>
            <a:ext cx="753940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3193806" y="3995738"/>
            <a:ext cx="52534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11.1K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947746" y="3995738"/>
            <a:ext cx="55391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12.2K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730262" y="3995738"/>
            <a:ext cx="51581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15.2K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474677" y="3995738"/>
            <a:ext cx="54439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15.0K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247667" y="3995738"/>
            <a:ext cx="57296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15.5K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934933" y="3995738"/>
            <a:ext cx="81109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7049233" y="3995738"/>
            <a:ext cx="58249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26.1K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860323" y="3995738"/>
            <a:ext cx="50629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13.2K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595213" y="3995738"/>
            <a:ext cx="55391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11.5K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377729" y="3995738"/>
            <a:ext cx="57296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13.0K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064994" y="3995738"/>
            <a:ext cx="782515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TextBox 148"/>
          <p:cNvSpPr txBox="1"/>
          <p:nvPr/>
        </p:nvSpPr>
        <p:spPr>
          <a:xfrm>
            <a:off x="10179294" y="3995738"/>
            <a:ext cx="55391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11.1K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961810" y="3995738"/>
            <a:ext cx="54439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11.6K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71500" y="3995738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85800" y="4271010"/>
            <a:ext cx="6858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600200" y="4271010"/>
            <a:ext cx="56344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352.1K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392240" y="4271010"/>
            <a:ext cx="57296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422.2K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079506" y="4271010"/>
            <a:ext cx="753940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3193806" y="4271010"/>
            <a:ext cx="52534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302.0K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947746" y="4271010"/>
            <a:ext cx="55391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311.4K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730262" y="4271010"/>
            <a:ext cx="51581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436.1K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474677" y="4271010"/>
            <a:ext cx="54439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517.5K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247667" y="4271010"/>
            <a:ext cx="57296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569.1K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049233" y="4271010"/>
            <a:ext cx="58249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473.4K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860323" y="4271010"/>
            <a:ext cx="50629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712.0K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595213" y="4271010"/>
            <a:ext cx="55391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716.3K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9263429" y="4271010"/>
            <a:ext cx="801565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TextBox 164"/>
          <p:cNvSpPr txBox="1"/>
          <p:nvPr/>
        </p:nvSpPr>
        <p:spPr>
          <a:xfrm>
            <a:off x="9377729" y="4271010"/>
            <a:ext cx="57296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872.0K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179294" y="4271010"/>
            <a:ext cx="55391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642.3K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961810" y="4271010"/>
            <a:ext cx="54439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740.6K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571500" y="427101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85800" y="4546282"/>
            <a:ext cx="6858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Toplam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600200" y="4546282"/>
            <a:ext cx="56344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363.9K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392240" y="4546282"/>
            <a:ext cx="57296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434.0K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3079506" y="4546282"/>
            <a:ext cx="753940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TextBox 172"/>
          <p:cNvSpPr txBox="1"/>
          <p:nvPr/>
        </p:nvSpPr>
        <p:spPr>
          <a:xfrm>
            <a:off x="3193806" y="4546282"/>
            <a:ext cx="52534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313.1K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947746" y="4546282"/>
            <a:ext cx="55391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323.6K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730262" y="4546282"/>
            <a:ext cx="51581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451.2K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474677" y="4546282"/>
            <a:ext cx="54439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532.5K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247667" y="4546282"/>
            <a:ext cx="57296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584.6K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049233" y="4546282"/>
            <a:ext cx="58249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499.4K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860323" y="4546282"/>
            <a:ext cx="50629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725.1K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595213" y="4546282"/>
            <a:ext cx="55391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727.8K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9263429" y="4546282"/>
            <a:ext cx="801565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TextBox 181"/>
          <p:cNvSpPr txBox="1"/>
          <p:nvPr/>
        </p:nvSpPr>
        <p:spPr>
          <a:xfrm>
            <a:off x="9377729" y="4546282"/>
            <a:ext cx="57296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885.0K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179294" y="4546282"/>
            <a:ext cx="55391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653.3K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961810" y="4546282"/>
            <a:ext cx="54439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752.3K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571500" y="4546282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71500" y="482155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571500" y="5107305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19150" y="5107305"/>
            <a:ext cx="108013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Toplam impression 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363.9K → 752.3K</a:t>
            </a:r>
            <a:r>
              <a:rPr sz="1050" b="0">
                <a:solidFill>
                  <a:srgbClr val="10332F"/>
                </a:solidFill>
                <a:latin typeface="Outfit"/>
              </a:rPr>
              <a:t> ile iki katından fazla artmıştır; artışın tamamı non-brand tarafındadır. </a:t>
            </a:r>
            <a:r>
              <a:rPr sz="1050" b="1">
                <a:solidFill>
                  <a:srgbClr val="FF7B52"/>
                </a:solidFill>
                <a:latin typeface="Bricolage Grotesque"/>
              </a:rPr>
              <a:t>Brand</a:t>
            </a:r>
            <a:r>
              <a:rPr sz="1050" b="0">
                <a:solidFill>
                  <a:srgbClr val="10332F"/>
                </a:solidFill>
                <a:latin typeface="Outfit"/>
              </a:rPr>
              <a:t> </a:t>
            </a:r>
            <a:r>
              <a:rPr sz="1050" b="1">
                <a:solidFill>
                  <a:srgbClr val="10332F"/>
                </a:solidFill>
                <a:latin typeface="Bricolage Grotesque"/>
              </a:rPr>
              <a:t>11.8K → 11.6K</a:t>
            </a:r>
            <a:r>
              <a:rPr sz="1050" b="0">
                <a:solidFill>
                  <a:srgbClr val="10332F"/>
                </a:solidFill>
                <a:latin typeface="Outfit"/>
              </a:rPr>
              <a:t> ile yatay kalmış, </a:t>
            </a:r>
            <a:r>
              <a:rPr sz="1050" b="1">
                <a:solidFill>
                  <a:srgbClr val="FF7B52"/>
                </a:solidFill>
                <a:latin typeface="Bricolage Grotesque"/>
              </a:rPr>
              <a:t>GFN</a:t>
            </a:r>
            <a:r>
              <a:rPr sz="1050" b="0">
                <a:solidFill>
                  <a:srgbClr val="10332F"/>
                </a:solidFill>
                <a:latin typeface="Outfit"/>
              </a:rPr>
              <a:t> </a:t>
            </a:r>
            <a:r>
              <a:rPr sz="1050" b="1">
                <a:solidFill>
                  <a:srgbClr val="D32F2F"/>
                </a:solidFill>
                <a:latin typeface="Bricolage Grotesque"/>
              </a:rPr>
              <a:t>141.5K → 97.9K</a:t>
            </a:r>
            <a:r>
              <a:rPr sz="1050" b="0">
                <a:solidFill>
                  <a:srgbClr val="10332F"/>
                </a:solidFill>
                <a:latin typeface="Outfit"/>
              </a:rPr>
              <a:t> ile daralmıştır.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SEARCH CONSOLE</a:t>
            </a:r>
            <a:r>
              <a:rPr sz="1000" b="0">
                <a:solidFill>
                  <a:srgbClr val="FF7B52"/>
                </a:solidFill>
                <a:latin typeface="Outfit"/>
              </a:rPr>
              <a:t>  |  </a:t>
            </a:r>
            <a:r>
              <a:rPr sz="1000" b="0">
                <a:solidFill>
                  <a:srgbClr val="FF7B52"/>
                </a:solidFill>
                <a:latin typeface="Outfit"/>
              </a:rPr>
              <a:t>Arama Hacmi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11049000" cy="394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332F"/>
                </a:solidFill>
                <a:latin typeface="Bricolage Grotesque"/>
              </a:rPr>
              <a:t>Brand ve GFN Aylık Arama Hacmi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785"/>
            <a:ext cx="1104900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A4A"/>
                </a:solidFill>
                <a:latin typeface="Outfit"/>
              </a:rPr>
              <a:t>Tem 2025 - Tem 2026 | Türkiye | arama hacmi ile organik click yan yana</a:t>
            </a:r>
          </a:p>
        </p:txBody>
      </p:sp>
      <p:pic>
        <p:nvPicPr>
          <p:cNvPr id="5" name="Picture 4" descr="inbound-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210300"/>
            <a:ext cx="342900" cy="3429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500" y="6267450"/>
            <a:ext cx="3810000" cy="209550"/>
          </a:xfrm>
          <a:prstGeom prst="roundRect">
            <a:avLst>
              <a:gd name="adj" fmla="val 36363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Bricolage Grotesque"/>
              </a:rPr>
              <a:t>Kaynak: Google Ads Keyword Planner &amp; Google Search Console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560695"/>
            <a:ext cx="11049000" cy="4972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Terim kümesi Search Console segmentleriyle aynıdır: brand "gameplus" · "game+", GFN "geforce now" · "gfn". Google Ads yakın varyantları tek keyword saydığı için "game plus" ve "geforcenow" aynı seriyi taşımaktadır; çift sayım oluşmaması adına her çiftten biri toplama dahil edilmiştir.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Arama hacmi bant halinde döndüğü için değerler belirli basamaklarda kümelenmektedir; ay bazında değişim yerine dönem uçları karşılaştırılmıştır. Grafiklerde hacim sol eksende, click sağ eksendedir.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14550" y="173926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286000" y="1720215"/>
            <a:ext cx="118110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Game+ arama hacmi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38550" y="1777365"/>
            <a:ext cx="133350" cy="28575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3681412" y="1753553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0" y="1720215"/>
            <a:ext cx="6286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Brand click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5850" y="2863215"/>
            <a:ext cx="43243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" y="27965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7965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5850" y="2625090"/>
            <a:ext cx="432435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2558415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1.9K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558415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716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5850" y="2386965"/>
            <a:ext cx="432435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" y="232029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3.9K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32029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1.4K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5850" y="2148840"/>
            <a:ext cx="432435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" y="2082165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5.8K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2082165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2.1K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5850" y="1910715"/>
            <a:ext cx="432435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" y="18440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7.7K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18440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2.9K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5496" y="2195661"/>
            <a:ext cx="133350" cy="66755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518138" y="2195661"/>
            <a:ext cx="133350" cy="66755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850781" y="2195661"/>
            <a:ext cx="133350" cy="66755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2183423" y="2195661"/>
            <a:ext cx="133350" cy="66755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2516065" y="2034954"/>
            <a:ext cx="133350" cy="828261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2848708" y="2072040"/>
            <a:ext cx="133350" cy="79117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3181350" y="2158575"/>
            <a:ext cx="133350" cy="70464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513992" y="2294558"/>
            <a:ext cx="133350" cy="568657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3846635" y="2294558"/>
            <a:ext cx="133350" cy="568657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4179277" y="2395928"/>
            <a:ext cx="133350" cy="467287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511919" y="2294558"/>
            <a:ext cx="133350" cy="568657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4844562" y="2381093"/>
            <a:ext cx="133350" cy="482122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177204" y="2395928"/>
            <a:ext cx="133350" cy="467287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Freeform 40"/>
          <p:cNvSpPr/>
          <p:nvPr/>
        </p:nvSpPr>
        <p:spPr>
          <a:xfrm>
            <a:off x="1252171" y="2034954"/>
            <a:ext cx="3991708" cy="401158"/>
          </a:xfrm>
          <a:custGeom>
            <a:avLst/>
            <a:gdLst/>
            <a:ahLst/>
            <a:cxnLst/>
            <a:rect l="l" t="t" r="r" b="b"/>
            <a:pathLst>
              <a:path w="3991708" h="401158">
                <a:moveTo>
                  <a:pt x="0" y="106111"/>
                </a:moveTo>
                <a:lnTo>
                  <a:pt x="332642" y="0"/>
                </a:lnTo>
                <a:lnTo>
                  <a:pt x="665285" y="214217"/>
                </a:lnTo>
                <a:lnTo>
                  <a:pt x="997927" y="188937"/>
                </a:lnTo>
                <a:lnTo>
                  <a:pt x="1330569" y="93803"/>
                </a:lnTo>
                <a:lnTo>
                  <a:pt x="1663212" y="127732"/>
                </a:lnTo>
                <a:lnTo>
                  <a:pt x="1995854" y="297708"/>
                </a:lnTo>
                <a:lnTo>
                  <a:pt x="2328496" y="360909"/>
                </a:lnTo>
                <a:lnTo>
                  <a:pt x="2661139" y="299704"/>
                </a:lnTo>
                <a:lnTo>
                  <a:pt x="2993781" y="363237"/>
                </a:lnTo>
                <a:lnTo>
                  <a:pt x="3326423" y="286399"/>
                </a:lnTo>
                <a:lnTo>
                  <a:pt x="3659066" y="401158"/>
                </a:lnTo>
                <a:lnTo>
                  <a:pt x="3991708" y="326980"/>
                </a:lnTo>
              </a:path>
            </a:pathLst>
          </a:custGeom>
          <a:noFill/>
          <a:ln w="285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214071" y="2102965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546713" y="1996854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79356" y="2211071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211998" y="2185791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544640" y="2090657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877283" y="2124586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209925" y="2294562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542567" y="2357763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875210" y="2296558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07852" y="2360091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540494" y="2283253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873137" y="2398012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05779" y="2323834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5850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Tem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8492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Ağu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51135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Eyl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83777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Eki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16419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Kas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9062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Ara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81704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Oca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14346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Şub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46988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Mar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79631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Nis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12273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May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44915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Haz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77558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Tem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934325" y="173926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8105775" y="1720215"/>
            <a:ext cx="101917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GFN arama hacmi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296400" y="1777365"/>
            <a:ext cx="133350" cy="28575"/>
          </a:xfrm>
          <a:prstGeom prst="roundRect">
            <a:avLst>
              <a:gd name="adj" fmla="val 50000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9339262" y="1753553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67850" y="1720215"/>
            <a:ext cx="54292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GFN click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81800" y="2863215"/>
            <a:ext cx="43243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7450" y="27965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182350" y="27965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81800" y="2625090"/>
            <a:ext cx="432435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67450" y="2558415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32.3K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182350" y="2558415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4.8K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781800" y="2386965"/>
            <a:ext cx="432435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67450" y="232029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64.6K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182350" y="232029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9.7K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781800" y="2148840"/>
            <a:ext cx="432435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67450" y="2082165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96.9K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182350" y="2082165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14.5K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781800" y="1910715"/>
            <a:ext cx="432435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67450" y="18440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129.3K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182350" y="18440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19.4K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881446" y="2182332"/>
            <a:ext cx="133350" cy="680883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214088" y="2182332"/>
            <a:ext cx="133350" cy="680883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7546731" y="2303918"/>
            <a:ext cx="133350" cy="559297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7879373" y="2303918"/>
            <a:ext cx="133350" cy="559297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8212015" y="2182332"/>
            <a:ext cx="133350" cy="680883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8544658" y="2034954"/>
            <a:ext cx="133350" cy="828261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8877300" y="2182332"/>
            <a:ext cx="133350" cy="680883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9209942" y="2405608"/>
            <a:ext cx="133350" cy="457607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9542585" y="2303918"/>
            <a:ext cx="133350" cy="559297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9875227" y="2405608"/>
            <a:ext cx="133350" cy="457607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10207869" y="2405608"/>
            <a:ext cx="133350" cy="457607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10540512" y="2407819"/>
            <a:ext cx="133350" cy="455396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10873154" y="2410030"/>
            <a:ext cx="133350" cy="45318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Freeform 100"/>
          <p:cNvSpPr/>
          <p:nvPr/>
        </p:nvSpPr>
        <p:spPr>
          <a:xfrm>
            <a:off x="6948121" y="2034954"/>
            <a:ext cx="3991708" cy="653572"/>
          </a:xfrm>
          <a:custGeom>
            <a:avLst/>
            <a:gdLst/>
            <a:ahLst/>
            <a:cxnLst/>
            <a:rect l="l" t="t" r="r" b="b"/>
            <a:pathLst>
              <a:path w="3991708" h="653572">
                <a:moveTo>
                  <a:pt x="0" y="341814"/>
                </a:moveTo>
                <a:lnTo>
                  <a:pt x="332642" y="0"/>
                </a:lnTo>
                <a:lnTo>
                  <a:pt x="665285" y="500689"/>
                </a:lnTo>
                <a:lnTo>
                  <a:pt x="997927" y="490965"/>
                </a:lnTo>
                <a:lnTo>
                  <a:pt x="1330569" y="428496"/>
                </a:lnTo>
                <a:lnTo>
                  <a:pt x="1663212" y="367205"/>
                </a:lnTo>
                <a:lnTo>
                  <a:pt x="1995854" y="502162"/>
                </a:lnTo>
                <a:lnTo>
                  <a:pt x="2328496" y="639134"/>
                </a:lnTo>
                <a:lnTo>
                  <a:pt x="2661139" y="596996"/>
                </a:lnTo>
                <a:lnTo>
                  <a:pt x="2993781" y="652934"/>
                </a:lnTo>
                <a:lnTo>
                  <a:pt x="3326423" y="640951"/>
                </a:lnTo>
                <a:lnTo>
                  <a:pt x="3659066" y="649398"/>
                </a:lnTo>
                <a:lnTo>
                  <a:pt x="3991708" y="653572"/>
                </a:lnTo>
              </a:path>
            </a:pathLst>
          </a:custGeom>
          <a:noFill/>
          <a:ln w="28575">
            <a:solidFill>
              <a:srgbClr val="FF7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910021" y="2338668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242663" y="1996854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575306" y="2497543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907948" y="2487819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240590" y="2425350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573233" y="2364059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8905875" y="2499016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9238517" y="2635988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9571160" y="2593850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9903802" y="2649788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0236444" y="2637805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0569087" y="2646252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0901729" y="2650426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781800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Tem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114442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Ağu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447085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Eyl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779727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Eki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112369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Kas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445012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Ara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777654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Oca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110296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Şub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442938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Mar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775581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Nis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108223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May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440865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Haz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773508" y="2910840"/>
            <a:ext cx="33264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Tem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71500" y="3358515"/>
            <a:ext cx="11049000" cy="228600"/>
          </a:xfrm>
          <a:prstGeom prst="rect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685800" y="3358515"/>
            <a:ext cx="85725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Arama hacmi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771650" y="3358515"/>
            <a:ext cx="569302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Tem'25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569552" y="3358515"/>
            <a:ext cx="550252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Ağu'25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348404" y="3358515"/>
            <a:ext cx="483577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Eyl'25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060581" y="3358515"/>
            <a:ext cx="483577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Eki'25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772758" y="3358515"/>
            <a:ext cx="531202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Kas'25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532560" y="3358515"/>
            <a:ext cx="521677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Ara'25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282837" y="3358515"/>
            <a:ext cx="550252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Oca'26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061688" y="3358515"/>
            <a:ext cx="550252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Şub'26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840540" y="3358515"/>
            <a:ext cx="550252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Mar'26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619392" y="3358515"/>
            <a:ext cx="512152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Nis'26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360144" y="3358515"/>
            <a:ext cx="569302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May'26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158046" y="3358515"/>
            <a:ext cx="540727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Haz'26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927373" y="3358515"/>
            <a:ext cx="578827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Tem'26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85800" y="3587115"/>
            <a:ext cx="8572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GFN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771650" y="3587115"/>
            <a:ext cx="56930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92.4K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569552" y="3587115"/>
            <a:ext cx="55025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92.4K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348404" y="3587115"/>
            <a:ext cx="48357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75.9K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060581" y="3587115"/>
            <a:ext cx="48357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75.9K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772758" y="3587115"/>
            <a:ext cx="53120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92.4K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532560" y="3587115"/>
            <a:ext cx="52167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112.4K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282837" y="3587115"/>
            <a:ext cx="55025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92.4K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061688" y="3587115"/>
            <a:ext cx="55025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62.1K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840540" y="3587115"/>
            <a:ext cx="55025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75.9K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619392" y="3587115"/>
            <a:ext cx="51215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62.1K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360144" y="3587115"/>
            <a:ext cx="56930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62.1K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158046" y="3587115"/>
            <a:ext cx="54072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61.8K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927373" y="3587115"/>
            <a:ext cx="57882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61.5K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71500" y="358711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85800" y="3862388"/>
            <a:ext cx="8572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Brand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771650" y="3862388"/>
            <a:ext cx="56930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5.4K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569552" y="3862388"/>
            <a:ext cx="55025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5.4K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348404" y="3862388"/>
            <a:ext cx="48357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5.4K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060581" y="3862388"/>
            <a:ext cx="48357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5.4K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772758" y="3862388"/>
            <a:ext cx="53120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6.7K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532560" y="3862388"/>
            <a:ext cx="52167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6.4K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282837" y="3862388"/>
            <a:ext cx="55025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5.7K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061688" y="3862388"/>
            <a:ext cx="55025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4.6K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840540" y="3862388"/>
            <a:ext cx="55025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4.6K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619392" y="3862388"/>
            <a:ext cx="51215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3.8K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360144" y="3862388"/>
            <a:ext cx="56930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4.6K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158046" y="3862388"/>
            <a:ext cx="54072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3.9K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927373" y="3862388"/>
            <a:ext cx="57882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3.8K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571500" y="3862388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571500" y="413766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71500" y="4423410"/>
            <a:ext cx="1714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19150" y="4423410"/>
            <a:ext cx="108013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0332F"/>
                </a:solidFill>
                <a:latin typeface="Outfit"/>
              </a:rPr>
              <a:t>GFN arama hacmi </a:t>
            </a:r>
            <a:r>
              <a:rPr sz="1000" b="1">
                <a:solidFill>
                  <a:srgbClr val="D32F2F"/>
                </a:solidFill>
                <a:latin typeface="Bricolage Grotesque"/>
              </a:rPr>
              <a:t>92.4K → 61.5K</a:t>
            </a:r>
            <a:r>
              <a:rPr sz="1000" b="0">
                <a:solidFill>
                  <a:srgbClr val="10332F"/>
                </a:solidFill>
                <a:latin typeface="Outfit"/>
              </a:rPr>
              <a:t> ile </a:t>
            </a:r>
            <a:r>
              <a:rPr sz="1000" b="1">
                <a:solidFill>
                  <a:srgbClr val="D32F2F"/>
                </a:solidFill>
                <a:latin typeface="Bricolage Grotesque"/>
              </a:rPr>
              <a:t>-%33.4</a:t>
            </a:r>
            <a:r>
              <a:rPr sz="1000" b="0">
                <a:solidFill>
                  <a:srgbClr val="10332F"/>
                </a:solidFill>
                <a:latin typeface="Outfit"/>
              </a:rPr>
              <a:t> daralmıştır; aynı dönemde GFN click </a:t>
            </a:r>
            <a:r>
              <a:rPr sz="1000" b="1">
                <a:solidFill>
                  <a:srgbClr val="D32F2F"/>
                </a:solidFill>
                <a:latin typeface="Bricolage Grotesque"/>
              </a:rPr>
              <a:t>-%64.1</a:t>
            </a:r>
            <a:r>
              <a:rPr sz="1000" b="0">
                <a:solidFill>
                  <a:srgbClr val="10332F"/>
                </a:solidFill>
                <a:latin typeface="Outfit"/>
              </a:rPr>
              <a:t> gerilemiştir. Talep daralması düşüşün bir bölümünü açıklamaktadır.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71500" y="4728210"/>
            <a:ext cx="1714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19150" y="4728210"/>
            <a:ext cx="1080135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0332F"/>
                </a:solidFill>
                <a:latin typeface="Outfit"/>
              </a:rPr>
              <a:t>Brand tarafında hacim </a:t>
            </a:r>
            <a:r>
              <a:rPr sz="1000" b="1">
                <a:solidFill>
                  <a:srgbClr val="D32F2F"/>
                </a:solidFill>
                <a:latin typeface="Bricolage Grotesque"/>
              </a:rPr>
              <a:t>5.4K → 3.8K</a:t>
            </a:r>
            <a:r>
              <a:rPr sz="1000" b="0">
                <a:solidFill>
                  <a:srgbClr val="10332F"/>
                </a:solidFill>
                <a:latin typeface="Outfit"/>
              </a:rPr>
              <a:t> (</a:t>
            </a:r>
            <a:r>
              <a:rPr sz="1000" b="1">
                <a:solidFill>
                  <a:srgbClr val="D32F2F"/>
                </a:solidFill>
                <a:latin typeface="Bricolage Grotesque"/>
              </a:rPr>
              <a:t>-%30.0</a:t>
            </a:r>
            <a:r>
              <a:rPr sz="1000" b="0">
                <a:solidFill>
                  <a:srgbClr val="10332F"/>
                </a:solidFill>
                <a:latin typeface="Outfit"/>
              </a:rPr>
              <a:t>) ile daralırken brand click </a:t>
            </a:r>
            <a:r>
              <a:rPr sz="1000" b="1">
                <a:solidFill>
                  <a:srgbClr val="D32F2F"/>
                </a:solidFill>
                <a:latin typeface="Bricolage Grotesque"/>
              </a:rPr>
              <a:t>-%30.6</a:t>
            </a:r>
            <a:r>
              <a:rPr sz="1000" b="0">
                <a:solidFill>
                  <a:srgbClr val="10332F"/>
                </a:solidFill>
                <a:latin typeface="Outfit"/>
              </a:rPr>
              <a:t> gerilemiştir. İki oranın örtüşmesi, marka sorgularındaki düşüşün ağırlıkla talep kaynaklı olduğuna işaret etmektedir.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SEARCH CONSOLE</a:t>
            </a:r>
            <a:r>
              <a:rPr sz="1000" b="0">
                <a:solidFill>
                  <a:srgbClr val="FF7B52"/>
                </a:solidFill>
                <a:latin typeface="Outfit"/>
              </a:rPr>
              <a:t>  |  </a:t>
            </a:r>
            <a:r>
              <a:rPr sz="1000" b="0">
                <a:solidFill>
                  <a:srgbClr val="FF7B52"/>
                </a:solidFill>
                <a:latin typeface="Outfit"/>
              </a:rPr>
              <a:t>Dönem Karşılaştırması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11049000" cy="394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332F"/>
                </a:solidFill>
                <a:latin typeface="Bricolage Grotesque"/>
              </a:rPr>
              <a:t>Brand, Non-Brand ve GFN Temmuz Karşılaştırması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785"/>
            <a:ext cx="1104900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A4A"/>
                </a:solidFill>
                <a:latin typeface="Outfit"/>
              </a:rPr>
              <a:t>Temmuz 2026 &amp; Haziran 2026 (MoM) &amp; Temmuz 2025 (YoY)</a:t>
            </a:r>
          </a:p>
        </p:txBody>
      </p:sp>
      <p:pic>
        <p:nvPicPr>
          <p:cNvPr id="5" name="Picture 4" descr="inbound-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210300"/>
            <a:ext cx="342900" cy="3429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500" y="6267450"/>
            <a:ext cx="3705225" cy="209550"/>
          </a:xfrm>
          <a:prstGeom prst="roundRect">
            <a:avLst>
              <a:gd name="adj" fmla="val 36363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Bricolage Grotesque"/>
              </a:rPr>
              <a:t>Kaynak: Google Search Console - sc-domain:gameplus.com.tr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26430"/>
            <a:ext cx="11049000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Non-Brand pozisyonu, marka ifadelerinin regex ile dışlandığı ayrı bir ölçümden alınmıştır; click ve impression ise toplamdan çıkarma ile hesaplanır. İki yöntemin kapsamı farklıdır: query filtresi uygulandığında anonim sorgular sonuç kümesinden düşer. Pozisyonda pozitif değer iyileşmedir.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701165"/>
            <a:ext cx="5353050" cy="228600"/>
          </a:xfrm>
          <a:prstGeom prst="rect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1165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Click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701165"/>
            <a:ext cx="64389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2690" y="1701165"/>
            <a:ext cx="61531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Haz 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6605" y="1701165"/>
            <a:ext cx="65341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 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8620" y="1701165"/>
            <a:ext cx="6629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MoM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160" y="1701165"/>
            <a:ext cx="72009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YoY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929765"/>
            <a:ext cx="6858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GFN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1929765"/>
            <a:ext cx="64389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9.9K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72690" y="1929765"/>
            <a:ext cx="61531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3.6K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6605" y="1929765"/>
            <a:ext cx="65341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3.6K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84320" y="1929765"/>
            <a:ext cx="891540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198620" y="1929765"/>
            <a:ext cx="66294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-%2.3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75860" y="1929765"/>
            <a:ext cx="948690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090160" y="1929765"/>
            <a:ext cx="72009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-%64.1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1929765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205038"/>
            <a:ext cx="6858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Brand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2205038"/>
            <a:ext cx="64389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2.2K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72690" y="2205038"/>
            <a:ext cx="61531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1.3K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6605" y="2205038"/>
            <a:ext cx="65341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1.5K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84320" y="2205038"/>
            <a:ext cx="89154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198620" y="2205038"/>
            <a:ext cx="66294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+%17.4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75860" y="2205038"/>
            <a:ext cx="948690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090160" y="2205038"/>
            <a:ext cx="72009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-%30.6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2205038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2480310"/>
            <a:ext cx="6858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2480310"/>
            <a:ext cx="64389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14.2K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72690" y="2480310"/>
            <a:ext cx="61531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21.2K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6605" y="2480310"/>
            <a:ext cx="65341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22.2K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84320" y="2480310"/>
            <a:ext cx="89154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198620" y="2480310"/>
            <a:ext cx="66294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+%4.6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75860" y="2480310"/>
            <a:ext cx="94869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090160" y="2480310"/>
            <a:ext cx="72009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+%56.1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1500" y="2480310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2755582"/>
            <a:ext cx="6858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Toplam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0200" y="2755582"/>
            <a:ext cx="64389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16.4K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72690" y="2755582"/>
            <a:ext cx="61531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22.5K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16605" y="2755582"/>
            <a:ext cx="65341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23.7K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84320" y="2755582"/>
            <a:ext cx="89154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198620" y="2755582"/>
            <a:ext cx="66294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+%5.3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75860" y="2755582"/>
            <a:ext cx="94869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5090160" y="2755582"/>
            <a:ext cx="72009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+%44.6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" y="2755582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71500" y="3030855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67450" y="1701165"/>
            <a:ext cx="5353050" cy="228600"/>
          </a:xfrm>
          <a:prstGeom prst="rect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381750" y="1701165"/>
            <a:ext cx="73342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Impression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43775" y="1701165"/>
            <a:ext cx="64579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 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18170" y="1701165"/>
            <a:ext cx="63627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Haz 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83040" y="1701165"/>
            <a:ext cx="62674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 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38385" y="1701165"/>
            <a:ext cx="61722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MoM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84205" y="1701165"/>
            <a:ext cx="72199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YoY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81750" y="1929765"/>
            <a:ext cx="73342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GFN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43775" y="1929765"/>
            <a:ext cx="64579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141.5K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18170" y="1929765"/>
            <a:ext cx="63627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98.8K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83040" y="1929765"/>
            <a:ext cx="62674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97.9K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824085" y="1929765"/>
            <a:ext cx="845820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9938385" y="1929765"/>
            <a:ext cx="61722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-%0.9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669905" y="1929765"/>
            <a:ext cx="950595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10784205" y="1929765"/>
            <a:ext cx="72199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-%30.8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67450" y="1929765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81750" y="2205038"/>
            <a:ext cx="73342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Brand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43775" y="2205038"/>
            <a:ext cx="64579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11.8K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18170" y="2205038"/>
            <a:ext cx="63627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11.1K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83040" y="2205038"/>
            <a:ext cx="62674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11.6K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824085" y="2205038"/>
            <a:ext cx="84582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9938385" y="2205038"/>
            <a:ext cx="61722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+%4.7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669905" y="2205038"/>
            <a:ext cx="950595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10784205" y="2205038"/>
            <a:ext cx="72199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-%1.6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67450" y="2205038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81750" y="2480310"/>
            <a:ext cx="73342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43775" y="2480310"/>
            <a:ext cx="64579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352.1K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18170" y="2480310"/>
            <a:ext cx="63627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642.3K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83040" y="2480310"/>
            <a:ext cx="62674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740.6K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824085" y="2480310"/>
            <a:ext cx="84582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9938385" y="2480310"/>
            <a:ext cx="61722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+%15.3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669905" y="2480310"/>
            <a:ext cx="950595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10784205" y="2480310"/>
            <a:ext cx="72199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+%110.3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67450" y="2480310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81750" y="2755582"/>
            <a:ext cx="73342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Toplam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43775" y="2755582"/>
            <a:ext cx="64579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363.9K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18170" y="2755582"/>
            <a:ext cx="63627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653.3K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83040" y="2755582"/>
            <a:ext cx="62674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752.3K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824085" y="2755582"/>
            <a:ext cx="84582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9938385" y="2755582"/>
            <a:ext cx="61722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+%15.1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669905" y="2755582"/>
            <a:ext cx="950595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10784205" y="2755582"/>
            <a:ext cx="72199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+%106.7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67450" y="2755582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267450" y="3030855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71500" y="3297555"/>
            <a:ext cx="5353050" cy="228600"/>
          </a:xfrm>
          <a:prstGeom prst="rect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85800" y="3297555"/>
            <a:ext cx="86677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Ort. pozisyon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781175" y="3297555"/>
            <a:ext cx="68008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 25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689860" y="3297555"/>
            <a:ext cx="65151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Haz 26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569970" y="3297555"/>
            <a:ext cx="68961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 26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488180" y="3297555"/>
            <a:ext cx="53721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MoM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253990" y="3297555"/>
            <a:ext cx="55626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YoY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5800" y="3526155"/>
            <a:ext cx="86677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GFN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781175" y="3526155"/>
            <a:ext cx="68008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8.6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689860" y="3526155"/>
            <a:ext cx="65151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5.5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569970" y="3526155"/>
            <a:ext cx="68961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6.1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373880" y="3526155"/>
            <a:ext cx="765810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4488180" y="3526155"/>
            <a:ext cx="53721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-0.6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139690" y="3526155"/>
            <a:ext cx="78486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5253990" y="3526155"/>
            <a:ext cx="55626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+2.5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1500" y="3526155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85800" y="3801427"/>
            <a:ext cx="86677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Brand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781175" y="3801427"/>
            <a:ext cx="68008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2.3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689860" y="3801427"/>
            <a:ext cx="65151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7.6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569970" y="3801427"/>
            <a:ext cx="68961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8.1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373880" y="3801427"/>
            <a:ext cx="765810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4488180" y="3801427"/>
            <a:ext cx="53721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-0.5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139690" y="3801427"/>
            <a:ext cx="784860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5253990" y="3801427"/>
            <a:ext cx="55626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-5.7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71500" y="3801427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85800" y="4076700"/>
            <a:ext cx="86677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781175" y="4076700"/>
            <a:ext cx="68008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21.3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689860" y="4076700"/>
            <a:ext cx="65151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7.1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69970" y="4076700"/>
            <a:ext cx="68961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7.4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373880" y="4076700"/>
            <a:ext cx="765810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4488180" y="4076700"/>
            <a:ext cx="53721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-0.3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139690" y="4076700"/>
            <a:ext cx="78486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5253990" y="4076700"/>
            <a:ext cx="55626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+13.9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71500" y="4076700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85800" y="4351972"/>
            <a:ext cx="86677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Toplam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781175" y="4351972"/>
            <a:ext cx="68008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18.8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689860" y="4351972"/>
            <a:ext cx="65151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6.7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569970" y="4351972"/>
            <a:ext cx="68961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6.9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373880" y="4351972"/>
            <a:ext cx="765810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4488180" y="4351972"/>
            <a:ext cx="53721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-0.2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139690" y="4351972"/>
            <a:ext cx="78486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5253990" y="4351972"/>
            <a:ext cx="55626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+11.9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71500" y="4351972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71500" y="4627245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267450" y="3297555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515100" y="3297555"/>
            <a:ext cx="5105400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Toplam click MoM 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+%5.3</a:t>
            </a:r>
            <a:r>
              <a:rPr sz="1050" b="0">
                <a:solidFill>
                  <a:srgbClr val="10332F"/>
                </a:solidFill>
                <a:latin typeface="Outfit"/>
              </a:rPr>
              <a:t>, YoY 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+%44.6</a:t>
            </a:r>
            <a:r>
              <a:rPr sz="1050" b="0">
                <a:solidFill>
                  <a:srgbClr val="10332F"/>
                </a:solidFill>
                <a:latin typeface="Outfit"/>
              </a:rPr>
              <a:t> artmıştır. Brand click MoM 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+%17.4</a:t>
            </a:r>
            <a:r>
              <a:rPr sz="1050" b="0">
                <a:solidFill>
                  <a:srgbClr val="10332F"/>
                </a:solidFill>
                <a:latin typeface="Outfit"/>
              </a:rPr>
              <a:t> toparlanmış olsa da yıllık bazda </a:t>
            </a:r>
            <a:r>
              <a:rPr sz="1050" b="1">
                <a:solidFill>
                  <a:srgbClr val="D32F2F"/>
                </a:solidFill>
                <a:latin typeface="Bricolage Grotesque"/>
              </a:rPr>
              <a:t>-%30.6</a:t>
            </a:r>
            <a:r>
              <a:rPr sz="1050" b="0">
                <a:solidFill>
                  <a:srgbClr val="10332F"/>
                </a:solidFill>
                <a:latin typeface="Outfit"/>
              </a:rPr>
              <a:t> geridedir.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267450" y="3811905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515100" y="3811905"/>
            <a:ext cx="5105400" cy="600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Ortalama pozisyon toplamda 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18.8 → 6.9</a:t>
            </a:r>
            <a:r>
              <a:rPr sz="1050" b="0">
                <a:solidFill>
                  <a:srgbClr val="10332F"/>
                </a:solidFill>
                <a:latin typeface="Outfit"/>
              </a:rPr>
              <a:t>, non-brand tarafında 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21.3 → 7.4</a:t>
            </a:r>
            <a:r>
              <a:rPr sz="1050" b="0">
                <a:solidFill>
                  <a:srgbClr val="10332F"/>
                </a:solidFill>
                <a:latin typeface="Outfit"/>
              </a:rPr>
              <a:t> ile belirgin iyileşme göstermektedir. Brand tarafında ise gerileme bulunmaktadır; GFN sıralaması yatay seyretmektedir.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SEARCH CONSOLE</a:t>
            </a:r>
            <a:r>
              <a:rPr sz="1000" b="0">
                <a:solidFill>
                  <a:srgbClr val="FF7B52"/>
                </a:solidFill>
                <a:latin typeface="Outfit"/>
              </a:rPr>
              <a:t>  |  </a:t>
            </a:r>
            <a:r>
              <a:rPr sz="1000" b="0">
                <a:solidFill>
                  <a:srgbClr val="FF7B52"/>
                </a:solidFill>
                <a:latin typeface="Outfit"/>
              </a:rPr>
              <a:t>Sorgu Hareketleri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11049000" cy="394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332F"/>
                </a:solidFill>
                <a:latin typeface="Bricolage Grotesque"/>
              </a:rPr>
              <a:t>Click Değişimi En Yüksek Sorgular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785"/>
            <a:ext cx="1104900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A4A"/>
                </a:solidFill>
                <a:latin typeface="Outfit"/>
              </a:rPr>
              <a:t>Temmuz 2026 &amp; Haziran 2026 | MoM | segment ayrımlı</a:t>
            </a:r>
          </a:p>
        </p:txBody>
      </p:sp>
      <p:pic>
        <p:nvPicPr>
          <p:cNvPr id="5" name="Picture 4" descr="inbound-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210300"/>
            <a:ext cx="342900" cy="3429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500" y="6267450"/>
            <a:ext cx="4533900" cy="209550"/>
          </a:xfrm>
          <a:prstGeom prst="roundRect">
            <a:avLst>
              <a:gd name="adj" fmla="val 36363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Bricolage Grotesque"/>
              </a:rPr>
              <a:t>Kaynak: Google Search Console - sc-domain:gameplus.com.tr · Query kırılımı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892165"/>
            <a:ext cx="11049000" cy="1657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Segment sütunu, sorgunun brand, GFN ya da non-brand ifadelerinden hangisini içerdiğini gösterir.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701165"/>
            <a:ext cx="5353050" cy="228600"/>
          </a:xfrm>
          <a:prstGeom prst="rect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116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Click artan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701165"/>
            <a:ext cx="1054894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0894" y="1701165"/>
            <a:ext cx="607219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Haz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6712" y="1701165"/>
            <a:ext cx="692944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8256" y="1701165"/>
            <a:ext cx="711994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929765"/>
            <a:ext cx="11430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call of duty serisi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1929765"/>
            <a:ext cx="10548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0894" y="1929765"/>
            <a:ext cx="6072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6712" y="1929765"/>
            <a:ext cx="69294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1.063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956" y="1929765"/>
            <a:ext cx="940594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98256" y="1929765"/>
            <a:ext cx="7119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+426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929765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205038"/>
            <a:ext cx="11430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gameplus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2205038"/>
            <a:ext cx="10548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Brand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0894" y="2205038"/>
            <a:ext cx="6072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76712" y="2205038"/>
            <a:ext cx="69294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744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956" y="2205038"/>
            <a:ext cx="940594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098256" y="2205038"/>
            <a:ext cx="7119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+134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2205038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2480310"/>
            <a:ext cx="11430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oyunlar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2480310"/>
            <a:ext cx="10548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40894" y="2480310"/>
            <a:ext cx="6072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6712" y="2480310"/>
            <a:ext cx="69294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127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83956" y="2480310"/>
            <a:ext cx="940594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098256" y="2480310"/>
            <a:ext cx="7119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+89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" y="2480310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2755582"/>
            <a:ext cx="11430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ubisoft plus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755582"/>
            <a:ext cx="10548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40894" y="2755582"/>
            <a:ext cx="6072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76712" y="2755582"/>
            <a:ext cx="69294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93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956" y="2755582"/>
            <a:ext cx="940594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098256" y="2755582"/>
            <a:ext cx="7119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+72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1500" y="2755582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3030855"/>
            <a:ext cx="11430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cod serisi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3030855"/>
            <a:ext cx="10548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40894" y="3030855"/>
            <a:ext cx="6072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119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6712" y="3030855"/>
            <a:ext cx="69294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187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956" y="3030855"/>
            <a:ext cx="940594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098256" y="3030855"/>
            <a:ext cx="7119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+68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1500" y="3030855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3306127"/>
            <a:ext cx="11430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ubisoft+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3306127"/>
            <a:ext cx="10548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40894" y="3306127"/>
            <a:ext cx="6072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76712" y="3306127"/>
            <a:ext cx="69294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83956" y="3306127"/>
            <a:ext cx="940594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5098256" y="3306127"/>
            <a:ext cx="7119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+49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1500" y="3306127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581400"/>
            <a:ext cx="11430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açık dünya oyunları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581400"/>
            <a:ext cx="10548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40894" y="3581400"/>
            <a:ext cx="6072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76712" y="3581400"/>
            <a:ext cx="69294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85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83956" y="3581400"/>
            <a:ext cx="940594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5098256" y="3581400"/>
            <a:ext cx="7119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+36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1500" y="3581400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" y="3856672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67450" y="1701165"/>
            <a:ext cx="5353050" cy="228600"/>
          </a:xfrm>
          <a:prstGeom prst="rect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381750" y="1701165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Click azalan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10550" y="1701165"/>
            <a:ext cx="976312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Segment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15462" y="1701165"/>
            <a:ext cx="528638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Haz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72700" y="1701165"/>
            <a:ext cx="566738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68038" y="1701165"/>
            <a:ext cx="538162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81750" y="1929765"/>
            <a:ext cx="16002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pc oyunları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10550" y="1929765"/>
            <a:ext cx="97631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15462" y="1929765"/>
            <a:ext cx="5286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333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72700" y="1929765"/>
            <a:ext cx="5667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237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853738" y="1929765"/>
            <a:ext cx="766762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10968038" y="1929765"/>
            <a:ext cx="53816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-96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67450" y="1929765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81750" y="2205038"/>
            <a:ext cx="16002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bilgisayar oyunları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10550" y="2205038"/>
            <a:ext cx="97631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415462" y="2205038"/>
            <a:ext cx="5286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180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72700" y="2205038"/>
            <a:ext cx="5667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116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853738" y="2205038"/>
            <a:ext cx="766762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10968038" y="2205038"/>
            <a:ext cx="53816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-64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67450" y="2205038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81750" y="2480310"/>
            <a:ext cx="16002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resident evil oynama sırası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10550" y="2480310"/>
            <a:ext cx="97631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15462" y="2480310"/>
            <a:ext cx="5286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75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172700" y="2480310"/>
            <a:ext cx="5667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853738" y="2480310"/>
            <a:ext cx="766762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10968038" y="2480310"/>
            <a:ext cx="53816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67450" y="2480310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81750" y="2755582"/>
            <a:ext cx="16002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mmorpg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10550" y="2755582"/>
            <a:ext cx="97631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415462" y="2755582"/>
            <a:ext cx="5286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467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172700" y="2755582"/>
            <a:ext cx="5667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417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853738" y="2755582"/>
            <a:ext cx="766762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10968038" y="2755582"/>
            <a:ext cx="53816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-50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267450" y="2755582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81750" y="3030855"/>
            <a:ext cx="16002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demo oyna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10550" y="3030855"/>
            <a:ext cx="97631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415462" y="3030855"/>
            <a:ext cx="5286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82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172700" y="3030855"/>
            <a:ext cx="5667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853738" y="3030855"/>
            <a:ext cx="766762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10968038" y="3030855"/>
            <a:ext cx="53816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-38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267450" y="3030855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81750" y="3306127"/>
            <a:ext cx="16002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gameplus geforce now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10550" y="3306127"/>
            <a:ext cx="97631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Brand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415462" y="3306127"/>
            <a:ext cx="5286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172700" y="3306127"/>
            <a:ext cx="5667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19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853738" y="3306127"/>
            <a:ext cx="766762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10968038" y="3306127"/>
            <a:ext cx="53816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-32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267450" y="3306127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81750" y="3581400"/>
            <a:ext cx="16002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geforce now üyelik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10550" y="3581400"/>
            <a:ext cx="97631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GFN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15462" y="3581400"/>
            <a:ext cx="5286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172700" y="3581400"/>
            <a:ext cx="5667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28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853738" y="3581400"/>
            <a:ext cx="766762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10968038" y="3581400"/>
            <a:ext cx="53816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-24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267450" y="3581400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267450" y="3856672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71500" y="4161472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19150" y="4161472"/>
            <a:ext cx="10801350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Artışın merkezinde </a:t>
            </a:r>
            <a:r>
              <a:rPr sz="1050" b="1">
                <a:solidFill>
                  <a:srgbClr val="FF7B52"/>
                </a:solidFill>
                <a:latin typeface="Bricolage Grotesque"/>
              </a:rPr>
              <a:t>call of duty serisi</a:t>
            </a:r>
            <a:r>
              <a:rPr sz="1050" b="0">
                <a:solidFill>
                  <a:srgbClr val="10332F"/>
                </a:solidFill>
                <a:latin typeface="Outfit"/>
              </a:rPr>
              <a:t> (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+426</a:t>
            </a:r>
            <a:r>
              <a:rPr sz="1050" b="0">
                <a:solidFill>
                  <a:srgbClr val="10332F"/>
                </a:solidFill>
                <a:latin typeface="Outfit"/>
              </a:rPr>
              <a:t>) ve marka sorgusu </a:t>
            </a:r>
            <a:r>
              <a:rPr sz="1050" b="1">
                <a:solidFill>
                  <a:srgbClr val="FF7B52"/>
                </a:solidFill>
                <a:latin typeface="Bricolage Grotesque"/>
              </a:rPr>
              <a:t>gameplus</a:t>
            </a:r>
            <a:r>
              <a:rPr sz="1050" b="0">
                <a:solidFill>
                  <a:srgbClr val="10332F"/>
                </a:solidFill>
                <a:latin typeface="Outfit"/>
              </a:rPr>
              <a:t> (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+134</a:t>
            </a:r>
            <a:r>
              <a:rPr sz="1050" b="0">
                <a:solidFill>
                  <a:srgbClr val="10332F"/>
                </a:solidFill>
                <a:latin typeface="Outfit"/>
              </a:rPr>
              <a:t>) bulunmaktadır. </a:t>
            </a:r>
            <a:r>
              <a:rPr sz="1050" b="1">
                <a:solidFill>
                  <a:srgbClr val="FF7B52"/>
                </a:solidFill>
                <a:latin typeface="Bricolage Grotesque"/>
              </a:rPr>
              <a:t>ubisoft plus</a:t>
            </a:r>
            <a:r>
              <a:rPr sz="1050" b="0">
                <a:solidFill>
                  <a:srgbClr val="10332F"/>
                </a:solidFill>
                <a:latin typeface="Outfit"/>
              </a:rPr>
              <a:t> ve </a:t>
            </a:r>
            <a:r>
              <a:rPr sz="1050" b="1">
                <a:solidFill>
                  <a:srgbClr val="FF7B52"/>
                </a:solidFill>
                <a:latin typeface="Bricolage Grotesque"/>
              </a:rPr>
              <a:t>ubisoft+</a:t>
            </a:r>
            <a:r>
              <a:rPr sz="1050" b="0">
                <a:solidFill>
                  <a:srgbClr val="10332F"/>
                </a:solidFill>
                <a:latin typeface="Outfit"/>
              </a:rPr>
              <a:t> birlikte 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+121</a:t>
            </a:r>
            <a:r>
              <a:rPr sz="1050" b="0">
                <a:solidFill>
                  <a:srgbClr val="10332F"/>
                </a:solidFill>
                <a:latin typeface="Outfit"/>
              </a:rPr>
              <a:t> click getirmiş; Temmuz'da tamamlanan Ubisoft+ çalışmasıyla örtüşmektedir.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1500" y="4675822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19150" y="4675822"/>
            <a:ext cx="108013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Düşüşler jenerik oyun sorgularında yoğunlaşmaktadır (</a:t>
            </a:r>
            <a:r>
              <a:rPr sz="1050" b="1">
                <a:solidFill>
                  <a:srgbClr val="FF7B52"/>
                </a:solidFill>
                <a:latin typeface="Bricolage Grotesque"/>
              </a:rPr>
              <a:t>pc oyunları</a:t>
            </a:r>
            <a:r>
              <a:rPr sz="1050" b="0">
                <a:solidFill>
                  <a:srgbClr val="10332F"/>
                </a:solidFill>
                <a:latin typeface="Outfit"/>
              </a:rPr>
              <a:t> </a:t>
            </a:r>
            <a:r>
              <a:rPr sz="1050" b="1">
                <a:solidFill>
                  <a:srgbClr val="D32F2F"/>
                </a:solidFill>
                <a:latin typeface="Bricolage Grotesque"/>
              </a:rPr>
              <a:t>-96</a:t>
            </a:r>
            <a:r>
              <a:rPr sz="1050" b="0">
                <a:solidFill>
                  <a:srgbClr val="10332F"/>
                </a:solidFill>
                <a:latin typeface="Outfit"/>
              </a:rPr>
              <a:t>, </a:t>
            </a:r>
            <a:r>
              <a:rPr sz="1050" b="1">
                <a:solidFill>
                  <a:srgbClr val="FF7B52"/>
                </a:solidFill>
                <a:latin typeface="Bricolage Grotesque"/>
              </a:rPr>
              <a:t>bilgisayar oyunları</a:t>
            </a:r>
            <a:r>
              <a:rPr sz="1050" b="0">
                <a:solidFill>
                  <a:srgbClr val="10332F"/>
                </a:solidFill>
                <a:latin typeface="Outfit"/>
              </a:rPr>
              <a:t> </a:t>
            </a:r>
            <a:r>
              <a:rPr sz="1050" b="1">
                <a:solidFill>
                  <a:srgbClr val="D32F2F"/>
                </a:solidFill>
                <a:latin typeface="Bricolage Grotesque"/>
              </a:rPr>
              <a:t>-64</a:t>
            </a:r>
            <a:r>
              <a:rPr sz="1050" b="0">
                <a:solidFill>
                  <a:srgbClr val="10332F"/>
                </a:solidFill>
                <a:latin typeface="Outfit"/>
              </a:rPr>
              <a:t>); bu sorgularda pozisyon da gerilemiştir.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SEARCH CONSOLE</a:t>
            </a:r>
            <a:r>
              <a:rPr sz="1000" b="0">
                <a:solidFill>
                  <a:srgbClr val="FF7B52"/>
                </a:solidFill>
                <a:latin typeface="Outfit"/>
              </a:rPr>
              <a:t>  |  </a:t>
            </a:r>
            <a:r>
              <a:rPr sz="1000" b="0">
                <a:solidFill>
                  <a:srgbClr val="FF7B52"/>
                </a:solidFill>
                <a:latin typeface="Outfit"/>
              </a:rPr>
              <a:t>Sıralama Hareketleri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11049000" cy="394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332F"/>
                </a:solidFill>
                <a:latin typeface="Bricolage Grotesque"/>
              </a:rPr>
              <a:t>Sıralaması En Çok Değişen Sorgular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785"/>
            <a:ext cx="1104900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A4A"/>
                </a:solidFill>
                <a:latin typeface="Outfit"/>
              </a:rPr>
              <a:t>Temmuz 2026 &amp; Haziran 2026 | MoM | ortalama pozisyon</a:t>
            </a:r>
          </a:p>
        </p:txBody>
      </p:sp>
      <p:pic>
        <p:nvPicPr>
          <p:cNvPr id="5" name="Picture 4" descr="inbound-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210300"/>
            <a:ext cx="342900" cy="3429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500" y="6267450"/>
            <a:ext cx="4533900" cy="209550"/>
          </a:xfrm>
          <a:prstGeom prst="roundRect">
            <a:avLst>
              <a:gd name="adj" fmla="val 36363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Bricolage Grotesque"/>
              </a:rPr>
              <a:t>Kaynak: Google Search Console - sc-domain:gameplus.com.tr · Query kırılımı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892165"/>
            <a:ext cx="11049000" cy="1657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Pozisyonda pozitif değer iyileşmedir (24.1 → 10.1 = +14.1). Tablo, click hareketi en yüksek sorgu kümesi içinden sıralama değişimine göre seçilmiştir.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701165"/>
            <a:ext cx="5353050" cy="228600"/>
          </a:xfrm>
          <a:prstGeom prst="rect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1165"/>
            <a:ext cx="135255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Sıralaması iyileşen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6950" y="1701165"/>
            <a:ext cx="1014412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9962" y="1701165"/>
            <a:ext cx="566738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Haz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5300" y="1701165"/>
            <a:ext cx="604838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738" y="1701165"/>
            <a:ext cx="671512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929765"/>
            <a:ext cx="13525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oyunlar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6950" y="1929765"/>
            <a:ext cx="101441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9962" y="1929765"/>
            <a:ext cx="5667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24.1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5300" y="1929765"/>
            <a:ext cx="6048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10.1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4438" y="1929765"/>
            <a:ext cx="900112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38738" y="1929765"/>
            <a:ext cx="67151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+14.0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929765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205038"/>
            <a:ext cx="13525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indie oyunlar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66950" y="2205038"/>
            <a:ext cx="101441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9962" y="2205038"/>
            <a:ext cx="5667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9.7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5300" y="2205038"/>
            <a:ext cx="6048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4438" y="2205038"/>
            <a:ext cx="900112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138738" y="2205038"/>
            <a:ext cx="67151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+5.2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2205038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2480310"/>
            <a:ext cx="13525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assassin's creed serisi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6950" y="2480310"/>
            <a:ext cx="101441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962" y="2480310"/>
            <a:ext cx="5667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5300" y="2480310"/>
            <a:ext cx="6048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4.4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4438" y="2480310"/>
            <a:ext cx="900112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138738" y="2480310"/>
            <a:ext cx="67151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+2.4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" y="2480310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2755582"/>
            <a:ext cx="13525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god of war serileri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6950" y="2755582"/>
            <a:ext cx="101441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9962" y="2755582"/>
            <a:ext cx="5667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05300" y="2755582"/>
            <a:ext cx="6048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1.8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4438" y="2755582"/>
            <a:ext cx="900112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138738" y="2755582"/>
            <a:ext cx="67151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+2.3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1500" y="2755582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3030855"/>
            <a:ext cx="13525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açık dünya oyunları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66950" y="3030855"/>
            <a:ext cx="101441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09962" y="3030855"/>
            <a:ext cx="5667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4.9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05300" y="3030855"/>
            <a:ext cx="6048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2.9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4438" y="3030855"/>
            <a:ext cx="900112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138738" y="3030855"/>
            <a:ext cx="67151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+2.0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1500" y="3030855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3306127"/>
            <a:ext cx="13525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cod serisi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66950" y="3306127"/>
            <a:ext cx="101441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09962" y="3306127"/>
            <a:ext cx="5667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2.7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05300" y="3306127"/>
            <a:ext cx="6048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2.1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4438" y="3306127"/>
            <a:ext cx="900112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5138738" y="3306127"/>
            <a:ext cx="67151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+0.6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1500" y="3306127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581400"/>
            <a:ext cx="13525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call of duty serisi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66950" y="3581400"/>
            <a:ext cx="101441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09962" y="3581400"/>
            <a:ext cx="5667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2.4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05300" y="3581400"/>
            <a:ext cx="604838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1.9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4438" y="3581400"/>
            <a:ext cx="900112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5138738" y="3581400"/>
            <a:ext cx="67151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+0.5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1500" y="3581400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" y="3856672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67450" y="1701165"/>
            <a:ext cx="5353050" cy="228600"/>
          </a:xfrm>
          <a:prstGeom prst="rect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381750" y="1701165"/>
            <a:ext cx="162877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Sıralaması gerileyen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39125" y="1701165"/>
            <a:ext cx="96202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Segment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29750" y="1701165"/>
            <a:ext cx="51435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Haz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72700" y="1701165"/>
            <a:ext cx="55245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53750" y="1701165"/>
            <a:ext cx="55245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81750" y="1929765"/>
            <a:ext cx="162877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resident evil kronolojik sıra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39125" y="1929765"/>
            <a:ext cx="9620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29750" y="1929765"/>
            <a:ext cx="5143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2.1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72700" y="1929765"/>
            <a:ext cx="5524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5.7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839450" y="1929765"/>
            <a:ext cx="781050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10953750" y="1929765"/>
            <a:ext cx="5524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-3.6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67450" y="1929765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81750" y="2205038"/>
            <a:ext cx="162877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call of duty black ops serisi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39125" y="2205038"/>
            <a:ext cx="9620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429750" y="2205038"/>
            <a:ext cx="5143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1.9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72700" y="2205038"/>
            <a:ext cx="5524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5.0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839450" y="2205038"/>
            <a:ext cx="781050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10953750" y="2205038"/>
            <a:ext cx="5524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-3.1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67450" y="2205038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81750" y="2480310"/>
            <a:ext cx="162877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geforce now üyelik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39125" y="2480310"/>
            <a:ext cx="9620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GFN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29750" y="2480310"/>
            <a:ext cx="5143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5.2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172700" y="2480310"/>
            <a:ext cx="5524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6.9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839450" y="2480310"/>
            <a:ext cx="781050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10953750" y="2480310"/>
            <a:ext cx="5524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-1.7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67450" y="2480310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81750" y="2755582"/>
            <a:ext cx="162877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pc oyunları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39125" y="2755582"/>
            <a:ext cx="9620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429750" y="2755582"/>
            <a:ext cx="5143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5.4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172700" y="2755582"/>
            <a:ext cx="5524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6.5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839450" y="2755582"/>
            <a:ext cx="781050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10953750" y="2755582"/>
            <a:ext cx="5524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-1.1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267450" y="2755582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81750" y="3030855"/>
            <a:ext cx="162877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demo oyna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39125" y="3030855"/>
            <a:ext cx="9620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429750" y="3030855"/>
            <a:ext cx="5143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1.3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172700" y="3030855"/>
            <a:ext cx="5524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2.0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839450" y="3030855"/>
            <a:ext cx="781050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10953750" y="3030855"/>
            <a:ext cx="5524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-0.7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267450" y="3030855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81750" y="3306127"/>
            <a:ext cx="162877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resident evil oynama sırası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39125" y="3306127"/>
            <a:ext cx="9620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429750" y="3306127"/>
            <a:ext cx="5143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2.1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172700" y="3306127"/>
            <a:ext cx="5524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2.6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839450" y="3306127"/>
            <a:ext cx="781050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10953750" y="3306127"/>
            <a:ext cx="5524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-0.5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267450" y="3306127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81750" y="3581400"/>
            <a:ext cx="162877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bilgisayar oyunları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239125" y="3581400"/>
            <a:ext cx="9620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Non-Brand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29750" y="3581400"/>
            <a:ext cx="5143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7.0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172700" y="3581400"/>
            <a:ext cx="5524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7.3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839450" y="3581400"/>
            <a:ext cx="781050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10953750" y="3581400"/>
            <a:ext cx="5524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-0.3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267450" y="3581400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267450" y="3856672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71500" y="4161472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19150" y="4161472"/>
            <a:ext cx="108013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En belirgin sıralama kazanımı </a:t>
            </a:r>
            <a:r>
              <a:rPr sz="1050" b="1">
                <a:solidFill>
                  <a:srgbClr val="FF7B52"/>
                </a:solidFill>
                <a:latin typeface="Bricolage Grotesque"/>
              </a:rPr>
              <a:t>oyunlar</a:t>
            </a:r>
            <a:r>
              <a:rPr sz="1050" b="0">
                <a:solidFill>
                  <a:srgbClr val="10332F"/>
                </a:solidFill>
                <a:latin typeface="Outfit"/>
              </a:rPr>
              <a:t> sorgusundadır (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24.1 → 10.1</a:t>
            </a:r>
            <a:r>
              <a:rPr sz="1050" b="0">
                <a:solidFill>
                  <a:srgbClr val="10332F"/>
                </a:solidFill>
                <a:latin typeface="Outfit"/>
              </a:rPr>
              <a:t>); aynı sorguda click 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+89</a:t>
            </a:r>
            <a:r>
              <a:rPr sz="1050" b="0">
                <a:solidFill>
                  <a:srgbClr val="10332F"/>
                </a:solidFill>
                <a:latin typeface="Outfit"/>
              </a:rPr>
              <a:t> artmıştır. </a:t>
            </a:r>
            <a:r>
              <a:rPr sz="1050" b="1">
                <a:solidFill>
                  <a:srgbClr val="FF7B52"/>
                </a:solidFill>
                <a:latin typeface="Bricolage Grotesque"/>
              </a:rPr>
              <a:t>indie oyunlar</a:t>
            </a:r>
            <a:r>
              <a:rPr sz="1050" b="0">
                <a:solidFill>
                  <a:srgbClr val="10332F"/>
                </a:solidFill>
                <a:latin typeface="Outfit"/>
              </a:rPr>
              <a:t> ve </a:t>
            </a:r>
            <a:r>
              <a:rPr sz="1050" b="1">
                <a:solidFill>
                  <a:srgbClr val="FF7B52"/>
                </a:solidFill>
                <a:latin typeface="Bricolage Grotesque"/>
              </a:rPr>
              <a:t>açık dünya oyunları</a:t>
            </a:r>
            <a:r>
              <a:rPr sz="1050" b="0">
                <a:solidFill>
                  <a:srgbClr val="10332F"/>
                </a:solidFill>
                <a:latin typeface="Outfit"/>
              </a:rPr>
              <a:t> da ilk sayfaya taşınmıştır.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1500" y="4475797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19150" y="4475797"/>
            <a:ext cx="108013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Gerilemeler kalıcı içerik sorgularında dikkat çekmektedir: </a:t>
            </a:r>
            <a:r>
              <a:rPr sz="1050" b="1">
                <a:solidFill>
                  <a:srgbClr val="FF7B52"/>
                </a:solidFill>
                <a:latin typeface="Bricolage Grotesque"/>
              </a:rPr>
              <a:t>resident evil kronolojik sıra</a:t>
            </a:r>
            <a:r>
              <a:rPr sz="1050" b="0">
                <a:solidFill>
                  <a:srgbClr val="10332F"/>
                </a:solidFill>
                <a:latin typeface="Outfit"/>
              </a:rPr>
              <a:t> </a:t>
            </a:r>
            <a:r>
              <a:rPr sz="1050" b="1">
                <a:solidFill>
                  <a:srgbClr val="D32F2F"/>
                </a:solidFill>
                <a:latin typeface="Bricolage Grotesque"/>
              </a:rPr>
              <a:t>2.1 → 5.7</a:t>
            </a:r>
            <a:r>
              <a:rPr sz="1050" b="0">
                <a:solidFill>
                  <a:srgbClr val="10332F"/>
                </a:solidFill>
                <a:latin typeface="Outfit"/>
              </a:rPr>
              <a:t> ve </a:t>
            </a:r>
            <a:r>
              <a:rPr sz="1050" b="1">
                <a:solidFill>
                  <a:srgbClr val="FF7B52"/>
                </a:solidFill>
                <a:latin typeface="Bricolage Grotesque"/>
              </a:rPr>
              <a:t>call of duty black ops serisi</a:t>
            </a:r>
            <a:r>
              <a:rPr sz="1050" b="0">
                <a:solidFill>
                  <a:srgbClr val="10332F"/>
                </a:solidFill>
                <a:latin typeface="Outfit"/>
              </a:rPr>
              <a:t> </a:t>
            </a:r>
            <a:r>
              <a:rPr sz="1050" b="1">
                <a:solidFill>
                  <a:srgbClr val="D32F2F"/>
                </a:solidFill>
                <a:latin typeface="Bricolage Grotesque"/>
              </a:rPr>
              <a:t>1.9 → 5.0</a:t>
            </a:r>
            <a:r>
              <a:rPr sz="1050" b="0">
                <a:solidFill>
                  <a:srgbClr val="10332F"/>
                </a:solidFill>
                <a:latin typeface="Outfit"/>
              </a:rPr>
              <a:t>. Bu iki başlığın güncellenmesi ele alınabilir.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SEARCH CONSOLE</a:t>
            </a:r>
            <a:r>
              <a:rPr sz="1000" b="0">
                <a:solidFill>
                  <a:srgbClr val="FF7B52"/>
                </a:solidFill>
                <a:latin typeface="Outfit"/>
              </a:rPr>
              <a:t>  |  </a:t>
            </a:r>
            <a:r>
              <a:rPr sz="1000" b="0">
                <a:solidFill>
                  <a:srgbClr val="FF7B52"/>
                </a:solidFill>
                <a:latin typeface="Outfit"/>
              </a:rPr>
              <a:t>Sayfa Hareketleri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11049000" cy="394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332F"/>
                </a:solidFill>
                <a:latin typeface="Bricolage Grotesque"/>
              </a:rPr>
              <a:t>Click Değişimi En Yüksek Sayfalar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785"/>
            <a:ext cx="1104900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A4A"/>
                </a:solidFill>
                <a:latin typeface="Outfit"/>
              </a:rPr>
              <a:t>Temmuz 2026 &amp; Haziran 2026 | MoM | click değişimine göre sıralı</a:t>
            </a:r>
          </a:p>
        </p:txBody>
      </p:sp>
      <p:pic>
        <p:nvPicPr>
          <p:cNvPr id="5" name="Picture 4" descr="inbound-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210300"/>
            <a:ext cx="342900" cy="3429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500" y="6267450"/>
            <a:ext cx="4467225" cy="209550"/>
          </a:xfrm>
          <a:prstGeom prst="roundRect">
            <a:avLst>
              <a:gd name="adj" fmla="val 36363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Bricolage Grotesque"/>
              </a:rPr>
              <a:t>Kaynak: Google Search Console - sc-domain:gameplus.com.tr · Page kırılımı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892165"/>
            <a:ext cx="11049000" cy="1657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URL'ler kök alan adı çıkarılarak kısaltılmıştır; tamamı gameplus.com.tr altındadır.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701165"/>
            <a:ext cx="5353050" cy="228600"/>
          </a:xfrm>
          <a:prstGeom prst="rect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1165"/>
            <a:ext cx="244792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Click artan sayfa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2325" y="1701165"/>
            <a:ext cx="63817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Haz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9100" y="1701165"/>
            <a:ext cx="66675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4450" y="1701165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29765"/>
            <a:ext cx="244792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/blog/call-of-duty-oyunlarinin-kronolojik-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2325" y="1929765"/>
            <a:ext cx="63817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3.341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9100" y="1929765"/>
            <a:ext cx="6667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3.987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10150" y="1929765"/>
            <a:ext cx="91440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124450" y="1929765"/>
            <a:ext cx="68580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+646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929765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205038"/>
            <a:ext cx="244792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/ (anasayfa)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2325" y="2205038"/>
            <a:ext cx="63817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3.421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9100" y="2205038"/>
            <a:ext cx="6667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3.753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10150" y="2205038"/>
            <a:ext cx="91440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124450" y="2205038"/>
            <a:ext cx="68580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+332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2205038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480310"/>
            <a:ext cx="244792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/ubisoft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2325" y="2480310"/>
            <a:ext cx="63817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9100" y="2480310"/>
            <a:ext cx="6667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372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10150" y="2480310"/>
            <a:ext cx="91440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4450" y="2480310"/>
            <a:ext cx="68580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+275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2480310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755582"/>
            <a:ext cx="244792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/blog/en-iyi-zombie-oyunlari-pc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62325" y="2755582"/>
            <a:ext cx="63817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170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9100" y="2755582"/>
            <a:ext cx="6667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318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10150" y="2755582"/>
            <a:ext cx="91440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124450" y="2755582"/>
            <a:ext cx="68580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+148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1500" y="2755582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030855"/>
            <a:ext cx="244792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/blog/2026-turkce-dublajli-ve-altyazili-oy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62325" y="3030855"/>
            <a:ext cx="63817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269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9100" y="3030855"/>
            <a:ext cx="6667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408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10150" y="3030855"/>
            <a:ext cx="91440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124450" y="3030855"/>
            <a:ext cx="68580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+139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1500" y="3030855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3306127"/>
            <a:ext cx="244792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/destek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62325" y="3306127"/>
            <a:ext cx="63817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377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29100" y="3306127"/>
            <a:ext cx="6667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514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10150" y="3306127"/>
            <a:ext cx="91440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124450" y="3306127"/>
            <a:ext cx="68580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+137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1500" y="3306127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71500" y="3581400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7450" y="1701165"/>
            <a:ext cx="5353050" cy="228600"/>
          </a:xfrm>
          <a:prstGeom prst="rect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381750" y="1701165"/>
            <a:ext cx="244792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Click azalan sayfa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8275" y="1701165"/>
            <a:ext cx="68262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Haz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9500" y="1701165"/>
            <a:ext cx="62547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23575" y="1701165"/>
            <a:ext cx="68262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81750" y="1929765"/>
            <a:ext cx="244792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/gfn/oyunlar/oynamasi-ucretsiz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8275" y="1929765"/>
            <a:ext cx="6826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2.684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69500" y="1929765"/>
            <a:ext cx="62547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1.941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709275" y="1929765"/>
            <a:ext cx="911225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10823575" y="1929765"/>
            <a:ext cx="6826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-743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7450" y="1929765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81750" y="2205038"/>
            <a:ext cx="244792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/blog/resident-evil-serisi-kronolojik-sira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8275" y="2205038"/>
            <a:ext cx="6826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810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69500" y="2205038"/>
            <a:ext cx="62547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436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709275" y="2205038"/>
            <a:ext cx="911225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10823575" y="2205038"/>
            <a:ext cx="6826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-374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67450" y="2205038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81750" y="2480310"/>
            <a:ext cx="244792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/blog/2026-oyun-takvimi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8275" y="2480310"/>
            <a:ext cx="6826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787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69500" y="2480310"/>
            <a:ext cx="62547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539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709275" y="2480310"/>
            <a:ext cx="911225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10823575" y="2480310"/>
            <a:ext cx="6826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-248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67450" y="2480310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81750" y="2755582"/>
            <a:ext cx="244792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/blog/tomb-raider-oyun-sirasi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58275" y="2755582"/>
            <a:ext cx="6826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344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69500" y="2755582"/>
            <a:ext cx="62547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254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709275" y="2755582"/>
            <a:ext cx="911225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10823575" y="2755582"/>
            <a:ext cx="6826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-90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67450" y="2755582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81750" y="3030855"/>
            <a:ext cx="244792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/blog/007-first-light-fiyati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58275" y="3030855"/>
            <a:ext cx="6826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90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69500" y="3030855"/>
            <a:ext cx="62547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709275" y="3030855"/>
            <a:ext cx="911225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10823575" y="3030855"/>
            <a:ext cx="6826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-80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267450" y="3030855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81750" y="3306127"/>
            <a:ext cx="244792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/firsatlar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58275" y="3306127"/>
            <a:ext cx="6826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457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969500" y="3306127"/>
            <a:ext cx="62547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384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709275" y="3306127"/>
            <a:ext cx="911225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10823575" y="3306127"/>
            <a:ext cx="6826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-73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67450" y="3306127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267450" y="3581400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71500" y="3886200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19150" y="3886200"/>
            <a:ext cx="108013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1">
                <a:solidFill>
                  <a:srgbClr val="FF7B52"/>
                </a:solidFill>
                <a:latin typeface="Bricolage Grotesque"/>
              </a:rPr>
              <a:t>/ubisoft</a:t>
            </a:r>
            <a:r>
              <a:rPr sz="1050" b="0">
                <a:solidFill>
                  <a:srgbClr val="10332F"/>
                </a:solidFill>
                <a:latin typeface="Outfit"/>
              </a:rPr>
              <a:t> sayfası 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+275</a:t>
            </a:r>
            <a:r>
              <a:rPr sz="1050" b="0">
                <a:solidFill>
                  <a:srgbClr val="10332F"/>
                </a:solidFill>
                <a:latin typeface="Outfit"/>
              </a:rPr>
              <a:t> click ile en yüksek oransal artışı göstermiştir (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+%283.5</a:t>
            </a:r>
            <a:r>
              <a:rPr sz="1050" b="0">
                <a:solidFill>
                  <a:srgbClr val="10332F"/>
                </a:solidFill>
                <a:latin typeface="Outfit"/>
              </a:rPr>
              <a:t>); paketler sayfası da 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+88</a:t>
            </a:r>
            <a:r>
              <a:rPr sz="1050" b="0">
                <a:solidFill>
                  <a:srgbClr val="10332F"/>
                </a:solidFill>
                <a:latin typeface="Outfit"/>
              </a:rPr>
              <a:t> click eklemiştir.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71500" y="4200525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9150" y="4200525"/>
            <a:ext cx="108013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En büyük düşüş </a:t>
            </a:r>
            <a:r>
              <a:rPr sz="1050" b="1">
                <a:solidFill>
                  <a:srgbClr val="FF7B52"/>
                </a:solidFill>
                <a:latin typeface="Bricolage Grotesque"/>
              </a:rPr>
              <a:t>/gfn/oyunlar/oynamasi-ucretsiz</a:t>
            </a:r>
            <a:r>
              <a:rPr sz="1050" b="0">
                <a:solidFill>
                  <a:srgbClr val="10332F"/>
                </a:solidFill>
                <a:latin typeface="Outfit"/>
              </a:rPr>
              <a:t> sayfasındadır (</a:t>
            </a:r>
            <a:r>
              <a:rPr sz="1050" b="1">
                <a:solidFill>
                  <a:srgbClr val="D32F2F"/>
                </a:solidFill>
                <a:latin typeface="Bricolage Grotesque"/>
              </a:rPr>
              <a:t>-743</a:t>
            </a:r>
            <a:r>
              <a:rPr sz="1050" b="0">
                <a:solidFill>
                  <a:srgbClr val="10332F"/>
                </a:solidFill>
                <a:latin typeface="Outfit"/>
              </a:rPr>
              <a:t>); aynı sayfada pozisyon </a:t>
            </a:r>
            <a:r>
              <a:rPr sz="1050" b="1">
                <a:solidFill>
                  <a:srgbClr val="D32F2F"/>
                </a:solidFill>
                <a:latin typeface="Bricolage Grotesque"/>
              </a:rPr>
              <a:t>9.9 → 11.1</a:t>
            </a:r>
            <a:r>
              <a:rPr sz="1050" b="0">
                <a:solidFill>
                  <a:srgbClr val="10332F"/>
                </a:solidFill>
                <a:latin typeface="Outfit"/>
              </a:rPr>
              <a:t> gerilemiştir.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12" y="2438400"/>
            <a:ext cx="2581275" cy="190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0" b="1">
                <a:solidFill>
                  <a:srgbClr val="254E49"/>
                </a:solidFill>
                <a:latin typeface="Bricolage Grotesque"/>
              </a:rPr>
              <a:t>03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891212" y="2841879"/>
            <a:ext cx="409575" cy="104775"/>
          </a:xfrm>
          <a:prstGeom prst="roundRect">
            <a:avLst>
              <a:gd name="adj" fmla="val 27272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962400" y="3175254"/>
            <a:ext cx="4267200" cy="5074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3700" b="1">
                <a:solidFill>
                  <a:srgbClr val="FEFEF7"/>
                </a:solidFill>
                <a:latin typeface="Bricolage Grotesque"/>
              </a:rPr>
              <a:t>SSR Geçişi Etkisi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1212" y="3911346"/>
            <a:ext cx="409575" cy="104775"/>
          </a:xfrm>
          <a:prstGeom prst="roundRect">
            <a:avLst>
              <a:gd name="adj" fmla="val 27272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SSR GEÇİŞİ</a:t>
            </a:r>
            <a:r>
              <a:rPr sz="1000" b="0">
                <a:solidFill>
                  <a:srgbClr val="FF7B52"/>
                </a:solidFill>
                <a:latin typeface="Outfit"/>
              </a:rPr>
              <a:t>  |  </a:t>
            </a:r>
            <a:r>
              <a:rPr sz="1000" b="0">
                <a:solidFill>
                  <a:srgbClr val="FF7B52"/>
                </a:solidFill>
                <a:latin typeface="Outfit"/>
              </a:rPr>
              <a:t>Öncesi ve Sonrası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11049000" cy="394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332F"/>
                </a:solidFill>
                <a:latin typeface="Bricolage Grotesque"/>
              </a:rPr>
              <a:t>SSR Geçişi Öncesi ve Sonrası Organik Performans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785"/>
            <a:ext cx="1104900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A4A"/>
                </a:solidFill>
                <a:latin typeface="Outfit"/>
              </a:rPr>
              <a:t>Geçiş: 8-14 Şubat 2026 | simetrik 180'er günlük pencere, geçiş haftası hariç</a:t>
            </a:r>
          </a:p>
        </p:txBody>
      </p:sp>
      <p:pic>
        <p:nvPicPr>
          <p:cNvPr id="5" name="Picture 4" descr="inbound-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210300"/>
            <a:ext cx="342900" cy="3429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500" y="6267450"/>
            <a:ext cx="3705225" cy="209550"/>
          </a:xfrm>
          <a:prstGeom prst="roundRect">
            <a:avLst>
              <a:gd name="adj" fmla="val 36363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Bricolage Grotesque"/>
              </a:rPr>
              <a:t>Kaynak: Google Search Console - sc-domain:gameplus.com.tr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560695"/>
            <a:ext cx="11049000" cy="4972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Öncesi: 12 Ağu 2025 - 7 Şub 2026 (180 gün). Sonrası: 15 Şub - 13 Ağu 2026 (180 gün). Geçiş haftası iki pencereye de dahil edilmemiştir.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Grafik, geçişin 16 hafta öncesi ve 16 hafta sonrasını haftalık toplamlarla gösterir; hem bar hem pozisyon çizgisi rengindeki değişim geçiş haftasını işaretler. Pozisyon çizgisi ters eksenlidir, yükselen çizgi iyileşmedir. Kategori etiketleri ay başlarında verilmiştir.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701165"/>
            <a:ext cx="5353050" cy="228600"/>
          </a:xfrm>
          <a:prstGeom prst="rect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1165"/>
            <a:ext cx="81915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Metrik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3550" y="1701165"/>
            <a:ext cx="116205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Öncesi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4200" y="1701165"/>
            <a:ext cx="1219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Sonrası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01165"/>
            <a:ext cx="123825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Değişim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29765"/>
            <a:ext cx="8191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Click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3550" y="1929765"/>
            <a:ext cx="11620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114.2K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4200" y="1929765"/>
            <a:ext cx="121920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144.1K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7700" y="1929765"/>
            <a:ext cx="146685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72000" y="1929765"/>
            <a:ext cx="12382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+%26.2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929765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205038"/>
            <a:ext cx="8191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Impression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3550" y="2205038"/>
            <a:ext cx="11620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2.59M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4200" y="2205038"/>
            <a:ext cx="121920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4.26M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7700" y="2205038"/>
            <a:ext cx="146685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0" y="2205038"/>
            <a:ext cx="12382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+%64.7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2205038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480310"/>
            <a:ext cx="8191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3550" y="2480310"/>
            <a:ext cx="11620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%4.42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4200" y="2480310"/>
            <a:ext cx="121920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%3.38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57700" y="2480310"/>
            <a:ext cx="1466850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0" y="2480310"/>
            <a:ext cx="12382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-1.03p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2480310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755582"/>
            <a:ext cx="8191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Ort. pozisyon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3550" y="2755582"/>
            <a:ext cx="11620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12.09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24200" y="2755582"/>
            <a:ext cx="121920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7.60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57700" y="2755582"/>
            <a:ext cx="146685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0" y="2755582"/>
            <a:ext cx="12382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+4.49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1500" y="2755582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1500" y="3030855"/>
            <a:ext cx="535305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7450" y="1701165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5100" y="1701165"/>
            <a:ext cx="5105400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Geçiş sonrası impression 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+%64.7</a:t>
            </a:r>
            <a:r>
              <a:rPr sz="1050" b="0">
                <a:solidFill>
                  <a:srgbClr val="10332F"/>
                </a:solidFill>
                <a:latin typeface="Outfit"/>
              </a:rPr>
              <a:t>, click 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+%26.2</a:t>
            </a:r>
            <a:r>
              <a:rPr sz="1050" b="0">
                <a:solidFill>
                  <a:srgbClr val="10332F"/>
                </a:solidFill>
                <a:latin typeface="Outfit"/>
              </a:rPr>
              <a:t> artmış; ortalama pozisyon 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12.09 → 7.60</a:t>
            </a:r>
            <a:r>
              <a:rPr sz="1050" b="0">
                <a:solidFill>
                  <a:srgbClr val="10332F"/>
                </a:solidFill>
                <a:latin typeface="Outfit"/>
              </a:rPr>
              <a:t> ile 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4.49 puan</a:t>
            </a:r>
            <a:r>
              <a:rPr sz="1050" b="0">
                <a:solidFill>
                  <a:srgbClr val="10332F"/>
                </a:solidFill>
                <a:latin typeface="Outfit"/>
              </a:rPr>
              <a:t> iyileşmiştir.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7450" y="2215515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5100" y="2215515"/>
            <a:ext cx="5105400" cy="600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CTR </a:t>
            </a:r>
            <a:r>
              <a:rPr sz="1050" b="1">
                <a:solidFill>
                  <a:srgbClr val="D32F2F"/>
                </a:solidFill>
                <a:latin typeface="Bricolage Grotesque"/>
              </a:rPr>
              <a:t>-1.03p</a:t>
            </a:r>
            <a:r>
              <a:rPr sz="1050" b="0">
                <a:solidFill>
                  <a:srgbClr val="10332F"/>
                </a:solidFill>
                <a:latin typeface="Outfit"/>
              </a:rPr>
              <a:t> gerilemiştir. Gösterim tıklamadan hızlı büyüdüğü için oran düşmüştür; ayrıca aynı dönemde </a:t>
            </a:r>
            <a:r>
              <a:rPr sz="1050" b="1">
                <a:solidFill>
                  <a:srgbClr val="FF7B52"/>
                </a:solidFill>
                <a:latin typeface="Bricolage Grotesque"/>
              </a:rPr>
              <a:t>AI Overview</a:t>
            </a:r>
            <a:r>
              <a:rPr sz="1050" b="0">
                <a:solidFill>
                  <a:srgbClr val="10332F"/>
                </a:solidFill>
                <a:latin typeface="Outfit"/>
              </a:rPr>
              <a:t> sonuç sayfalarında yaygınlaşmış ve klasik sonuç listesinin üstünde yer almaya başlamıştır. İki etki birlikte okunmalıdır.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43250" y="337375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314700" y="3354705"/>
            <a:ext cx="9334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Click · SSR öncesi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19600" y="337375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591050" y="3354705"/>
            <a:ext cx="98107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Click · SSR sonrası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43575" y="3411855"/>
            <a:ext cx="133350" cy="28575"/>
          </a:xfrm>
          <a:prstGeom prst="roundRect">
            <a:avLst>
              <a:gd name="adj" fmla="val 50000"/>
            </a:avLst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5786438" y="3388042"/>
            <a:ext cx="76200" cy="76200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15025" y="3354705"/>
            <a:ext cx="140017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Ort. pozisyon · SSR öncesi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86650" y="3411855"/>
            <a:ext cx="133350" cy="28575"/>
          </a:xfrm>
          <a:prstGeom prst="roundRect">
            <a:avLst>
              <a:gd name="adj" fmla="val 50000"/>
            </a:avLst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7529512" y="3388042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58100" y="3354705"/>
            <a:ext cx="144780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Ort. pozisyon · SSR sonrası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85850" y="4840605"/>
            <a:ext cx="100203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1500" y="477393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82350" y="477393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14.0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85850" y="4516755"/>
            <a:ext cx="1002030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1500" y="445008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2.0K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82350" y="445008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11.9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85850" y="4192905"/>
            <a:ext cx="1002030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1500" y="412623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3.9K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82350" y="412623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9.9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85850" y="3869055"/>
            <a:ext cx="1002030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1500" y="380238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5.9K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82350" y="380238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7.8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85850" y="3545205"/>
            <a:ext cx="1002030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1500" y="347853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7.8K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82350" y="347853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5.8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85285" y="4271515"/>
            <a:ext cx="104775" cy="56909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1488931" y="4164479"/>
            <a:ext cx="104775" cy="676126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1792576" y="4134536"/>
            <a:ext cx="104775" cy="706069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2096222" y="4018567"/>
            <a:ext cx="104775" cy="82203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2399867" y="4070183"/>
            <a:ext cx="104775" cy="770422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2703512" y="3938498"/>
            <a:ext cx="104775" cy="902107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3007158" y="3976216"/>
            <a:ext cx="104775" cy="864389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3310803" y="3748580"/>
            <a:ext cx="104775" cy="109202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3614449" y="3888206"/>
            <a:ext cx="104775" cy="952399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3918094" y="3914841"/>
            <a:ext cx="104775" cy="92576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4221740" y="3831297"/>
            <a:ext cx="104775" cy="100930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4525385" y="3983826"/>
            <a:ext cx="104775" cy="856779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4829031" y="3939987"/>
            <a:ext cx="104775" cy="90061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5132676" y="3961162"/>
            <a:ext cx="104775" cy="879443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5436322" y="4056286"/>
            <a:ext cx="104775" cy="784319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5739967" y="4150418"/>
            <a:ext cx="104775" cy="690187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6043612" y="4840605"/>
            <a:ext cx="104775" cy="952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6347258" y="4840605"/>
            <a:ext cx="104775" cy="952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6650903" y="4840605"/>
            <a:ext cx="104775" cy="952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6954549" y="4840605"/>
            <a:ext cx="104775" cy="952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7258194" y="4840605"/>
            <a:ext cx="104775" cy="952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7561840" y="4840605"/>
            <a:ext cx="104775" cy="952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865485" y="4840605"/>
            <a:ext cx="104775" cy="952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8169131" y="4840605"/>
            <a:ext cx="104775" cy="952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8472776" y="4840605"/>
            <a:ext cx="104775" cy="952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8776422" y="4840605"/>
            <a:ext cx="104775" cy="952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9080067" y="4840605"/>
            <a:ext cx="104775" cy="952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9383712" y="4840605"/>
            <a:ext cx="104775" cy="952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9687358" y="4840605"/>
            <a:ext cx="104775" cy="952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9991003" y="4840605"/>
            <a:ext cx="104775" cy="952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10294649" y="4840605"/>
            <a:ext cx="104775" cy="952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10598294" y="4840605"/>
            <a:ext cx="104775" cy="952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10901940" y="4840605"/>
            <a:ext cx="104775" cy="952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1185285" y="4840605"/>
            <a:ext cx="104775" cy="9525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1488931" y="4840605"/>
            <a:ext cx="104775" cy="9525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1792576" y="4840605"/>
            <a:ext cx="104775" cy="9525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2096222" y="4840605"/>
            <a:ext cx="104775" cy="9525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2399867" y="4840605"/>
            <a:ext cx="104775" cy="9525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2703512" y="4840605"/>
            <a:ext cx="104775" cy="9525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3007158" y="4840605"/>
            <a:ext cx="104775" cy="9525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3310803" y="4840605"/>
            <a:ext cx="104775" cy="9525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3614449" y="4840605"/>
            <a:ext cx="104775" cy="9525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3918094" y="4840605"/>
            <a:ext cx="104775" cy="9525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4221740" y="4840605"/>
            <a:ext cx="104775" cy="9525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4525385" y="4840605"/>
            <a:ext cx="104775" cy="9525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4829031" y="4840605"/>
            <a:ext cx="104775" cy="9525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5132676" y="4840605"/>
            <a:ext cx="104775" cy="9525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5436322" y="4840605"/>
            <a:ext cx="104775" cy="9525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5739967" y="4840605"/>
            <a:ext cx="104775" cy="9525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6043612" y="4064889"/>
            <a:ext cx="104775" cy="775716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6347258" y="4078785"/>
            <a:ext cx="104775" cy="761820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6650903" y="3982503"/>
            <a:ext cx="104775" cy="858102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ectangle 118"/>
          <p:cNvSpPr/>
          <p:nvPr/>
        </p:nvSpPr>
        <p:spPr>
          <a:xfrm>
            <a:off x="6954549" y="3962485"/>
            <a:ext cx="104775" cy="878120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Rectangle 119"/>
          <p:cNvSpPr/>
          <p:nvPr/>
        </p:nvSpPr>
        <p:spPr>
          <a:xfrm>
            <a:off x="7258194" y="4055955"/>
            <a:ext cx="104775" cy="784650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ectangle 120"/>
          <p:cNvSpPr/>
          <p:nvPr/>
        </p:nvSpPr>
        <p:spPr>
          <a:xfrm>
            <a:off x="7561840" y="3722607"/>
            <a:ext cx="104775" cy="1117998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Rectangle 121"/>
          <p:cNvSpPr/>
          <p:nvPr/>
        </p:nvSpPr>
        <p:spPr>
          <a:xfrm>
            <a:off x="7865485" y="3772072"/>
            <a:ext cx="104775" cy="1068533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8169131" y="3802512"/>
            <a:ext cx="104775" cy="1038093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8472776" y="3838907"/>
            <a:ext cx="104775" cy="1001698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8776422" y="3826665"/>
            <a:ext cx="104775" cy="1013940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ectangle 125"/>
          <p:cNvSpPr/>
          <p:nvPr/>
        </p:nvSpPr>
        <p:spPr>
          <a:xfrm>
            <a:off x="9080067" y="3824845"/>
            <a:ext cx="104775" cy="1015760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ectangle 126"/>
          <p:cNvSpPr/>
          <p:nvPr/>
        </p:nvSpPr>
        <p:spPr>
          <a:xfrm>
            <a:off x="9383712" y="3714170"/>
            <a:ext cx="104775" cy="1126435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ectangle 127"/>
          <p:cNvSpPr/>
          <p:nvPr/>
        </p:nvSpPr>
        <p:spPr>
          <a:xfrm>
            <a:off x="9687358" y="3849495"/>
            <a:ext cx="104775" cy="991110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9991003" y="3850156"/>
            <a:ext cx="104775" cy="990449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10294649" y="3779516"/>
            <a:ext cx="104775" cy="1061089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10598294" y="3745933"/>
            <a:ext cx="104775" cy="1094672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10901940" y="3986473"/>
            <a:ext cx="104775" cy="854132"/>
          </a:xfrm>
          <a:prstGeom prst="rect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Freeform 132"/>
          <p:cNvSpPr/>
          <p:nvPr/>
        </p:nvSpPr>
        <p:spPr>
          <a:xfrm>
            <a:off x="1237673" y="3800503"/>
            <a:ext cx="4554682" cy="803715"/>
          </a:xfrm>
          <a:custGeom>
            <a:avLst/>
            <a:gdLst/>
            <a:ahLst/>
            <a:cxnLst/>
            <a:rect l="l" t="t" r="r" b="b"/>
            <a:pathLst>
              <a:path w="4554682" h="803715">
                <a:moveTo>
                  <a:pt x="0" y="0"/>
                </a:moveTo>
                <a:lnTo>
                  <a:pt x="303645" y="110314"/>
                </a:lnTo>
                <a:lnTo>
                  <a:pt x="607291" y="0"/>
                </a:lnTo>
                <a:lnTo>
                  <a:pt x="910936" y="141832"/>
                </a:lnTo>
                <a:lnTo>
                  <a:pt x="1214582" y="126073"/>
                </a:lnTo>
                <a:lnTo>
                  <a:pt x="1518227" y="173350"/>
                </a:lnTo>
                <a:lnTo>
                  <a:pt x="1821872" y="409737"/>
                </a:lnTo>
                <a:lnTo>
                  <a:pt x="2125518" y="772197"/>
                </a:lnTo>
                <a:lnTo>
                  <a:pt x="2429163" y="803715"/>
                </a:lnTo>
                <a:lnTo>
                  <a:pt x="2732809" y="457014"/>
                </a:lnTo>
                <a:lnTo>
                  <a:pt x="3036454" y="378219"/>
                </a:lnTo>
                <a:lnTo>
                  <a:pt x="3340100" y="740679"/>
                </a:lnTo>
                <a:lnTo>
                  <a:pt x="3643745" y="630365"/>
                </a:lnTo>
                <a:lnTo>
                  <a:pt x="3947391" y="630365"/>
                </a:lnTo>
                <a:lnTo>
                  <a:pt x="4251036" y="661883"/>
                </a:lnTo>
                <a:lnTo>
                  <a:pt x="4554682" y="520051"/>
                </a:lnTo>
              </a:path>
            </a:pathLst>
          </a:custGeom>
          <a:noFill/>
          <a:ln w="285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99573" y="3762403"/>
            <a:ext cx="76200" cy="76200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503218" y="3872717"/>
            <a:ext cx="76200" cy="76200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806864" y="3762403"/>
            <a:ext cx="76200" cy="76200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110509" y="3904235"/>
            <a:ext cx="76200" cy="76200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2414155" y="3888476"/>
            <a:ext cx="76200" cy="76200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2717800" y="3935753"/>
            <a:ext cx="76200" cy="76200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3021445" y="4172140"/>
            <a:ext cx="76200" cy="76200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3325091" y="4534600"/>
            <a:ext cx="76200" cy="76200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3628736" y="4566118"/>
            <a:ext cx="76200" cy="76200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3932382" y="4219417"/>
            <a:ext cx="76200" cy="76200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4236027" y="4140622"/>
            <a:ext cx="76200" cy="76200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4539673" y="4503082"/>
            <a:ext cx="76200" cy="76200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4843318" y="4392768"/>
            <a:ext cx="76200" cy="76200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5146964" y="4392768"/>
            <a:ext cx="76200" cy="76200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5450609" y="4424286"/>
            <a:ext cx="76200" cy="76200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5754255" y="4282454"/>
            <a:ext cx="76200" cy="76200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5792355" y="3705948"/>
            <a:ext cx="5161972" cy="614606"/>
          </a:xfrm>
          <a:custGeom>
            <a:avLst/>
            <a:gdLst/>
            <a:ahLst/>
            <a:cxnLst/>
            <a:rect l="l" t="t" r="r" b="b"/>
            <a:pathLst>
              <a:path w="5161972" h="614606">
                <a:moveTo>
                  <a:pt x="0" y="614606"/>
                </a:moveTo>
                <a:lnTo>
                  <a:pt x="303645" y="362460"/>
                </a:lnTo>
                <a:lnTo>
                  <a:pt x="607290" y="346701"/>
                </a:lnTo>
                <a:lnTo>
                  <a:pt x="910936" y="504292"/>
                </a:lnTo>
                <a:lnTo>
                  <a:pt x="1214581" y="378219"/>
                </a:lnTo>
                <a:lnTo>
                  <a:pt x="1518227" y="78796"/>
                </a:lnTo>
                <a:lnTo>
                  <a:pt x="1821872" y="78796"/>
                </a:lnTo>
                <a:lnTo>
                  <a:pt x="2125518" y="173350"/>
                </a:lnTo>
                <a:lnTo>
                  <a:pt x="2429163" y="173350"/>
                </a:lnTo>
                <a:lnTo>
                  <a:pt x="2732809" y="236387"/>
                </a:lnTo>
                <a:lnTo>
                  <a:pt x="3036454" y="299423"/>
                </a:lnTo>
                <a:lnTo>
                  <a:pt x="3340100" y="267905"/>
                </a:lnTo>
                <a:lnTo>
                  <a:pt x="3643745" y="299423"/>
                </a:lnTo>
                <a:lnTo>
                  <a:pt x="3947390" y="362460"/>
                </a:lnTo>
                <a:lnTo>
                  <a:pt x="4251036" y="141832"/>
                </a:lnTo>
                <a:lnTo>
                  <a:pt x="4554681" y="0"/>
                </a:lnTo>
                <a:lnTo>
                  <a:pt x="4858327" y="0"/>
                </a:lnTo>
                <a:lnTo>
                  <a:pt x="5161972" y="15759"/>
                </a:lnTo>
              </a:path>
            </a:pathLst>
          </a:custGeom>
          <a:noFill/>
          <a:ln w="28575">
            <a:solidFill>
              <a:srgbClr val="103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754255" y="4282454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057900" y="4030308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361545" y="4014549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665191" y="4172140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968836" y="4046067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7272482" y="3746644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576127" y="3746644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879773" y="3841198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8183418" y="3841198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8487064" y="3904235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8790709" y="3967271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9094355" y="3935753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9398000" y="3967271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701645" y="4030308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005291" y="3809680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308936" y="3667848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0612582" y="3667848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0916227" y="3683607"/>
            <a:ext cx="76200" cy="76200"/>
          </a:xfrm>
          <a:prstGeom prst="ellipse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085850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389495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693141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Kas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996786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300432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604077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907723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Ara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211368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515014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818659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122305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425950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Oca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729595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033241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336886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640532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Şub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944177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247823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551468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855114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Mar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7158759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7462405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7766050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069695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373341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Nis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8676986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8980632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284277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9587923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May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9891568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0195214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0498859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/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802505" y="4888230"/>
            <a:ext cx="303645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Haz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912" y="2438400"/>
            <a:ext cx="2657475" cy="190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0" b="1">
                <a:solidFill>
                  <a:srgbClr val="254E49"/>
                </a:solidFill>
                <a:latin typeface="Bricolage Grotesque"/>
              </a:rPr>
              <a:t>04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891212" y="2841879"/>
            <a:ext cx="409575" cy="104775"/>
          </a:xfrm>
          <a:prstGeom prst="roundRect">
            <a:avLst>
              <a:gd name="adj" fmla="val 27272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629150" y="3175254"/>
            <a:ext cx="2933700" cy="5074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3700" b="1">
                <a:solidFill>
                  <a:srgbClr val="FEFEF7"/>
                </a:solidFill>
                <a:latin typeface="Bricolage Grotesque"/>
              </a:rPr>
              <a:t>GA4 Trafik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1212" y="3911346"/>
            <a:ext cx="409575" cy="104775"/>
          </a:xfrm>
          <a:prstGeom prst="roundRect">
            <a:avLst>
              <a:gd name="adj" fmla="val 27272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GA4</a:t>
            </a:r>
            <a:r>
              <a:rPr sz="1000" b="0">
                <a:solidFill>
                  <a:srgbClr val="FF7B52"/>
                </a:solidFill>
                <a:latin typeface="Outfit"/>
              </a:rPr>
              <a:t>  |  </a:t>
            </a:r>
            <a:r>
              <a:rPr sz="1000" b="0">
                <a:solidFill>
                  <a:srgbClr val="FF7B52"/>
                </a:solidFill>
                <a:latin typeface="Outfit"/>
              </a:rPr>
              <a:t>Aylık Trafik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11049000" cy="394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332F"/>
                </a:solidFill>
                <a:latin typeface="Bricolage Grotesque"/>
              </a:rPr>
              <a:t>Toplam ve Organik Session Aylık Seyri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785"/>
            <a:ext cx="1104900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A4A"/>
                </a:solidFill>
                <a:latin typeface="Outfit"/>
              </a:rPr>
              <a:t>Tem 2025 - Tem 2026 | GA4 tüm kanallar ve Organic Search</a:t>
            </a:r>
          </a:p>
        </p:txBody>
      </p:sp>
      <p:pic>
        <p:nvPicPr>
          <p:cNvPr id="5" name="Picture 4" descr="inbound-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210300"/>
            <a:ext cx="342900" cy="3429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500" y="6267450"/>
            <a:ext cx="1809750" cy="209550"/>
          </a:xfrm>
          <a:prstGeom prst="roundRect">
            <a:avLst>
              <a:gd name="adj" fmla="val 36363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Bricolage Grotesque"/>
              </a:rPr>
              <a:t>Kaynak: GA4 - Cloud Gaming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26430"/>
            <a:ext cx="11049000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Tarama aracı kaynaklı bozuk landing page kayıtları ayıklanmıştır; ayrıntı blog slaytının dipnotundadır.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Isı haritasında satırın en yüksek ayı yeşil, en düşük ayı kırmızı gösterilmektedir.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62525" y="173926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133975" y="1720215"/>
            <a:ext cx="88582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Toplam session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1250" y="1777365"/>
            <a:ext cx="133350" cy="28575"/>
          </a:xfrm>
          <a:prstGeom prst="roundRect">
            <a:avLst>
              <a:gd name="adj" fmla="val 50000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234112" y="1753553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2700" y="1720215"/>
            <a:ext cx="92392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Organik 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5850" y="3320415"/>
            <a:ext cx="100203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" y="32537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2350" y="32537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5850" y="2967990"/>
            <a:ext cx="1002030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2901315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262.0K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2350" y="2901315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15.5K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5850" y="2615565"/>
            <a:ext cx="1002030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" y="254889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524.0K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2350" y="254889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31.0K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5850" y="2263140"/>
            <a:ext cx="1002030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" y="2196465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785.9K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2196465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46.5K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5850" y="1910715"/>
            <a:ext cx="1002030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" y="18440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1.0M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2350" y="18440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62.0K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28371" y="2362700"/>
            <a:ext cx="285750" cy="95771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2099163" y="2291182"/>
            <a:ext cx="285750" cy="1029233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2869956" y="2397647"/>
            <a:ext cx="285750" cy="92276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640748" y="2404704"/>
            <a:ext cx="285750" cy="915711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4411540" y="2132763"/>
            <a:ext cx="285750" cy="1187652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182333" y="2094589"/>
            <a:ext cx="285750" cy="1225826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5953125" y="2109810"/>
            <a:ext cx="285750" cy="121060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723917" y="2334451"/>
            <a:ext cx="285750" cy="98596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494710" y="2483071"/>
            <a:ext cx="285750" cy="83734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265502" y="2582413"/>
            <a:ext cx="285750" cy="738002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9036294" y="2668995"/>
            <a:ext cx="285750" cy="65142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807087" y="2780056"/>
            <a:ext cx="285750" cy="540359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10577879" y="2733619"/>
            <a:ext cx="285750" cy="586796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Freeform 40"/>
          <p:cNvSpPr/>
          <p:nvPr/>
        </p:nvSpPr>
        <p:spPr>
          <a:xfrm>
            <a:off x="1471246" y="2094589"/>
            <a:ext cx="9249508" cy="438133"/>
          </a:xfrm>
          <a:custGeom>
            <a:avLst/>
            <a:gdLst/>
            <a:ahLst/>
            <a:cxnLst/>
            <a:rect l="l" t="t" r="r" b="b"/>
            <a:pathLst>
              <a:path w="9249508" h="438133">
                <a:moveTo>
                  <a:pt x="0" y="408859"/>
                </a:moveTo>
                <a:lnTo>
                  <a:pt x="770792" y="126733"/>
                </a:lnTo>
                <a:lnTo>
                  <a:pt x="1541585" y="437837"/>
                </a:lnTo>
                <a:lnTo>
                  <a:pt x="2312377" y="343879"/>
                </a:lnTo>
                <a:lnTo>
                  <a:pt x="3083169" y="168462"/>
                </a:lnTo>
                <a:lnTo>
                  <a:pt x="3853962" y="55821"/>
                </a:lnTo>
                <a:lnTo>
                  <a:pt x="4624754" y="0"/>
                </a:lnTo>
                <a:lnTo>
                  <a:pt x="5395546" y="391653"/>
                </a:lnTo>
                <a:lnTo>
                  <a:pt x="6166339" y="234101"/>
                </a:lnTo>
                <a:lnTo>
                  <a:pt x="6937131" y="334583"/>
                </a:lnTo>
                <a:lnTo>
                  <a:pt x="7707923" y="275444"/>
                </a:lnTo>
                <a:lnTo>
                  <a:pt x="8478716" y="438133"/>
                </a:lnTo>
                <a:lnTo>
                  <a:pt x="9249508" y="367857"/>
                </a:lnTo>
              </a:path>
            </a:pathLst>
          </a:custGeom>
          <a:noFill/>
          <a:ln w="28575">
            <a:solidFill>
              <a:srgbClr val="FF7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433146" y="2465348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203938" y="2183222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74731" y="2494326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745523" y="2400368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516315" y="2224951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287108" y="2112310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057900" y="2056489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28692" y="2448142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599485" y="2290590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370277" y="2391072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141069" y="2331933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11862" y="2494622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682654" y="2424346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5850" y="33680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Tem'25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56642" y="33680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Ağu'25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27435" y="33680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Eyl'25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98227" y="33680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Eki'25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69019" y="33680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Kas'25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39812" y="33680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Ara'25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10604" y="33680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Oca'26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81396" y="33680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Şub'26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52188" y="33680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Mar'26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22981" y="33680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Nis'26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93773" y="33680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May'26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64565" y="33680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Haz'26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35358" y="33680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Tem'26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71500" y="3796665"/>
            <a:ext cx="11049000" cy="228600"/>
          </a:xfrm>
          <a:prstGeom prst="rect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685800" y="3796665"/>
            <a:ext cx="48577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Metrik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00175" y="3796665"/>
            <a:ext cx="587619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Tem'25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16394" y="3796665"/>
            <a:ext cx="568569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Ağu'25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013563" y="3796665"/>
            <a:ext cx="549519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Eyl'25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791683" y="3796665"/>
            <a:ext cx="568569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Eki'25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88852" y="3796665"/>
            <a:ext cx="549519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Kas'25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66971" y="3796665"/>
            <a:ext cx="539994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Ara'25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35565" y="3796665"/>
            <a:ext cx="568569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Oca'26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32735" y="3796665"/>
            <a:ext cx="568569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Şub'26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29904" y="3796665"/>
            <a:ext cx="568569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Mar'26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27073" y="3796665"/>
            <a:ext cx="549519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Nis'26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05192" y="3796665"/>
            <a:ext cx="587619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May'26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21412" y="3796665"/>
            <a:ext cx="559044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Haz'26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909056" y="3796665"/>
            <a:ext cx="597144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Tem'26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" y="4025265"/>
            <a:ext cx="48577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Toplam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00175" y="4025265"/>
            <a:ext cx="5876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711.9K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16394" y="4025265"/>
            <a:ext cx="56856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765.1K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013563" y="4025265"/>
            <a:ext cx="5495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685.9K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791683" y="4025265"/>
            <a:ext cx="56856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680.7K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88852" y="4025265"/>
            <a:ext cx="5495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882.8K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252671" y="4025265"/>
            <a:ext cx="768594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5366971" y="4025265"/>
            <a:ext cx="5399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911.2K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35565" y="4025265"/>
            <a:ext cx="56856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899.9K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32735" y="4025265"/>
            <a:ext cx="56856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732.9K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29904" y="4025265"/>
            <a:ext cx="56856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622.4K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527073" y="4025265"/>
            <a:ext cx="5495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548.6K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305192" y="4025265"/>
            <a:ext cx="5876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484.2K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007112" y="4025265"/>
            <a:ext cx="787644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10121412" y="4025265"/>
            <a:ext cx="55904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401.7K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909056" y="4025265"/>
            <a:ext cx="59714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436.2K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71500" y="402526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85800" y="4300538"/>
            <a:ext cx="48577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Organik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400175" y="4300538"/>
            <a:ext cx="5876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35.9K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216394" y="4300538"/>
            <a:ext cx="56856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48.4K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899263" y="4300538"/>
            <a:ext cx="778119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3013563" y="4300538"/>
            <a:ext cx="5495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34.7K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791683" y="4300538"/>
            <a:ext cx="56856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38.8K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88852" y="4300538"/>
            <a:ext cx="5495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46.5K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366971" y="4300538"/>
            <a:ext cx="5399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51.5K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021265" y="4300538"/>
            <a:ext cx="797169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6135565" y="4300538"/>
            <a:ext cx="56856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53.9K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932735" y="4300538"/>
            <a:ext cx="56856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36.7K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729904" y="4300538"/>
            <a:ext cx="56856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43.6K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527073" y="4300538"/>
            <a:ext cx="5495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39.2K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305192" y="4300538"/>
            <a:ext cx="5876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41.8K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07112" y="4300538"/>
            <a:ext cx="787644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10121412" y="4300538"/>
            <a:ext cx="55904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34.7K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09056" y="4300538"/>
            <a:ext cx="59714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37.7K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71500" y="4300538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71500" y="457581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71500" y="4861560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19150" y="4861560"/>
            <a:ext cx="108013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Toplam session Temmuz'da </a:t>
            </a:r>
            <a:r>
              <a:rPr sz="1050" b="1">
                <a:solidFill>
                  <a:srgbClr val="10332F"/>
                </a:solidFill>
                <a:latin typeface="Bricolage Grotesque"/>
              </a:rPr>
              <a:t>436.2K</a:t>
            </a:r>
            <a:r>
              <a:rPr sz="1050" b="0">
                <a:solidFill>
                  <a:srgbClr val="10332F"/>
                </a:solidFill>
                <a:latin typeface="Outfit"/>
              </a:rPr>
              <a:t> ile MoM 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+%8.6</a:t>
            </a:r>
            <a:r>
              <a:rPr sz="1050" b="0">
                <a:solidFill>
                  <a:srgbClr val="10332F"/>
                </a:solidFill>
                <a:latin typeface="Outfit"/>
              </a:rPr>
              <a:t>, YoY </a:t>
            </a:r>
            <a:r>
              <a:rPr sz="1050" b="1">
                <a:solidFill>
                  <a:srgbClr val="D32F2F"/>
                </a:solidFill>
                <a:latin typeface="Bricolage Grotesque"/>
              </a:rPr>
              <a:t>-%38.7</a:t>
            </a:r>
            <a:r>
              <a:rPr sz="1050" b="0">
                <a:solidFill>
                  <a:srgbClr val="10332F"/>
                </a:solidFill>
                <a:latin typeface="Outfit"/>
              </a:rPr>
              <a:t> seviyesindedir; organik session </a:t>
            </a:r>
            <a:r>
              <a:rPr sz="1050" b="1">
                <a:solidFill>
                  <a:srgbClr val="10332F"/>
                </a:solidFill>
                <a:latin typeface="Bricolage Grotesque"/>
              </a:rPr>
              <a:t>37.7K</a:t>
            </a:r>
            <a:r>
              <a:rPr sz="1050" b="0">
                <a:solidFill>
                  <a:srgbClr val="10332F"/>
                </a:solidFill>
                <a:latin typeface="Outfit"/>
              </a:rPr>
              <a:t> ile YoY 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+%5.0</a:t>
            </a:r>
            <a:r>
              <a:rPr sz="1050" b="0">
                <a:solidFill>
                  <a:srgbClr val="10332F"/>
                </a:solidFill>
                <a:latin typeface="Outfit"/>
              </a:rPr>
              <a:t> artmıştır.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GA4</a:t>
            </a:r>
            <a:r>
              <a:rPr sz="1000" b="0">
                <a:solidFill>
                  <a:srgbClr val="FF7B52"/>
                </a:solidFill>
                <a:latin typeface="Outfit"/>
              </a:rPr>
              <a:t>  |  </a:t>
            </a:r>
            <a:r>
              <a:rPr sz="1000" b="0">
                <a:solidFill>
                  <a:srgbClr val="FF7B52"/>
                </a:solidFill>
                <a:latin typeface="Outfit"/>
              </a:rPr>
              <a:t>Kanal Dağılımı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11049000" cy="394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332F"/>
                </a:solidFill>
                <a:latin typeface="Bricolage Grotesque"/>
              </a:rPr>
              <a:t>Kanal Bazında Session ve Dönem Karşılaştırması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785"/>
            <a:ext cx="1104900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A4A"/>
                </a:solidFill>
                <a:latin typeface="Outfit"/>
              </a:rPr>
              <a:t>Temmuz 2026 | GA4 varsayılan kanal grubu | tüm oturumlar</a:t>
            </a:r>
          </a:p>
        </p:txBody>
      </p:sp>
      <p:pic>
        <p:nvPicPr>
          <p:cNvPr id="5" name="Picture 4" descr="inbound-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210300"/>
            <a:ext cx="342900" cy="3429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500" y="6267450"/>
            <a:ext cx="1809750" cy="209550"/>
          </a:xfrm>
          <a:prstGeom prst="roundRect">
            <a:avLst>
              <a:gd name="adj" fmla="val 36363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Bricolage Grotesque"/>
              </a:rPr>
              <a:t>Kaynak: GA4 - Cloud Gaming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892165"/>
            <a:ext cx="11049000" cy="1657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AI Assistant satırı yapay zeka kaynaklı trafik segmentinden alınmıştır. Toplam satırı GA4'te ölçülen tüm kanalları kapsar; hacmi 320 session'ın altında kalan dört kanal listelenmemiştir.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701165"/>
            <a:ext cx="11049000" cy="180975"/>
          </a:xfrm>
          <a:prstGeom prst="rect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1165"/>
            <a:ext cx="828675" cy="1809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Kanal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43075" y="1701165"/>
            <a:ext cx="1444625" cy="1809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Tem'26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6300" y="1701165"/>
            <a:ext cx="1435100" cy="1809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Haz'26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0" y="1701165"/>
            <a:ext cx="1435100" cy="1809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Tem'25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3700" y="1701165"/>
            <a:ext cx="1463675" cy="1809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MoM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5975" y="1701165"/>
            <a:ext cx="1435100" cy="1809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YoY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9675" y="1701165"/>
            <a:ext cx="1406525" cy="1809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Pay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882140"/>
            <a:ext cx="828675" cy="24955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Paid Social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43075" y="1882140"/>
            <a:ext cx="14446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135.799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6300" y="1882140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136.052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0" y="1882140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291.113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1882140"/>
            <a:ext cx="1692275" cy="249555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743700" y="1882140"/>
            <a:ext cx="146367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D32F2F"/>
                </a:solidFill>
                <a:latin typeface="Bricolage Grotesque"/>
              </a:rPr>
              <a:t>-%0.2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675" y="1882140"/>
            <a:ext cx="1663700" cy="249555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35975" y="1882140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D32F2F"/>
                </a:solidFill>
                <a:latin typeface="Bricolage Grotesque"/>
              </a:rPr>
              <a:t>-%53.4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99675" y="1882140"/>
            <a:ext cx="14065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%31.1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188214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131695"/>
            <a:ext cx="828675" cy="24955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Direct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43075" y="2131695"/>
            <a:ext cx="14446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104.955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6300" y="2131695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97.394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0000" y="2131695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126.543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2131695"/>
            <a:ext cx="1692275" cy="249555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743700" y="2131695"/>
            <a:ext cx="146367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2E7D32"/>
                </a:solidFill>
                <a:latin typeface="Bricolage Grotesque"/>
              </a:rPr>
              <a:t>+%7.8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675" y="2131695"/>
            <a:ext cx="1663700" cy="249555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435975" y="2131695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D32F2F"/>
                </a:solidFill>
                <a:latin typeface="Bricolage Grotesque"/>
              </a:rPr>
              <a:t>-%17.1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99675" y="2131695"/>
            <a:ext cx="14065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%24.1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" y="213169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2381250"/>
            <a:ext cx="828675" cy="24955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Cross-network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3075" y="2381250"/>
            <a:ext cx="14446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63.286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6300" y="2381250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49.935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80000" y="2381250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71.132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29400" y="2381250"/>
            <a:ext cx="1692275" cy="249555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743700" y="2381250"/>
            <a:ext cx="146367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2E7D32"/>
                </a:solidFill>
                <a:latin typeface="Bricolage Grotesque"/>
              </a:rPr>
              <a:t>+%26.7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21675" y="2381250"/>
            <a:ext cx="1663700" cy="249555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435975" y="2381250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D32F2F"/>
                </a:solidFill>
                <a:latin typeface="Bricolage Grotesque"/>
              </a:rPr>
              <a:t>-%11.0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99675" y="2381250"/>
            <a:ext cx="14065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%14.5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2630805"/>
            <a:ext cx="828675" cy="24955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Paid Search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43075" y="2630805"/>
            <a:ext cx="14446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47.248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16300" y="2630805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37.822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80000" y="2630805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45.392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2630805"/>
            <a:ext cx="1692275" cy="249555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743700" y="2630805"/>
            <a:ext cx="146367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2E7D32"/>
                </a:solidFill>
                <a:latin typeface="Bricolage Grotesque"/>
              </a:rPr>
              <a:t>+%24.9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21675" y="2630805"/>
            <a:ext cx="1663700" cy="249555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435975" y="2630805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2E7D32"/>
                </a:solidFill>
                <a:latin typeface="Bricolage Grotesque"/>
              </a:rPr>
              <a:t>+%4.1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99675" y="2630805"/>
            <a:ext cx="14065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%10.8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1500" y="263080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2880360"/>
            <a:ext cx="828675" cy="24955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Organic Search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43075" y="2880360"/>
            <a:ext cx="14446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37.749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16300" y="2880360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34.657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80000" y="2880360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35.945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29400" y="2880360"/>
            <a:ext cx="1692275" cy="249555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743700" y="2880360"/>
            <a:ext cx="146367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2E7D32"/>
                </a:solidFill>
                <a:latin typeface="Bricolage Grotesque"/>
              </a:rPr>
              <a:t>+%8.9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21675" y="2880360"/>
            <a:ext cx="1663700" cy="249555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8435975" y="2880360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2E7D32"/>
                </a:solidFill>
                <a:latin typeface="Bricolage Grotesque"/>
              </a:rPr>
              <a:t>+%5.0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99675" y="2880360"/>
            <a:ext cx="14065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%8.7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1500" y="288036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" y="3129915"/>
            <a:ext cx="828675" cy="24955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Referral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43075" y="3129915"/>
            <a:ext cx="14446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26.761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16300" y="3129915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27.547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80000" y="3129915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34.683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29400" y="3129915"/>
            <a:ext cx="1692275" cy="249555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6743700" y="3129915"/>
            <a:ext cx="146367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D32F2F"/>
                </a:solidFill>
                <a:latin typeface="Bricolage Grotesque"/>
              </a:rPr>
              <a:t>-%2.9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21675" y="3129915"/>
            <a:ext cx="1663700" cy="249555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8435975" y="3129915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D32F2F"/>
                </a:solidFill>
                <a:latin typeface="Bricolage Grotesque"/>
              </a:rPr>
              <a:t>-%22.8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99675" y="3129915"/>
            <a:ext cx="14065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%6.1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71500" y="312991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" y="3379470"/>
            <a:ext cx="828675" cy="24955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Display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43075" y="3379470"/>
            <a:ext cx="14446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9.874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16300" y="3379470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9.612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80000" y="3379470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74.816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629400" y="3379470"/>
            <a:ext cx="1692275" cy="249555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6743700" y="3379470"/>
            <a:ext cx="146367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2E7D32"/>
                </a:solidFill>
                <a:latin typeface="Bricolage Grotesque"/>
              </a:rPr>
              <a:t>+%2.7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321675" y="3379470"/>
            <a:ext cx="1663700" cy="249555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8435975" y="3379470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D32F2F"/>
                </a:solidFill>
                <a:latin typeface="Bricolage Grotesque"/>
              </a:rPr>
              <a:t>-%86.8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099675" y="3379470"/>
            <a:ext cx="14065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%2.3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71500" y="337947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5800" y="3629025"/>
            <a:ext cx="828675" cy="24955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Unassigned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43075" y="3629025"/>
            <a:ext cx="14446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6.877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16300" y="3629025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5.302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80000" y="3629025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23.977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629400" y="3629025"/>
            <a:ext cx="1692275" cy="249555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6743700" y="3629025"/>
            <a:ext cx="146367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2E7D32"/>
                </a:solidFill>
                <a:latin typeface="Bricolage Grotesque"/>
              </a:rPr>
              <a:t>+%29.7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321675" y="3629025"/>
            <a:ext cx="1663700" cy="249555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8435975" y="3629025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D32F2F"/>
                </a:solidFill>
                <a:latin typeface="Bricolage Grotesque"/>
              </a:rPr>
              <a:t>-%71.3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099675" y="3629025"/>
            <a:ext cx="14065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%1.6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71500" y="362902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5800" y="3878580"/>
            <a:ext cx="828675" cy="24955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Paid Video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743075" y="3878580"/>
            <a:ext cx="14446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1.080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416300" y="3878580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1.977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080000" y="3878580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-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629400" y="3878580"/>
            <a:ext cx="1692275" cy="249555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6743700" y="3878580"/>
            <a:ext cx="146367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D32F2F"/>
                </a:solidFill>
                <a:latin typeface="Bricolage Grotesque"/>
              </a:rPr>
              <a:t>-%45.4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35975" y="3878580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yeni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099675" y="3878580"/>
            <a:ext cx="14065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%0.2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71500" y="387858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85800" y="4128135"/>
            <a:ext cx="828675" cy="24955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Organic Video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743075" y="4128135"/>
            <a:ext cx="14446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1.047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416300" y="4128135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128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080000" y="4128135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792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629400" y="4128135"/>
            <a:ext cx="1692275" cy="249555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6743700" y="4128135"/>
            <a:ext cx="146367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2E7D32"/>
                </a:solidFill>
                <a:latin typeface="Bricolage Grotesque"/>
              </a:rPr>
              <a:t>+%718.0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321675" y="4128135"/>
            <a:ext cx="1663700" cy="249555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8435975" y="4128135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2E7D32"/>
                </a:solidFill>
                <a:latin typeface="Bricolage Grotesque"/>
              </a:rPr>
              <a:t>+%32.2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099675" y="4128135"/>
            <a:ext cx="14065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%0.2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71500" y="412813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85800" y="4377690"/>
            <a:ext cx="828675" cy="24955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Organic Social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743075" y="4377690"/>
            <a:ext cx="14446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1.023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416300" y="4377690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889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80000" y="4377690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7.209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629400" y="4377690"/>
            <a:ext cx="1692275" cy="249555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6743700" y="4377690"/>
            <a:ext cx="146367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2E7D32"/>
                </a:solidFill>
                <a:latin typeface="Bricolage Grotesque"/>
              </a:rPr>
              <a:t>+%15.1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321675" y="4377690"/>
            <a:ext cx="1663700" cy="249555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8435975" y="4377690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D32F2F"/>
                </a:solidFill>
                <a:latin typeface="Bricolage Grotesque"/>
              </a:rPr>
              <a:t>-%85.8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099675" y="4377690"/>
            <a:ext cx="14065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%0.2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71500" y="437769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85800" y="4627245"/>
            <a:ext cx="828675" cy="24955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AI Assistant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743075" y="4627245"/>
            <a:ext cx="14446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536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416300" y="4627245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505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080000" y="4627245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222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629400" y="4627245"/>
            <a:ext cx="1692275" cy="249555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6743700" y="4627245"/>
            <a:ext cx="146367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2E7D32"/>
                </a:solidFill>
                <a:latin typeface="Bricolage Grotesque"/>
              </a:rPr>
              <a:t>+%6.1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321675" y="4627245"/>
            <a:ext cx="1663700" cy="249555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8435975" y="4627245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2E7D32"/>
                </a:solidFill>
                <a:latin typeface="Bricolage Grotesque"/>
              </a:rPr>
              <a:t>+%141.4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099675" y="4627245"/>
            <a:ext cx="14065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10332F"/>
                </a:solidFill>
                <a:latin typeface="Outfit"/>
              </a:rPr>
              <a:t>%0.1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71500" y="462724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85800" y="4876800"/>
            <a:ext cx="828675" cy="24955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10332F"/>
                </a:solidFill>
                <a:latin typeface="Bricolage Grotesque"/>
              </a:rPr>
              <a:t>Toplam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743075" y="4876800"/>
            <a:ext cx="14446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10332F"/>
                </a:solidFill>
                <a:latin typeface="Bricolage Grotesque"/>
              </a:rPr>
              <a:t>436.196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416300" y="4876800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10332F"/>
                </a:solidFill>
                <a:latin typeface="Bricolage Grotesque"/>
              </a:rPr>
              <a:t>401.677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080000" y="4876800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10332F"/>
                </a:solidFill>
                <a:latin typeface="Bricolage Grotesque"/>
              </a:rPr>
              <a:t>711.920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629400" y="4876800"/>
            <a:ext cx="1692275" cy="249555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6743700" y="4876800"/>
            <a:ext cx="146367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2E7D32"/>
                </a:solidFill>
                <a:latin typeface="Bricolage Grotesque"/>
              </a:rPr>
              <a:t>+%8.6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321675" y="4876800"/>
            <a:ext cx="1663700" cy="249555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8435975" y="4876800"/>
            <a:ext cx="1435100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D32F2F"/>
                </a:solidFill>
                <a:latin typeface="Bricolage Grotesque"/>
              </a:rPr>
              <a:t>-%38.7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099675" y="4876800"/>
            <a:ext cx="1406525" cy="24955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10332F"/>
                </a:solidFill>
                <a:latin typeface="Bricolage Grotesque"/>
              </a:rPr>
              <a:t>%100.0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71500" y="487680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71500" y="512635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71500" y="5374005"/>
            <a:ext cx="171450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19150" y="5374005"/>
            <a:ext cx="10801350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10332F"/>
                </a:solidFill>
                <a:latin typeface="Outfit"/>
              </a:rPr>
              <a:t>Toplam session MoM </a:t>
            </a:r>
            <a:r>
              <a:rPr sz="950" b="1">
                <a:solidFill>
                  <a:srgbClr val="2E7D32"/>
                </a:solidFill>
                <a:latin typeface="Bricolage Grotesque"/>
              </a:rPr>
              <a:t>+%8.6</a:t>
            </a:r>
            <a:r>
              <a:rPr sz="950" b="0">
                <a:solidFill>
                  <a:srgbClr val="10332F"/>
                </a:solidFill>
                <a:latin typeface="Outfit"/>
              </a:rPr>
              <a:t>, YoY </a:t>
            </a:r>
            <a:r>
              <a:rPr sz="950" b="1">
                <a:solidFill>
                  <a:srgbClr val="D32F2F"/>
                </a:solidFill>
                <a:latin typeface="Bricolage Grotesque"/>
              </a:rPr>
              <a:t>-%38.7</a:t>
            </a:r>
            <a:r>
              <a:rPr sz="950" b="0">
                <a:solidFill>
                  <a:srgbClr val="10332F"/>
                </a:solidFill>
                <a:latin typeface="Outfit"/>
              </a:rPr>
              <a:t>; yıllık daralma </a:t>
            </a:r>
            <a:r>
              <a:rPr sz="950" b="1">
                <a:solidFill>
                  <a:srgbClr val="FF7B52"/>
                </a:solidFill>
                <a:latin typeface="Bricolage Grotesque"/>
              </a:rPr>
              <a:t>Display</a:t>
            </a:r>
            <a:r>
              <a:rPr sz="950" b="0">
                <a:solidFill>
                  <a:srgbClr val="10332F"/>
                </a:solidFill>
                <a:latin typeface="Outfit"/>
              </a:rPr>
              <a:t> ve </a:t>
            </a:r>
            <a:r>
              <a:rPr sz="950" b="1">
                <a:solidFill>
                  <a:srgbClr val="FF7B52"/>
                </a:solidFill>
                <a:latin typeface="Bricolage Grotesque"/>
              </a:rPr>
              <a:t>Paid Social</a:t>
            </a:r>
            <a:r>
              <a:rPr sz="950" b="0">
                <a:solidFill>
                  <a:srgbClr val="10332F"/>
                </a:solidFill>
                <a:latin typeface="Outfit"/>
              </a:rPr>
              <a:t> kaynaklıdır. </a:t>
            </a:r>
            <a:r>
              <a:rPr sz="950" b="1">
                <a:solidFill>
                  <a:srgbClr val="FF7B52"/>
                </a:solidFill>
                <a:latin typeface="Bricolage Grotesque"/>
              </a:rPr>
              <a:t>Organic Search</a:t>
            </a:r>
            <a:r>
              <a:rPr sz="950" b="0">
                <a:solidFill>
                  <a:srgbClr val="10332F"/>
                </a:solidFill>
                <a:latin typeface="Outfit"/>
              </a:rPr>
              <a:t> yıllık </a:t>
            </a:r>
            <a:r>
              <a:rPr sz="950" b="1">
                <a:solidFill>
                  <a:srgbClr val="2E7D32"/>
                </a:solidFill>
                <a:latin typeface="Bricolage Grotesque"/>
              </a:rPr>
              <a:t>+%5.0</a:t>
            </a:r>
            <a:r>
              <a:rPr sz="950" b="0">
                <a:solidFill>
                  <a:srgbClr val="10332F"/>
                </a:solidFill>
                <a:latin typeface="Outfit"/>
              </a:rPr>
              <a:t>, </a:t>
            </a:r>
            <a:r>
              <a:rPr sz="950" b="1">
                <a:solidFill>
                  <a:srgbClr val="FF7B52"/>
                </a:solidFill>
                <a:latin typeface="Bricolage Grotesque"/>
              </a:rPr>
              <a:t>AI Assistant</a:t>
            </a:r>
            <a:r>
              <a:rPr sz="950" b="0">
                <a:solidFill>
                  <a:srgbClr val="10332F"/>
                </a:solidFill>
                <a:latin typeface="Outfit"/>
              </a:rPr>
              <a:t> aylık </a:t>
            </a:r>
            <a:r>
              <a:rPr sz="950" b="1">
                <a:solidFill>
                  <a:srgbClr val="2E7D32"/>
                </a:solidFill>
                <a:latin typeface="Bricolage Grotesque"/>
              </a:rPr>
              <a:t>+%6.1</a:t>
            </a:r>
            <a:r>
              <a:rPr sz="950" b="0">
                <a:solidFill>
                  <a:srgbClr val="10332F"/>
                </a:solidFill>
                <a:latin typeface="Outfit"/>
              </a:rPr>
              <a:t> büyümektedir.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" y="2438400"/>
            <a:ext cx="2590800" cy="190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0" b="1">
                <a:solidFill>
                  <a:srgbClr val="254E49"/>
                </a:solidFill>
                <a:latin typeface="Bricolage Grotesque"/>
              </a:rPr>
              <a:t>05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891212" y="2841879"/>
            <a:ext cx="409575" cy="104775"/>
          </a:xfrm>
          <a:prstGeom prst="roundRect">
            <a:avLst>
              <a:gd name="adj" fmla="val 27272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738562" y="3175254"/>
            <a:ext cx="4714875" cy="5074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3700" b="1">
                <a:solidFill>
                  <a:srgbClr val="FEFEF7"/>
                </a:solidFill>
                <a:latin typeface="Bricolage Grotesque"/>
              </a:rPr>
              <a:t>İçerik Performansı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1212" y="3911346"/>
            <a:ext cx="409575" cy="104775"/>
          </a:xfrm>
          <a:prstGeom prst="roundRect">
            <a:avLst>
              <a:gd name="adj" fmla="val 27272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İÇERİK</a:t>
            </a:r>
            <a:r>
              <a:rPr sz="1000" b="0">
                <a:solidFill>
                  <a:srgbClr val="FF7B52"/>
                </a:solidFill>
                <a:latin typeface="Outfit"/>
              </a:rPr>
              <a:t>  |  </a:t>
            </a:r>
            <a:r>
              <a:rPr sz="1000" b="0">
                <a:solidFill>
                  <a:srgbClr val="FF7B52"/>
                </a:solidFill>
                <a:latin typeface="Outfit"/>
              </a:rPr>
              <a:t>Blog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11049000" cy="394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332F"/>
                </a:solidFill>
                <a:latin typeface="Bricolage Grotesque"/>
              </a:rPr>
              <a:t>/blog Aylık Session Performansı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785"/>
            <a:ext cx="1104900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A4A"/>
                </a:solidFill>
                <a:latin typeface="Outfit"/>
              </a:rPr>
              <a:t>Tem 2025 - Tem 2026 | GA4 | toplam ve organik</a:t>
            </a:r>
          </a:p>
        </p:txBody>
      </p:sp>
      <p:pic>
        <p:nvPicPr>
          <p:cNvPr id="5" name="Picture 4" descr="inbound-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210300"/>
            <a:ext cx="342900" cy="3429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500" y="6267450"/>
            <a:ext cx="3028950" cy="209550"/>
          </a:xfrm>
          <a:prstGeom prst="roundRect">
            <a:avLst>
              <a:gd name="adj" fmla="val 36363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Bricolage Grotesque"/>
              </a:rPr>
              <a:t>Kaynak: GA4 - Cloud Gaming · Landing page kırılımı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26430"/>
            <a:ext cx="11049000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Ayıklama: landing page listesindeki 803 satır ve 33.799 session, yol içinde tırnak, açılı parantez ve rastgele token taşıyan varyantlardan oluşmaktadır. Bunlar güvenlik taraması yapan araçların ürettiği isteklerdir; gerçek sayfa olmadıkları ve tek bir yazıyı onlarca satıra böldükleri için kapsam dışı bırakılmıştır.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00638" y="173926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272088" y="1720215"/>
            <a:ext cx="75247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/blog toplam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012" y="1777365"/>
            <a:ext cx="133350" cy="28575"/>
          </a:xfrm>
          <a:prstGeom prst="roundRect">
            <a:avLst>
              <a:gd name="adj" fmla="val 50000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238875" y="1753553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7462" y="1720215"/>
            <a:ext cx="7810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/blog organik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5850" y="3282315"/>
            <a:ext cx="100203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" y="32156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2350" y="32156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5850" y="2939415"/>
            <a:ext cx="1002030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28727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21.8K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2350" y="28727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5.0K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5850" y="2596515"/>
            <a:ext cx="1002030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" y="25298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43.6K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2350" y="25298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10.1K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5850" y="2253615"/>
            <a:ext cx="1002030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" y="21869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65.4K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21869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15.1K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5850" y="1910715"/>
            <a:ext cx="1002030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" y="18440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87.2K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2350" y="18440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20.2K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28371" y="3155228"/>
            <a:ext cx="285750" cy="127087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2099163" y="2808043"/>
            <a:ext cx="285750" cy="474272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2869956" y="2959170"/>
            <a:ext cx="285750" cy="32314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640748" y="2895107"/>
            <a:ext cx="285750" cy="38720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4411540" y="2787072"/>
            <a:ext cx="285750" cy="495243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182333" y="2146886"/>
            <a:ext cx="285750" cy="1135429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5953125" y="2089619"/>
            <a:ext cx="285750" cy="1192696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723917" y="2171318"/>
            <a:ext cx="285750" cy="1110997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494710" y="2841333"/>
            <a:ext cx="285750" cy="440982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265502" y="2519950"/>
            <a:ext cx="285750" cy="76236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9036294" y="2244930"/>
            <a:ext cx="285750" cy="103738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807087" y="2674066"/>
            <a:ext cx="285750" cy="608249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10577879" y="2672272"/>
            <a:ext cx="285750" cy="610043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Freeform 40"/>
          <p:cNvSpPr/>
          <p:nvPr/>
        </p:nvSpPr>
        <p:spPr>
          <a:xfrm>
            <a:off x="1471246" y="2089619"/>
            <a:ext cx="9249508" cy="1117944"/>
          </a:xfrm>
          <a:custGeom>
            <a:avLst/>
            <a:gdLst/>
            <a:ahLst/>
            <a:cxnLst/>
            <a:rect l="l" t="t" r="r" b="b"/>
            <a:pathLst>
              <a:path w="9249508" h="1117944">
                <a:moveTo>
                  <a:pt x="0" y="1115430"/>
                </a:moveTo>
                <a:lnTo>
                  <a:pt x="770792" y="1110741"/>
                </a:lnTo>
                <a:lnTo>
                  <a:pt x="1541585" y="1117944"/>
                </a:lnTo>
                <a:lnTo>
                  <a:pt x="2312377" y="968441"/>
                </a:lnTo>
                <a:lnTo>
                  <a:pt x="3083169" y="696277"/>
                </a:lnTo>
                <a:lnTo>
                  <a:pt x="3853962" y="452451"/>
                </a:lnTo>
                <a:lnTo>
                  <a:pt x="4624754" y="0"/>
                </a:lnTo>
                <a:lnTo>
                  <a:pt x="5395546" y="391223"/>
                </a:lnTo>
                <a:lnTo>
                  <a:pt x="6166339" y="63267"/>
                </a:lnTo>
                <a:lnTo>
                  <a:pt x="6937131" y="284940"/>
                </a:lnTo>
                <a:lnTo>
                  <a:pt x="7707923" y="255991"/>
                </a:lnTo>
                <a:lnTo>
                  <a:pt x="8478716" y="380282"/>
                </a:lnTo>
                <a:lnTo>
                  <a:pt x="9249508" y="319937"/>
                </a:lnTo>
              </a:path>
            </a:pathLst>
          </a:custGeom>
          <a:noFill/>
          <a:ln w="28575">
            <a:solidFill>
              <a:srgbClr val="FF7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433146" y="3166949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203938" y="3162260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74731" y="3169463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745523" y="3019960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516315" y="2747796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287108" y="2503970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057900" y="2051519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28692" y="2442742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599485" y="2114786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370277" y="2336459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141069" y="2307510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11862" y="2431801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682654" y="2371456"/>
            <a:ext cx="76200" cy="76200"/>
          </a:xfrm>
          <a:prstGeom prst="ellipse">
            <a:avLst/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5850" y="33299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Tem'25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56642" y="33299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Ağu'25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27435" y="33299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Eyl'25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98227" y="33299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Eki'25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69019" y="33299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Kas'25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39812" y="33299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Ara'25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10604" y="33299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Oca'26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81396" y="33299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Şub'26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52188" y="33299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Mar'26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22981" y="33299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Nis'26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93773" y="33299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May'26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64565" y="33299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Haz'26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35358" y="332994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Tem'26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71500" y="3758565"/>
            <a:ext cx="11049000" cy="228600"/>
          </a:xfrm>
          <a:prstGeom prst="rect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685800" y="3758565"/>
            <a:ext cx="48577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Metrik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00175" y="3758565"/>
            <a:ext cx="597877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Tem'25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26652" y="3758565"/>
            <a:ext cx="578827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Ağu'25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034079" y="3758565"/>
            <a:ext cx="512152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Eyl'25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774831" y="3758565"/>
            <a:ext cx="512152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Eki'25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15583" y="3758565"/>
            <a:ext cx="559777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Kas'25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03960" y="3758565"/>
            <a:ext cx="550252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Ara'25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82812" y="3758565"/>
            <a:ext cx="578827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Oca'26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90238" y="3758565"/>
            <a:ext cx="578827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Şub'26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97665" y="3758565"/>
            <a:ext cx="578827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Mar'26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05092" y="3758565"/>
            <a:ext cx="540727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Nis'26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74419" y="3758565"/>
            <a:ext cx="597877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May'26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00896" y="3758565"/>
            <a:ext cx="569302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Haz'26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898798" y="3758565"/>
            <a:ext cx="607402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Tem'26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" y="3987165"/>
            <a:ext cx="48577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Toplam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285875" y="3987165"/>
            <a:ext cx="826477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1400175" y="3987165"/>
            <a:ext cx="59787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8.1K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226652" y="3987165"/>
            <a:ext cx="57882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30.1K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34079" y="3987165"/>
            <a:ext cx="51215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20.5K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74831" y="3987165"/>
            <a:ext cx="51215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24.6K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15583" y="3987165"/>
            <a:ext cx="55977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31.5K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03960" y="3987165"/>
            <a:ext cx="55025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72.2K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968512" y="3987165"/>
            <a:ext cx="807427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6082812" y="3987165"/>
            <a:ext cx="57882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75.8K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90238" y="3987165"/>
            <a:ext cx="57882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70.6K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697665" y="3987165"/>
            <a:ext cx="57882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28.0K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05092" y="3987165"/>
            <a:ext cx="54072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48.5K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274419" y="3987165"/>
            <a:ext cx="59787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65.9K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100896" y="3987165"/>
            <a:ext cx="56930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38.7K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898798" y="3987165"/>
            <a:ext cx="60740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38.8K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71500" y="398716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85800" y="4262438"/>
            <a:ext cx="48577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Organik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285875" y="4262438"/>
            <a:ext cx="826477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1400175" y="4262438"/>
            <a:ext cx="59787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1.1K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226652" y="4262438"/>
            <a:ext cx="57882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1.2K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919779" y="4262438"/>
            <a:ext cx="740752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3034079" y="4262438"/>
            <a:ext cx="51215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1.1K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774831" y="4262438"/>
            <a:ext cx="51215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3.3K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15583" y="4262438"/>
            <a:ext cx="55977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7.3K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303960" y="4262438"/>
            <a:ext cx="55025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10.9K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968512" y="4262438"/>
            <a:ext cx="807427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6082812" y="4262438"/>
            <a:ext cx="57882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17.6K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90238" y="4262438"/>
            <a:ext cx="57882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11.8K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697665" y="4262438"/>
            <a:ext cx="57882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16.6K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505092" y="4262438"/>
            <a:ext cx="54072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13.4K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274419" y="4262438"/>
            <a:ext cx="597877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13.8K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100896" y="4262438"/>
            <a:ext cx="56930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12.0K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898798" y="4262438"/>
            <a:ext cx="607402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12.8K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71500" y="4262438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71500" y="453771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71500" y="4823460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19150" y="4823460"/>
            <a:ext cx="108013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Blog Temmuz'da </a:t>
            </a:r>
            <a:r>
              <a:rPr sz="1050" b="1">
                <a:solidFill>
                  <a:srgbClr val="10332F"/>
                </a:solidFill>
                <a:latin typeface="Bricolage Grotesque"/>
              </a:rPr>
              <a:t>38.8K</a:t>
            </a:r>
            <a:r>
              <a:rPr sz="1050" b="0">
                <a:solidFill>
                  <a:srgbClr val="10332F"/>
                </a:solidFill>
                <a:latin typeface="Outfit"/>
              </a:rPr>
              <a:t> session almış, yıllık bazda 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+%380.0</a:t>
            </a:r>
            <a:r>
              <a:rPr sz="1050" b="0">
                <a:solidFill>
                  <a:srgbClr val="10332F"/>
                </a:solidFill>
                <a:latin typeface="Outfit"/>
              </a:rPr>
              <a:t> artmıştır. Organik pay </a:t>
            </a:r>
            <a:r>
              <a:rPr sz="1050" b="1">
                <a:solidFill>
                  <a:srgbClr val="10332F"/>
                </a:solidFill>
                <a:latin typeface="Bricolage Grotesque"/>
              </a:rPr>
              <a:t>%33.1</a:t>
            </a:r>
            <a:r>
              <a:rPr sz="1050" b="0">
                <a:solidFill>
                  <a:srgbClr val="10332F"/>
                </a:solidFill>
                <a:latin typeface="Outfit"/>
              </a:rPr>
              <a:t> seviyesindedir.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İÇERİK</a:t>
            </a:r>
            <a:r>
              <a:rPr sz="1000" b="0">
                <a:solidFill>
                  <a:srgbClr val="FF7B52"/>
                </a:solidFill>
                <a:latin typeface="Outfit"/>
              </a:rPr>
              <a:t>  |  </a:t>
            </a:r>
            <a:r>
              <a:rPr sz="1000" b="0">
                <a:solidFill>
                  <a:srgbClr val="FF7B52"/>
                </a:solidFill>
                <a:latin typeface="Outfit"/>
              </a:rPr>
              <a:t>Yükselen Yazılar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11049000" cy="394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332F"/>
                </a:solidFill>
                <a:latin typeface="Bricolage Grotesque"/>
              </a:rPr>
              <a:t>Temmuz'da Yükselen Blog Yazıları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785"/>
            <a:ext cx="1104900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A4A"/>
                </a:solidFill>
                <a:latin typeface="Outfit"/>
              </a:rPr>
              <a:t>Temmuz 2026 &amp; Haziran 2026 | GA4 session | aylık artışa göre sıralı</a:t>
            </a:r>
          </a:p>
        </p:txBody>
      </p:sp>
      <p:pic>
        <p:nvPicPr>
          <p:cNvPr id="5" name="Picture 4" descr="inbound-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210300"/>
            <a:ext cx="342900" cy="3429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500" y="6267450"/>
            <a:ext cx="3028950" cy="209550"/>
          </a:xfrm>
          <a:prstGeom prst="roundRect">
            <a:avLst>
              <a:gd name="adj" fmla="val 36363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Bricolage Grotesque"/>
              </a:rPr>
              <a:t>Kaynak: GA4 - Cloud Gaming · Landing page kırılımı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892165"/>
            <a:ext cx="11049000" cy="1657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Tabloya Temmuz'da en az 300 session alan yazılar dahil edilmiştir. GFN Thursday yazıları haftalık yayınlandığı için önceki ayda karşılığı bulunmaz.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701165"/>
            <a:ext cx="11049000" cy="228600"/>
          </a:xfrm>
          <a:prstGeom prst="rect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1165"/>
            <a:ext cx="36195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Yazı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3900" y="1701165"/>
            <a:ext cx="213042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Haz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2925" y="1701165"/>
            <a:ext cx="216852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 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0050" y="1701165"/>
            <a:ext cx="221615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929765"/>
            <a:ext cx="11049000" cy="275272"/>
          </a:xfrm>
          <a:prstGeom prst="rect">
            <a:avLst/>
          </a:prstGeom>
          <a:solidFill>
            <a:srgbClr val="FF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5800" y="1929765"/>
            <a:ext cx="36195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gfn-thursday-geforce-now-da-bu-hafta--23-temmuz-20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3900" y="1929765"/>
            <a:ext cx="21304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2925" y="1929765"/>
            <a:ext cx="21685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14.367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75750" y="1929765"/>
            <a:ext cx="244475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90050" y="1929765"/>
            <a:ext cx="22161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+14.367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92976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205038"/>
            <a:ext cx="36195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call-of-duty-oyunlarinin-kronolojik-sirasi-serinin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3900" y="2205038"/>
            <a:ext cx="21304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4.275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2925" y="2205038"/>
            <a:ext cx="21685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5.226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75750" y="2205038"/>
            <a:ext cx="244475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290050" y="2205038"/>
            <a:ext cx="22161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+951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2205038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480310"/>
            <a:ext cx="36195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gfn-thursday-geforce-now-da-bu-hafta-30-temmuz-202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3900" y="2480310"/>
            <a:ext cx="21304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2925" y="2480310"/>
            <a:ext cx="21685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451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75750" y="2480310"/>
            <a:ext cx="244475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290050" y="2480310"/>
            <a:ext cx="22161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+451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500" y="248031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755582"/>
            <a:ext cx="36195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2026-da-oynanabilecek-en-iyi-mmorpg-oyunlar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3900" y="2755582"/>
            <a:ext cx="21304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2.210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92925" y="2755582"/>
            <a:ext cx="21685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2.547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75750" y="2755582"/>
            <a:ext cx="244475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290050" y="2755582"/>
            <a:ext cx="22161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+337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" y="2755582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030855"/>
            <a:ext cx="36195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grand-theft-auto-gta-serisi-gecmisten-gunumuze-tum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3900" y="3030855"/>
            <a:ext cx="21304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92925" y="3030855"/>
            <a:ext cx="21685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332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75750" y="3030855"/>
            <a:ext cx="244475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290050" y="3030855"/>
            <a:ext cx="22161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+312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1500" y="303085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3306127"/>
            <a:ext cx="36195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2026-da-oynanabilecek-en-iyi-türkce-dublajli-ve-al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33900" y="3306127"/>
            <a:ext cx="21304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264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92925" y="3306127"/>
            <a:ext cx="21685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571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75750" y="3306127"/>
            <a:ext cx="244475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290050" y="3306127"/>
            <a:ext cx="22161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+307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1500" y="3306127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3581400"/>
            <a:ext cx="361950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need-for-speed-serisi-underground-dan-heat-e-sokak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33900" y="3581400"/>
            <a:ext cx="21304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92925" y="3581400"/>
            <a:ext cx="21685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329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75750" y="3581400"/>
            <a:ext cx="244475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290050" y="3581400"/>
            <a:ext cx="221615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+263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1500" y="358140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71500" y="3856672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1500" y="4161472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9150" y="4161472"/>
            <a:ext cx="108013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Temmuz'un en yüksek katkısı </a:t>
            </a:r>
            <a:r>
              <a:rPr sz="1050" b="1">
                <a:solidFill>
                  <a:srgbClr val="FF7B52"/>
                </a:solidFill>
                <a:latin typeface="Bricolage Grotesque"/>
              </a:rPr>
              <a:t>GFN Thursday 23 Temmuz</a:t>
            </a:r>
            <a:r>
              <a:rPr sz="1050" b="0">
                <a:solidFill>
                  <a:srgbClr val="10332F"/>
                </a:solidFill>
                <a:latin typeface="Outfit"/>
              </a:rPr>
              <a:t> yazısındandır (</a:t>
            </a:r>
            <a:r>
              <a:rPr sz="1050" b="1">
                <a:solidFill>
                  <a:srgbClr val="10332F"/>
                </a:solidFill>
                <a:latin typeface="Bricolage Grotesque"/>
              </a:rPr>
              <a:t>14.4K</a:t>
            </a:r>
            <a:r>
              <a:rPr sz="1050" b="0">
                <a:solidFill>
                  <a:srgbClr val="10332F"/>
                </a:solidFill>
                <a:latin typeface="Outfit"/>
              </a:rPr>
              <a:t> session); haftalık seri blog trafiğinin ana taşıyıcısıdır.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1500" y="4475797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9150" y="4475797"/>
            <a:ext cx="108013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Kalıcı içerikte </a:t>
            </a:r>
            <a:r>
              <a:rPr sz="1050" b="1">
                <a:solidFill>
                  <a:srgbClr val="FF7B52"/>
                </a:solidFill>
                <a:latin typeface="Bricolage Grotesque"/>
              </a:rPr>
              <a:t>Call of Duty kronolojik sıralama</a:t>
            </a:r>
            <a:r>
              <a:rPr sz="1050" b="0">
                <a:solidFill>
                  <a:srgbClr val="10332F"/>
                </a:solidFill>
                <a:latin typeface="Outfit"/>
              </a:rPr>
              <a:t> </a:t>
            </a:r>
            <a:r>
              <a:rPr sz="1050" b="1">
                <a:solidFill>
                  <a:srgbClr val="10332F"/>
                </a:solidFill>
                <a:latin typeface="Bricolage Grotesque"/>
              </a:rPr>
              <a:t>5.2K</a:t>
            </a:r>
            <a:r>
              <a:rPr sz="1050" b="0">
                <a:solidFill>
                  <a:srgbClr val="10332F"/>
                </a:solidFill>
                <a:latin typeface="Outfit"/>
              </a:rPr>
              <a:t> ve </a:t>
            </a:r>
            <a:r>
              <a:rPr sz="1050" b="1">
                <a:solidFill>
                  <a:srgbClr val="FF7B52"/>
                </a:solidFill>
                <a:latin typeface="Bricolage Grotesque"/>
              </a:rPr>
              <a:t>2026 MMORPG</a:t>
            </a:r>
            <a:r>
              <a:rPr sz="1050" b="0">
                <a:solidFill>
                  <a:srgbClr val="10332F"/>
                </a:solidFill>
                <a:latin typeface="Outfit"/>
              </a:rPr>
              <a:t> </a:t>
            </a:r>
            <a:r>
              <a:rPr sz="1050" b="1">
                <a:solidFill>
                  <a:srgbClr val="10332F"/>
                </a:solidFill>
                <a:latin typeface="Bricolage Grotesque"/>
              </a:rPr>
              <a:t>2.5K</a:t>
            </a:r>
            <a:r>
              <a:rPr sz="1050" b="0">
                <a:solidFill>
                  <a:srgbClr val="10332F"/>
                </a:solidFill>
                <a:latin typeface="Outfit"/>
              </a:rPr>
              <a:t> session ile artışını sürdürmüştür.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İÇERİK</a:t>
            </a:r>
            <a:r>
              <a:rPr sz="1000" b="0">
                <a:solidFill>
                  <a:srgbClr val="FF7B52"/>
                </a:solidFill>
                <a:latin typeface="Outfit"/>
              </a:rPr>
              <a:t>  |  </a:t>
            </a:r>
            <a:r>
              <a:rPr sz="1000" b="0">
                <a:solidFill>
                  <a:srgbClr val="FF7B52"/>
                </a:solidFill>
                <a:latin typeface="Outfit"/>
              </a:rPr>
              <a:t>Oyun Kategorileri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11049000" cy="394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332F"/>
                </a:solidFill>
                <a:latin typeface="Bricolage Grotesque"/>
              </a:rPr>
              <a:t>/gfn/oyunlar Alt Kategorileri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785"/>
            <a:ext cx="1104900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A4A"/>
                </a:solidFill>
                <a:latin typeface="Outfit"/>
              </a:rPr>
              <a:t>Temmuz 2026 | GA4 session ve GSC click | session'a göre sıralı</a:t>
            </a:r>
          </a:p>
        </p:txBody>
      </p:sp>
      <p:pic>
        <p:nvPicPr>
          <p:cNvPr id="5" name="Picture 4" descr="inbound-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210300"/>
            <a:ext cx="342900" cy="3429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500" y="6267450"/>
            <a:ext cx="3276600" cy="209550"/>
          </a:xfrm>
          <a:prstGeom prst="roundRect">
            <a:avLst>
              <a:gd name="adj" fmla="val 36363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Bricolage Grotesque"/>
              </a:rPr>
              <a:t>Kaynak: GA4 - Cloud Gaming &amp; Google Search Console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26430"/>
            <a:ext cx="11049000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Alt kategoriler bu dönemde açıldığı için önceki yıl karşılığı bulunmamaktadır. GA4 session tüm kanalları, GSC click yalnızca organik aramayı kapsar; iki sütun arasındaki fark diğer kanallardan gelen trafiği gösterir.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701165"/>
            <a:ext cx="11049000" cy="228600"/>
          </a:xfrm>
          <a:prstGeom prst="rect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1165"/>
            <a:ext cx="112395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Kategori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8350" y="1701165"/>
            <a:ext cx="2626519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 26 GA4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3469" y="1701165"/>
            <a:ext cx="1893094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MoM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5162" y="1701165"/>
            <a:ext cx="2426494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 26 GSC click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70256" y="1701165"/>
            <a:ext cx="1835944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MoM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929765"/>
            <a:ext cx="11239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oynamasi-ucretsiz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8350" y="1929765"/>
            <a:ext cx="26265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2.543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79169" y="1929765"/>
            <a:ext cx="2121694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893469" y="1929765"/>
            <a:ext cx="18930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+%2.0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5162" y="1929765"/>
            <a:ext cx="24264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1.941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55956" y="1929765"/>
            <a:ext cx="2064544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670256" y="1929765"/>
            <a:ext cx="183594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-%27.7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92976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205038"/>
            <a:ext cx="11239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steam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38350" y="2205038"/>
            <a:ext cx="26265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328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79169" y="2205038"/>
            <a:ext cx="2121694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893469" y="2205038"/>
            <a:ext cx="18930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+%20.1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5162" y="2205038"/>
            <a:ext cx="24264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0256" y="2205038"/>
            <a:ext cx="183594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yeni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2205038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480310"/>
            <a:ext cx="11239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populer-oyunlar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38350" y="2480310"/>
            <a:ext cx="26265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79169" y="2480310"/>
            <a:ext cx="2121694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893469" y="2480310"/>
            <a:ext cx="18930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+%1.8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15162" y="2480310"/>
            <a:ext cx="24264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55956" y="2480310"/>
            <a:ext cx="2064544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670256" y="2480310"/>
            <a:ext cx="183594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1500" y="248031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2755582"/>
            <a:ext cx="11239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yaris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38350" y="2755582"/>
            <a:ext cx="26265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207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79169" y="2755582"/>
            <a:ext cx="2121694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893469" y="2755582"/>
            <a:ext cx="18930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+%613.8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15162" y="2755582"/>
            <a:ext cx="24264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55956" y="2755582"/>
            <a:ext cx="2064544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670256" y="2755582"/>
            <a:ext cx="183594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1500" y="2755582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030855"/>
            <a:ext cx="11239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epic-games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38350" y="3030855"/>
            <a:ext cx="26265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160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79169" y="3030855"/>
            <a:ext cx="2121694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893469" y="3030855"/>
            <a:ext cx="18930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+%26.0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5162" y="3030855"/>
            <a:ext cx="24264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55956" y="3030855"/>
            <a:ext cx="2064544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670256" y="3030855"/>
            <a:ext cx="183594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1500" y="303085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3306127"/>
            <a:ext cx="11239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aksiyon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38350" y="3306127"/>
            <a:ext cx="26265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141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79169" y="3306127"/>
            <a:ext cx="2121694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893469" y="3306127"/>
            <a:ext cx="18930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+%110.4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15162" y="3306127"/>
            <a:ext cx="24264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55956" y="3306127"/>
            <a:ext cx="2064544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670256" y="3306127"/>
            <a:ext cx="183594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1500" y="3306127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" y="3581400"/>
            <a:ext cx="11239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ea-app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38350" y="3581400"/>
            <a:ext cx="26265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132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779169" y="3581400"/>
            <a:ext cx="2121694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4893469" y="3581400"/>
            <a:ext cx="18930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+%85.9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15162" y="3581400"/>
            <a:ext cx="24264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55956" y="3581400"/>
            <a:ext cx="2064544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9670256" y="3581400"/>
            <a:ext cx="183594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71500" y="358140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5800" y="3856672"/>
            <a:ext cx="11239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xbox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38350" y="3856672"/>
            <a:ext cx="26265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114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779169" y="3856672"/>
            <a:ext cx="2121694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4893469" y="3856672"/>
            <a:ext cx="18930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+%25.3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15162" y="3856672"/>
            <a:ext cx="24264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55956" y="3856672"/>
            <a:ext cx="2064544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9670256" y="3856672"/>
            <a:ext cx="183594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-%81.8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71500" y="3856672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85800" y="4131945"/>
            <a:ext cx="11239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gog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38350" y="4131945"/>
            <a:ext cx="2626519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110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779169" y="4131945"/>
            <a:ext cx="2121694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893469" y="4131945"/>
            <a:ext cx="18930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+%134.0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15162" y="4131945"/>
            <a:ext cx="242649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555956" y="4131945"/>
            <a:ext cx="2064544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9670256" y="4131945"/>
            <a:ext cx="1835944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-%63.6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71500" y="413194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71500" y="4407217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1500" y="4712017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9150" y="4712017"/>
            <a:ext cx="108013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Alt kategoriler Temmuz'da GA4 tarafında </a:t>
            </a:r>
            <a:r>
              <a:rPr sz="1050" b="1">
                <a:solidFill>
                  <a:srgbClr val="10332F"/>
                </a:solidFill>
                <a:latin typeface="Bricolage Grotesque"/>
              </a:rPr>
              <a:t>4.7K</a:t>
            </a:r>
            <a:r>
              <a:rPr sz="1050" b="0">
                <a:solidFill>
                  <a:srgbClr val="10332F"/>
                </a:solidFill>
                <a:latin typeface="Outfit"/>
              </a:rPr>
              <a:t> session, GSC tarafında </a:t>
            </a:r>
            <a:r>
              <a:rPr sz="1050" b="1">
                <a:solidFill>
                  <a:srgbClr val="10332F"/>
                </a:solidFill>
                <a:latin typeface="Bricolage Grotesque"/>
              </a:rPr>
              <a:t>2.3K</a:t>
            </a:r>
            <a:r>
              <a:rPr sz="1050" b="0">
                <a:solidFill>
                  <a:srgbClr val="10332F"/>
                </a:solidFill>
                <a:latin typeface="Outfit"/>
              </a:rPr>
              <a:t> click almıştır. </a:t>
            </a:r>
            <a:r>
              <a:rPr sz="1050" b="1">
                <a:solidFill>
                  <a:srgbClr val="FF7B52"/>
                </a:solidFill>
                <a:latin typeface="Bricolage Grotesque"/>
              </a:rPr>
              <a:t>Oynaması ücretsiz</a:t>
            </a:r>
            <a:r>
              <a:rPr sz="1050" b="0">
                <a:solidFill>
                  <a:srgbClr val="10332F"/>
                </a:solidFill>
                <a:latin typeface="Outfit"/>
              </a:rPr>
              <a:t> her iki ölçüde de kategorinin ana taşıyıcısıdır.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" y="5026342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9150" y="5026342"/>
            <a:ext cx="108013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1">
                <a:solidFill>
                  <a:srgbClr val="FF7B52"/>
                </a:solidFill>
                <a:latin typeface="Bricolage Grotesque"/>
              </a:rPr>
              <a:t>Yarış</a:t>
            </a:r>
            <a:r>
              <a:rPr sz="1050" b="0">
                <a:solidFill>
                  <a:srgbClr val="10332F"/>
                </a:solidFill>
                <a:latin typeface="Outfit"/>
              </a:rPr>
              <a:t> ve </a:t>
            </a:r>
            <a:r>
              <a:rPr sz="1050" b="1">
                <a:solidFill>
                  <a:srgbClr val="FF7B52"/>
                </a:solidFill>
                <a:latin typeface="Bricolage Grotesque"/>
              </a:rPr>
              <a:t>MMO</a:t>
            </a:r>
            <a:r>
              <a:rPr sz="1050" b="0">
                <a:solidFill>
                  <a:srgbClr val="10332F"/>
                </a:solidFill>
                <a:latin typeface="Outfit"/>
              </a:rPr>
              <a:t> kategorilerinde session artışı yüksek olsa da GSC click'i düşük kalmaktadır; bu başlıklara gelen trafiğin büyük bölümü organik aramadan gelmemektedir.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" y="2438400"/>
            <a:ext cx="2628900" cy="190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0" b="1">
                <a:solidFill>
                  <a:srgbClr val="254E49"/>
                </a:solidFill>
                <a:latin typeface="Bricolage Grotesque"/>
              </a:rPr>
              <a:t>06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891212" y="2841879"/>
            <a:ext cx="409575" cy="104775"/>
          </a:xfrm>
          <a:prstGeom prst="roundRect">
            <a:avLst>
              <a:gd name="adj" fmla="val 27272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052762" y="3175254"/>
            <a:ext cx="6086475" cy="5074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3700" b="1">
                <a:solidFill>
                  <a:srgbClr val="FEFEF7"/>
                </a:solidFill>
                <a:latin typeface="Bricolage Grotesque"/>
              </a:rPr>
              <a:t>Yapay Zeka Görünürlüğü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1212" y="3911346"/>
            <a:ext cx="409575" cy="104775"/>
          </a:xfrm>
          <a:prstGeom prst="roundRect">
            <a:avLst>
              <a:gd name="adj" fmla="val 27272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YAPAY ZEKA</a:t>
            </a:r>
            <a:r>
              <a:rPr sz="1000" b="0">
                <a:solidFill>
                  <a:srgbClr val="FF7B52"/>
                </a:solidFill>
                <a:latin typeface="Outfit"/>
              </a:rPr>
              <a:t>  |  </a:t>
            </a:r>
            <a:r>
              <a:rPr sz="1000" b="0">
                <a:solidFill>
                  <a:srgbClr val="FF7B52"/>
                </a:solidFill>
                <a:latin typeface="Outfit"/>
              </a:rPr>
              <a:t>Görünürlük Metrikleri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11049000" cy="394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332F"/>
                </a:solidFill>
                <a:latin typeface="Bricolage Grotesque"/>
              </a:rPr>
              <a:t>Yapay Zeka Yanıtlarında Marka Görünürlüğü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785"/>
            <a:ext cx="1104900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A4A"/>
                </a:solidFill>
                <a:latin typeface="Outfit"/>
              </a:rPr>
              <a:t>Temmuz 2026 | 72 prompt | ChatGPT, Gemini ve Google AI Overview</a:t>
            </a:r>
          </a:p>
        </p:txBody>
      </p:sp>
      <p:pic>
        <p:nvPicPr>
          <p:cNvPr id="5" name="Picture 4" descr="inbound-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210300"/>
            <a:ext cx="342900" cy="3429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500" y="6267450"/>
            <a:ext cx="2333625" cy="209550"/>
          </a:xfrm>
          <a:prstGeom prst="roundRect">
            <a:avLst>
              <a:gd name="adj" fmla="val 36363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Bricolage Grotesque"/>
              </a:rPr>
              <a:t>Kaynak: Inbound AI Görünürlük İzleme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26430"/>
            <a:ext cx="11049000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Brand Mention: markanın anıldığı yanıt sayısı, izlenen toplam yanıt içinde verilmiştir. Brand Position: markanın yanıt içinde kaçıncı sırada anıldığı; küçük değer daha öndedir. Source Visibility yanıt bazlı ölçülür: marka sitesinin kaynak gösterildiği yanıtların toplam yanıt içindeki payı. Alttaki tablodaki Pay kolonu ise citation bazlıdır; iki oran farklı paydaya sahiptir.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701165"/>
            <a:ext cx="11049000" cy="200025"/>
          </a:xfrm>
          <a:prstGeom prst="rect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1165"/>
            <a:ext cx="1209675" cy="2000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Sağlayıcı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4075" y="1701165"/>
            <a:ext cx="1899285" cy="2000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Brand Mention / Yanıt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701165"/>
            <a:ext cx="1403985" cy="2000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Mention oranı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4545" y="1701165"/>
            <a:ext cx="1461135" cy="2000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Brand 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4280" y="1701165"/>
            <a:ext cx="2156460" cy="2000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Citation alan yanıt / Yanıt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59340" y="1701165"/>
            <a:ext cx="1546860" cy="2000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Source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901190"/>
            <a:ext cx="120967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Gemini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4075" y="1901190"/>
            <a:ext cx="189928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436 / 591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1901190"/>
            <a:ext cx="140398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%73.8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4545" y="1901190"/>
            <a:ext cx="146113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2.83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4280" y="1901190"/>
            <a:ext cx="215646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465 / 591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59340" y="1901190"/>
            <a:ext cx="154686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%78.7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90119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176463"/>
            <a:ext cx="120967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Google AI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24075" y="2176463"/>
            <a:ext cx="189928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276 / 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2176463"/>
            <a:ext cx="140398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%55.2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4545" y="2176463"/>
            <a:ext cx="146113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1.83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4280" y="2176463"/>
            <a:ext cx="215646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249 / 500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59340" y="2176463"/>
            <a:ext cx="154686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%49.8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" y="2176463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451735"/>
            <a:ext cx="120967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ChatGPT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24075" y="2451735"/>
            <a:ext cx="189928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254 / 531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451735"/>
            <a:ext cx="140398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%47.8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84545" y="2451735"/>
            <a:ext cx="146113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2.47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74280" y="2451735"/>
            <a:ext cx="215646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143 / 531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9340" y="2451735"/>
            <a:ext cx="154686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%26.9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" y="245173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2727008"/>
            <a:ext cx="1209675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Toplam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24075" y="2727008"/>
            <a:ext cx="189928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966 / 1.622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60" y="2727008"/>
            <a:ext cx="140398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%59.6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84545" y="2727008"/>
            <a:ext cx="146113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2.45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74280" y="2727008"/>
            <a:ext cx="215646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857 / 1.622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9340" y="2727008"/>
            <a:ext cx="154686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10332F"/>
                </a:solidFill>
                <a:latin typeface="Bricolage Grotesque"/>
              </a:rPr>
              <a:t>%52.8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1500" y="2727008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71500" y="300228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1500" y="3249930"/>
            <a:ext cx="11049000" cy="200025"/>
          </a:xfrm>
          <a:prstGeom prst="rect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85800" y="3249930"/>
            <a:ext cx="1809750" cy="2000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En çok Citation alan kaynak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24150" y="3249930"/>
            <a:ext cx="3124200" cy="2000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Citation / Toplam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76950" y="3249930"/>
            <a:ext cx="2333625" cy="2000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Pay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39175" y="3249930"/>
            <a:ext cx="2867025" cy="2000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Farklı prompt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1500" y="3449955"/>
            <a:ext cx="11049000" cy="275272"/>
          </a:xfrm>
          <a:prstGeom prst="rect">
            <a:avLst/>
          </a:prstGeom>
          <a:solidFill>
            <a:srgbClr val="FF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85800" y="3449955"/>
            <a:ext cx="18097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gameplus.com.tr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24150" y="3449955"/>
            <a:ext cx="312420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1.492 / 9.621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76950" y="3449955"/>
            <a:ext cx="23336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%15.5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39175" y="3449955"/>
            <a:ext cx="28670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70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1500" y="344995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3725227"/>
            <a:ext cx="18097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nvidia.com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24150" y="3725227"/>
            <a:ext cx="312420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1.017 / 9.621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76950" y="3725227"/>
            <a:ext cx="23336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%10.6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39175" y="3725227"/>
            <a:ext cx="28670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1500" y="3725227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4000500"/>
            <a:ext cx="18097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youtube.com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24150" y="4000500"/>
            <a:ext cx="312420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687 / 9.621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76950" y="4000500"/>
            <a:ext cx="23336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%7.1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39175" y="4000500"/>
            <a:ext cx="28670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1500" y="400050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" y="4275772"/>
            <a:ext cx="18097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reddit.com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24150" y="4275772"/>
            <a:ext cx="312420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482 / 9.621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76950" y="4275772"/>
            <a:ext cx="23336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%5.0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39175" y="4275772"/>
            <a:ext cx="286702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1500" y="4275772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71500" y="455104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1500" y="4798695"/>
            <a:ext cx="1714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9150" y="4798695"/>
            <a:ext cx="108013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10332F"/>
                </a:solidFill>
                <a:latin typeface="Outfit"/>
              </a:rPr>
              <a:t>Marka </a:t>
            </a:r>
            <a:r>
              <a:rPr sz="1000" b="1">
                <a:solidFill>
                  <a:srgbClr val="10332F"/>
                </a:solidFill>
                <a:latin typeface="Bricolage Grotesque"/>
              </a:rPr>
              <a:t>1.622 yanıtın 966'sında</a:t>
            </a:r>
            <a:r>
              <a:rPr sz="1000" b="0">
                <a:solidFill>
                  <a:srgbClr val="10332F"/>
                </a:solidFill>
                <a:latin typeface="Outfit"/>
              </a:rPr>
              <a:t> anılmaktadır; </a:t>
            </a:r>
            <a:r>
              <a:rPr sz="1000" b="1">
                <a:solidFill>
                  <a:srgbClr val="FF7B52"/>
                </a:solidFill>
                <a:latin typeface="Bricolage Grotesque"/>
              </a:rPr>
              <a:t>Gemini</a:t>
            </a:r>
            <a:r>
              <a:rPr sz="1000" b="0">
                <a:solidFill>
                  <a:srgbClr val="10332F"/>
                </a:solidFill>
                <a:latin typeface="Outfit"/>
              </a:rPr>
              <a:t> </a:t>
            </a:r>
            <a:r>
              <a:rPr sz="1000" b="1">
                <a:solidFill>
                  <a:srgbClr val="2E7D32"/>
                </a:solidFill>
                <a:latin typeface="Bricolage Grotesque"/>
              </a:rPr>
              <a:t>%73.8</a:t>
            </a:r>
            <a:r>
              <a:rPr sz="1000" b="0">
                <a:solidFill>
                  <a:srgbClr val="10332F"/>
                </a:solidFill>
                <a:latin typeface="Outfit"/>
              </a:rPr>
              <a:t> ile en yüksek, </a:t>
            </a:r>
            <a:r>
              <a:rPr sz="1000" b="1">
                <a:solidFill>
                  <a:srgbClr val="FF7B52"/>
                </a:solidFill>
                <a:latin typeface="Bricolage Grotesque"/>
              </a:rPr>
              <a:t>ChatGPT</a:t>
            </a:r>
            <a:r>
              <a:rPr sz="1000" b="0">
                <a:solidFill>
                  <a:srgbClr val="10332F"/>
                </a:solidFill>
                <a:latin typeface="Outfit"/>
              </a:rPr>
              <a:t> </a:t>
            </a:r>
            <a:r>
              <a:rPr sz="1000" b="1">
                <a:solidFill>
                  <a:srgbClr val="D32F2F"/>
                </a:solidFill>
                <a:latin typeface="Bricolage Grotesque"/>
              </a:rPr>
              <a:t>%47.8</a:t>
            </a:r>
            <a:r>
              <a:rPr sz="1000" b="0">
                <a:solidFill>
                  <a:srgbClr val="10332F"/>
                </a:solidFill>
                <a:latin typeface="Outfit"/>
              </a:rPr>
              <a:t> ile en düşük orandadır.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1500" y="5103495"/>
            <a:ext cx="1714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9150" y="5103495"/>
            <a:ext cx="108013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gameplus.com.tr</a:t>
            </a:r>
            <a:r>
              <a:rPr sz="1000" b="0">
                <a:solidFill>
                  <a:srgbClr val="10332F"/>
                </a:solidFill>
                <a:latin typeface="Outfit"/>
              </a:rPr>
              <a:t> </a:t>
            </a:r>
            <a:r>
              <a:rPr sz="1000" b="1">
                <a:solidFill>
                  <a:srgbClr val="10332F"/>
                </a:solidFill>
                <a:latin typeface="Bricolage Grotesque"/>
              </a:rPr>
              <a:t>1.492 citation</a:t>
            </a:r>
            <a:r>
              <a:rPr sz="1000" b="0">
                <a:solidFill>
                  <a:srgbClr val="10332F"/>
                </a:solidFill>
                <a:latin typeface="Outfit"/>
              </a:rPr>
              <a:t> ile ilk sıradadır ve toplam citation'ın </a:t>
            </a:r>
            <a:r>
              <a:rPr sz="1000" b="1">
                <a:solidFill>
                  <a:srgbClr val="10332F"/>
                </a:solidFill>
                <a:latin typeface="Bricolage Grotesque"/>
              </a:rPr>
              <a:t>%15.5</a:t>
            </a:r>
            <a:r>
              <a:rPr sz="1000" b="0">
                <a:solidFill>
                  <a:srgbClr val="10332F"/>
                </a:solidFill>
                <a:latin typeface="Outfit"/>
              </a:rPr>
              <a:t>'ini almaktadır. Yanıt bazında bakıldığında marka sitesi yanıtların </a:t>
            </a:r>
            <a:r>
              <a:rPr sz="1000" b="1">
                <a:solidFill>
                  <a:srgbClr val="10332F"/>
                </a:solidFill>
                <a:latin typeface="Bricolage Grotesque"/>
              </a:rPr>
              <a:t>%52.8</a:t>
            </a:r>
            <a:r>
              <a:rPr sz="1000" b="0">
                <a:solidFill>
                  <a:srgbClr val="10332F"/>
                </a:solidFill>
                <a:latin typeface="Outfit"/>
              </a:rPr>
              <a:t>'inde kaynak gösterilmektedir.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YAPAY ZEKA</a:t>
            </a:r>
            <a:r>
              <a:rPr sz="1000" b="0">
                <a:solidFill>
                  <a:srgbClr val="FF7B52"/>
                </a:solidFill>
                <a:latin typeface="Outfit"/>
              </a:rPr>
              <a:t>  |  </a:t>
            </a:r>
            <a:r>
              <a:rPr sz="1000" b="0">
                <a:solidFill>
                  <a:srgbClr val="FF7B52"/>
                </a:solidFill>
                <a:latin typeface="Outfit"/>
              </a:rPr>
              <a:t>Örnek Promptlar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11049000" cy="394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332F"/>
                </a:solidFill>
                <a:latin typeface="Bricolage Grotesque"/>
              </a:rPr>
              <a:t>Marka Adı Geçmeyen Promptlarda Yanıt Örnekleri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785"/>
            <a:ext cx="1104900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A4A"/>
                </a:solidFill>
                <a:latin typeface="Outfit"/>
              </a:rPr>
              <a:t>Temmuz 2026 | Gemini ve ChatGPT | markanın ilk sıralarda anıldığı yanıtlar</a:t>
            </a:r>
          </a:p>
        </p:txBody>
      </p:sp>
      <p:pic>
        <p:nvPicPr>
          <p:cNvPr id="5" name="Picture 4" descr="inbound-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210300"/>
            <a:ext cx="342900" cy="3429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500" y="6267450"/>
            <a:ext cx="2333625" cy="209550"/>
          </a:xfrm>
          <a:prstGeom prst="roundRect">
            <a:avLst>
              <a:gd name="adj" fmla="val 36363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Bricolage Grotesque"/>
              </a:rPr>
              <a:t>Kaynak: Inbound AI Görünürlük İzleme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26430"/>
            <a:ext cx="11049000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İzlenen 72 prompt'un 53'ü marka adı geçmeyen kategori sorusudur; bu bölümdeki örnekler o kümeden seçilmiştir. Yanıt metinleri birebir alınmış, uzunluk nedeniyle markanın geçtiği bölüm kısaltılarak verilmiştir.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701165"/>
            <a:ext cx="5438775" cy="2069782"/>
          </a:xfrm>
          <a:prstGeom prst="roundRect">
            <a:avLst>
              <a:gd name="adj" fmla="val 736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2950" y="1872615"/>
            <a:ext cx="5095875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Prompt: "oyunlar indirmeden nasıl açılır"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144078"/>
            <a:ext cx="5095875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Gemini · Sıra #1 · olumlu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2380298"/>
            <a:ext cx="114300" cy="920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380298"/>
            <a:ext cx="4962525" cy="920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332F"/>
                </a:solidFill>
                <a:latin typeface="Outfit"/>
              </a:rPr>
              <a:t>"1. NVIDIA GeForce NOW (Türkiye'de Game+) - Bu bulut oyun platformu, güçlü bir oyun bilgisayarına sahip olmadan yüksek grafikli oyunları oynamanıza olanak tanır. Oyunlar NVIDIA sunucularında çalıştırılır ve görüntü cihazınıza aktarılır. Türkiye'de Game+ adıyla hizmet vermektedir. Kullanıcılar kendi Steam, Epic Games gibi platformlardaki oyun kütüphanelerini bu servis üzerinden oynayabilirler."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3358198"/>
            <a:ext cx="11430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358198"/>
            <a:ext cx="4962525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332F"/>
                </a:solidFill>
                <a:latin typeface="Outfit"/>
              </a:rPr>
              <a:t>Citation: poki.com · webtekno.com · gameplus.com.tr · crazygames.com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725" y="1701165"/>
            <a:ext cx="5438775" cy="2069782"/>
          </a:xfrm>
          <a:prstGeom prst="roundRect">
            <a:avLst>
              <a:gd name="adj" fmla="val 736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53175" y="1872615"/>
            <a:ext cx="5095875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Prompt: "geforce now nasıl çalışıyo"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3175" y="2144078"/>
            <a:ext cx="5095875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ChatGPT · yanıt gövdesinde · olumlu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3175" y="2380298"/>
            <a:ext cx="114300" cy="920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2380298"/>
            <a:ext cx="4962525" cy="920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332F"/>
                </a:solidFill>
                <a:latin typeface="Outfit"/>
              </a:rPr>
              <a:t>"GeForce NOW, NVIDIA tarafından sunulan bulut tabanlı bir oyun hizmetidir. Bu hizmet sayesinde, güçlü bir oyun bilgisayarına sahip olmasanız bile yüksek kaliteli oyunları oynayabilirsiniz. (...) Türkiye'de GeForce NOW hizmeti, GAME+ tarafından sunulmaktadır. Bu sayede Türk oyuncular da yüksek kaliteli oyun deneyiminden faydalanabilirler."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3175" y="3358198"/>
            <a:ext cx="11430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525" y="3358198"/>
            <a:ext cx="4962525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332F"/>
                </a:solidFill>
                <a:latin typeface="Outfit"/>
              </a:rPr>
              <a:t>Citation: corsair.com · en.wikipedia.org · gameplus.com.tr · nvidia.com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075748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50" y="4075748"/>
            <a:ext cx="10801350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İki yanıtta da marka, bulut oyun kategorisinin ilk seçeneği olarak aktarılmakta ve gameplus.com.tr kaynak gösterilmektedir. Kategori sorularının marka görünürlüğünü taşıdığı görülmektedir.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YAPAY ZEKA</a:t>
            </a:r>
            <a:r>
              <a:rPr sz="1000" b="0">
                <a:solidFill>
                  <a:srgbClr val="FF7B52"/>
                </a:solidFill>
                <a:latin typeface="Outfit"/>
              </a:rPr>
              <a:t>  |  </a:t>
            </a:r>
            <a:r>
              <a:rPr sz="1000" b="0">
                <a:solidFill>
                  <a:srgbClr val="FF7B52"/>
                </a:solidFill>
                <a:latin typeface="Outfit"/>
              </a:rPr>
              <a:t>Örnek Promptlar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11049000" cy="394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332F"/>
                </a:solidFill>
                <a:latin typeface="Bricolage Grotesque"/>
              </a:rPr>
              <a:t>Marka Adı Geçmeyen Promptlarda Yanıt Örnekleri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785"/>
            <a:ext cx="1104900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A4A"/>
                </a:solidFill>
                <a:latin typeface="Outfit"/>
              </a:rPr>
              <a:t>Temmuz 2026 | Gemini ve Google AI Overview | cihaz ve oyun listesi soruları</a:t>
            </a:r>
          </a:p>
        </p:txBody>
      </p:sp>
      <p:pic>
        <p:nvPicPr>
          <p:cNvPr id="5" name="Picture 4" descr="inbound-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210300"/>
            <a:ext cx="342900" cy="3429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500" y="6267450"/>
            <a:ext cx="2333625" cy="209550"/>
          </a:xfrm>
          <a:prstGeom prst="roundRect">
            <a:avLst>
              <a:gd name="adj" fmla="val 36363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Bricolage Grotesque"/>
              </a:rPr>
              <a:t>Kaynak: Inbound AI Görünürlük İzleme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26430"/>
            <a:ext cx="11049000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İzlenen 72 prompt'un 53'ü marka adı geçmeyen kategori sorusudur; bu bölümdeki örnekler o kümeden seçilmiştir. Yanıt metinleri birebir alınmış, uzunluk nedeniyle markanın geçtiği bölüm kısaltılarak verilmiştir.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701165"/>
            <a:ext cx="5438775" cy="2069782"/>
          </a:xfrm>
          <a:prstGeom prst="roundRect">
            <a:avLst>
              <a:gd name="adj" fmla="val 736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2950" y="1872615"/>
            <a:ext cx="5095875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Prompt: "tabletten bulut oyun oynanır mı"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144078"/>
            <a:ext cx="5095875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Gemini · Sıra 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2380298"/>
            <a:ext cx="114300" cy="920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380298"/>
            <a:ext cx="4962525" cy="920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332F"/>
                </a:solidFill>
                <a:latin typeface="Outfit"/>
              </a:rPr>
              <a:t>"Türkiye'de veya Türkiye'den erişilebilen popüler bulut oyun servisleri şunlardır: 1. NVIDIA GeForce Now (GAME+) - Türkiye sunucuları üzerinden hizmet veren bu platform, güçlü bir internet bağlantısıyla herhangi bir cihazdan yüksek performanslı PC oyunlarını oynamanıza olanak tanır. Windows, macOS, iOS, Android ve Nvidia Shield cihazlarını destekler."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3358198"/>
            <a:ext cx="11430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358198"/>
            <a:ext cx="4962525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332F"/>
                </a:solidFill>
                <a:latin typeface="Outfit"/>
              </a:rPr>
              <a:t>Citation: bluestacks.com · etail.com.tr · gameplus.com.tr · adil.net.tr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725" y="1701165"/>
            <a:ext cx="5438775" cy="2069782"/>
          </a:xfrm>
          <a:prstGeom prst="roundRect">
            <a:avLst>
              <a:gd name="adj" fmla="val 736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53175" y="1872615"/>
            <a:ext cx="5095875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Prompt: "geforce now oyunları neler"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3175" y="2144078"/>
            <a:ext cx="5095875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Google AI Overview · kaynak panelinde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3175" y="2380298"/>
            <a:ext cx="1143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2380298"/>
            <a:ext cx="4962525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332F"/>
                </a:solidFill>
                <a:latin typeface="Outfit"/>
              </a:rPr>
              <a:t>"Nasıl Kontrol Edilir? Tüm güncel ve tam listeyi görmek için resmi GeForce NOW Oyunları sayfasını aratabilirsiniz. Türkiye'deki servis detayları için GAME+ GeForce NOW Oyunlar kütüphanesine göz atabilirsiniz."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3175" y="2989898"/>
            <a:ext cx="11430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525" y="2989898"/>
            <a:ext cx="4962525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332F"/>
                </a:solidFill>
                <a:latin typeface="Outfit"/>
              </a:rPr>
              <a:t>Citation: gameplus.com.tr · reddit.com · nvidia.com · technopat.net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075748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50" y="4075748"/>
            <a:ext cx="10801350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AI Overview yanıtı, oyun listesi sorusunu doğrudan </a:t>
            </a:r>
            <a:r>
              <a:rPr sz="1050" b="1">
                <a:solidFill>
                  <a:srgbClr val="10332F"/>
                </a:solidFill>
                <a:latin typeface="Bricolage Grotesque"/>
              </a:rPr>
              <a:t>gameplus.com.tr/gfn/oyunlar</a:t>
            </a:r>
            <a:r>
              <a:rPr sz="1050" b="0">
                <a:solidFill>
                  <a:srgbClr val="10332F"/>
                </a:solidFill>
                <a:latin typeface="Outfit"/>
              </a:rPr>
              <a:t> sayfasına bağlamaktadır; oyun alt kategorilerinin yayına alınmasının karşılığı bu yanıtta görülmektedir.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YAPAY ZEKA</a:t>
            </a:r>
            <a:r>
              <a:rPr sz="1000" b="0">
                <a:solidFill>
                  <a:srgbClr val="FF7B52"/>
                </a:solidFill>
                <a:latin typeface="Outfit"/>
              </a:rPr>
              <a:t>  |  </a:t>
            </a:r>
            <a:r>
              <a:rPr sz="1000" b="0">
                <a:solidFill>
                  <a:srgbClr val="FF7B52"/>
                </a:solidFill>
                <a:latin typeface="Outfit"/>
              </a:rPr>
              <a:t>Örnek Promptlar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11049000" cy="394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332F"/>
                </a:solidFill>
                <a:latin typeface="Bricolage Grotesque"/>
              </a:rPr>
              <a:t>Marka Adı Geçmeyen Promptlarda Yanıt Örnekleri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785"/>
            <a:ext cx="1104900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A4A"/>
                </a:solidFill>
                <a:latin typeface="Outfit"/>
              </a:rPr>
              <a:t>Temmuz 2026 | ChatGPT ve Gemini | olumlu ve olumsuz çerçeve örneği</a:t>
            </a:r>
          </a:p>
        </p:txBody>
      </p:sp>
      <p:pic>
        <p:nvPicPr>
          <p:cNvPr id="5" name="Picture 4" descr="inbound-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210300"/>
            <a:ext cx="342900" cy="3429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500" y="6267450"/>
            <a:ext cx="2333625" cy="209550"/>
          </a:xfrm>
          <a:prstGeom prst="roundRect">
            <a:avLst>
              <a:gd name="adj" fmla="val 36363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Bricolage Grotesque"/>
              </a:rPr>
              <a:t>Kaynak: Inbound AI Görünürlük İzleme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560695"/>
            <a:ext cx="11049000" cy="4972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İzlenen 72 prompt'un 53'ü marka adı geçmeyen kategori sorusudur; bu bölümdeki örnekler o kümeden seçilmiştir. Yanıt metinleri birebir alınmış, uzunluk nedeniyle markanın geçtiği bölüm kısaltılarak verilmiştir.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Olumsuz çerçeveli yanıt, Temmuz'da olumsuz etiketlenen 3 yanıttan biridir.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701165"/>
            <a:ext cx="5438775" cy="1885632"/>
          </a:xfrm>
          <a:prstGeom prst="roundRect">
            <a:avLst>
              <a:gd name="adj" fmla="val 8082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2950" y="1872615"/>
            <a:ext cx="5095875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Prompt: "ubisoft+ ta hangi oyunlar var"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144078"/>
            <a:ext cx="5095875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ChatGPT · Sıra #1 · olumlu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2380298"/>
            <a:ext cx="114300" cy="736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380298"/>
            <a:ext cx="4962525" cy="736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332F"/>
                </a:solidFill>
                <a:latin typeface="Outfit"/>
              </a:rPr>
              <a:t>"1. Ubisoft+ Classics: PC platformunda mevcut olan bu paket, 30-40 oyun içerir ve standart sürümleriyle sunulur. 2. Ubisoft+ Premium: PC ve Xbox platformlarında erişilebilen bu paket, 120'den fazla oyunu kapsar. (...) Türkiye'de Ubisoft+ Premium aboneliği aylık 399 TL, Ubisoft+ Classics ise aylık 199 TL olarak sunulmaktadır."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3174048"/>
            <a:ext cx="11430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174048"/>
            <a:ext cx="4962525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332F"/>
                </a:solidFill>
                <a:latin typeface="Outfit"/>
              </a:rPr>
              <a:t>Citation: en.wikipedia.org · gameplus.com.tr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725" y="1701165"/>
            <a:ext cx="5438775" cy="1885632"/>
          </a:xfrm>
          <a:prstGeom prst="roundRect">
            <a:avLst>
              <a:gd name="adj" fmla="val 8082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53175" y="1872615"/>
            <a:ext cx="5095875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Prompt: "geforce now mı xbox cloud mu daha iyi"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3175" y="2144078"/>
            <a:ext cx="5095875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Gemini · karşılaştırma yanıtı · olumsuz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3175" y="2380298"/>
            <a:ext cx="1143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2380298"/>
            <a:ext cx="4962525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332F"/>
                </a:solidFill>
                <a:latin typeface="Outfit"/>
              </a:rPr>
              <a:t>"Türkiye Deneyimi: Türkiye'deki Game+ (yerel dağıtıcı) ile ilgili bazı kullanıcı şikayetleri bulunmaktadır. Reklamı yapılan 'RTX On' üyeliklerinde bile sıklıkla GTX 1060 gibi daha eski ekran kartlarına düşülebildiği belirtilmektedir."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3175" y="2989898"/>
            <a:ext cx="11430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525" y="2989898"/>
            <a:ext cx="4962525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332F"/>
                </a:solidFill>
                <a:latin typeface="Outfit"/>
              </a:rPr>
              <a:t>Citation: reddit.com · youtube.com · en.wikipedia.org · gameseal.com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3891598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50" y="3891598"/>
            <a:ext cx="10801350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Ubisoft+ yanıtında paket ve fiyat bilgisi doğrudan marka sayfasından alınmaktadır. Karşılaştırma sorusunda ise anlatım kullanıcı içeriği kaynaklarına dayanmakta ve donanım beklentisi üzerinden olumsuz bir çerçeve kurulmaktadır; bu başlıkta marka sayfalarında açıklayıcı içerik değerlendirilebilir.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YAPAY ZEKA</a:t>
            </a:r>
            <a:r>
              <a:rPr sz="1000" b="0">
                <a:solidFill>
                  <a:srgbClr val="FF7B52"/>
                </a:solidFill>
                <a:latin typeface="Outfit"/>
              </a:rPr>
              <a:t>  |  </a:t>
            </a:r>
            <a:r>
              <a:rPr sz="1000" b="0">
                <a:solidFill>
                  <a:srgbClr val="FF7B52"/>
                </a:solidFill>
                <a:latin typeface="Outfit"/>
              </a:rPr>
              <a:t>Marka Anlatımı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11049000" cy="394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332F"/>
                </a:solidFill>
                <a:latin typeface="Bricolage Grotesque"/>
              </a:rPr>
              <a:t>Yapay Zeka Yanıtlarında Markadan Nasıl Bahsediliyor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785"/>
            <a:ext cx="1104900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A4A"/>
                </a:solidFill>
                <a:latin typeface="Outfit"/>
              </a:rPr>
              <a:t>Son koşu | markanın anıldığı yanıtlardaki bağlam</a:t>
            </a:r>
          </a:p>
        </p:txBody>
      </p:sp>
      <p:pic>
        <p:nvPicPr>
          <p:cNvPr id="5" name="Picture 4" descr="inbound-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210300"/>
            <a:ext cx="342900" cy="3429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500" y="6267450"/>
            <a:ext cx="2333625" cy="209550"/>
          </a:xfrm>
          <a:prstGeom prst="roundRect">
            <a:avLst>
              <a:gd name="adj" fmla="val 36363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Bricolage Grotesque"/>
              </a:rPr>
              <a:t>Kaynak: Inbound AI Görünürlük İzleme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26430"/>
            <a:ext cx="11049000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Alıntılar yanıt metinlerinden birebir alınmıştır.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Tepki tonu etiketi yanıtların %20.5'inde üretilmiştir. Ölçüm Temmuz 2026 başında başladığı için önceki dönemle karşılaştırma yapılmamıştır.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701165"/>
            <a:ext cx="3568700" cy="1517332"/>
          </a:xfrm>
          <a:prstGeom prst="roundRect">
            <a:avLst>
              <a:gd name="adj" fmla="val 1004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2950" y="1872615"/>
            <a:ext cx="3225800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Konumlandırma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144078"/>
            <a:ext cx="3225800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en sık kurulan cümle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2380298"/>
            <a:ext cx="1143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380298"/>
            <a:ext cx="309245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332F"/>
                </a:solidFill>
                <a:latin typeface="Outfit"/>
              </a:rPr>
              <a:t>"Türkiye'de Turkcell'in GAME+ servisi aracılığıyla hizmet vermektedir."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2805748"/>
            <a:ext cx="11430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805748"/>
            <a:ext cx="309245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332F"/>
                </a:solidFill>
                <a:latin typeface="Outfit"/>
              </a:rPr>
              <a:t>Marka, NVIDIA ile birlikte anılıyor.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1650" y="1701165"/>
            <a:ext cx="3568700" cy="1517332"/>
          </a:xfrm>
          <a:prstGeom prst="roundRect">
            <a:avLst>
              <a:gd name="adj" fmla="val 1004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83100" y="1872615"/>
            <a:ext cx="3225800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Öne çıkan özellikler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3100" y="2144078"/>
            <a:ext cx="3225800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yanıtlarda vurgulananlar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3100" y="2380298"/>
            <a:ext cx="11430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6450" y="2380298"/>
            <a:ext cx="309245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332F"/>
                </a:solidFill>
                <a:latin typeface="Outfit"/>
              </a:rPr>
              <a:t>Ücretsiz paket ve 1 saatlik oturum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3100" y="2621598"/>
            <a:ext cx="1143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6450" y="2621598"/>
            <a:ext cx="309245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332F"/>
                </a:solidFill>
                <a:latin typeface="Outfit"/>
              </a:rPr>
              <a:t>Android telefon ve tablet uyumluluğu · İstanbul sunucusu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1800" y="1701165"/>
            <a:ext cx="3568700" cy="1517332"/>
          </a:xfrm>
          <a:prstGeom prst="roundRect">
            <a:avLst>
              <a:gd name="adj" fmla="val 1004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3250" y="1872615"/>
            <a:ext cx="3225800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Tepki tonu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3250" y="2144078"/>
            <a:ext cx="3225800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332 etiketli yanıt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3250" y="2380298"/>
            <a:ext cx="11430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6600" y="2380298"/>
            <a:ext cx="3092450" cy="184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332F"/>
                </a:solidFill>
                <a:latin typeface="Outfit"/>
              </a:rPr>
              <a:t>263 nötr · 66 olumlu · 3 olumsuz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" y="3485198"/>
            <a:ext cx="5438775" cy="1460182"/>
          </a:xfrm>
          <a:prstGeom prst="roundRect">
            <a:avLst>
              <a:gd name="adj" fmla="val 10437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2950" y="3656648"/>
            <a:ext cx="5095875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Olumlu örnek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3928110"/>
            <a:ext cx="5095875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Gemini · "oyunlar indirmeden nasıl açılır"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4164330"/>
            <a:ext cx="1143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300" y="4164330"/>
            <a:ext cx="4962525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332F"/>
                </a:solidFill>
                <a:latin typeface="Outfit"/>
              </a:rPr>
              <a:t>"NVIDIA GeForce NOW (Türkiye'de Game+) - Bu bulut oyun platformu, güçlü bir oyun bilgisayarına sahip olmadan yüksek grafikli oyunları oynamanıza olanak tanır."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1725" y="3485198"/>
            <a:ext cx="5438775" cy="1460182"/>
          </a:xfrm>
          <a:prstGeom prst="roundRect">
            <a:avLst>
              <a:gd name="adj" fmla="val 10437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353175" y="3656648"/>
            <a:ext cx="5095875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Olumsuz örnek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3175" y="3928110"/>
            <a:ext cx="5095875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Gemini · "geforce now mı xbox cloud mu daha iyi"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3175" y="4164330"/>
            <a:ext cx="1143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6525" y="4164330"/>
            <a:ext cx="4962525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332F"/>
                </a:solidFill>
                <a:latin typeface="Outfit"/>
              </a:rPr>
              <a:t>"Türkiye'deki Game+ (yerel dağıtıcı) ile ilgili bazı kullanıcı şikayetleri bulunmaktadır. Reklamı yapılan 'RTX On' üyeliklerinde bile sıklıkla daha eski ekran kartlarına düşülebildiği belirtilmektedir."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5231130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150" y="5231130"/>
            <a:ext cx="108013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Yanıtlar markayı </a:t>
            </a:r>
            <a:r>
              <a:rPr sz="1050" b="1">
                <a:solidFill>
                  <a:srgbClr val="10332F"/>
                </a:solidFill>
                <a:latin typeface="Bricolage Grotesque"/>
              </a:rPr>
              <a:t>GeForce NOW'ın Türkiye sağlayıcısı</a:t>
            </a:r>
            <a:r>
              <a:rPr sz="1050" b="0">
                <a:solidFill>
                  <a:srgbClr val="10332F"/>
                </a:solidFill>
                <a:latin typeface="Outfit"/>
              </a:rPr>
              <a:t> olarak konumlandırmaktadır.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YAPAY ZEKA</a:t>
            </a:r>
            <a:r>
              <a:rPr sz="1000" b="0">
                <a:solidFill>
                  <a:srgbClr val="FF7B52"/>
                </a:solidFill>
                <a:latin typeface="Outfit"/>
              </a:rPr>
              <a:t>  |  </a:t>
            </a:r>
            <a:r>
              <a:rPr sz="1000" b="0">
                <a:solidFill>
                  <a:srgbClr val="FF7B52"/>
                </a:solidFill>
                <a:latin typeface="Outfit"/>
              </a:rPr>
              <a:t>Yapay Zeka Kaynaklı Trafik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11049000" cy="394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332F"/>
                </a:solidFill>
                <a:latin typeface="Bricolage Grotesque"/>
              </a:rPr>
              <a:t>Yapay Zeka Kaynaklı Trafiğin Aylık Seyri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785"/>
            <a:ext cx="1104900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A4A"/>
                </a:solidFill>
                <a:latin typeface="Outfit"/>
              </a:rPr>
              <a:t>Tem 2025 - Tem 2026 | GA4 segment | session</a:t>
            </a:r>
          </a:p>
        </p:txBody>
      </p:sp>
      <p:pic>
        <p:nvPicPr>
          <p:cNvPr id="5" name="Picture 4" descr="inbound-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210300"/>
            <a:ext cx="342900" cy="3429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500" y="6267450"/>
            <a:ext cx="1809750" cy="209550"/>
          </a:xfrm>
          <a:prstGeom prst="roundRect">
            <a:avLst>
              <a:gd name="adj" fmla="val 36363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Bricolage Grotesque"/>
              </a:rPr>
              <a:t>Kaynak: GA4 - Cloud Gaming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26430"/>
            <a:ext cx="11049000" cy="331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Seri, GA4'te tanımlı yapay zeka kaynaklı trafik segmentinden alınmıştır. Varsayılan kanal grubundaki "AI Assistant" etiketi yalnızca Haziran 2026'dan itibaren kayıt taşıdığı için aylık seride bu segment kullanılmıştır.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14975" y="173926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86425" y="1720215"/>
            <a:ext cx="10477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AI kaynaklı session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5850" y="3148965"/>
            <a:ext cx="100203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" y="308229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5850" y="2839402"/>
            <a:ext cx="1002030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2772728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245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5850" y="2529840"/>
            <a:ext cx="1002030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" y="2463165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490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5850" y="2220278"/>
            <a:ext cx="1002030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2153602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735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5850" y="1910715"/>
            <a:ext cx="10020300" cy="9525"/>
          </a:xfrm>
          <a:prstGeom prst="rect">
            <a:avLst/>
          </a:prstGeom>
          <a:solidFill>
            <a:srgbClr val="F0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" y="1844040"/>
            <a:ext cx="438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980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8371" y="2868406"/>
            <a:ext cx="285750" cy="280559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85850" y="2716006"/>
            <a:ext cx="77079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A4A4A"/>
                </a:solidFill>
                <a:latin typeface="Bricolage Grotesque"/>
              </a:rPr>
              <a:t>222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9163" y="2864615"/>
            <a:ext cx="285750" cy="28435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856642" y="2712215"/>
            <a:ext cx="77079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A4A4A"/>
                </a:solidFill>
                <a:latin typeface="Bricolage Grotesque"/>
              </a:rPr>
              <a:t>225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69956" y="2944233"/>
            <a:ext cx="285750" cy="204732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627435" y="2791833"/>
            <a:ext cx="77079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A4A4A"/>
                </a:solidFill>
                <a:latin typeface="Bricolage Grotesque"/>
              </a:rPr>
              <a:t>162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40748" y="2858296"/>
            <a:ext cx="285750" cy="290669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398227" y="2705896"/>
            <a:ext cx="77079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A4A4A"/>
                </a:solidFill>
                <a:latin typeface="Bricolage Grotesque"/>
              </a:rPr>
              <a:t>230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11540" y="2821646"/>
            <a:ext cx="285750" cy="327319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169019" y="2669246"/>
            <a:ext cx="77079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A4A4A"/>
                </a:solidFill>
                <a:latin typeface="Bricolage Grotesque"/>
              </a:rPr>
              <a:t>259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82333" y="2831757"/>
            <a:ext cx="285750" cy="31720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939812" y="2679357"/>
            <a:ext cx="77079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A4A4A"/>
                </a:solidFill>
                <a:latin typeface="Bricolage Grotesque"/>
              </a:rPr>
              <a:t>251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53125" y="2676312"/>
            <a:ext cx="285750" cy="472653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710604" y="2523912"/>
            <a:ext cx="77079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A4A4A"/>
                </a:solidFill>
                <a:latin typeface="Bricolage Grotesque"/>
              </a:rPr>
              <a:t>374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3917" y="2691477"/>
            <a:ext cx="285750" cy="45748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81396" y="2539077"/>
            <a:ext cx="77079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A4A4A"/>
                </a:solidFill>
                <a:latin typeface="Bricolage Grotesque"/>
              </a:rPr>
              <a:t>362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4710" y="2379324"/>
            <a:ext cx="285750" cy="769641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252188" y="2226924"/>
            <a:ext cx="77079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A4A4A"/>
                </a:solidFill>
                <a:latin typeface="Bricolage Grotesque"/>
              </a:rPr>
              <a:t>609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65502" y="2515812"/>
            <a:ext cx="285750" cy="633153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022981" y="2363412"/>
            <a:ext cx="77079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A4A4A"/>
                </a:solidFill>
                <a:latin typeface="Bricolage Grotesque"/>
              </a:rPr>
              <a:t>501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36294" y="2072226"/>
            <a:ext cx="285750" cy="1076739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793773" y="1919826"/>
            <a:ext cx="77079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A4A4A"/>
                </a:solidFill>
                <a:latin typeface="Bricolage Grotesque"/>
              </a:rPr>
              <a:t>852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07087" y="2510757"/>
            <a:ext cx="285750" cy="63820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564565" y="2358357"/>
            <a:ext cx="77079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A4A4A"/>
                </a:solidFill>
                <a:latin typeface="Bricolage Grotesque"/>
              </a:rPr>
              <a:t>505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577879" y="2471580"/>
            <a:ext cx="285750" cy="67738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335358" y="2319180"/>
            <a:ext cx="77079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A4A4A"/>
                </a:solidFill>
                <a:latin typeface="Bricolage Grotesque"/>
              </a:rPr>
              <a:t>536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5850" y="319659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Tem'25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56642" y="319659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Ağu'25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27435" y="319659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Eyl'25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98227" y="319659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Eki'25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69019" y="319659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Kas'25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9812" y="319659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Ara'25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10604" y="319659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Oca'26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81396" y="319659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Şub'26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52188" y="319659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Mar'26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22981" y="319659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Nis'26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93773" y="319659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May'26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64565" y="319659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Haz'26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5358" y="3196590"/>
            <a:ext cx="77079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A4A4A"/>
                </a:solidFill>
                <a:latin typeface="Outfit"/>
              </a:rPr>
              <a:t>Tem'26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1500" y="3625215"/>
            <a:ext cx="11049000" cy="228600"/>
          </a:xfrm>
          <a:prstGeom prst="rect">
            <a:avLst/>
          </a:prstGeom>
          <a:solidFill>
            <a:srgbClr val="103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85800" y="3625215"/>
            <a:ext cx="47625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Metrik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90650" y="3625215"/>
            <a:ext cx="59861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Tem'25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17860" y="3625215"/>
            <a:ext cx="57956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Ağu'25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26019" y="3625215"/>
            <a:ext cx="51288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Eyl'25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67504" y="3625215"/>
            <a:ext cx="51288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Eki'25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08988" y="3625215"/>
            <a:ext cx="56051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Kas'25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98098" y="3625215"/>
            <a:ext cx="55098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Ara'25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77683" y="3625215"/>
            <a:ext cx="57956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Oca'26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85842" y="3625215"/>
            <a:ext cx="57956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Şub'26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94002" y="3625215"/>
            <a:ext cx="57956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Mar'26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02162" y="3625215"/>
            <a:ext cx="54146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Nis'26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72221" y="3625215"/>
            <a:ext cx="59861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May'26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99431" y="3625215"/>
            <a:ext cx="57003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Haz'26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98065" y="3625215"/>
            <a:ext cx="60813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Bricolage Grotesque"/>
              </a:rPr>
              <a:t>Tem'26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3853815"/>
            <a:ext cx="476250" cy="2752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Session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90650" y="3853815"/>
            <a:ext cx="59861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222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17860" y="3853815"/>
            <a:ext cx="57956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225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911719" y="3853815"/>
            <a:ext cx="741485" cy="275272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026019" y="3853815"/>
            <a:ext cx="51288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D32F2F"/>
                </a:solidFill>
                <a:latin typeface="Bricolage Grotesque"/>
              </a:rPr>
              <a:t>162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67504" y="3853815"/>
            <a:ext cx="51288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230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08988" y="3853815"/>
            <a:ext cx="56051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259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98098" y="3853815"/>
            <a:ext cx="55098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251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77683" y="3853815"/>
            <a:ext cx="57956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374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85842" y="3853815"/>
            <a:ext cx="57956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362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94002" y="3853815"/>
            <a:ext cx="57956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609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02162" y="3853815"/>
            <a:ext cx="54146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501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57921" y="3853815"/>
            <a:ext cx="827210" cy="275272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9272221" y="3853815"/>
            <a:ext cx="598610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1">
                <a:solidFill>
                  <a:srgbClr val="2E7D32"/>
                </a:solidFill>
                <a:latin typeface="Bricolage Grotesque"/>
              </a:rPr>
              <a:t>852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99431" y="3853815"/>
            <a:ext cx="57003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505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898065" y="3853815"/>
            <a:ext cx="608135" cy="2752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536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71500" y="385381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71500" y="4129088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71500" y="4414838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19150" y="4414838"/>
            <a:ext cx="108013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Yapay zeka kaynaklı trafik Tem 2025'te </a:t>
            </a:r>
            <a:r>
              <a:rPr sz="1050" b="1">
                <a:solidFill>
                  <a:srgbClr val="10332F"/>
                </a:solidFill>
                <a:latin typeface="Bricolage Grotesque"/>
              </a:rPr>
              <a:t>222</a:t>
            </a:r>
            <a:r>
              <a:rPr sz="1050" b="0">
                <a:solidFill>
                  <a:srgbClr val="10332F"/>
                </a:solidFill>
                <a:latin typeface="Outfit"/>
              </a:rPr>
              <a:t> session iken Tem 2026'da 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536</a:t>
            </a:r>
            <a:r>
              <a:rPr sz="1050" b="0">
                <a:solidFill>
                  <a:srgbClr val="10332F"/>
                </a:solidFill>
                <a:latin typeface="Outfit"/>
              </a:rPr>
              <a:t> session'a ulaşmıştır; yıllık artış </a:t>
            </a:r>
            <a:r>
              <a:rPr sz="1050" b="1">
                <a:solidFill>
                  <a:srgbClr val="2E7D32"/>
                </a:solidFill>
                <a:latin typeface="Bricolage Grotesque"/>
              </a:rPr>
              <a:t>+%141.4</a:t>
            </a:r>
            <a:r>
              <a:rPr sz="1050" b="0">
                <a:solidFill>
                  <a:srgbClr val="10332F"/>
                </a:solidFill>
                <a:latin typeface="Outfit"/>
              </a:rPr>
              <a:t> seviyesindedir.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71500" y="4729162"/>
            <a:ext cx="171450" cy="2000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9150" y="4729162"/>
            <a:ext cx="10801350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Serinin zirvesi Mayıs 2026'da </a:t>
            </a:r>
            <a:r>
              <a:rPr sz="1050" b="1">
                <a:solidFill>
                  <a:srgbClr val="10332F"/>
                </a:solidFill>
                <a:latin typeface="Bricolage Grotesque"/>
              </a:rPr>
              <a:t>852</a:t>
            </a:r>
            <a:r>
              <a:rPr sz="1050" b="0">
                <a:solidFill>
                  <a:srgbClr val="10332F"/>
                </a:solidFill>
                <a:latin typeface="Outfit"/>
              </a:rPr>
              <a:t> session olarak ölçülmüştür. Hacim toplam trafiğin yanında küçük kalmakla birlikte istikrarlı yükseliş göstermekte ve yeni bir giriş kaynağı olarak izlenmeye değer görünmektedir.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6688" y="2438400"/>
            <a:ext cx="2447925" cy="190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sz="15000" b="1">
                <a:solidFill>
                  <a:srgbClr val="254E49"/>
                </a:solidFill>
                <a:latin typeface="Bricolage Grotesque"/>
              </a:rPr>
              <a:t>07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891212" y="2841879"/>
            <a:ext cx="409575" cy="104775"/>
          </a:xfrm>
          <a:prstGeom prst="roundRect">
            <a:avLst>
              <a:gd name="adj" fmla="val 27272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52750" y="3175254"/>
            <a:ext cx="6286500" cy="5074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8000"/>
              </a:lnSpc>
            </a:pPr>
            <a:r>
              <a:rPr sz="3700" b="1">
                <a:solidFill>
                  <a:srgbClr val="FEFEF7"/>
                </a:solidFill>
                <a:latin typeface="Bricolage Grotesque"/>
              </a:rPr>
              <a:t>Yapılan ve Planlanan İşler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1212" y="3911346"/>
            <a:ext cx="409575" cy="104775"/>
          </a:xfrm>
          <a:prstGeom prst="roundRect">
            <a:avLst>
              <a:gd name="adj" fmla="val 27272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SÜREÇ</a:t>
            </a:r>
            <a:r>
              <a:rPr sz="1000" b="0">
                <a:solidFill>
                  <a:srgbClr val="FF7B52"/>
                </a:solidFill>
                <a:latin typeface="Outfit"/>
              </a:rPr>
              <a:t>  |  </a:t>
            </a:r>
            <a:r>
              <a:rPr sz="1000" b="0">
                <a:solidFill>
                  <a:srgbClr val="FF7B52"/>
                </a:solidFill>
                <a:latin typeface="Outfit"/>
              </a:rPr>
              <a:t>Tamamlanan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11049000" cy="394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332F"/>
                </a:solidFill>
                <a:latin typeface="Bricolage Grotesque"/>
              </a:rPr>
              <a:t>Tamamlanan İşler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785"/>
            <a:ext cx="1104900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A4A"/>
                </a:solidFill>
                <a:latin typeface="Outfit"/>
              </a:rPr>
              <a:t>Dönem içinde tamamlanan çalışmalar</a:t>
            </a:r>
          </a:p>
        </p:txBody>
      </p:sp>
      <p:pic>
        <p:nvPicPr>
          <p:cNvPr id="5" name="Picture 4" descr="inbound-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210300"/>
            <a:ext cx="342900" cy="3429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500" y="6267450"/>
            <a:ext cx="1152525" cy="209550"/>
          </a:xfrm>
          <a:prstGeom prst="roundRect">
            <a:avLst>
              <a:gd name="adj" fmla="val 36363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Bricolage Grotesque"/>
              </a:rPr>
              <a:t>Kaynak: Inbound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701165"/>
            <a:ext cx="3568700" cy="2237422"/>
          </a:xfrm>
          <a:prstGeom prst="roundRect">
            <a:avLst>
              <a:gd name="adj" fmla="val 681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2950" y="1872615"/>
            <a:ext cx="3225800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Ubisoft+ içerikleri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2144078"/>
            <a:ext cx="3225800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tamamlandı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380298"/>
            <a:ext cx="11430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380298"/>
            <a:ext cx="309245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Ubisoft+ Temmuz ve Ağustos yazıları tamamlandı.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2842578"/>
            <a:ext cx="11430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842578"/>
            <a:ext cx="309245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/ubisoft sayfası Temmuz'da +275 click ile en yüksek oransal artışı gösterdi (+%283.5).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3304858"/>
            <a:ext cx="11430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304858"/>
            <a:ext cx="309245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AI Overview yanıtlarında ubisoft/oyunlar sayfası kaynak gösterilmeye başlandı.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1650" y="1701165"/>
            <a:ext cx="3568700" cy="2237422"/>
          </a:xfrm>
          <a:prstGeom prst="roundRect">
            <a:avLst>
              <a:gd name="adj" fmla="val 681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83100" y="1872615"/>
            <a:ext cx="3225800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Blog detay tasarımı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3100" y="2144078"/>
            <a:ext cx="3225800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onaylandı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3100" y="2380298"/>
            <a:ext cx="114300" cy="202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6450" y="2380298"/>
            <a:ext cx="3092450" cy="202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Blog detay tasarımı son haline getirildi.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3100" y="2640012"/>
            <a:ext cx="114300" cy="202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6450" y="2640012"/>
            <a:ext cx="3092450" cy="202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Tasarım ekibinden onay alındı.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3100" y="2899728"/>
            <a:ext cx="11430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6450" y="2899728"/>
            <a:ext cx="309245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Eski yazıların bu tasarıma taşınması Ağustos planındadır.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1800" y="1701165"/>
            <a:ext cx="3568700" cy="2237422"/>
          </a:xfrm>
          <a:prstGeom prst="roundRect">
            <a:avLst>
              <a:gd name="adj" fmla="val 681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23250" y="1872615"/>
            <a:ext cx="3225800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Oyun alt kategorileri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3250" y="2144078"/>
            <a:ext cx="3225800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içerikler yayında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3250" y="2380298"/>
            <a:ext cx="11430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600" y="2380298"/>
            <a:ext cx="309245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Oyunlar kategorisi altındaki alt kategori içerikleri yayına alındı.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3250" y="2842578"/>
            <a:ext cx="11430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6600" y="2842578"/>
            <a:ext cx="309245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Temmuz, kategorilerin ilk tam ayı oldu: 4.7K GA4 session, 2.3K GSC click.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1500" y="4262438"/>
            <a:ext cx="11049000" cy="1602105"/>
          </a:xfrm>
          <a:prstGeom prst="roundRect">
            <a:avLst>
              <a:gd name="adj" fmla="val 9512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2950" y="4433888"/>
            <a:ext cx="10706100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Game+ Ekibinde Bekleyen Maddeler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950" y="4705350"/>
            <a:ext cx="10706100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ilerlemek için gereken girdiler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950" y="4941570"/>
            <a:ext cx="114300" cy="1933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6300" y="4941570"/>
            <a:ext cx="10572750" cy="1933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Mixpanel ve Microsoft Clarity yetki tanımlamaları · Clarity tarafında AI insight raporlarına da erişilebilmektedir, bu raporlar GEO çalışmaları için kullanılabilir.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950" y="5192077"/>
            <a:ext cx="114300" cy="1933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6300" y="5192077"/>
            <a:ext cx="10572750" cy="1933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Bloglara eklenen UTM'lerin takip edilip edilmediğinin netleştirilmesi; ilgili bir rapor bulunuyorsa paylaşılması.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5442585"/>
            <a:ext cx="114300" cy="1933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6300" y="5442585"/>
            <a:ext cx="10572750" cy="1933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0332F"/>
                </a:solidFill>
                <a:latin typeface="Outfit"/>
              </a:rPr>
              <a:t>Oyun detay sayfaları için içerik teklifi hazırlanabilmesi adına güncel oyun listesinin (en çok oynanan oyunlar) iletilmesi.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SÜREÇ</a:t>
            </a:r>
            <a:r>
              <a:rPr sz="1000" b="0">
                <a:solidFill>
                  <a:srgbClr val="FF7B52"/>
                </a:solidFill>
                <a:latin typeface="Outfit"/>
              </a:rPr>
              <a:t>  |  </a:t>
            </a:r>
            <a:r>
              <a:rPr sz="1000" b="0">
                <a:solidFill>
                  <a:srgbClr val="FF7B52"/>
                </a:solidFill>
                <a:latin typeface="Outfit"/>
              </a:rPr>
              <a:t>Ağustos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11049000" cy="394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332F"/>
                </a:solidFill>
                <a:latin typeface="Bricolage Grotesque"/>
              </a:rPr>
              <a:t>Planlanan İşler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785"/>
            <a:ext cx="1104900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A4A"/>
                </a:solidFill>
                <a:latin typeface="Outfit"/>
              </a:rPr>
              <a:t>Önümüzdeki dönemde ele alınacak çalışmalar</a:t>
            </a:r>
          </a:p>
        </p:txBody>
      </p:sp>
      <p:pic>
        <p:nvPicPr>
          <p:cNvPr id="5" name="Picture 4" descr="inbound-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210300"/>
            <a:ext cx="342900" cy="3429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500" y="6267450"/>
            <a:ext cx="1152525" cy="209550"/>
          </a:xfrm>
          <a:prstGeom prst="roundRect">
            <a:avLst>
              <a:gd name="adj" fmla="val 36363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Bricolage Grotesque"/>
              </a:rPr>
              <a:t>Kaynak: Inbound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701165"/>
            <a:ext cx="2633662" cy="2642552"/>
          </a:xfrm>
          <a:prstGeom prst="roundRect">
            <a:avLst>
              <a:gd name="adj" fmla="val 5786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2950" y="1872615"/>
            <a:ext cx="2290762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İçerik güncelleme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2144078"/>
            <a:ext cx="2290762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haftalık takvim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380298"/>
            <a:ext cx="114300" cy="6076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380298"/>
            <a:ext cx="2157412" cy="6076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Eski blog yazılarının yeni blog detay tasarımına göre haftalık takvimle güncellenmesi.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3045143"/>
            <a:ext cx="114300" cy="6076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045143"/>
            <a:ext cx="2157412" cy="6076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Oyunlar alt kategori içeriklerinin yeni formata göre güncellenmesi.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76612" y="1701165"/>
            <a:ext cx="2633662" cy="2642552"/>
          </a:xfrm>
          <a:prstGeom prst="roundRect">
            <a:avLst>
              <a:gd name="adj" fmla="val 5786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48062" y="1872615"/>
            <a:ext cx="2290762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Oyun detay sayfaları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8062" y="2144078"/>
            <a:ext cx="2290762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içerik teklifi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8062" y="2380298"/>
            <a:ext cx="11430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1412" y="2380298"/>
            <a:ext cx="2157412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Test sitesindeki örnek sayfada içerik alanları incelendi.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8062" y="2842578"/>
            <a:ext cx="11430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1412" y="2842578"/>
            <a:ext cx="2157412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Oyun detaya özgü bir içerik teklifi alınacak.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8062" y="3304858"/>
            <a:ext cx="114300" cy="810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1412" y="3304858"/>
            <a:ext cx="2157412" cy="810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Arama hacmi en yüksek oyunlar ile en çok oynanan oyunlar kesiştirilerek öncelik listesi belirlenecek.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725" y="1701165"/>
            <a:ext cx="2633662" cy="2642552"/>
          </a:xfrm>
          <a:prstGeom prst="roundRect">
            <a:avLst>
              <a:gd name="adj" fmla="val 5786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53175" y="1872615"/>
            <a:ext cx="2290762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Oyun detay yayın öncesi ruleset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3175" y="2144078"/>
            <a:ext cx="2290762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teknik hazırlık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3175" y="2380298"/>
            <a:ext cx="114300" cy="1012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6525" y="2380298"/>
            <a:ext cx="2157412" cy="1012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Yeni oyun detay sayfaları yayına çıkmadan önce meta title, meta description, URL yapısı ve schema alanları için ruleset tanımlanması gerekiyor.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3175" y="3450272"/>
            <a:ext cx="114300" cy="6076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6525" y="3450272"/>
            <a:ext cx="2157412" cy="6076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Ruleset, sayfa sayısı arttıkça tekil düzenleme ihtiyacını ortadan kaldırır.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86838" y="1701165"/>
            <a:ext cx="2633662" cy="2642552"/>
          </a:xfrm>
          <a:prstGeom prst="roundRect">
            <a:avLst>
              <a:gd name="adj" fmla="val 5786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58288" y="1872615"/>
            <a:ext cx="2290762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Ölçümleme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8288" y="2144078"/>
            <a:ext cx="2290762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takip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8288" y="2380298"/>
            <a:ext cx="11430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1638" y="2380298"/>
            <a:ext cx="2157412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Bloglardaki UTM takibinin durumu netleştirilecek.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58288" y="2842578"/>
            <a:ext cx="114300" cy="810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1638" y="2842578"/>
            <a:ext cx="2157412" cy="810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GA4 landing page listesindeki tarama aracı kaynaklı kayıtlar için filtre tanımlanması değerlendirilebilir.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7B52"/>
                </a:solidFill>
                <a:latin typeface="Bricolage Grotesque"/>
              </a:rPr>
              <a:t>DEĞERLENDİRME</a:t>
            </a:r>
            <a:r>
              <a:rPr sz="1000" b="0">
                <a:solidFill>
                  <a:srgbClr val="FF7B52"/>
                </a:solidFill>
                <a:latin typeface="Outfit"/>
              </a:rPr>
              <a:t>  |  </a:t>
            </a:r>
            <a:r>
              <a:rPr sz="1000" b="0">
                <a:solidFill>
                  <a:srgbClr val="FF7B52"/>
                </a:solidFill>
                <a:latin typeface="Outfit"/>
              </a:rPr>
              <a:t>Öne Çıkan Başlıklar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38200"/>
            <a:ext cx="11049000" cy="39433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0332F"/>
                </a:solidFill>
                <a:latin typeface="Bricolage Grotesque"/>
              </a:rPr>
              <a:t>Önümüzdeki Dönemde Öne Çıkan Üç Başlık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27785"/>
            <a:ext cx="11049000" cy="2209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A4A"/>
                </a:solidFill>
                <a:latin typeface="Outfit"/>
              </a:rPr>
              <a:t>Bu dönemin bulgularından türetilen çalışma alanları</a:t>
            </a:r>
          </a:p>
        </p:txBody>
      </p:sp>
      <p:pic>
        <p:nvPicPr>
          <p:cNvPr id="5" name="Picture 4" descr="inbound-o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210300"/>
            <a:ext cx="342900" cy="3429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52500" y="6267450"/>
            <a:ext cx="4124325" cy="209550"/>
          </a:xfrm>
          <a:prstGeom prst="roundRect">
            <a:avLst>
              <a:gd name="adj" fmla="val 36363"/>
            </a:avLst>
          </a:prstGeom>
          <a:solidFill>
            <a:srgbClr val="FF7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Bricolage Grotesque"/>
              </a:rPr>
              <a:t>Kaynak: Google Search Console, GA4 ve Inbound AI Görünürlük İzleme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892165"/>
            <a:ext cx="11049000" cy="1657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900" b="0">
                <a:solidFill>
                  <a:srgbClr val="8A8A8A"/>
                </a:solidFill>
                <a:latin typeface="Outfit"/>
              </a:rPr>
              <a:t>Başlıkların önceliklendirilmesi Game+ ekibinin stratejik tercihleri ve öncelikleriyle güncellenebilir.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701165"/>
            <a:ext cx="3568700" cy="2439988"/>
          </a:xfrm>
          <a:prstGeom prst="roundRect">
            <a:avLst>
              <a:gd name="adj" fmla="val 6245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2950" y="1872615"/>
            <a:ext cx="3225800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GFN ve brand talebindeki daralma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144078"/>
            <a:ext cx="3225800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izleme başlığı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2380298"/>
            <a:ext cx="11430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380298"/>
            <a:ext cx="309245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GFN tarafında click yıllık bazda %64.1, brand tarafında %30.6 geriledi.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2842578"/>
            <a:ext cx="11430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842578"/>
            <a:ext cx="309245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Brand ortalama pozisyonu da gerilemiş durumda.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3304858"/>
            <a:ext cx="114300" cy="6076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304858"/>
            <a:ext cx="3092450" cy="6076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Marka ve GFN sorgularında sıralama ve içerik durumunun ayrı bir başlıkta ele alınması değerlendirilebilir.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1650" y="1701165"/>
            <a:ext cx="3568700" cy="2439988"/>
          </a:xfrm>
          <a:prstGeom prst="roundRect">
            <a:avLst>
              <a:gd name="adj" fmla="val 6245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83100" y="1872615"/>
            <a:ext cx="3225800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Blog trafiğinin haftalık seriye bağlılığı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3100" y="2144078"/>
            <a:ext cx="3225800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içerik dengesi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3100" y="2380298"/>
            <a:ext cx="114300" cy="6076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6450" y="2380298"/>
            <a:ext cx="3092450" cy="6076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Temmuz blog trafiğinin belirgin bölümü tek bir GFN Thursday yazısından geliyor (14.4K session).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3100" y="3045143"/>
            <a:ext cx="11430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6450" y="3045143"/>
            <a:ext cx="309245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Sıralaması gerileyen kalıcı yazılar var: resident evil ve call of duty black ops başlıkları.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3100" y="3507422"/>
            <a:ext cx="114300" cy="202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6450" y="3507422"/>
            <a:ext cx="3092450" cy="2025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Kalıcı içeriğin güncellenmesi öncelikli tutulabilir.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51800" y="1701165"/>
            <a:ext cx="3568700" cy="2439988"/>
          </a:xfrm>
          <a:prstGeom prst="roundRect">
            <a:avLst>
              <a:gd name="adj" fmla="val 6245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3250" y="1872615"/>
            <a:ext cx="3225800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0332F"/>
                </a:solidFill>
                <a:latin typeface="Bricolage Grotesque"/>
              </a:rPr>
              <a:t>Yapay zeka yanıtlarındaki konum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3250" y="2144078"/>
            <a:ext cx="3225800" cy="1600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A8A8A"/>
                </a:solidFill>
                <a:latin typeface="Outfit"/>
              </a:rPr>
              <a:t>fırsat alanı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3250" y="2380298"/>
            <a:ext cx="11430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6600" y="2380298"/>
            <a:ext cx="309245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gameplus.com.tr, yanıtlarda en çok Citation alan kaynak (1.490 citation).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3250" y="2842578"/>
            <a:ext cx="11430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6600" y="2842578"/>
            <a:ext cx="3092450" cy="4051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ChatGPT tarafında anılma oranı %47.7 ile en düşük seviyede.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3250" y="3304858"/>
            <a:ext cx="114300" cy="6076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6600" y="3304858"/>
            <a:ext cx="3092450" cy="6076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Ücretsiz paket, cihaz uyumluluğu ve yerel sunucu başlıklarının içerikte güçlendirilmesi değerlendirilebilir.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4465002"/>
            <a:ext cx="1714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FF7B52"/>
                </a:solidFill>
                <a:latin typeface="Outfit"/>
              </a:rPr>
              <a:t>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150" y="4465002"/>
            <a:ext cx="1080135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10332F"/>
                </a:solidFill>
                <a:latin typeface="Outfit"/>
              </a:rPr>
              <a:t>Dönemin genel tablosu, SSR geçişi ve içerik çalışmasının non-brand tarafında belirgin bir kazanım ürettiğini; marka ve GFN sorgularındaki daralmanın ise talebe bağlı olabileceğini göstermektedir.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3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bound-big-o-white.png"/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-2857500" y="1905000"/>
            <a:ext cx="5335764" cy="9525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2857500"/>
            <a:ext cx="10668000" cy="782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5600" b="1">
                <a:solidFill>
                  <a:srgbClr val="FFFFFF"/>
                </a:solidFill>
                <a:latin typeface="Bricolage Grotesque"/>
              </a:rPr>
              <a:t>Teşekkürler</a:t>
            </a:r>
          </a:p>
        </p:txBody>
      </p:sp>
      <p:pic>
        <p:nvPicPr>
          <p:cNvPr id="4" name="Picture 3" descr="inbound-wordmar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390" y="5962650"/>
            <a:ext cx="1369219" cy="285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