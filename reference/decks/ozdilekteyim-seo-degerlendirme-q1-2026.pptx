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13716000" cx="24387175"/>
  <p:notesSz cx="13716000" cy="24387175"/>
  <p:embeddedFontLst>
    <p:embeddedFont>
      <p:font typeface="Bricolage Grotesque SemiBold"/>
      <p:regular r:id="rId48"/>
      <p:bold r:id="rId49"/>
    </p:embeddedFont>
    <p:embeddedFont>
      <p:font typeface="Outfit"/>
      <p:regular r:id="rId50"/>
      <p:bold r:id="rId51"/>
    </p:embeddedFont>
    <p:embeddedFont>
      <p:font typeface="Bricolage Grotesque ExtraBold"/>
      <p:bold r:id="rId52"/>
    </p:embeddedFont>
    <p:embeddedFont>
      <p:font typeface="Bricolage Grotesque"/>
      <p:regular r:id="rId53"/>
      <p:bold r:id="rId54"/>
    </p:embeddedFont>
    <p:embeddedFont>
      <p:font typeface="Inter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hmdqxA/r+f/Jk1LCfqVe0bHmwu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0809C2-5C02-47F8-BF0D-9863E4A9D298}">
  <a:tblStyle styleId="{840809C2-5C02-47F8-BF0D-9863E4A9D2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1B3A754-B8C4-4A11-A259-5F5747E8FC4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  <a:tblStyle styleId="{9EAA0FA4-64C8-4904-831E-6E637BB62F65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ricolageGrotesqueSemiBold-regular.fntdata"/><Relationship Id="rId47" Type="http://schemas.openxmlformats.org/officeDocument/2006/relationships/slide" Target="slides/slide42.xml"/><Relationship Id="rId49" Type="http://schemas.openxmlformats.org/officeDocument/2006/relationships/font" Target="fonts/BricolageGrotesque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utfit-bold.fntdata"/><Relationship Id="rId50" Type="http://schemas.openxmlformats.org/officeDocument/2006/relationships/font" Target="fonts/Outfit-regular.fntdata"/><Relationship Id="rId53" Type="http://schemas.openxmlformats.org/officeDocument/2006/relationships/font" Target="fonts/BricolageGrotesque-regular.fntdata"/><Relationship Id="rId52" Type="http://schemas.openxmlformats.org/officeDocument/2006/relationships/font" Target="fonts/BricolageGrotesqueExtraBold-bold.fntdata"/><Relationship Id="rId11" Type="http://schemas.openxmlformats.org/officeDocument/2006/relationships/slide" Target="slides/slide6.xml"/><Relationship Id="rId55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54" Type="http://schemas.openxmlformats.org/officeDocument/2006/relationships/font" Target="fonts/BricolageGrotesque-bold.fntdata"/><Relationship Id="rId13" Type="http://schemas.openxmlformats.org/officeDocument/2006/relationships/slide" Target="slides/slide8.xml"/><Relationship Id="rId57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56" Type="http://schemas.openxmlformats.org/officeDocument/2006/relationships/font" Target="fonts/InterMedium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5fe1d6387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55fe1d6387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55fe1d6387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8b80d44ef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b8b80d44ef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b8b80d44ef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32a6cafe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632a6cafe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b632a6cafe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12d3a4de1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712d3a4de1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12d3a4de1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32a6cafe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632a6cafe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b632a6cafe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32a6cafe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632a6cafe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b632a6cafe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c1dba2bb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9c1dba2bb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➔  Hacim daralması performans kaybından ziyade geçen yıl aynı dönemde yapılan mevsimsel kampanyalarla bağdaştırılabilir.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d9c1dba2bb_1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d7f9d02ad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3d7f9d02ad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3d7f9d02ad_1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1296a02dd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71296a02dd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71296a02dd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32a6cafe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b632a6cafe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b632a6cafe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632a6cafe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b632a6cafe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b632a6cafe_0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632a6cafe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b632a6cafe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b632a6cafe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632a6cafe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632a6cafe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Sezonsallık etkisi + AI Overview etkisi </a:t>
            </a:r>
            <a:endParaRPr/>
          </a:p>
        </p:txBody>
      </p:sp>
      <p:sp>
        <p:nvSpPr>
          <p:cNvPr id="229" name="Google Shape;229;g3b632a6cafe_0_2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8b80d44e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b8b80d44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b8b80d44e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6f7df8e8b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b6f7df8e8b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b6f7df8e8b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6f7df8e8b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6f7df8e8b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b6f7df8e8b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6f7df8e8b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b6f7df8e8b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b6f7df8e8b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1296a02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71296a02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71296a02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6f7df8e8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b6f7df8e8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b6f7df8e8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8b80d44ef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b8b80d44ef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b8b80d44ef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6f7df8e8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b6f7df8e8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b6f7df8e8b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6f7df8e8b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b6f7df8e8b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b6f7df8e8b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295bdd6e7bee0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8295bdd6e7bee02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8295bdd6e7bee02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295bdd6e7bee02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8295bdd6e7bee02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8295bdd6e7bee02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295bdd6e7bee02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8295bdd6e7bee02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8295bdd6e7bee02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295bdd6e7bee02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8295bdd6e7bee02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8295bdd6e7bee02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1296a02d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71296a02d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g371296a02dd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6f7df8e8b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b6f7df8e8b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g3b6f7df8e8b_0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8b72145b7e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8b72145b7e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g38b72145b7e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12d3a4de1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712d3a4de1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g3712d3a4de1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6f7df8e8b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b6f7df8e8b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b6f7df8e8b_0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8295bdd6e7bee0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8295bdd6e7bee0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38295bdd6e7bee0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8295bdd6e7bee0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8295bdd6e7bee02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8295bdd6e7bee02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8295bdd6e7bee02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8295bdd6e7bee02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8295bdd6e7bee02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8295bdd6e7bee02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g38295bdd6e7bee02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8295bdd6e7bee02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8295bdd6e7bee02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g38295bdd6e7bee02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8295bdd6e7bee02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8295bdd6e7bee02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8295bdd6e7bee02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295bdd6e7bee0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8295bdd6e7bee0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38295bdd6e7bee02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8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hyperlink" Target="https://ozdilek-sezonsallik.vercel.app/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54.png"/><Relationship Id="rId7" Type="http://schemas.openxmlformats.org/officeDocument/2006/relationships/hyperlink" Target="https://ozdilek-sezonsallik.vercel.app/" TargetMode="External"/><Relationship Id="rId8" Type="http://schemas.openxmlformats.org/officeDocument/2006/relationships/hyperlink" Target="https://ozdilek-sezonsallik.vercel.app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RXmpNwbBPQXR77AW2Nr-IXdrQC8gb4OggB36zuvqPqY/edit?gid=353474492#gid=353474492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RXmpNwbBPQXR77AW2Nr-IXdrQC8gb4OggB36zuvqPqY/edit?gid=353474492#gid=353474492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RXmpNwbBPQXR77AW2Nr-IXdrQC8gb4OggB36zuvqPqY/edit?gid=353474492#gid=353474492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hyperlink" Target="https://docs.google.com/spreadsheets/d/1RXmpNwbBPQXR77AW2Nr-IXdrQC8gb4OggB36zuvqPqY/edit?gid=353474492#gid=353474492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40.png"/><Relationship Id="rId7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esnsJHMHSKGLFd8PCfpe_hMuE1S9QkhoHqqqKQDIJlU/edit?gid=1269867500#gid=126986750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esnsJHMHSKGLFd8PCfpe_hMuE1S9QkhoHqqqKQDIJlU/edit?gid=1269867500#gid=1269867500" TargetMode="External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39.png"/><Relationship Id="rId9" Type="http://schemas.openxmlformats.org/officeDocument/2006/relationships/image" Target="../media/image45.png"/><Relationship Id="rId5" Type="http://schemas.openxmlformats.org/officeDocument/2006/relationships/image" Target="../media/image11.png"/><Relationship Id="rId6" Type="http://schemas.openxmlformats.org/officeDocument/2006/relationships/hyperlink" Target="https://docs.google.com/spreadsheets/d/1esnsJHMHSKGLFd8PCfpe_hMuE1S9QkhoHqqqKQDIJlU/edit?gid=1611695892#gid=1611695892" TargetMode="External"/><Relationship Id="rId7" Type="http://schemas.openxmlformats.org/officeDocument/2006/relationships/image" Target="../media/image49.png"/><Relationship Id="rId8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esnsJHMHSKGLFd8PCfpe_hMuE1S9QkhoHqqqKQDIJlU/edit?usp=sharing" TargetMode="External"/><Relationship Id="rId5" Type="http://schemas.openxmlformats.org/officeDocument/2006/relationships/image" Target="../media/image50.png"/><Relationship Id="rId6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esnsJHMHSKGLFd8PCfpe_hMuE1S9QkhoHqqqKQDIJlU/edit?gid=0#gid=0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esnsJHMHSKGLFd8PCfpe_hMuE1S9QkhoHqqqKQDIJlU/edit?gid=189666490#gid=189666490" TargetMode="External"/><Relationship Id="rId5" Type="http://schemas.openxmlformats.org/officeDocument/2006/relationships/image" Target="../media/image43.png"/><Relationship Id="rId6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esnsJHMHSKGLFd8PCfpe_hMuE1S9QkhoHqqqKQDIJlU/edit?gid=1066471884#gid=1066471884" TargetMode="External"/><Relationship Id="rId5" Type="http://schemas.openxmlformats.org/officeDocument/2006/relationships/image" Target="../media/image47.png"/><Relationship Id="rId6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382048" y="5232400"/>
            <a:ext cx="15622953" cy="32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402074" y="5232400"/>
            <a:ext cx="251913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12000"/>
              <a:buFont typeface="Bricolage Grotesque SemiBold"/>
              <a:buNone/>
            </a:pPr>
            <a:r>
              <a:rPr b="0" i="0" lang="en-US" sz="95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Özdilekteyim SEO Değerlendirme</a:t>
            </a:r>
            <a:endParaRPr b="0" i="0" sz="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99992" y="7366000"/>
            <a:ext cx="15987065" cy="1481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8600"/>
              <a:buFont typeface="Bricolage Grotesque SemiBold"/>
              <a:buNone/>
            </a:pPr>
            <a:r>
              <a:rPr b="0" i="0" lang="en-US" sz="86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2025</a:t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2841" y="12090400"/>
            <a:ext cx="2912896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0351794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767233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8063" y="381000"/>
            <a:ext cx="2282052" cy="389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2000"/>
              <a:buFont typeface="Inter Medium"/>
              <a:buNone/>
            </a:pPr>
            <a:r>
              <a:rPr b="0" i="0" lang="en-US" sz="2000" u="none" cap="none" strike="noStrike">
                <a:solidFill>
                  <a:srgbClr val="FEFEF7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TITLE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19" y="0"/>
            <a:ext cx="12193524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-63508" y="5969000"/>
            <a:ext cx="12307838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9600"/>
              <a:buFont typeface="Bricolage Grotesque"/>
              <a:buNone/>
            </a:pPr>
            <a:r>
              <a:rPr b="0" i="0" lang="en-US" sz="9600" u="none" cap="none" strike="noStrike">
                <a:solidFill>
                  <a:srgbClr val="FEFEF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SUNUM AKIŞI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2" name="Google Shape;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1861800"/>
            <a:ext cx="135907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" name="Google Shape;3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777" y="12045373"/>
            <a:ext cx="988414" cy="979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8865708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" name="Google Shape;3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618625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2663625" y="1779675"/>
            <a:ext cx="10923900" cy="100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202</a:t>
            </a:r>
            <a:r>
              <a:rPr b="1" lang="en-US" sz="36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</a:t>
            </a:r>
            <a:r>
              <a:rPr b="1" lang="en-US" sz="36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’</a:t>
            </a:r>
            <a:r>
              <a:rPr b="1" lang="en-US" sz="36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Nelere Odaklandık?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Özdilekteyim Pazar &amp; Rakipler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t/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Google Search Console Metrikleri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GA4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Organik Trafik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AI Traffic</a:t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36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Sıralama &amp; Görünürlük</a:t>
            </a:r>
            <a:endParaRPr b="1" i="0" sz="3600" u="none" cap="none" strike="noStrike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" name="Google Shape;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/>
          <p:nvPr/>
        </p:nvSpPr>
        <p:spPr>
          <a:xfrm>
            <a:off x="11787073" y="5537200"/>
            <a:ext cx="8129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2"/>
          <p:cNvSpPr/>
          <p:nvPr/>
        </p:nvSpPr>
        <p:spPr>
          <a:xfrm>
            <a:off x="11787073" y="7264400"/>
            <a:ext cx="8129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" name="Google Shape;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2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01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2"/>
          <p:cNvSpPr/>
          <p:nvPr/>
        </p:nvSpPr>
        <p:spPr>
          <a:xfrm>
            <a:off x="3771425" y="619335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202</a:t>
            </a:r>
            <a:r>
              <a:rPr b="1" lang="en-US" sz="7400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6</a:t>
            </a: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 Q</a:t>
            </a:r>
            <a:r>
              <a:rPr b="1" lang="en-US" sz="7400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1</a:t>
            </a: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’</a:t>
            </a:r>
            <a:r>
              <a:rPr b="1" lang="en-US" sz="7400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de</a:t>
            </a: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 Nelere Odaklandık?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5fe1d6387_0_13"/>
          <p:cNvSpPr/>
          <p:nvPr/>
        </p:nvSpPr>
        <p:spPr>
          <a:xfrm>
            <a:off x="502925" y="3513639"/>
            <a:ext cx="73152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2025 Q4 değerlendirme sunumu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Backlink stratejisi ve bütçeye göre site belirlenmesi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Sezonsallık dökümanı 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Yeni çocuk alt kategorileri kategori ağacı incelemesi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55" name="Google Shape;55;g355fe1d638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" name="Google Shape;56;g355fe1d6387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55fe1d6387_0_1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55fe1d6387_0_13"/>
          <p:cNvSpPr/>
          <p:nvPr/>
        </p:nvSpPr>
        <p:spPr>
          <a:xfrm>
            <a:off x="406450" y="406400"/>
            <a:ext cx="713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Proje Akışı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55fe1d6387_0_13"/>
          <p:cNvSpPr/>
          <p:nvPr/>
        </p:nvSpPr>
        <p:spPr>
          <a:xfrm>
            <a:off x="704088" y="6601968"/>
            <a:ext cx="22969800" cy="915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55fe1d6387_0_13"/>
          <p:cNvSpPr/>
          <p:nvPr/>
        </p:nvSpPr>
        <p:spPr>
          <a:xfrm>
            <a:off x="4146804" y="5815584"/>
            <a:ext cx="27300" cy="786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55fe1d6387_0_13"/>
          <p:cNvSpPr/>
          <p:nvPr/>
        </p:nvSpPr>
        <p:spPr>
          <a:xfrm>
            <a:off x="4046220" y="576072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55fe1d6387_0_13"/>
          <p:cNvSpPr/>
          <p:nvPr/>
        </p:nvSpPr>
        <p:spPr>
          <a:xfrm>
            <a:off x="4146804" y="6601968"/>
            <a:ext cx="27300" cy="777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55fe1d6387_0_13"/>
          <p:cNvSpPr/>
          <p:nvPr/>
        </p:nvSpPr>
        <p:spPr>
          <a:xfrm>
            <a:off x="4046220" y="726948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55fe1d6387_0_13"/>
          <p:cNvSpPr/>
          <p:nvPr/>
        </p:nvSpPr>
        <p:spPr>
          <a:xfrm>
            <a:off x="12284964" y="5815584"/>
            <a:ext cx="27300" cy="786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55fe1d6387_0_13"/>
          <p:cNvSpPr/>
          <p:nvPr/>
        </p:nvSpPr>
        <p:spPr>
          <a:xfrm>
            <a:off x="12184380" y="576072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55fe1d6387_0_13"/>
          <p:cNvSpPr/>
          <p:nvPr/>
        </p:nvSpPr>
        <p:spPr>
          <a:xfrm>
            <a:off x="12284964" y="6601968"/>
            <a:ext cx="27300" cy="777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55fe1d6387_0_13"/>
          <p:cNvSpPr/>
          <p:nvPr/>
        </p:nvSpPr>
        <p:spPr>
          <a:xfrm>
            <a:off x="12184380" y="726948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55fe1d6387_0_13"/>
          <p:cNvSpPr/>
          <p:nvPr/>
        </p:nvSpPr>
        <p:spPr>
          <a:xfrm>
            <a:off x="20423124" y="5815584"/>
            <a:ext cx="27300" cy="786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55fe1d6387_0_13"/>
          <p:cNvSpPr/>
          <p:nvPr/>
        </p:nvSpPr>
        <p:spPr>
          <a:xfrm>
            <a:off x="20322540" y="576072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55fe1d6387_0_13"/>
          <p:cNvSpPr/>
          <p:nvPr/>
        </p:nvSpPr>
        <p:spPr>
          <a:xfrm>
            <a:off x="20423124" y="6601968"/>
            <a:ext cx="27300" cy="7773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55fe1d6387_0_13"/>
          <p:cNvSpPr/>
          <p:nvPr/>
        </p:nvSpPr>
        <p:spPr>
          <a:xfrm>
            <a:off x="20322540" y="7269480"/>
            <a:ext cx="228600" cy="228600"/>
          </a:xfrm>
          <a:prstGeom prst="ellipse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55fe1d6387_0_13"/>
          <p:cNvSpPr/>
          <p:nvPr/>
        </p:nvSpPr>
        <p:spPr>
          <a:xfrm>
            <a:off x="-1339205" y="5989245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Ocak</a:t>
            </a:r>
            <a:endParaRPr b="0" i="0" sz="4200" u="none" cap="none" strike="noStrike">
              <a:solidFill>
                <a:srgbClr val="F484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55fe1d6387_0_13"/>
          <p:cNvSpPr/>
          <p:nvPr/>
        </p:nvSpPr>
        <p:spPr>
          <a:xfrm>
            <a:off x="7200130" y="6693570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4200"/>
              <a:buFont typeface="Bricolage Grotesque"/>
              <a:buNone/>
            </a:pPr>
            <a:r>
              <a:rPr b="1" lang="en-US" sz="42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Şubat</a:t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55fe1d6387_0_13"/>
          <p:cNvSpPr/>
          <p:nvPr/>
        </p:nvSpPr>
        <p:spPr>
          <a:xfrm>
            <a:off x="15020765" y="5989245"/>
            <a:ext cx="7315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4200"/>
              <a:buFont typeface="Bricolage Grotesque"/>
              <a:buNone/>
            </a:pPr>
            <a:r>
              <a:rPr b="1" lang="en-US" sz="42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Mart</a:t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55fe1d6387_0_13"/>
          <p:cNvSpPr/>
          <p:nvPr/>
        </p:nvSpPr>
        <p:spPr>
          <a:xfrm>
            <a:off x="502895" y="2496105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Audit, Strateji &amp; Raporlama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55fe1d6387_0_13"/>
          <p:cNvSpPr/>
          <p:nvPr/>
        </p:nvSpPr>
        <p:spPr>
          <a:xfrm>
            <a:off x="502920" y="85953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page &amp; Teknik Çalışmalar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55fe1d6387_0_13"/>
          <p:cNvSpPr/>
          <p:nvPr/>
        </p:nvSpPr>
        <p:spPr>
          <a:xfrm>
            <a:off x="502920" y="9281160"/>
            <a:ext cx="73152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303 kategori için içerik brief </a:t>
            </a: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önceliklendirmesi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LLMS.txt önerisi &amp; Footer önerileri 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404 sayfa tespiti  </a:t>
            </a:r>
            <a:endParaRPr b="0" i="0" sz="2200" u="none" cap="none" strike="noStrike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S</a:t>
            </a: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ite hızı CLS optimizasyonu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Meta Tag Çalışması </a:t>
            </a:r>
            <a:endParaRPr sz="2200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Marka + Kategori </a:t>
            </a: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Yeni Sayfa</a:t>
            </a: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 Önerileri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55fe1d6387_0_13"/>
          <p:cNvSpPr/>
          <p:nvPr/>
        </p:nvSpPr>
        <p:spPr>
          <a:xfrm>
            <a:off x="8641080" y="2514505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Teknik Optimizasyonlar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55fe1d6387_0_13"/>
          <p:cNvSpPr/>
          <p:nvPr/>
        </p:nvSpPr>
        <p:spPr>
          <a:xfrm>
            <a:off x="8641075" y="3513700"/>
            <a:ext cx="73152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LCP – FCP </a:t>
            </a:r>
            <a:r>
              <a:rPr b="1"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İnceleme ve Önerileri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404 sayfaların 301 yönlendirilmesi </a:t>
            </a:r>
            <a:endParaRPr b="0" i="0" sz="2200" u="none" cap="none" strike="noStrike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AI Overview Sunumu</a:t>
            </a:r>
            <a:endParaRPr sz="2200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Duplicate kategori incelemesi &amp; dökümantasyonu</a:t>
            </a:r>
            <a:endParaRPr sz="2200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0" name="Google Shape;80;g355fe1d6387_0_13"/>
          <p:cNvSpPr/>
          <p:nvPr/>
        </p:nvSpPr>
        <p:spPr>
          <a:xfrm>
            <a:off x="8641080" y="85953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page &amp; İçerik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55fe1d6387_0_13"/>
          <p:cNvSpPr/>
          <p:nvPr/>
        </p:nvSpPr>
        <p:spPr>
          <a:xfrm>
            <a:off x="8641080" y="9281160"/>
            <a:ext cx="73152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Yeni çocuk alt kategorileri H1 &amp; meta tag çalışması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Marka + Kategori Sayfa Önerileri</a:t>
            </a:r>
            <a:endParaRPr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Meta Tag Çalışması </a:t>
            </a: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(Kategoriler)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Kategori içerik brief kontrolü &amp; revizeler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55fe1d6387_0_13"/>
          <p:cNvSpPr/>
          <p:nvPr/>
        </p:nvSpPr>
        <p:spPr>
          <a:xfrm>
            <a:off x="16779240" y="2514505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Site Mimarisi &amp; Indexability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55fe1d6387_0_13"/>
          <p:cNvSpPr/>
          <p:nvPr/>
        </p:nvSpPr>
        <p:spPr>
          <a:xfrm>
            <a:off x="16779250" y="3513777"/>
            <a:ext cx="73152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URL Yapısı &amp; Kategori Ağacı sunumu 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Sitemap kontrolleri &amp; sitemap dışı sayfaların listesi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Crawl budget iyileştirme incelemesi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Multiple H1 tag hatası tespiti &amp; çözüm önerisi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55fe1d6387_0_13"/>
          <p:cNvSpPr/>
          <p:nvPr/>
        </p:nvSpPr>
        <p:spPr>
          <a:xfrm>
            <a:off x="16779240" y="85953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Internal Link Sağlığı &amp; Off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800" u="none" cap="none" strike="noStrike">
                <a:solidFill>
                  <a:srgbClr val="1B3A3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page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55fe1d6387_0_13"/>
          <p:cNvSpPr/>
          <p:nvPr/>
        </p:nvSpPr>
        <p:spPr>
          <a:xfrm>
            <a:off x="16779240" y="9281160"/>
            <a:ext cx="73152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Broken redirect &amp; redirect chain çalışmaları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3xx inlink optimizasyonu dökümantasyonu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H1 olmayan sayfaların tespiti &amp; opt. önerileri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Marka + Kategori Sayfa Önerileri </a:t>
            </a:r>
            <a:endParaRPr sz="2200">
              <a:solidFill>
                <a:srgbClr val="1B3A3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0" i="0" lang="en-US" sz="2200" u="none" cap="none" strike="noStrike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Meta Tag </a:t>
            </a:r>
            <a:r>
              <a:rPr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Çalışması devamı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3A36"/>
              </a:buClr>
              <a:buSzPts val="2200"/>
              <a:buFont typeface="Outfit"/>
              <a:buChar char="●"/>
            </a:pPr>
            <a:r>
              <a:rPr b="1" lang="en-US" sz="2200">
                <a:solidFill>
                  <a:srgbClr val="1B3A36"/>
                </a:solidFill>
                <a:latin typeface="Outfit"/>
                <a:ea typeface="Outfit"/>
                <a:cs typeface="Outfit"/>
                <a:sym typeface="Outfit"/>
              </a:rPr>
              <a:t>Backlink Çalışmaları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1" name="Google Shape;91;g3b8b80d44ef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g3b8b80d44ef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b8b80d44ef_0_11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b8b80d44ef_0_116"/>
          <p:cNvSpPr/>
          <p:nvPr/>
        </p:nvSpPr>
        <p:spPr>
          <a:xfrm>
            <a:off x="406450" y="406400"/>
            <a:ext cx="1067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Pazar Analizleri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b8b80d44ef_0_116"/>
          <p:cNvSpPr txBox="1"/>
          <p:nvPr/>
        </p:nvSpPr>
        <p:spPr>
          <a:xfrm>
            <a:off x="14015100" y="1705350"/>
            <a:ext cx="9047700" cy="10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941"/>
              </a:buClr>
              <a:buSzPts val="3500"/>
              <a:buFont typeface="Bricolage Grotesque"/>
              <a:buChar char="➔"/>
            </a:pPr>
            <a:r>
              <a:rPr b="0" i="0" lang="en-US" sz="3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Özdilek ürün ve kategorilerine fit edebilecek detaylı bir kelime araştırması yapıldı. 10K kadar kelime takip edilmeye başlandı.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35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35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941"/>
              </a:buClr>
              <a:buSzPts val="3500"/>
              <a:buFont typeface="Bricolage Grotesque"/>
              <a:buChar char="➔"/>
            </a:pPr>
            <a:r>
              <a:rPr b="0" i="0" lang="en-US" sz="3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 kelimelerle ilgili aylara göre arama hacmi, yıldan yıla değişim tabloları oluşturuldu.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35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35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50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941"/>
              </a:buClr>
              <a:buSzPts val="3500"/>
              <a:buFont typeface="Bricolage Grotesque"/>
              <a:buChar char="➔"/>
            </a:pPr>
            <a:r>
              <a:rPr lang="en-US" sz="3500">
                <a:latin typeface="Bricolage Grotesque"/>
                <a:ea typeface="Bricolage Grotesque"/>
                <a:cs typeface="Bricolage Grotesque"/>
                <a:sym typeface="Bricolage Grotesque"/>
              </a:rPr>
              <a:t>Tüm ekiplerin inceleyebilmesi adına Özdilek sezonsallık adı altında bir dashboard oluşturuldu.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96" name="Google Shape;96;g3b8b80d44ef_0_116"/>
          <p:cNvPicPr preferRelativeResize="0"/>
          <p:nvPr/>
        </p:nvPicPr>
        <p:blipFill rotWithShape="1">
          <a:blip r:embed="rId5">
            <a:alphaModFix/>
          </a:blip>
          <a:srcRect b="33413" l="0" r="0" t="0"/>
          <a:stretch/>
        </p:blipFill>
        <p:spPr>
          <a:xfrm>
            <a:off x="406450" y="1705350"/>
            <a:ext cx="12873001" cy="49620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id="97" name="Google Shape;97;g3b8b80d44ef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6300" y="7064650"/>
            <a:ext cx="11333304" cy="49620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8" name="Google Shape;98;g3b8b80d44ef_0_116"/>
          <p:cNvSpPr txBox="1"/>
          <p:nvPr/>
        </p:nvSpPr>
        <p:spPr>
          <a:xfrm>
            <a:off x="1538225" y="12423950"/>
            <a:ext cx="1681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Link: </a:t>
            </a:r>
            <a:r>
              <a:rPr lang="en-US" sz="2100" u="sng">
                <a:solidFill>
                  <a:schemeClr val="hlink"/>
                </a:solidFill>
                <a:hlinkClick r:id="rId7"/>
              </a:rPr>
              <a:t>https://ozdilek</a:t>
            </a:r>
            <a:r>
              <a:rPr lang="en-US" sz="2100" u="sng">
                <a:solidFill>
                  <a:schemeClr val="hlink"/>
                </a:solidFill>
                <a:hlinkClick r:id="rId8"/>
              </a:rPr>
              <a:t>-</a:t>
            </a:r>
            <a:r>
              <a:rPr lang="en-US" sz="2100" u="sng">
                <a:solidFill>
                  <a:schemeClr val="hlink"/>
                </a:solidFill>
                <a:hlinkClick r:id="rId9"/>
              </a:rPr>
              <a:t>sezonsallik.vercel.app/</a:t>
            </a:r>
            <a:r>
              <a:rPr lang="en-US" sz="2100"/>
              <a:t> 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4" name="Google Shape;104;g3b632a6cafe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b632a6cafe_0_194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6" name="Google Shape;106;g3b632a6cafe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b632a6cafe_0_194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g3b632a6cafe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b632a6cafe_0_194"/>
          <p:cNvSpPr/>
          <p:nvPr/>
        </p:nvSpPr>
        <p:spPr>
          <a:xfrm>
            <a:off x="-1908000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02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b632a6cafe_0_194"/>
          <p:cNvSpPr/>
          <p:nvPr/>
        </p:nvSpPr>
        <p:spPr>
          <a:xfrm>
            <a:off x="5848275" y="619335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Özdilekteyim Pazar &amp; Rakip Analizi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6" name="Google Shape;116;g3712d3a4de1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7" name="Google Shape;117;g3712d3a4de1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12d3a4de1_0_9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12d3a4de1_0_90"/>
          <p:cNvSpPr/>
          <p:nvPr/>
        </p:nvSpPr>
        <p:spPr>
          <a:xfrm>
            <a:off x="406450" y="406400"/>
            <a:ext cx="1067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&amp; Özdilek | Marka Arama Hacimleri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712d3a4de1_0_9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9425" y="1887700"/>
            <a:ext cx="19530225" cy="6570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g3712d3a4de1_0_90"/>
          <p:cNvGraphicFramePr/>
          <p:nvPr/>
        </p:nvGraphicFramePr>
        <p:xfrm>
          <a:off x="21294738" y="1032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584100"/>
              </a:tblGrid>
              <a:tr h="508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25 Q1 vs 26 Q1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1:0:0"/>
                      </a:ext>
                    </a:extLst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0%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1:1:0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22" name="Google Shape;122;g3712d3a4de1_0_90"/>
          <p:cNvGraphicFramePr/>
          <p:nvPr/>
        </p:nvGraphicFramePr>
        <p:xfrm>
          <a:off x="21294738" y="1187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584100"/>
              </a:tblGrid>
              <a:tr h="45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25 Q1 vs 26 Q1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2:0:0"/>
                      </a:ext>
                    </a:extLst>
                  </a:tcPr>
                </a:tc>
              </a:tr>
              <a:tr h="55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7%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2:1:0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23" name="Google Shape;123;g3712d3a4de1_0_90"/>
          <p:cNvGraphicFramePr/>
          <p:nvPr/>
        </p:nvGraphicFramePr>
        <p:xfrm>
          <a:off x="508338" y="1024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1297450"/>
                <a:gridCol w="1967525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  <a:gridCol w="1424250"/>
              </a:tblGrid>
              <a:tr h="39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Brand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Date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Jan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Feb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Mar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Apr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May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Jun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Jul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Aug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Sep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Oct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Nov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</a:rPr>
                        <a:t>Dec</a:t>
                      </a:r>
                      <a:endParaRPr b="1" sz="17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0:13"/>
                      </a:ext>
                    </a:extLst>
                  </a:tcPr>
                </a:tc>
              </a:tr>
              <a:tr h="3932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 2025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201.0K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201.0K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201.0K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1:13"/>
                      </a:ext>
                    </a:extLst>
                  </a:tcPr>
                </a:tc>
              </a:tr>
              <a:tr h="4227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 2026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201.0K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165.0K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2:13"/>
                      </a:ext>
                    </a:extLst>
                  </a:tcPr>
                </a:tc>
              </a:tr>
              <a:tr h="4227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Change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</a:t>
                      </a:r>
                      <a:r>
                        <a:rPr lang="en-US" sz="2000"/>
                        <a:t>18%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3:13"/>
                      </a:ext>
                    </a:extLst>
                  </a:tcPr>
                </a:tc>
              </a:tr>
              <a:tr h="393225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Özdilekteyim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Özdilekteyim 2025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2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2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2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23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23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23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49.5K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49.5K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23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23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90.5K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90.5K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4:13"/>
                      </a:ext>
                    </a:extLst>
                  </a:tcPr>
                </a:tc>
              </a:tr>
              <a:tr h="4227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Özdilekteyim 2026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60.5K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2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74.0K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2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5:13"/>
                      </a:ext>
                    </a:extLst>
                  </a:tcPr>
                </a:tc>
              </a:tr>
              <a:tr h="4227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</a:rPr>
                        <a:t>Change</a:t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2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</a:t>
                      </a:r>
                      <a:r>
                        <a:rPr lang="en-US" sz="2000"/>
                        <a:t>18%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22%</a:t>
                      </a:r>
                      <a:endParaRPr sz="2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23:6:1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24" name="Google Shape;124;g3712d3a4de1_0_90"/>
          <p:cNvSpPr txBox="1"/>
          <p:nvPr/>
        </p:nvSpPr>
        <p:spPr>
          <a:xfrm>
            <a:off x="1619250" y="8641075"/>
            <a:ext cx="21026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9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Özdilek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YoY 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%0 sabit seyrederken Özdilekteyim </a:t>
            </a:r>
            <a:r>
              <a:rPr b="1" i="0" lang="en-US" sz="29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+%6.9 (65K → 69.5K) artış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göstermiştir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E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com 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kanalına ait brand bilinirliğinin ana markadan daha hızlı büyüdüğü görülmektedir. 2026'da her iki marka için </a:t>
            </a:r>
            <a:r>
              <a:rPr b="1" i="0" lang="en-US" sz="29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Ocak ayı tepe noktası</a:t>
            </a:r>
            <a:r>
              <a:rPr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olarak öne çıkmıştır.</a:t>
            </a:r>
            <a:endParaRPr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30" name="Google Shape;130;g3b632a6cafe_0_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" name="Google Shape;131;g3b632a6cafe_0_2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b632a6cafe_0_21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b632a6cafe_0_213"/>
          <p:cNvSpPr/>
          <p:nvPr/>
        </p:nvSpPr>
        <p:spPr>
          <a:xfrm>
            <a:off x="406450" y="406400"/>
            <a:ext cx="10672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Rakip Arama Hacimleri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g3b632a6cafe_0_213"/>
          <p:cNvGraphicFramePr/>
          <p:nvPr/>
        </p:nvGraphicFramePr>
        <p:xfrm>
          <a:off x="706938" y="14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1887475"/>
                <a:gridCol w="12820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198650"/>
                <a:gridCol w="1042300"/>
                <a:gridCol w="1042300"/>
                <a:gridCol w="1250775"/>
                <a:gridCol w="1042300"/>
                <a:gridCol w="1042300"/>
              </a:tblGrid>
              <a:tr h="930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Marka / Ay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2025 Q1 Avg.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2026 Q1 Avg.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YoY Q1 Change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Jan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Feb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Mar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Apr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May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Jun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Jul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Aug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Sep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Oct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Nov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Dec 2025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Jan 2026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Feb 2026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Mar 2026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0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trendyol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13.6M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hepsiburada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D6B8"/>
                    </a:solidFill>
                    <a:extLst>
                      <a:ext uri="http://customooxmlschemas.google.com/">
                        <go:slidesCustomData xmlns:go="http://customooxmlschemas.google.com/" cellId="13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2.9M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D6B9"/>
                    </a:solidFill>
                    <a:extLst>
                      <a:ext uri="http://customooxmlschemas.google.com/">
                        <go:slidesCustomData xmlns:go="http://customooxmlschemas.google.com/" cellId="13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6.5%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2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2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2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2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migros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D9BE"/>
                    </a:solidFill>
                    <a:extLst>
                      <a:ext uri="http://customooxmlschemas.google.com/">
                        <go:slidesCustomData xmlns:go="http://customooxmlschemas.google.com/" cellId="13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D9BD"/>
                    </a:solidFill>
                    <a:extLst>
                      <a:ext uri="http://customooxmlschemas.google.com/">
                        <go:slidesCustomData xmlns:go="http://customooxmlschemas.google.com/" cellId="13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6AA84F"/>
                          </a:solidFill>
                        </a:rPr>
                        <a:t>6.5%</a:t>
                      </a:r>
                      <a:endParaRPr b="1" sz="1900"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3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3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3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3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amazon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DAC0"/>
                    </a:solidFill>
                    <a:extLst>
                      <a:ext uri="http://customooxmlschemas.google.com/">
                        <go:slidesCustomData xmlns:go="http://customooxmlschemas.google.com/" cellId="13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D9BF"/>
                    </a:solidFill>
                    <a:extLst>
                      <a:ext uri="http://customooxmlschemas.google.com/">
                        <go:slidesCustomData xmlns:go="http://customooxmlschemas.google.com/" cellId="13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6AA84F"/>
                          </a:solidFill>
                        </a:rPr>
                        <a:t>7.5%</a:t>
                      </a:r>
                      <a:endParaRPr b="1" sz="1900"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4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4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4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4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4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lcw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4"/>
                    </a:solidFill>
                    <a:extLst>
                      <a:ext uri="http://customooxmlschemas.google.com/">
                        <go:slidesCustomData xmlns:go="http://customooxmlschemas.google.com/" cellId="13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905.3K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22.4%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5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5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5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5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5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carrefoursa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832.0K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E3CE"/>
                    </a:solidFill>
                    <a:extLst>
                      <a:ext uri="http://customooxmlschemas.google.com/">
                        <go:slidesCustomData xmlns:go="http://customooxmlschemas.google.com/" cellId="13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4"/>
                    </a:solidFill>
                    <a:extLst>
                      <a:ext uri="http://customooxmlschemas.google.com/">
                        <go:slidesCustomData xmlns:go="http://customooxmlschemas.google.com/" cellId="13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6AA84F"/>
                          </a:solidFill>
                        </a:rPr>
                        <a:t>20.2%</a:t>
                      </a:r>
                      <a:endParaRPr b="1" sz="1900"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3BC3E"/>
                    </a:solidFill>
                    <a:extLst>
                      <a:ext uri="http://customooxmlschemas.google.com/">
                        <go:slidesCustomData xmlns:go="http://customooxmlschemas.google.com/" cellId="134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3BC3E"/>
                    </a:solidFill>
                    <a:extLst>
                      <a:ext uri="http://customooxmlschemas.google.com/">
                        <go:slidesCustomData xmlns:go="http://customooxmlschemas.google.com/" cellId="134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6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6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6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6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boyner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941.0K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5.9%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7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7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7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7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7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koçtaş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E3CF"/>
                    </a:solidFill>
                    <a:extLst>
                      <a:ext uri="http://customooxmlschemas.google.com/">
                        <go:slidesCustomData xmlns:go="http://customooxmlschemas.google.com/" cellId="13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DEC6"/>
                    </a:solidFill>
                    <a:extLst>
                      <a:ext uri="http://customooxmlschemas.google.com/">
                        <go:slidesCustomData xmlns:go="http://customooxmlschemas.google.com/" cellId="13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8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8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8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8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8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defacto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941.0K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DFC7"/>
                    </a:solidFill>
                    <a:extLst>
                      <a:ext uri="http://customooxmlschemas.google.com/">
                        <go:slidesCustomData xmlns:go="http://customooxmlschemas.google.com/" cellId="13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832.0K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11.6%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9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9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9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madame coco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632.0K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6D4"/>
                    </a:solidFill>
                    <a:extLst>
                      <a:ext uri="http://customooxmlschemas.google.com/">
                        <go:slidesCustomData xmlns:go="http://customooxmlschemas.google.com/" cellId="134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41.1%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34:10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0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0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0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flo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134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632.0K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E6D4"/>
                    </a:solidFill>
                    <a:extLst>
                      <a:ext uri="http://customooxmlschemas.google.com/">
                        <go:slidesCustomData xmlns:go="http://customooxmlschemas.google.com/" cellId="134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41.1%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1.2M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3F"/>
                    </a:solidFill>
                    <a:extLst>
                      <a:ext uri="http://customooxmlschemas.google.com/">
                        <go:slidesCustomData xmlns:go="http://customooxmlschemas.google.com/" cellId="134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3F"/>
                    </a:solidFill>
                    <a:extLst>
                      <a:ext uri="http://customooxmlschemas.google.com/">
                        <go:slidesCustomData xmlns:go="http://customooxmlschemas.google.com/" cellId="134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3F"/>
                    </a:solidFill>
                    <a:extLst>
                      <a:ext uri="http://customooxmlschemas.google.com/">
                        <go:slidesCustomData xmlns:go="http://customooxmlschemas.google.com/" cellId="134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2BC3F"/>
                    </a:solidFill>
                    <a:extLst>
                      <a:ext uri="http://customooxmlschemas.google.com/">
                        <go:slidesCustomData xmlns:go="http://customooxmlschemas.google.com/" cellId="134:1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1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1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1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1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beymen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9"/>
                    </a:solidFill>
                    <a:extLst>
                      <a:ext uri="http://customooxmlschemas.google.com/">
                        <go:slidesCustomData xmlns:go="http://customooxmlschemas.google.com/" cellId="134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E4D1"/>
                    </a:solidFill>
                    <a:extLst>
                      <a:ext uri="http://customooxmlschemas.google.com/">
                        <go:slidesCustomData xmlns:go="http://customooxmlschemas.google.com/" cellId="134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2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2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2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2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2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n11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9"/>
                    </a:solidFill>
                    <a:extLst>
                      <a:ext uri="http://customooxmlschemas.google.com/">
                        <go:slidesCustomData xmlns:go="http://customooxmlschemas.google.com/" cellId="134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516.7K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BDD"/>
                    </a:solidFill>
                    <a:extLst>
                      <a:ext uri="http://customooxmlschemas.google.com/">
                        <go:slidesCustomData xmlns:go="http://customooxmlschemas.google.com/" cellId="134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23.2%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134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134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134:1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134:1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3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3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3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3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3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english home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591.0K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CDE"/>
                    </a:solidFill>
                    <a:extLst>
                      <a:ext uri="http://customooxmlschemas.google.com/">
                        <go:slidesCustomData xmlns:go="http://customooxmlschemas.google.com/" cellId="134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ADB"/>
                    </a:solidFill>
                    <a:extLst>
                      <a:ext uri="http://customooxmlschemas.google.com/">
                        <go:slidesCustomData xmlns:go="http://customooxmlschemas.google.com/" cellId="134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6.9%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134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1"/>
                    </a:solidFill>
                    <a:extLst>
                      <a:ext uri="http://customooxmlschemas.google.com/">
                        <go:slidesCustomData xmlns:go="http://customooxmlschemas.google.com/" cellId="134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1"/>
                    </a:solidFill>
                    <a:extLst>
                      <a:ext uri="http://customooxmlschemas.google.com/">
                        <go:slidesCustomData xmlns:go="http://customooxmlschemas.google.com/" cellId="134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1"/>
                    </a:solidFill>
                    <a:extLst>
                      <a:ext uri="http://customooxmlschemas.google.com/">
                        <go:slidesCustomData xmlns:go="http://customooxmlschemas.google.com/" cellId="134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134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368.0K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914E"/>
                    </a:solidFill>
                    <a:extLst>
                      <a:ext uri="http://customooxmlschemas.google.com/">
                        <go:slidesCustomData xmlns:go="http://customooxmlschemas.google.com/" cellId="134:1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1"/>
                    </a:solidFill>
                    <a:extLst>
                      <a:ext uri="http://customooxmlschemas.google.com/">
                        <go:slidesCustomData xmlns:go="http://customooxmlschemas.google.com/" cellId="134:1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134:1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673.0K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134:1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4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823.0K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4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4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4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550.0K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4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özdilek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177.0K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134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177.0K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  <a:extLst>
                      <a:ext uri="http://customooxmlschemas.google.com/">
                        <go:slidesCustomData xmlns:go="http://customooxmlschemas.google.com/" cellId="134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5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5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201.0K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5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5:18"/>
                      </a:ext>
                    </a:extLst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</a:rPr>
                        <a:t>özdilekteyim</a:t>
                      </a:r>
                      <a:endParaRPr b="1" sz="19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4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4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69.5K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4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6AA84F"/>
                          </a:solidFill>
                        </a:rPr>
                        <a:t>6.9%</a:t>
                      </a:r>
                      <a:endParaRPr b="1" sz="1900"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4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74.0K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74.0K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49.5K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49.5K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134:1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74.0K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134:1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6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6:1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74.0K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6:1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60.5K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4:16:1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74.0K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4:16:18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35" name="Google Shape;135;g3b632a6cafe_0_213"/>
          <p:cNvSpPr txBox="1"/>
          <p:nvPr/>
        </p:nvSpPr>
        <p:spPr>
          <a:xfrm>
            <a:off x="1371765" y="10491788"/>
            <a:ext cx="23317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25 vs Q1 26'da </a:t>
            </a: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16 markadan 8'inde YoY düşüş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gözlenmektedir. </a:t>
            </a:r>
            <a:endParaRPr sz="30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çok düşüş  </a:t>
            </a:r>
            <a:r>
              <a:rPr b="1" lang="en-US" sz="30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madame coco / flo %41  </a:t>
            </a:r>
            <a:r>
              <a:rPr b="1" lang="en-US" sz="30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30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n11 (%23) </a:t>
            </a:r>
            <a:r>
              <a:rPr b="1" lang="en-US" sz="30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lang="en-US" sz="30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 lcw (%22)</a:t>
            </a:r>
            <a:endParaRPr sz="30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En iyi artışlar  ise </a:t>
            </a:r>
            <a:r>
              <a:rPr b="1" lang="en-US" sz="30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carrefoursa (+%20), özdilekteyim (+%6.9), amazon (+%7.5), migros (+%6.5)</a:t>
            </a:r>
            <a:r>
              <a:rPr lang="en-US" sz="30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endParaRPr b="1" sz="30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1" name="Google Shape;141;g3b632a6cafe_0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g3b632a6cafe_0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b632a6cafe_0_22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b632a6cafe_0_221"/>
          <p:cNvSpPr/>
          <p:nvPr/>
        </p:nvSpPr>
        <p:spPr>
          <a:xfrm>
            <a:off x="406450" y="406400"/>
            <a:ext cx="13547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Takip Edilen Kelimelerdeki Arama Hacimleri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g3b632a6cafe_0_221"/>
          <p:cNvGraphicFramePr/>
          <p:nvPr/>
        </p:nvGraphicFramePr>
        <p:xfrm>
          <a:off x="1569688" y="18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3122850"/>
                <a:gridCol w="1885375"/>
                <a:gridCol w="1781875"/>
                <a:gridCol w="1745575"/>
                <a:gridCol w="1793200"/>
                <a:gridCol w="1793200"/>
                <a:gridCol w="1793200"/>
                <a:gridCol w="663475"/>
                <a:gridCol w="1793200"/>
                <a:gridCol w="1793200"/>
                <a:gridCol w="1793200"/>
              </a:tblGrid>
              <a:tr h="91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Main Cat.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2025 Q1 Avg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2026 Q1 Avg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Change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Jan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Feb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Mar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Jan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Feb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Mar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0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Ev &amp; Yaşam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21.0M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18.3M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13%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22.4M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21.2M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BBC52"/>
                    </a:solidFill>
                    <a:extLst>
                      <a:ext uri="http://customooxmlschemas.google.com/">
                        <go:slidesCustomData xmlns:go="http://customooxmlschemas.google.com/" cellId="14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19.5M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BC05"/>
                    </a:solidFill>
                    <a:extLst>
                      <a:ext uri="http://customooxmlschemas.google.com/">
                        <go:slidesCustomData xmlns:go="http://customooxmlschemas.google.com/" cellId="14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19.4M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BB06"/>
                    </a:solidFill>
                    <a:extLst>
                      <a:ext uri="http://customooxmlschemas.google.com/">
                        <go:slidesCustomData xmlns:go="http://customooxmlschemas.google.com/" cellId="145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16.9M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18.4M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A034"/>
                    </a:solidFill>
                    <a:extLst>
                      <a:ext uri="http://customooxmlschemas.google.com/">
                        <go:slidesCustomData xmlns:go="http://customooxmlschemas.google.com/" cellId="145:1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Kadın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7.3M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5.7M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22%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ABC60"/>
                    </a:solidFill>
                    <a:extLst>
                      <a:ext uri="http://customooxmlschemas.google.com/">
                        <go:slidesCustomData xmlns:go="http://customooxmlschemas.google.com/" cellId="14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4BC24"/>
                    </a:solidFill>
                    <a:extLst>
                      <a:ext uri="http://customooxmlschemas.google.com/">
                        <go:slidesCustomData xmlns:go="http://customooxmlschemas.google.com/" cellId="145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8D55"/>
                    </a:solidFill>
                    <a:extLst>
                      <a:ext uri="http://customooxmlschemas.google.com/">
                        <go:slidesCustomData xmlns:go="http://customooxmlschemas.google.com/" cellId="145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AF1A"/>
                    </a:solidFill>
                    <a:extLst>
                      <a:ext uri="http://customooxmlschemas.google.com/">
                        <go:slidesCustomData xmlns:go="http://customooxmlschemas.google.com/" cellId="145:2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Erkek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7.0M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5.6M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DBC5E"/>
                    </a:solidFill>
                    <a:extLst>
                      <a:ext uri="http://customooxmlschemas.google.com/">
                        <go:slidesCustomData xmlns:go="http://customooxmlschemas.google.com/" cellId="145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FBC84"/>
                    </a:solidFill>
                    <a:extLst>
                      <a:ext uri="http://customooxmlschemas.google.com/">
                        <go:slidesCustomData xmlns:go="http://customooxmlschemas.google.com/" cellId="145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6.1M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2"/>
                    </a:solidFill>
                    <a:extLst>
                      <a:ext uri="http://customooxmlschemas.google.com/">
                        <go:slidesCustomData xmlns:go="http://customooxmlschemas.google.com/" cellId="145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A3F"/>
                    </a:solidFill>
                    <a:extLst>
                      <a:ext uri="http://customooxmlschemas.google.com/">
                        <go:slidesCustomData xmlns:go="http://customooxmlschemas.google.com/" cellId="145:3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Parfüm &amp; Kozmetik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5.4M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5.1M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6%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CBC1D"/>
                    </a:solidFill>
                    <a:extLst>
                      <a:ext uri="http://customooxmlschemas.google.com/">
                        <go:slidesCustomData xmlns:go="http://customooxmlschemas.google.com/" cellId="145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B117"/>
                    </a:solidFill>
                    <a:extLst>
                      <a:ext uri="http://customooxmlschemas.google.com/">
                        <go:slidesCustomData xmlns:go="http://customooxmlschemas.google.com/" cellId="145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0BC82"/>
                    </a:solidFill>
                    <a:extLst>
                      <a:ext uri="http://customooxmlschemas.google.com/">
                        <go:slidesCustomData xmlns:go="http://customooxmlschemas.google.com/" cellId="145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050"/>
                    </a:solidFill>
                    <a:extLst>
                      <a:ext uri="http://customooxmlschemas.google.com/">
                        <go:slidesCustomData xmlns:go="http://customooxmlschemas.google.com/" cellId="145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4:10"/>
                      </a:ext>
                    </a:extLst>
                  </a:tcPr>
                </a:tc>
              </a:tr>
              <a:tr h="804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Kırtasiye &amp; Oyuncak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3.1M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3.0M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3BC25"/>
                    </a:solidFill>
                    <a:extLst>
                      <a:ext uri="http://customooxmlschemas.google.com/">
                        <go:slidesCustomData xmlns:go="http://customooxmlschemas.google.com/" cellId="145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3.1M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BC11"/>
                    </a:solidFill>
                    <a:extLst>
                      <a:ext uri="http://customooxmlschemas.google.com/">
                        <go:slidesCustomData xmlns:go="http://customooxmlschemas.google.com/" cellId="145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B214"/>
                    </a:solidFill>
                    <a:extLst>
                      <a:ext uri="http://customooxmlschemas.google.com/">
                        <go:slidesCustomData xmlns:go="http://customooxmlschemas.google.com/" cellId="145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9D3A"/>
                    </a:solidFill>
                    <a:extLst>
                      <a:ext uri="http://customooxmlschemas.google.com/">
                        <go:slidesCustomData xmlns:go="http://customooxmlschemas.google.com/" cellId="145:5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Ayakkabı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2.8M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2.1M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25%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BC0F"/>
                    </a:solidFill>
                    <a:extLst>
                      <a:ext uri="http://customooxmlschemas.google.com/">
                        <go:slidesCustomData xmlns:go="http://customooxmlschemas.google.com/" cellId="145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CBC1D"/>
                    </a:solidFill>
                    <a:extLst>
                      <a:ext uri="http://customooxmlschemas.google.com/">
                        <go:slidesCustomData xmlns:go="http://customooxmlschemas.google.com/" cellId="145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AC1F"/>
                    </a:solidFill>
                    <a:extLst>
                      <a:ext uri="http://customooxmlschemas.google.com/">
                        <go:slidesCustomData xmlns:go="http://customooxmlschemas.google.com/" cellId="145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B313"/>
                    </a:solidFill>
                    <a:extLst>
                      <a:ext uri="http://customooxmlschemas.google.com/">
                        <go:slidesCustomData xmlns:go="http://customooxmlschemas.google.com/" cellId="145:6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Ev Tekstili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1.7M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1.4M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6BC56"/>
                    </a:solidFill>
                    <a:extLst>
                      <a:ext uri="http://customooxmlschemas.google.com/">
                        <go:slidesCustomData xmlns:go="http://customooxmlschemas.google.com/" cellId="145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9C3B"/>
                    </a:solidFill>
                    <a:extLst>
                      <a:ext uri="http://customooxmlschemas.google.com/">
                        <go:slidesCustomData xmlns:go="http://customooxmlschemas.google.com/" cellId="145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3BC17"/>
                    </a:solidFill>
                    <a:extLst>
                      <a:ext uri="http://customooxmlschemas.google.com/">
                        <go:slidesCustomData xmlns:go="http://customooxmlschemas.google.com/" cellId="145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934A"/>
                    </a:solidFill>
                    <a:extLst>
                      <a:ext uri="http://customooxmlschemas.google.com/">
                        <go:slidesCustomData xmlns:go="http://customooxmlschemas.google.com/" cellId="145:7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Spor &amp; Outdoor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1.5M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1.2M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22%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3BC24"/>
                    </a:solidFill>
                    <a:extLst>
                      <a:ext uri="http://customooxmlschemas.google.com/">
                        <go:slidesCustomData xmlns:go="http://customooxmlschemas.google.com/" cellId="145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B21"/>
                    </a:solidFill>
                    <a:extLst>
                      <a:ext uri="http://customooxmlschemas.google.com/">
                        <go:slidesCustomData xmlns:go="http://customooxmlschemas.google.com/" cellId="145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977.2K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999.3K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7F6D"/>
                    </a:solidFill>
                    <a:extLst>
                      <a:ext uri="http://customooxmlschemas.google.com/">
                        <go:slidesCustomData xmlns:go="http://customooxmlschemas.google.com/" cellId="145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BC35"/>
                    </a:solidFill>
                    <a:extLst>
                      <a:ext uri="http://customooxmlschemas.google.com/">
                        <go:slidesCustomData xmlns:go="http://customooxmlschemas.google.com/" cellId="145:8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Çocuk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931.3K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734.0K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21%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883.6K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7BC22"/>
                    </a:solidFill>
                    <a:extLst>
                      <a:ext uri="http://customooxmlschemas.google.com/">
                        <go:slidesCustomData xmlns:go="http://customooxmlschemas.google.com/" cellId="145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877.6K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CBC1D"/>
                    </a:solidFill>
                    <a:extLst>
                      <a:ext uri="http://customooxmlschemas.google.com/">
                        <go:slidesCustomData xmlns:go="http://customooxmlschemas.google.com/" cellId="145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734.6K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9547"/>
                    </a:solidFill>
                    <a:extLst>
                      <a:ext uri="http://customooxmlschemas.google.com/">
                        <go:slidesCustomData xmlns:go="http://customooxmlschemas.google.com/" cellId="145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664.4K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803.0K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AE1C"/>
                    </a:solidFill>
                    <a:extLst>
                      <a:ext uri="http://customooxmlschemas.google.com/">
                        <go:slidesCustomData xmlns:go="http://customooxmlschemas.google.com/" cellId="145:9:10"/>
                      </a:ext>
                    </a:extLst>
                  </a:tcPr>
                </a:tc>
              </a:tr>
              <a:tr h="60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50.9M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43.1M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15%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5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52.5M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45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49.8M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C41"/>
                    </a:solidFill>
                    <a:extLst>
                      <a:ext uri="http://customooxmlschemas.google.com/">
                        <go:slidesCustomData xmlns:go="http://customooxmlschemas.google.com/" cellId="145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50.3M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BC4F"/>
                    </a:solidFill>
                    <a:extLst>
                      <a:ext uri="http://customooxmlschemas.google.com/">
                        <go:slidesCustomData xmlns:go="http://customooxmlschemas.google.com/" cellId="145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45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44.4M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A231"/>
                    </a:solidFill>
                    <a:extLst>
                      <a:ext uri="http://customooxmlschemas.google.com/">
                        <go:slidesCustomData xmlns:go="http://customooxmlschemas.google.com/" cellId="145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39.8M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45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45.1M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A826"/>
                    </a:solidFill>
                    <a:extLst>
                      <a:ext uri="http://customooxmlschemas.google.com/">
                        <go:slidesCustomData xmlns:go="http://customooxmlschemas.google.com/" cellId="145:10:10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46" name="Google Shape;146;g3b632a6cafe_0_221"/>
          <p:cNvSpPr txBox="1"/>
          <p:nvPr/>
        </p:nvSpPr>
        <p:spPr>
          <a:xfrm>
            <a:off x="1371775" y="9590400"/>
            <a:ext cx="215391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Takip edilen kelimelerin toplam Q1 hacmi </a:t>
            </a:r>
            <a:r>
              <a:rPr b="1" lang="en-US" sz="2600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%15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düştü. (50.9M → 43.1M) En çok düşüş </a:t>
            </a:r>
            <a:r>
              <a:rPr b="1"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Ayakkabı (%25), Kadın &amp; Spor &amp; Outdoor (%22), Çocuk (%21), Erkek (%20)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2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dirençli kategoriler </a:t>
            </a:r>
            <a:r>
              <a:rPr b="1" lang="en-US" sz="26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Kırtasiye &amp; Oyuncak (</a:t>
            </a:r>
            <a:r>
              <a:rPr b="1" lang="en-US" sz="26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6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%4) ve Parfüm &amp; Kozmetik (</a:t>
            </a:r>
            <a:r>
              <a:rPr b="1" lang="en-US" sz="26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6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%6)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; bu kategorilerin Q1 de talep düşüşü yaşamadığı görülmektedir.</a:t>
            </a:r>
            <a:endParaRPr sz="2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Ev &amp; Yaşam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pazarın </a:t>
            </a:r>
            <a:r>
              <a:rPr b="1"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%42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'sini oluşturuyor =&gt; 18.3M</a:t>
            </a:r>
            <a:endParaRPr sz="2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1"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Şubat 2026 (39.8M)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son 3 ayın en düşük noktası; Mart'a doğru toparlanma görülmektedir </a:t>
            </a:r>
            <a:r>
              <a:rPr b="1"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(45.1M).</a:t>
            </a:r>
            <a:endParaRPr sz="26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52" name="Google Shape;152;g3d9c1dba2bb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3" name="Google Shape;153;g3d9c1dba2bb_1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d9c1dba2bb_1_3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9c1dba2bb_1_37"/>
          <p:cNvSpPr/>
          <p:nvPr/>
        </p:nvSpPr>
        <p:spPr>
          <a:xfrm>
            <a:off x="406450" y="406400"/>
            <a:ext cx="13547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Marka + Kategori Arama Hacimleri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g3d9c1dba2bb_1_37"/>
          <p:cNvGraphicFramePr/>
          <p:nvPr/>
        </p:nvGraphicFramePr>
        <p:xfrm>
          <a:off x="2178625" y="181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716525"/>
                <a:gridCol w="1811025"/>
                <a:gridCol w="1811025"/>
                <a:gridCol w="1666125"/>
                <a:gridCol w="1811025"/>
                <a:gridCol w="1811025"/>
                <a:gridCol w="1811025"/>
                <a:gridCol w="1159050"/>
                <a:gridCol w="1811025"/>
                <a:gridCol w="1811025"/>
                <a:gridCol w="1811025"/>
              </a:tblGrid>
              <a:tr h="945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Main Cat.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2025 Q1 Avg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2026 Q1 Avg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Change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Jan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Feb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Mar 2025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Jan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Feb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SUM of Mar 2026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0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Ayakkabı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1.4K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1.2K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9%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A32F"/>
                    </a:solidFill>
                    <a:extLst>
                      <a:ext uri="http://customooxmlschemas.google.com/">
                        <go:slidesCustomData xmlns:go="http://customooxmlschemas.google.com/" cellId="15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3BC73"/>
                    </a:solidFill>
                    <a:extLst>
                      <a:ext uri="http://customooxmlschemas.google.com/">
                        <go:slidesCustomData xmlns:go="http://customooxmlschemas.google.com/" cellId="15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3BC73"/>
                    </a:solidFill>
                    <a:extLst>
                      <a:ext uri="http://customooxmlschemas.google.com/">
                        <go:slidesCustomData xmlns:go="http://customooxmlschemas.google.com/" cellId="15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9C3C"/>
                    </a:solidFill>
                    <a:extLst>
                      <a:ext uri="http://customooxmlschemas.google.com/">
                        <go:slidesCustomData xmlns:go="http://customooxmlschemas.google.com/" cellId="156:1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Çocuk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1.6K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1.4K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15%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7BC48"/>
                    </a:solidFill>
                    <a:extLst>
                      <a:ext uri="http://customooxmlschemas.google.com/">
                        <go:slidesCustomData xmlns:go="http://customooxmlschemas.google.com/" cellId="15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970.0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BC4A"/>
                    </a:solidFill>
                    <a:extLst>
                      <a:ext uri="http://customooxmlschemas.google.com/">
                        <go:slidesCustomData xmlns:go="http://customooxmlschemas.google.com/" cellId="15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14F"/>
                    </a:solidFill>
                    <a:extLst>
                      <a:ext uri="http://customooxmlschemas.google.com/">
                        <go:slidesCustomData xmlns:go="http://customooxmlschemas.google.com/" cellId="156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9646"/>
                    </a:solidFill>
                    <a:extLst>
                      <a:ext uri="http://customooxmlschemas.google.com/">
                        <go:slidesCustomData xmlns:go="http://customooxmlschemas.google.com/" cellId="156:2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Erkek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2.4K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2.7K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11%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BC07"/>
                    </a:solidFill>
                    <a:extLst>
                      <a:ext uri="http://customooxmlschemas.google.com/">
                        <go:slidesCustomData xmlns:go="http://customooxmlschemas.google.com/" cellId="15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BC4B"/>
                    </a:solidFill>
                    <a:extLst>
                      <a:ext uri="http://customooxmlschemas.google.com/">
                        <go:slidesCustomData xmlns:go="http://customooxmlschemas.google.com/" cellId="15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B510"/>
                    </a:solidFill>
                    <a:extLst>
                      <a:ext uri="http://customooxmlschemas.google.com/">
                        <go:slidesCustomData xmlns:go="http://customooxmlschemas.google.com/" cellId="156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B909"/>
                    </a:solidFill>
                    <a:extLst>
                      <a:ext uri="http://customooxmlschemas.google.com/">
                        <go:slidesCustomData xmlns:go="http://customooxmlschemas.google.com/" cellId="156:3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Ev &amp; Yaşam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4.7K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3.5K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26%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CBC78"/>
                    </a:solidFill>
                    <a:extLst>
                      <a:ext uri="http://customooxmlschemas.google.com/">
                        <go:slidesCustomData xmlns:go="http://customooxmlschemas.google.com/" cellId="15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156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A52C"/>
                    </a:solidFill>
                    <a:extLst>
                      <a:ext uri="http://customooxmlschemas.google.com/">
                        <go:slidesCustomData xmlns:go="http://customooxmlschemas.google.com/" cellId="156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563"/>
                    </a:solidFill>
                    <a:extLst>
                      <a:ext uri="http://customooxmlschemas.google.com/">
                        <go:slidesCustomData xmlns:go="http://customooxmlschemas.google.com/" cellId="156:4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Ev Tekstili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202.6K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144.8K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29%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195.2K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4BC31"/>
                    </a:solidFill>
                    <a:extLst>
                      <a:ext uri="http://customooxmlschemas.google.com/">
                        <go:slidesCustomData xmlns:go="http://customooxmlschemas.google.com/" cellId="15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285.8K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126.8K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156.7K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BC0B"/>
                    </a:solidFill>
                    <a:extLst>
                      <a:ext uri="http://customooxmlschemas.google.com/">
                        <go:slidesCustomData xmlns:go="http://customooxmlschemas.google.com/" cellId="156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136.9K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156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140.9K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A52C"/>
                    </a:solidFill>
                    <a:extLst>
                      <a:ext uri="http://customooxmlschemas.google.com/">
                        <go:slidesCustomData xmlns:go="http://customooxmlschemas.google.com/" cellId="156:5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Kadın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11.5K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8.6K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25%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11.8K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2BC74"/>
                    </a:solidFill>
                    <a:extLst>
                      <a:ext uri="http://customooxmlschemas.google.com/">
                        <go:slidesCustomData xmlns:go="http://customooxmlschemas.google.com/" cellId="15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12.2K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2BC25"/>
                    </a:solidFill>
                    <a:extLst>
                      <a:ext uri="http://customooxmlschemas.google.com/">
                        <go:slidesCustomData xmlns:go="http://customooxmlschemas.google.com/" cellId="156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AA23"/>
                    </a:solidFill>
                    <a:extLst>
                      <a:ext uri="http://customooxmlschemas.google.com/">
                        <go:slidesCustomData xmlns:go="http://customooxmlschemas.google.com/" cellId="156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8B58"/>
                    </a:solidFill>
                    <a:extLst>
                      <a:ext uri="http://customooxmlschemas.google.com/">
                        <go:slidesCustomData xmlns:go="http://customooxmlschemas.google.com/" cellId="156:6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Kırtasiye &amp; Oyuncak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386.7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420.0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9%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380.0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400.0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BC10"/>
                    </a:solidFill>
                    <a:extLst>
                      <a:ext uri="http://customooxmlschemas.google.com/">
                        <go:slidesCustomData xmlns:go="http://customooxmlschemas.google.com/" cellId="156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380.0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390.0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A629"/>
                    </a:solidFill>
                    <a:extLst>
                      <a:ext uri="http://customooxmlschemas.google.com/">
                        <go:slidesCustomData xmlns:go="http://customooxmlschemas.google.com/" cellId="156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420.0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156:7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Parfüm &amp; Kozmetik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393.3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450.0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400.0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A231"/>
                    </a:solidFill>
                    <a:extLst>
                      <a:ext uri="http://customooxmlschemas.google.com/">
                        <go:slidesCustomData xmlns:go="http://customooxmlschemas.google.com/" cellId="156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410.0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AF1B"/>
                    </a:solidFill>
                    <a:extLst>
                      <a:ext uri="http://customooxmlschemas.google.com/">
                        <go:slidesCustomData xmlns:go="http://customooxmlschemas.google.com/" cellId="156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370.0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490.0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430.0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4BC17"/>
                    </a:solidFill>
                    <a:extLst>
                      <a:ext uri="http://customooxmlschemas.google.com/">
                        <go:slidesCustomData xmlns:go="http://customooxmlschemas.google.com/" cellId="156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430.0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4BC17"/>
                    </a:solidFill>
                    <a:extLst>
                      <a:ext uri="http://customooxmlschemas.google.com/">
                        <go:slidesCustomData xmlns:go="http://customooxmlschemas.google.com/" cellId="156:8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Spor &amp; Outdoor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610.0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543.3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11%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420.0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B80A"/>
                    </a:solidFill>
                    <a:extLst>
                      <a:ext uri="http://customooxmlschemas.google.com/">
                        <go:slidesCustomData xmlns:go="http://customooxmlschemas.google.com/" cellId="156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430.0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BC05"/>
                    </a:solidFill>
                    <a:extLst>
                      <a:ext uri="http://customooxmlschemas.google.com/">
                        <go:slidesCustomData xmlns:go="http://customooxmlschemas.google.com/" cellId="156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980.0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320.0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400.0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AC1F"/>
                    </a:solidFill>
                    <a:extLst>
                      <a:ext uri="http://customooxmlschemas.google.com/">
                        <go:slidesCustomData xmlns:go="http://customooxmlschemas.google.com/" cellId="156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910.0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CBC79"/>
                    </a:solidFill>
                    <a:extLst>
                      <a:ext uri="http://customooxmlschemas.google.com/">
                        <go:slidesCustomData xmlns:go="http://customooxmlschemas.google.com/" cellId="156:9:10"/>
                      </a:ext>
                    </a:extLst>
                  </a:tcPr>
                </a:tc>
              </a:tr>
              <a:tr h="62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225.6K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163.6K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27%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6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218.9K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BC33"/>
                    </a:solidFill>
                    <a:extLst>
                      <a:ext uri="http://customooxmlschemas.google.com/">
                        <go:slidesCustomData xmlns:go="http://customooxmlschemas.google.com/" cellId="156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310.2K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6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147.7K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6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6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177.7K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C0C"/>
                    </a:solidFill>
                    <a:extLst>
                      <a:ext uri="http://customooxmlschemas.google.com/">
                        <go:slidesCustomData xmlns:go="http://customooxmlschemas.google.com/" cellId="156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153.9K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8F52"/>
                    </a:solidFill>
                    <a:extLst>
                      <a:ext uri="http://customooxmlschemas.google.com/">
                        <go:slidesCustomData xmlns:go="http://customooxmlschemas.google.com/" cellId="156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159.3K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9F36"/>
                    </a:solidFill>
                    <a:extLst>
                      <a:ext uri="http://customooxmlschemas.google.com/">
                        <go:slidesCustomData xmlns:go="http://customooxmlschemas.google.com/" cellId="156:10:10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57" name="Google Shape;157;g3d9c1dba2bb_1_37"/>
          <p:cNvSpPr txBox="1"/>
          <p:nvPr/>
        </p:nvSpPr>
        <p:spPr>
          <a:xfrm>
            <a:off x="1371775" y="9590400"/>
            <a:ext cx="227007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Marka + kategori toplam hacmi 2026 Q1'de </a:t>
            </a:r>
            <a:r>
              <a:rPr b="1" lang="en-US" sz="2400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400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%27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düşüş gözüküyor. (225.6K → 163.6K).  En fazla düşüş: 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Ev Tekstili (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%29), Ev &amp; Yaşam (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%26), Kadın (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%25)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kategorilerindedir.</a:t>
            </a:r>
            <a:endParaRPr sz="2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1" lang="en-US" sz="24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Parfüm &amp; Kozmetik (+%14), Erkek (+%11), Kırtasiye &amp; Oyuncak (+%9)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kategorileri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ters yönlü hareketle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artış göstermiş; marka + kategori segmentinde </a:t>
            </a:r>
            <a:r>
              <a:rPr b="1" lang="en-US" sz="24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niş ürün gruplarının dirençli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olduğu görülmektedir.</a:t>
            </a:r>
            <a:endParaRPr sz="2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2025 Q1'de 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Şubat ayı (310.2K)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Ev Tekstili baskınken, 2026 Q1'de aylık dağılım daha </a:t>
            </a:r>
            <a:r>
              <a:rPr b="1" lang="en-US" sz="24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dengeli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seyretmiştir.  =&gt; </a:t>
            </a:r>
            <a:r>
              <a:rPr b="1"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2025 Şubat Kampanya Etkisi</a:t>
            </a:r>
            <a:endParaRPr b="1" sz="2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sz="24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3" name="Google Shape;163;g33d7f9d02ad_1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3d7f9d02ad_1_92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5" name="Google Shape;165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3d7f9d02ad_1_92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7" name="Google Shape;167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3d7f9d02ad_1_92"/>
          <p:cNvSpPr/>
          <p:nvPr/>
        </p:nvSpPr>
        <p:spPr>
          <a:xfrm>
            <a:off x="-1886350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03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3d7f9d02ad_1_92"/>
          <p:cNvSpPr/>
          <p:nvPr/>
        </p:nvSpPr>
        <p:spPr>
          <a:xfrm>
            <a:off x="495026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Google Search Console Metrikleri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5" name="Google Shape;175;g371296a02dd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607" y="1724375"/>
            <a:ext cx="5883192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6" name="Google Shape;176;g371296a02dd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7" name="Google Shape;177;g371296a02dd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71296a02dd_0_5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71296a02dd_0_5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71296a02dd_0_5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Aylık Impression &amp; Click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81" name="Google Shape;181;g371296a02dd_0_50"/>
          <p:cNvSpPr txBox="1"/>
          <p:nvPr/>
        </p:nvSpPr>
        <p:spPr>
          <a:xfrm>
            <a:off x="1629875" y="12550225"/>
            <a:ext cx="213303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Impression</a:t>
            </a:r>
            <a:r>
              <a:rPr b="0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Özdilekteyim’e ait reklam dışı bir linkin bir kullanıcı tarafından görüntülenmesi bir impression olarak sayılır.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Click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Özdilekteyim’e ait bir linke reklam harici gelen tıklamalar click olarak sayılır.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2" name="Google Shape;182;g371296a02dd_0_5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44" y="2263008"/>
            <a:ext cx="23705990" cy="83034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3" name="Google Shape;183;g371296a02dd_0_50"/>
          <p:cNvSpPr txBox="1"/>
          <p:nvPr/>
        </p:nvSpPr>
        <p:spPr>
          <a:xfrm>
            <a:off x="1629875" y="10824275"/>
            <a:ext cx="197325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YoY incelediğimiz zaman Q 1 Impression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’ları 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90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90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%7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9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azalırken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Click </a:t>
            </a:r>
            <a:r>
              <a:rPr b="1" lang="en-US" sz="29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değişmemiştir.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2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Şubat 26 (5.5M Impression) son 14 ayın en düşük noktası olarak öne çıkmaktadır.</a:t>
            </a:r>
            <a:endParaRPr b="0" i="0" sz="39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89" name="Google Shape;189;g3b632a6cafe_0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0" name="Google Shape;190;g3b632a6cafe_0_2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1" name="Google Shape;191;g3b632a6cafe_0_2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b632a6cafe_0_274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b632a6cafe_0_274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632a6cafe_0_274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Aylık Pozisyon &amp; CTR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195" name="Google Shape;195;g3b632a6cafe_0_274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45" y="2455957"/>
            <a:ext cx="22998439" cy="80443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6" name="Google Shape;196;g3b632a6cafe_0_274"/>
          <p:cNvSpPr txBox="1"/>
          <p:nvPr/>
        </p:nvSpPr>
        <p:spPr>
          <a:xfrm>
            <a:off x="1629875" y="10745725"/>
            <a:ext cx="22301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25 ortalama pozisyon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22.3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'ten Q1 26'da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8.4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'e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gelişme göstererek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%62 iyileşme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kaydetmiştir; bu kazanım büyük ölçüde 2025 Q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boyunca süreklilik gösteren on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page ve teknik optimizasyon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ların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getirisi olarak düşünülebilir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Pozisyondaki ciddi iyileşmeye karşın CTR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’da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%3.07'den %3.27'ye </a:t>
            </a:r>
            <a:r>
              <a:rPr b="1" lang="en-US" sz="28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hafif bir artış</a:t>
            </a: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gözlenmiştir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; bu durum </a:t>
            </a:r>
            <a:r>
              <a:rPr b="1" lang="en-US" sz="28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Overview</a:t>
            </a: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ve zero</a:t>
            </a: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click davranışlarının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tıklama oranı üzerindeki etkisi açısından GEO çerçevesinde değerlendirilebilir.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632a6cafe_0_233"/>
          <p:cNvSpPr txBox="1"/>
          <p:nvPr/>
        </p:nvSpPr>
        <p:spPr>
          <a:xfrm>
            <a:off x="2271350" y="10797625"/>
            <a:ext cx="20937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0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A42D"/>
              </a:buClr>
              <a:buSzPts val="3500"/>
              <a:buFont typeface="Outfit"/>
              <a:buChar char="➔"/>
            </a:pP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202</a:t>
            </a:r>
            <a:r>
              <a:rPr lang="en-US" sz="35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Q</a:t>
            </a:r>
            <a:r>
              <a:rPr lang="en-US" sz="35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Clickleri 202</a:t>
            </a:r>
            <a:r>
              <a:rPr lang="en-US" sz="35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Q</a:t>
            </a:r>
            <a:r>
              <a:rPr lang="en-US" sz="35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dönemine göre </a:t>
            </a:r>
            <a:r>
              <a:rPr b="1" i="0" lang="en-US" sz="3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%1’lik a</a:t>
            </a:r>
            <a:r>
              <a:rPr b="1" lang="en-US" sz="3500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zal</a:t>
            </a:r>
            <a:r>
              <a:rPr b="1" i="0" lang="en-US" sz="3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ış</a:t>
            </a:r>
            <a:r>
              <a:rPr b="0" i="0" lang="en-US" sz="3500" u="none" cap="none" strike="noStrike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trendi göstermiştir.</a:t>
            </a:r>
            <a:endParaRPr b="0" i="0" sz="3500" u="none" cap="none" strike="noStrike">
              <a:solidFill>
                <a:srgbClr val="254E4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203" name="Google Shape;203;g3b632a6cafe_0_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4" name="Google Shape;204;g3b632a6cafe_0_2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5" name="Google Shape;205;g3b632a6cafe_0_2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b632a6cafe_0_23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b632a6cafe_0_233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b632a6cafe_0_23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Çeyreklik Impression &amp; Click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09" name="Google Shape;209;g3b632a6cafe_0_233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45" y="2263007"/>
            <a:ext cx="23321000" cy="816860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5" name="Google Shape;215;g3b632a6cafe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g3b632a6cafe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g3b632a6cafe_0_2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b632a6cafe_0_24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b632a6cafe_0_247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632a6cafe_0_24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202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6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vs 202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Aylık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21" name="Google Shape;221;g3b632a6cafe_0_247"/>
          <p:cNvSpPr txBox="1"/>
          <p:nvPr/>
        </p:nvSpPr>
        <p:spPr>
          <a:xfrm>
            <a:off x="1629875" y="12550225"/>
            <a:ext cx="213303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Impression</a:t>
            </a:r>
            <a:r>
              <a:rPr b="0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Özdilekteyim’e ait reklam dışı bir linkin bir kullanıcı tarafından görüntülenmesi bir impression olarak sayılır.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Click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Özdilekteyim’e ait bir linke reklam harici gelen tıklamalar click olarak sayılır.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2" name="Google Shape;222;g3b632a6cafe_0_247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305550"/>
            <a:ext cx="16967430" cy="4888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223" name="Google Shape;223;g3b632a6cafe_0_247"/>
          <p:cNvGraphicFramePr/>
          <p:nvPr/>
        </p:nvGraphicFramePr>
        <p:xfrm>
          <a:off x="17347550" y="343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021550"/>
                <a:gridCol w="1510850"/>
                <a:gridCol w="1510850"/>
                <a:gridCol w="1510850"/>
              </a:tblGrid>
              <a:tr h="51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Click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Jan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Feb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Mar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0:3"/>
                      </a:ext>
                    </a:extLst>
                  </a:tcPr>
                </a:tc>
              </a:tr>
              <a:tr h="757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2025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188.4K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213.5K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180.8K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1:3"/>
                      </a:ext>
                    </a:extLst>
                  </a:tcPr>
                </a:tc>
              </a:tr>
              <a:tr h="80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2026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214.4K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169.0K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196.1K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2:3"/>
                      </a:ext>
                    </a:extLst>
                  </a:tcPr>
                </a:tc>
              </a:tr>
              <a:tr h="72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% Değişim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14%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r>
                        <a:rPr lang="en-US" sz="2400"/>
                        <a:t>21%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3:3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24" name="Google Shape;224;g3b632a6cafe_0_247"/>
          <p:cNvGraphicFramePr/>
          <p:nvPr/>
        </p:nvGraphicFramePr>
        <p:xfrm>
          <a:off x="17347550" y="847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1723575"/>
                <a:gridCol w="1610175"/>
                <a:gridCol w="1610175"/>
                <a:gridCol w="1610175"/>
              </a:tblGrid>
              <a:tr h="7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Impression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Jan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Feb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Mar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0:3"/>
                      </a:ext>
                    </a:extLst>
                  </a:tcPr>
                </a:tc>
              </a:tr>
              <a:tr h="7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2025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6.5M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6.3M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6.2M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1:3"/>
                      </a:ext>
                    </a:extLst>
                  </a:tcPr>
                </a:tc>
              </a:tr>
              <a:tr h="7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2026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6.4M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5.5M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5.8M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2:3"/>
                      </a:ext>
                    </a:extLst>
                  </a:tcPr>
                </a:tc>
              </a:tr>
              <a:tr h="7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% Değişim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r>
                        <a:rPr lang="en-US" sz="2400"/>
                        <a:t>1%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r>
                        <a:rPr lang="en-US" sz="2400"/>
                        <a:t>13%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r>
                        <a:rPr lang="en-US" sz="2400"/>
                        <a:t>6%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4:3:3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225" name="Google Shape;225;g3b632a6cafe_0_247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386" y="7346275"/>
            <a:ext cx="16967425" cy="488832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1" name="Google Shape;231;g3b632a6cafe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g3b632a6cafe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g3b632a6cafe_0_2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b632a6cafe_0_28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632a6cafe_0_289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b632a6cafe_0_289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1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1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1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Brand vs Non Brand Quarterly Click Değişimleri</a:t>
            </a:r>
            <a:endParaRPr b="1" i="0" sz="51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37" name="Google Shape;237;g3b632a6cafe_0_289"/>
          <p:cNvSpPr txBox="1"/>
          <p:nvPr/>
        </p:nvSpPr>
        <p:spPr>
          <a:xfrm>
            <a:off x="16978525" y="10063550"/>
            <a:ext cx="7809900" cy="3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ricolage Grotesque"/>
              <a:buChar char="➔"/>
            </a:pPr>
            <a:r>
              <a:rPr b="1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Brand Click Değişimi </a:t>
            </a:r>
            <a:endParaRPr b="1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YoY	‘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  <a:t>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</a:t>
            </a:r>
            <a: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vs </a:t>
            </a:r>
            <a: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  <a:t>‘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  <a:t>5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</a:t>
            </a:r>
            <a: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%14 Düşüş</a:t>
            </a:r>
            <a:endParaRPr b="1" i="0" sz="2400" u="none" cap="none" strike="noStrike">
              <a:solidFill>
                <a:srgbClr val="FF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lang="en-US" sz="2400">
                <a:latin typeface="Bricolage Grotesque"/>
                <a:ea typeface="Bricolage Grotesque"/>
                <a:cs typeface="Bricolage Grotesque"/>
                <a:sym typeface="Bricolage Grotesque"/>
              </a:rPr>
            </a:br>
            <a:endParaRPr b="0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ricolage Grotesque"/>
              <a:buChar char="➔"/>
            </a:pPr>
            <a:r>
              <a:rPr b="1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Non</a:t>
            </a:r>
            <a:r>
              <a:rPr b="1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4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Brand Click Değişimi</a:t>
            </a:r>
            <a:endParaRPr b="1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YoY</a:t>
            </a:r>
            <a:r>
              <a:rPr b="1" i="0" lang="en-US" sz="24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‘26 Q1 vs ‘25 Q1</a:t>
            </a:r>
            <a:r>
              <a:rPr b="0" i="0" lang="en-US" sz="24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     </a:t>
            </a:r>
            <a:r>
              <a:rPr b="1" i="0" lang="en-US" sz="2400" u="none" cap="none" strike="noStrike">
                <a:solidFill>
                  <a:srgbClr val="6AA84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</a:t>
            </a:r>
            <a:r>
              <a:rPr b="1" lang="en-US" sz="2400">
                <a:solidFill>
                  <a:srgbClr val="6AA84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46</a:t>
            </a:r>
            <a:r>
              <a:rPr b="1" i="0" lang="en-US" sz="2400" u="none" cap="none" strike="noStrike">
                <a:solidFill>
                  <a:srgbClr val="6AA84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Artış</a:t>
            </a:r>
            <a:endParaRPr b="1" i="0" sz="2400" u="none" cap="none" strike="noStrike">
              <a:solidFill>
                <a:srgbClr val="6AA84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38" name="Google Shape;238;g3b632a6cafe_0_289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1775" y="2350573"/>
            <a:ext cx="18781088" cy="7320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239" name="Google Shape;239;g3b632a6cafe_0_289"/>
          <p:cNvGraphicFramePr/>
          <p:nvPr/>
        </p:nvGraphicFramePr>
        <p:xfrm>
          <a:off x="1558500" y="98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4027000"/>
                <a:gridCol w="1949900"/>
                <a:gridCol w="1949900"/>
                <a:gridCol w="1949900"/>
                <a:gridCol w="1949900"/>
                <a:gridCol w="1949900"/>
              </a:tblGrid>
              <a:tr h="70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Date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2025 Q1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2025 Q2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2025 Q3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2025 Q4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2026 Q1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0:5"/>
                      </a:ext>
                    </a:extLst>
                  </a:tcPr>
                </a:tc>
              </a:tr>
              <a:tr h="70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Total Clicks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582.7K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536.0K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681.6K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B3E1CB"/>
                    </a:solidFill>
                    <a:extLst>
                      <a:ext uri="http://customooxmlschemas.google.com/">
                        <go:slidesCustomData xmlns:go="http://customooxmlschemas.google.com/" cellId="23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801.0K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9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579.4K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DF5F5"/>
                    </a:solidFill>
                    <a:extLst>
                      <a:ext uri="http://customooxmlschemas.google.com/">
                        <go:slidesCustomData xmlns:go="http://customooxmlschemas.google.com/" cellId="239:1:5"/>
                      </a:ext>
                    </a:extLst>
                  </a:tcPr>
                </a:tc>
              </a:tr>
              <a:tr h="70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Brand Clicks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263.9K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227.7K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D75"/>
                    </a:solidFill>
                    <a:extLst>
                      <a:ext uri="http://customooxmlschemas.google.com/">
                        <go:slidesCustomData xmlns:go="http://customooxmlschemas.google.com/" cellId="23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309.6K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297.2K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5CEAA"/>
                    </a:solidFill>
                    <a:extLst>
                      <a:ext uri="http://customooxmlschemas.google.com/">
                        <go:slidesCustomData xmlns:go="http://customooxmlschemas.google.com/" cellId="239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227.1K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9:2:5"/>
                      </a:ext>
                    </a:extLst>
                  </a:tcPr>
                </a:tc>
              </a:tr>
              <a:tr h="70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Non</a:t>
                      </a: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-</a:t>
                      </a: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Brand Clicks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92.2K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98F87"/>
                    </a:solidFill>
                    <a:extLst>
                      <a:ext uri="http://customooxmlschemas.google.com/">
                        <go:slidesCustomData xmlns:go="http://customooxmlschemas.google.com/" cellId="239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88.8K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9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111.8K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9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174.1K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9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134.4K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3E7D5"/>
                    </a:solidFill>
                    <a:extLst>
                      <a:ext uri="http://customooxmlschemas.google.com/">
                        <go:slidesCustomData xmlns:go="http://customooxmlschemas.google.com/" cellId="239:3:5"/>
                      </a:ext>
                    </a:extLst>
                  </a:tcPr>
                </a:tc>
              </a:tr>
              <a:tr h="70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Non</a:t>
                      </a: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-</a:t>
                      </a:r>
                      <a:r>
                        <a:rPr lang="en-US" sz="2400">
                          <a:solidFill>
                            <a:srgbClr val="F3F3F3"/>
                          </a:solidFill>
                        </a:rPr>
                        <a:t>Brand % Brand</a:t>
                      </a:r>
                      <a:endParaRPr sz="24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26%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9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28%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9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27%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9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37%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9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37%</a:t>
                      </a:r>
                      <a:endParaRPr b="1"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9:4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5" name="Google Shape;245;g3b8b80d44e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" name="Google Shape;246;g3b8b80d44e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7" name="Google Shape;247;g3b8b80d44e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b8b80d44ef_0_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b8b80d44ef_0_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b8b80d44ef_0_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Brand vs Non Brand Click Değişimleri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51" name="Google Shape;251;g3b8b80d44ef_0_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0275" y="2390897"/>
            <a:ext cx="20334749" cy="79260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graphicFrame>
        <p:nvGraphicFramePr>
          <p:cNvPr id="252" name="Google Shape;252;g3b8b80d44ef_0_0"/>
          <p:cNvGraphicFramePr/>
          <p:nvPr/>
        </p:nvGraphicFramePr>
        <p:xfrm>
          <a:off x="2061913" y="1074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864125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  <a:gridCol w="1136600"/>
              </a:tblGrid>
              <a:tr h="683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Date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Jan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Feb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Mar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Apr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May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Jun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Jul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Aug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Sep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Oct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Nov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Dec 25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Jan 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Feb 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3F3F3"/>
                          </a:solidFill>
                        </a:rPr>
                        <a:t>Mar 26</a:t>
                      </a:r>
                      <a:endParaRPr b="1"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0:15"/>
                      </a:ext>
                    </a:extLst>
                  </a:tcPr>
                </a:tc>
              </a:tr>
              <a:tr h="450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Total Clicks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188.4K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4C5C1"/>
                    </a:solidFill>
                    <a:extLst>
                      <a:ext uri="http://customooxmlschemas.google.com/">
                        <go:slidesCustomData xmlns:go="http://customooxmlschemas.google.com/" cellId="25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213.5K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180.8K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0B4AF"/>
                    </a:solidFill>
                    <a:extLst>
                      <a:ext uri="http://customooxmlschemas.google.com/">
                        <go:slidesCustomData xmlns:go="http://customooxmlschemas.google.com/" cellId="25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194.6K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  <a:extLst>
                      <a:ext uri="http://customooxmlschemas.google.com/">
                        <go:slidesCustomData xmlns:go="http://customooxmlschemas.google.com/" cellId="25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185.6K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2BFBB"/>
                    </a:solidFill>
                    <a:extLst>
                      <a:ext uri="http://customooxmlschemas.google.com/">
                        <go:slidesCustomData xmlns:go="http://customooxmlschemas.google.com/" cellId="25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155.8K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223.6K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4F5ED"/>
                    </a:solidFill>
                    <a:extLst>
                      <a:ext uri="http://customooxmlschemas.google.com/">
                        <go:slidesCustomData xmlns:go="http://customooxmlschemas.google.com/" cellId="25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243.0K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B0DFC8"/>
                    </a:solidFill>
                    <a:extLst>
                      <a:ext uri="http://customooxmlschemas.google.com/">
                        <go:slidesCustomData xmlns:go="http://customooxmlschemas.google.com/" cellId="25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215.0K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25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259.1K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5CEAA"/>
                    </a:solidFill>
                    <a:extLst>
                      <a:ext uri="http://customooxmlschemas.google.com/">
                        <go:slidesCustomData xmlns:go="http://customooxmlschemas.google.com/" cellId="25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276.0K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265.9K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3C69D"/>
                    </a:solidFill>
                    <a:extLst>
                      <a:ext uri="http://customooxmlschemas.google.com/">
                        <go:slidesCustomData xmlns:go="http://customooxmlschemas.google.com/" cellId="252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214.4K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DFFFE"/>
                    </a:solidFill>
                    <a:extLst>
                      <a:ext uri="http://customooxmlschemas.google.com/">
                        <go:slidesCustomData xmlns:go="http://customooxmlschemas.google.com/" cellId="252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169.0K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B9992"/>
                    </a:solidFill>
                    <a:extLst>
                      <a:ext uri="http://customooxmlschemas.google.com/">
                        <go:slidesCustomData xmlns:go="http://customooxmlschemas.google.com/" cellId="252: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196.1K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7D7D4"/>
                    </a:solidFill>
                    <a:extLst>
                      <a:ext uri="http://customooxmlschemas.google.com/">
                        <go:slidesCustomData xmlns:go="http://customooxmlschemas.google.com/" cellId="252:1:15"/>
                      </a:ext>
                    </a:extLst>
                  </a:tcPr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Brand Clicks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84.3K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103.7K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9D6B8"/>
                    </a:solidFill>
                    <a:extLst>
                      <a:ext uri="http://customooxmlschemas.google.com/">
                        <go:slidesCustomData xmlns:go="http://customooxmlschemas.google.com/" cellId="25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75.8K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4C7C3"/>
                    </a:solidFill>
                    <a:extLst>
                      <a:ext uri="http://customooxmlschemas.google.com/">
                        <go:slidesCustomData xmlns:go="http://customooxmlschemas.google.com/" cellId="25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83.9K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EFCFC"/>
                    </a:solidFill>
                    <a:extLst>
                      <a:ext uri="http://customooxmlschemas.google.com/">
                        <go:slidesCustomData xmlns:go="http://customooxmlschemas.google.com/" cellId="25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79.4K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8DFDC"/>
                    </a:solidFill>
                    <a:extLst>
                      <a:ext uri="http://customooxmlschemas.google.com/">
                        <go:slidesCustomData xmlns:go="http://customooxmlschemas.google.com/" cellId="25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64.3K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115.6K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BBD8D"/>
                    </a:solidFill>
                    <a:extLst>
                      <a:ext uri="http://customooxmlschemas.google.com/">
                        <go:slidesCustomData xmlns:go="http://customooxmlschemas.google.com/" cellId="25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116.2K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77.8K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  <a:extLst>
                      <a:ext uri="http://customooxmlschemas.google.com/">
                        <go:slidesCustomData xmlns:go="http://customooxmlschemas.google.com/" cellId="25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92.0K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7EFE3"/>
                    </a:solidFill>
                    <a:extLst>
                      <a:ext uri="http://customooxmlschemas.google.com/">
                        <go:slidesCustomData xmlns:go="http://customooxmlschemas.google.com/" cellId="25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103.4K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BD7BA"/>
                    </a:solidFill>
                    <a:extLst>
                      <a:ext uri="http://customooxmlschemas.google.com/">
                        <go:slidesCustomData xmlns:go="http://customooxmlschemas.google.com/" cellId="252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101.8K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3DABF"/>
                    </a:solidFill>
                    <a:extLst>
                      <a:ext uri="http://customooxmlschemas.google.com/">
                        <go:slidesCustomData xmlns:go="http://customooxmlschemas.google.com/" cellId="252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84.6K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252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64.7K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E75"/>
                    </a:solidFill>
                    <a:extLst>
                      <a:ext uri="http://customooxmlschemas.google.com/">
                        <go:slidesCustomData xmlns:go="http://customooxmlschemas.google.com/" cellId="252:2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77.9K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  <a:extLst>
                      <a:ext uri="http://customooxmlschemas.google.com/">
                        <go:slidesCustomData xmlns:go="http://customooxmlschemas.google.com/" cellId="252:2:15"/>
                      </a:ext>
                    </a:extLst>
                  </a:tcPr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Non</a:t>
                      </a: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Brand Clicks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30.6K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0B1AB"/>
                    </a:solidFill>
                    <a:extLst>
                      <a:ext uri="http://customooxmlschemas.google.com/">
                        <go:slidesCustomData xmlns:go="http://customooxmlschemas.google.com/" cellId="25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30.6K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0B1AC"/>
                    </a:solidFill>
                    <a:extLst>
                      <a:ext uri="http://customooxmlschemas.google.com/">
                        <go:slidesCustomData xmlns:go="http://customooxmlschemas.google.com/" cellId="25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31.0K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0B5B0"/>
                    </a:solidFill>
                    <a:extLst>
                      <a:ext uri="http://customooxmlschemas.google.com/">
                        <go:slidesCustomData xmlns:go="http://customooxmlschemas.google.com/" cellId="25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32.1K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C1BD"/>
                    </a:solidFill>
                    <a:extLst>
                      <a:ext uri="http://customooxmlschemas.google.com/">
                        <go:slidesCustomData xmlns:go="http://customooxmlschemas.google.com/" cellId="25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31.0K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0B5B0"/>
                    </a:solidFill>
                    <a:extLst>
                      <a:ext uri="http://customooxmlschemas.google.com/">
                        <go:slidesCustomData xmlns:go="http://customooxmlschemas.google.com/" cellId="25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25.8K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29.8K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EA8A2"/>
                    </a:solidFill>
                    <a:extLst>
                      <a:ext uri="http://customooxmlschemas.google.com/">
                        <go:slidesCustomData xmlns:go="http://customooxmlschemas.google.com/" cellId="25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37.6K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44.4K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0ECDE"/>
                    </a:solidFill>
                    <a:extLst>
                      <a:ext uri="http://customooxmlschemas.google.com/">
                        <go:slidesCustomData xmlns:go="http://customooxmlschemas.google.com/" cellId="25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56.6K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9C9A2"/>
                    </a:solidFill>
                    <a:extLst>
                      <a:ext uri="http://customooxmlschemas.google.com/">
                        <go:slidesCustomData xmlns:go="http://customooxmlschemas.google.com/" cellId="25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61.2K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2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56.3K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BCAA3"/>
                    </a:solidFill>
                    <a:extLst>
                      <a:ext uri="http://customooxmlschemas.google.com/">
                        <go:slidesCustomData xmlns:go="http://customooxmlschemas.google.com/" cellId="252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47.2K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BBE4D0"/>
                    </a:solidFill>
                    <a:extLst>
                      <a:ext uri="http://customooxmlschemas.google.com/">
                        <go:slidesCustomData xmlns:go="http://customooxmlschemas.google.com/" cellId="252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40.9K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252:3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46.3K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2E6D4"/>
                    </a:solidFill>
                    <a:extLst>
                      <a:ext uri="http://customooxmlschemas.google.com/">
                        <go:slidesCustomData xmlns:go="http://customooxmlschemas.google.com/" cellId="252:3:15"/>
                      </a:ext>
                    </a:extLst>
                  </a:tcPr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Total Impression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6.5M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9E2E0"/>
                    </a:solidFill>
                    <a:extLst>
                      <a:ext uri="http://customooxmlschemas.google.com/">
                        <go:slidesCustomData xmlns:go="http://customooxmlschemas.google.com/" cellId="25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6.3M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  <a:extLst>
                      <a:ext uri="http://customooxmlschemas.google.com/">
                        <go:slidesCustomData xmlns:go="http://customooxmlschemas.google.com/" cellId="25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6.2M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C1BD"/>
                    </a:solidFill>
                    <a:extLst>
                      <a:ext uri="http://customooxmlschemas.google.com/">
                        <go:slidesCustomData xmlns:go="http://customooxmlschemas.google.com/" cellId="25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6.3M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6D2CF"/>
                    </a:solidFill>
                    <a:extLst>
                      <a:ext uri="http://customooxmlschemas.google.com/">
                        <go:slidesCustomData xmlns:go="http://customooxmlschemas.google.com/" cellId="25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0F3EA"/>
                    </a:solidFill>
                    <a:extLst>
                      <a:ext uri="http://customooxmlschemas.google.com/">
                        <go:slidesCustomData xmlns:go="http://customooxmlschemas.google.com/" cellId="25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2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7.0M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DF8F2"/>
                    </a:solidFill>
                    <a:extLst>
                      <a:ext uri="http://customooxmlschemas.google.com/">
                        <go:slidesCustomData xmlns:go="http://customooxmlschemas.google.com/" cellId="252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6CC499"/>
                    </a:solidFill>
                    <a:extLst>
                      <a:ext uri="http://customooxmlschemas.google.com/">
                        <go:slidesCustomData xmlns:go="http://customooxmlschemas.google.com/" cellId="252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8.1M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FD2B1"/>
                    </a:solidFill>
                    <a:extLst>
                      <a:ext uri="http://customooxmlschemas.google.com/">
                        <go:slidesCustomData xmlns:go="http://customooxmlschemas.google.com/" cellId="252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7.9M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FD8BC"/>
                    </a:solidFill>
                    <a:extLst>
                      <a:ext uri="http://customooxmlschemas.google.com/">
                        <go:slidesCustomData xmlns:go="http://customooxmlschemas.google.com/" cellId="252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8.7M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2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7.8M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6DBC1"/>
                    </a:solidFill>
                    <a:extLst>
                      <a:ext uri="http://customooxmlschemas.google.com/">
                        <go:slidesCustomData xmlns:go="http://customooxmlschemas.google.com/" cellId="252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6.4M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8DDDB"/>
                    </a:solidFill>
                    <a:extLst>
                      <a:ext uri="http://customooxmlschemas.google.com/">
                        <go:slidesCustomData xmlns:go="http://customooxmlschemas.google.com/" cellId="252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5.5M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2:4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5.8M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C9D96"/>
                    </a:solidFill>
                    <a:extLst>
                      <a:ext uri="http://customooxmlschemas.google.com/">
                        <go:slidesCustomData xmlns:go="http://customooxmlschemas.google.com/" cellId="252:4:15"/>
                      </a:ext>
                    </a:extLst>
                  </a:tcPr>
                </a:tc>
              </a:tr>
              <a:tr h="366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Non</a:t>
                      </a: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-</a:t>
                      </a:r>
                      <a:r>
                        <a:rPr lang="en-US" sz="1900">
                          <a:solidFill>
                            <a:srgbClr val="F3F3F3"/>
                          </a:solidFill>
                        </a:rPr>
                        <a:t>Brand % Brand</a:t>
                      </a:r>
                      <a:endParaRPr sz="19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27%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AD7"/>
                    </a:solidFill>
                    <a:extLst>
                      <a:ext uri="http://customooxmlschemas.google.com/">
                        <go:slidesCustomData xmlns:go="http://customooxmlschemas.google.com/" cellId="25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23%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F98"/>
                    </a:solidFill>
                    <a:extLst>
                      <a:ext uri="http://customooxmlschemas.google.com/">
                        <go:slidesCustomData xmlns:go="http://customooxmlschemas.google.com/" cellId="25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29%</a:t>
                      </a:r>
                      <a:endParaRPr b="1"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28%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9"/>
                    </a:solidFill>
                    <a:extLst>
                      <a:ext uri="http://customooxmlschemas.google.com/">
                        <go:slidesCustomData xmlns:go="http://customooxmlschemas.google.com/" cellId="25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28%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25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29%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9F8"/>
                    </a:solidFill>
                    <a:extLst>
                      <a:ext uri="http://customooxmlschemas.google.com/">
                        <go:slidesCustomData xmlns:go="http://customooxmlschemas.google.com/" cellId="252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21%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2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24%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8B4"/>
                    </a:solidFill>
                    <a:extLst>
                      <a:ext uri="http://customooxmlschemas.google.com/">
                        <go:slidesCustomData xmlns:go="http://customooxmlschemas.google.com/" cellId="252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36%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CCA8"/>
                    </a:solidFill>
                    <a:extLst>
                      <a:ext uri="http://customooxmlschemas.google.com/">
                        <go:slidesCustomData xmlns:go="http://customooxmlschemas.google.com/" cellId="252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38%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C092"/>
                    </a:solidFill>
                    <a:extLst>
                      <a:ext uri="http://customooxmlschemas.google.com/">
                        <go:slidesCustomData xmlns:go="http://customooxmlschemas.google.com/" cellId="252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37%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2C69D"/>
                    </a:solidFill>
                    <a:extLst>
                      <a:ext uri="http://customooxmlschemas.google.com/">
                        <go:slidesCustomData xmlns:go="http://customooxmlschemas.google.com/" cellId="252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36%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D1B0"/>
                    </a:solidFill>
                    <a:extLst>
                      <a:ext uri="http://customooxmlschemas.google.com/">
                        <go:slidesCustomData xmlns:go="http://customooxmlschemas.google.com/" cellId="252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36%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D0AD"/>
                    </a:solidFill>
                    <a:extLst>
                      <a:ext uri="http://customooxmlschemas.google.com/">
                        <go:slidesCustomData xmlns:go="http://customooxmlschemas.google.com/" cellId="252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39%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2:5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37%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C59B"/>
                    </a:solidFill>
                    <a:extLst>
                      <a:ext uri="http://customooxmlschemas.google.com/">
                        <go:slidesCustomData xmlns:go="http://customooxmlschemas.google.com/" cellId="252:5:1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8" name="Google Shape;258;g3b6f7df8e8b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g3b6f7df8e8b_0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g3b6f7df8e8b_0_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6f7df8e8b_0_12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b6f7df8e8b_0_121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b6f7df8e8b_0_12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Mağaza Sayfaları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64" name="Google Shape;264;g3b6f7df8e8b_0_121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7134" y="2370450"/>
            <a:ext cx="17500586" cy="7937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65" name="Google Shape;265;g3b6f7df8e8b_0_121"/>
          <p:cNvSpPr txBox="1"/>
          <p:nvPr/>
        </p:nvSpPr>
        <p:spPr>
          <a:xfrm>
            <a:off x="2761525" y="10720175"/>
            <a:ext cx="19765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32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2026 Q1 </a:t>
            </a:r>
            <a:r>
              <a:rPr b="1" lang="en-US" sz="32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Clickleri</a:t>
            </a:r>
            <a:r>
              <a:rPr lang="en-US" sz="3200">
                <a:solidFill>
                  <a:srgbClr val="254E49"/>
                </a:solidFill>
                <a:latin typeface="Outfit"/>
                <a:ea typeface="Outfit"/>
                <a:cs typeface="Outfit"/>
                <a:sym typeface="Outfit"/>
              </a:rPr>
              <a:t> 2025 Q1 dönemine göre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2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+%8</a:t>
            </a:r>
            <a:r>
              <a:rPr b="1" lang="en-US" sz="32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artarken Impression </a:t>
            </a:r>
            <a:r>
              <a:rPr b="1" i="0" lang="en-US" sz="320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320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%1.5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ile neredeyse sabit kalmıştır</a:t>
            </a:r>
            <a:r>
              <a:rPr lang="en-US" sz="3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32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71" name="Google Shape;271;g3b6f7df8e8b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2" name="Google Shape;272;g3b6f7df8e8b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3" name="Google Shape;273;g3b6f7df8e8b_0_1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b6f7df8e8b_0_13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b6f7df8e8b_0_135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b6f7df8e8b_0_13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Search Console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Market Sayfaları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77" name="Google Shape;277;g3b6f7df8e8b_0_13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7158" y="2370452"/>
            <a:ext cx="17354091" cy="78708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78" name="Google Shape;278;g3b6f7df8e8b_0_135"/>
          <p:cNvSpPr txBox="1"/>
          <p:nvPr/>
        </p:nvSpPr>
        <p:spPr>
          <a:xfrm>
            <a:off x="2952750" y="10529875"/>
            <a:ext cx="192405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2026 Q1 Clickleri 2025 Q1 dönemine göre </a:t>
            </a:r>
            <a:r>
              <a:rPr b="1" lang="en-US" sz="27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-%15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düşüş gösterirken Impression düşüşü </a:t>
            </a:r>
            <a:r>
              <a:rPr b="1" lang="en-US" sz="27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-%34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olmuştur.</a:t>
            </a:r>
            <a:br>
              <a:rPr lang="en-US" sz="2700">
                <a:solidFill>
                  <a:schemeClr val="dk1"/>
                </a:solidFill>
              </a:rPr>
            </a:br>
            <a:r>
              <a:rPr b="1" lang="en-US" sz="27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Aralık 25'ten itibaren tutarlı bir düşüş trendi (41.5K → 28.5K) gözlenmektedir. </a:t>
            </a:r>
            <a:endParaRPr b="1" sz="27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84" name="Google Shape;284;g3b6f7df8e8b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5" name="Google Shape;285;g3b6f7df8e8b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6" name="Google Shape;286;g3b6f7df8e8b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b6f7df8e8b_0_9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b6f7df8e8b_0_95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b6f7df8e8b_0_9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GSC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Marka + Kategori Sayfaları Click &amp; Impression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90" name="Google Shape;290;g3b6f7df8e8b_0_95"/>
          <p:cNvSpPr txBox="1"/>
          <p:nvPr/>
        </p:nvSpPr>
        <p:spPr>
          <a:xfrm>
            <a:off x="1240150" y="11380150"/>
            <a:ext cx="215772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Ağustos 25'te </a:t>
            </a:r>
            <a:r>
              <a:rPr b="1" lang="en-US" sz="27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50 click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ile açılmaya başlanan  yeni marka kategori sayfaları  Mart 26'da </a:t>
            </a:r>
            <a:r>
              <a:rPr b="1" lang="en-US" sz="27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9.5K click ve 306.9K Impression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’a ulaşmıştır. </a:t>
            </a:r>
            <a:endParaRPr sz="27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26 toplam katkı </a:t>
            </a:r>
            <a:r>
              <a:rPr b="1" lang="en-US" sz="27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22.5K click</a:t>
            </a:r>
            <a:r>
              <a:rPr lang="en-US" sz="27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seviyesindedir. Yeni kategori yapısından ve marka + kategori sayfalarından da yüksek verim alınabilir.</a:t>
            </a:r>
            <a:endParaRPr b="1" sz="30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91" name="Google Shape;291;g3b6f7df8e8b_0_9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6650" y="2571732"/>
            <a:ext cx="20082922" cy="83156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g371296a02d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71296a02dd_0_0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99" name="Google Shape;299;g371296a02d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71296a02dd_0_0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1" name="Google Shape;301;g371296a02d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1296a02dd_0_0"/>
          <p:cNvSpPr/>
          <p:nvPr/>
        </p:nvSpPr>
        <p:spPr>
          <a:xfrm>
            <a:off x="-17998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04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71296a02dd_0_0"/>
          <p:cNvSpPr/>
          <p:nvPr/>
        </p:nvSpPr>
        <p:spPr>
          <a:xfrm>
            <a:off x="28086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GA4 </a:t>
            </a: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-</a:t>
            </a: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 Organik Trafik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6f7df8e8b_0_0"/>
          <p:cNvSpPr txBox="1"/>
          <p:nvPr/>
        </p:nvSpPr>
        <p:spPr>
          <a:xfrm>
            <a:off x="1519250" y="11858200"/>
            <a:ext cx="21999900" cy="1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Organic Search Session </a:t>
            </a:r>
            <a:r>
              <a:rPr b="1" lang="en-US" sz="24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-%11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 Transaction </a:t>
            </a:r>
            <a:r>
              <a:rPr b="1" lang="en-US" sz="2400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-%14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daralırken Revenue </a:t>
            </a:r>
            <a:r>
              <a:rPr b="1" lang="en-US" sz="24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+%19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artmıştır; </a:t>
            </a:r>
            <a:endParaRPr sz="24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AOV </a:t>
            </a:r>
            <a:r>
              <a:rPr b="1" lang="en-US" sz="24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1.853 → 2.571 TL (+%39)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yükselmiştir.  Revenue artışı sepet tutarı artışıyla korrele gözükmektedir.</a:t>
            </a:r>
            <a:endParaRPr sz="24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n-US" sz="24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1" lang="en-US" sz="24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Direct +%26 sess / +%27 revenue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performansı brand farkındalık çalışmalarıyla artış göstermiş denebilir.</a:t>
            </a:r>
            <a:endParaRPr b="1" sz="24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 " id="310" name="Google Shape;310;g3b6f7df8e8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g3b6f7df8e8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g3b6f7df8e8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b6f7df8e8b_0_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b6f7df8e8b_0_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 </a:t>
            </a:r>
            <a:r>
              <a:rPr b="1" lang="en-US" sz="2400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- GA4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b6f7df8e8b_0_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GA4 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Kanal Bazında  Session &amp; Transaction &amp; Revenue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Quarterly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316" name="Google Shape;316;g3b6f7df8e8b_0_0"/>
          <p:cNvGraphicFramePr/>
          <p:nvPr/>
        </p:nvGraphicFramePr>
        <p:xfrm>
          <a:off x="538100" y="230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3905375"/>
                <a:gridCol w="2099675"/>
                <a:gridCol w="2099675"/>
                <a:gridCol w="2099675"/>
                <a:gridCol w="2099675"/>
                <a:gridCol w="2099675"/>
                <a:gridCol w="2099675"/>
                <a:gridCol w="2099675"/>
                <a:gridCol w="2099675"/>
                <a:gridCol w="2099675"/>
              </a:tblGrid>
              <a:tr h="81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Session primary channel group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2025 Q1 Session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2026 Q1 Session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Session Change %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2025 Q1 Transaction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2026 Q1 Transaction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Transaction Change %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2025 Q1 Revenue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2026 Q1 Revenue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Revenue Change %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0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Direct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947.1K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6BC499"/>
                    </a:solidFill>
                    <a:extLst>
                      <a:ext uri="http://customooxmlschemas.google.com/">
                        <go:slidesCustomData xmlns:go="http://customooxmlschemas.google.com/" cellId="31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1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26%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48.9K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1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50.1K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1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82.4M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  <a:extLst>
                      <a:ext uri="http://customooxmlschemas.google.com/">
                        <go:slidesCustomData xmlns:go="http://customooxmlschemas.google.com/" cellId="31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104.6M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  <a:extLst>
                      <a:ext uri="http://customooxmlschemas.google.com/">
                        <go:slidesCustomData xmlns:go="http://customooxmlschemas.google.com/" cellId="31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27%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Cross</a:t>
                      </a: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-</a:t>
                      </a: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network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1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870.8K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31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29%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35.4K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DE81"/>
                    </a:solidFill>
                    <a:extLst>
                      <a:ext uri="http://customooxmlschemas.google.com/">
                        <go:slidesCustomData xmlns:go="http://customooxmlschemas.google.com/" cellId="31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25.4K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292"/>
                    </a:solidFill>
                    <a:extLst>
                      <a:ext uri="http://customooxmlschemas.google.com/">
                        <go:slidesCustomData xmlns:go="http://customooxmlschemas.google.com/" cellId="31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52.3M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689EF7"/>
                    </a:solidFill>
                    <a:extLst>
                      <a:ext uri="http://customooxmlschemas.google.com/">
                        <go:slidesCustomData xmlns:go="http://customooxmlschemas.google.com/" cellId="31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EACF8"/>
                    </a:solidFill>
                    <a:extLst>
                      <a:ext uri="http://customooxmlschemas.google.com/">
                        <go:slidesCustomData xmlns:go="http://customooxmlschemas.google.com/" cellId="31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13%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2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664.6K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0CCA7"/>
                    </a:solidFill>
                    <a:extLst>
                      <a:ext uri="http://customooxmlschemas.google.com/">
                        <go:slidesCustomData xmlns:go="http://customooxmlschemas.google.com/" cellId="31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864.7K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ACAA3"/>
                    </a:solidFill>
                    <a:extLst>
                      <a:ext uri="http://customooxmlschemas.google.com/">
                        <go:slidesCustomData xmlns:go="http://customooxmlschemas.google.com/" cellId="31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30%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16.6K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499"/>
                    </a:solidFill>
                    <a:extLst>
                      <a:ext uri="http://customooxmlschemas.google.com/">
                        <go:slidesCustomData xmlns:go="http://customooxmlschemas.google.com/" cellId="31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24.2K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498"/>
                    </a:solidFill>
                    <a:extLst>
                      <a:ext uri="http://customooxmlschemas.google.com/">
                        <go:slidesCustomData xmlns:go="http://customooxmlschemas.google.com/" cellId="31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46%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26.6M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3AFF9"/>
                    </a:solidFill>
                    <a:extLst>
                      <a:ext uri="http://customooxmlschemas.google.com/">
                        <go:slidesCustomData xmlns:go="http://customooxmlschemas.google.com/" cellId="316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44.7M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3AFF9"/>
                    </a:solidFill>
                    <a:extLst>
                      <a:ext uri="http://customooxmlschemas.google.com/">
                        <go:slidesCustomData xmlns:go="http://customooxmlschemas.google.com/" cellId="316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68%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3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Unassigned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824.8K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4C79F"/>
                    </a:solidFill>
                    <a:extLst>
                      <a:ext uri="http://customooxmlschemas.google.com/">
                        <go:slidesCustomData xmlns:go="http://customooxmlschemas.google.com/" cellId="31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350.4K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3CDA9"/>
                    </a:solidFill>
                    <a:extLst>
                      <a:ext uri="http://customooxmlschemas.google.com/">
                        <go:slidesCustomData xmlns:go="http://customooxmlschemas.google.com/" cellId="31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58%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28.7K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18D"/>
                    </a:solidFill>
                    <a:extLst>
                      <a:ext uri="http://customooxmlschemas.google.com/">
                        <go:slidesCustomData xmlns:go="http://customooxmlschemas.google.com/" cellId="31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13.2K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394"/>
                    </a:solidFill>
                    <a:extLst>
                      <a:ext uri="http://customooxmlschemas.google.com/">
                        <go:slidesCustomData xmlns:go="http://customooxmlschemas.google.com/" cellId="31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54%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43.8M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5A6F8"/>
                    </a:solidFill>
                    <a:extLst>
                      <a:ext uri="http://customooxmlschemas.google.com/">
                        <go:slidesCustomData xmlns:go="http://customooxmlschemas.google.com/" cellId="316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27.3M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7EACF8"/>
                    </a:solidFill>
                    <a:extLst>
                      <a:ext uri="http://customooxmlschemas.google.com/">
                        <go:slidesCustomData xmlns:go="http://customooxmlschemas.google.com/" cellId="316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38%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4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Paid Other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142.4K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31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801.6K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8D6B8"/>
                    </a:solidFill>
                    <a:extLst>
                      <a:ext uri="http://customooxmlschemas.google.com/">
                        <go:slidesCustomData xmlns:go="http://customooxmlschemas.google.com/" cellId="31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463%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31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16.0K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9AA"/>
                    </a:solidFill>
                    <a:extLst>
                      <a:ext uri="http://customooxmlschemas.google.com/">
                        <go:slidesCustomData xmlns:go="http://customooxmlschemas.google.com/" cellId="31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484%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EC0FA"/>
                    </a:solidFill>
                    <a:extLst>
                      <a:ext uri="http://customooxmlschemas.google.com/">
                        <go:slidesCustomData xmlns:go="http://customooxmlschemas.google.com/" cellId="316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26.5M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8BDFA"/>
                    </a:solidFill>
                    <a:extLst>
                      <a:ext uri="http://customooxmlschemas.google.com/">
                        <go:slidesCustomData xmlns:go="http://customooxmlschemas.google.com/" cellId="316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484%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5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Organic Search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31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282.7K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BD7BA"/>
                    </a:solidFill>
                    <a:extLst>
                      <a:ext uri="http://customooxmlschemas.google.com/">
                        <go:slidesCustomData xmlns:go="http://customooxmlschemas.google.com/" cellId="31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250.4K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9D6B8"/>
                    </a:solidFill>
                    <a:extLst>
                      <a:ext uri="http://customooxmlschemas.google.com/">
                        <go:slidesCustomData xmlns:go="http://customooxmlschemas.google.com/" cellId="31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11%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AAD"/>
                    </a:solidFill>
                    <a:extLst>
                      <a:ext uri="http://customooxmlschemas.google.com/">
                        <go:slidesCustomData xmlns:go="http://customooxmlschemas.google.com/" cellId="31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AAE"/>
                    </a:solidFill>
                    <a:extLst>
                      <a:ext uri="http://customooxmlschemas.google.com/">
                        <go:slidesCustomData xmlns:go="http://customooxmlschemas.google.com/" cellId="316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8BDFA"/>
                    </a:solidFill>
                    <a:extLst>
                      <a:ext uri="http://customooxmlschemas.google.com/">
                        <go:slidesCustomData xmlns:go="http://customooxmlschemas.google.com/" cellId="316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ABEFA"/>
                    </a:solidFill>
                    <a:extLst>
                      <a:ext uri="http://customooxmlschemas.google.com/">
                        <go:slidesCustomData xmlns:go="http://customooxmlschemas.google.com/" cellId="316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19%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6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Paid Social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31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760.1K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31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28723%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1"/>
                    </a:solidFill>
                    <a:extLst>
                      <a:ext uri="http://customooxmlschemas.google.com/">
                        <go:slidesCustomData xmlns:go="http://customooxmlschemas.google.com/" cellId="316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212960%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18.6M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FC1FA"/>
                    </a:solidFill>
                    <a:extLst>
                      <a:ext uri="http://customooxmlschemas.google.com/">
                        <go:slidesCustomData xmlns:go="http://customooxmlschemas.google.com/" cellId="316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958019%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7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Organic Shopping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  <a:extLst>
                      <a:ext uri="http://customooxmlschemas.google.com/">
                        <go:slidesCustomData xmlns:go="http://customooxmlschemas.google.com/" cellId="31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73.6K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ADDC4"/>
                    </a:solidFill>
                    <a:extLst>
                      <a:ext uri="http://customooxmlschemas.google.com/">
                        <go:slidesCustomData xmlns:go="http://customooxmlschemas.google.com/" cellId="31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55.2K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7DCC2"/>
                    </a:solidFill>
                    <a:extLst>
                      <a:ext uri="http://customooxmlschemas.google.com/">
                        <go:slidesCustomData xmlns:go="http://customooxmlschemas.google.com/" cellId="31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25%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16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AB0"/>
                    </a:solidFill>
                    <a:extLst>
                      <a:ext uri="http://customooxmlschemas.google.com/">
                        <go:slidesCustomData xmlns:go="http://customooxmlschemas.google.com/" cellId="316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12%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1C2FA"/>
                    </a:solidFill>
                    <a:extLst>
                      <a:ext uri="http://customooxmlschemas.google.com/">
                        <go:slidesCustomData xmlns:go="http://customooxmlschemas.google.com/" cellId="316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DC0FA"/>
                    </a:solidFill>
                    <a:extLst>
                      <a:ext uri="http://customooxmlschemas.google.com/">
                        <go:slidesCustomData xmlns:go="http://customooxmlschemas.google.com/" cellId="316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16%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8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Organic Social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25.9K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4EEE1"/>
                    </a:solidFill>
                    <a:extLst>
                      <a:ext uri="http://customooxmlschemas.google.com/">
                        <go:slidesCustomData xmlns:go="http://customooxmlschemas.google.com/" cellId="31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86.8K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1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235%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DF7"/>
                    </a:solidFill>
                    <a:extLst>
                      <a:ext uri="http://customooxmlschemas.google.com/">
                        <go:slidesCustomData xmlns:go="http://customooxmlschemas.google.com/" cellId="316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284.0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4D4"/>
                    </a:solidFill>
                    <a:extLst>
                      <a:ext uri="http://customooxmlschemas.google.com/">
                        <go:slidesCustomData xmlns:go="http://customooxmlschemas.google.com/" cellId="316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184%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195.3K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8FF"/>
                    </a:solidFill>
                    <a:extLst>
                      <a:ext uri="http://customooxmlschemas.google.com/">
                        <go:slidesCustomData xmlns:go="http://customooxmlschemas.google.com/" cellId="316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712.1K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ADDFD"/>
                    </a:solidFill>
                    <a:extLst>
                      <a:ext uri="http://customooxmlschemas.google.com/">
                        <go:slidesCustomData xmlns:go="http://customooxmlschemas.google.com/" cellId="316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265%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9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Referral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23.3K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8F0E4"/>
                    </a:solidFill>
                    <a:extLst>
                      <a:ext uri="http://customooxmlschemas.google.com/">
                        <go:slidesCustomData xmlns:go="http://customooxmlschemas.google.com/" cellId="316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22.3K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  <a:extLst>
                      <a:ext uri="http://customooxmlschemas.google.com/">
                        <go:slidesCustomData xmlns:go="http://customooxmlschemas.google.com/" cellId="316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340.0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BEF"/>
                    </a:solidFill>
                    <a:extLst>
                      <a:ext uri="http://customooxmlschemas.google.com/">
                        <go:slidesCustomData xmlns:go="http://customooxmlschemas.google.com/" cellId="316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458.0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16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35%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754.6K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5EFFE"/>
                    </a:solidFill>
                    <a:extLst>
                      <a:ext uri="http://customooxmlschemas.google.com/">
                        <go:slidesCustomData xmlns:go="http://customooxmlschemas.google.com/" cellId="316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1C2FA"/>
                    </a:solidFill>
                    <a:extLst>
                      <a:ext uri="http://customooxmlschemas.google.com/">
                        <go:slidesCustomData xmlns:go="http://customooxmlschemas.google.com/" cellId="316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60%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0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Mobile Push Notifications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F9F4"/>
                    </a:solidFill>
                    <a:extLst>
                      <a:ext uri="http://customooxmlschemas.google.com/">
                        <go:slidesCustomData xmlns:go="http://customooxmlschemas.google.com/" cellId="316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39.8K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BF1E7"/>
                    </a:solidFill>
                    <a:extLst>
                      <a:ext uri="http://customooxmlschemas.google.com/">
                        <go:slidesCustomData xmlns:go="http://customooxmlschemas.google.com/" cellId="316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299%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39.0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16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572.0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2CE"/>
                    </a:solidFill>
                    <a:extLst>
                      <a:ext uri="http://customooxmlschemas.google.com/">
                        <go:slidesCustomData xmlns:go="http://customooxmlschemas.google.com/" cellId="316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1367%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71.4K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DFEFF"/>
                    </a:solidFill>
                    <a:extLst>
                      <a:ext uri="http://customooxmlschemas.google.com/">
                        <go:slidesCustomData xmlns:go="http://customooxmlschemas.google.com/" cellId="316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6DAFC"/>
                    </a:solidFill>
                    <a:extLst>
                      <a:ext uri="http://customooxmlschemas.google.com/">
                        <go:slidesCustomData xmlns:go="http://customooxmlschemas.google.com/" cellId="316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1516%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1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Display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86.3K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9DCC4"/>
                    </a:solidFill>
                    <a:extLst>
                      <a:ext uri="http://customooxmlschemas.google.com/">
                        <go:slidesCustomData xmlns:go="http://customooxmlschemas.google.com/" cellId="316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20.5K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EF2E9"/>
                    </a:solidFill>
                    <a:extLst>
                      <a:ext uri="http://customooxmlschemas.google.com/">
                        <go:slidesCustomData xmlns:go="http://customooxmlschemas.google.com/" cellId="316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76%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316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379.0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CB6"/>
                    </a:solidFill>
                    <a:extLst>
                      <a:ext uri="http://customooxmlschemas.google.com/">
                        <go:slidesCustomData xmlns:go="http://customooxmlschemas.google.com/" cellId="316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82%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0C2FA"/>
                    </a:solidFill>
                    <a:extLst>
                      <a:ext uri="http://customooxmlschemas.google.com/">
                        <go:slidesCustomData xmlns:go="http://customooxmlschemas.google.com/" cellId="316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681.7K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4D9FC"/>
                    </a:solidFill>
                    <a:extLst>
                      <a:ext uri="http://customooxmlschemas.google.com/">
                        <go:slidesCustomData xmlns:go="http://customooxmlschemas.google.com/" cellId="316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76%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2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Paid Shopping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139.8K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316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73.8K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  <a:extLst>
                      <a:ext uri="http://customooxmlschemas.google.com/">
                        <go:slidesCustomData xmlns:go="http://customooxmlschemas.google.com/" cellId="316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47%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BB0"/>
                    </a:solidFill>
                    <a:extLst>
                      <a:ext uri="http://customooxmlschemas.google.com/">
                        <go:slidesCustomData xmlns:go="http://customooxmlschemas.google.com/" cellId="316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EFC3"/>
                    </a:solidFill>
                    <a:extLst>
                      <a:ext uri="http://customooxmlschemas.google.com/">
                        <go:slidesCustomData xmlns:go="http://customooxmlschemas.google.com/" cellId="316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68%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9DC0FA"/>
                    </a:solidFill>
                    <a:extLst>
                      <a:ext uri="http://customooxmlschemas.google.com/">
                        <go:slidesCustomData xmlns:go="http://customooxmlschemas.google.com/" cellId="316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8DBFD"/>
                    </a:solidFill>
                    <a:extLst>
                      <a:ext uri="http://customooxmlschemas.google.com/">
                        <go:slidesCustomData xmlns:go="http://customooxmlschemas.google.com/" cellId="316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72%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3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Paid Video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22.4K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AF0E5"/>
                    </a:solidFill>
                    <a:extLst>
                      <a:ext uri="http://customooxmlschemas.google.com/">
                        <go:slidesCustomData xmlns:go="http://customooxmlschemas.google.com/" cellId="316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DF8F3"/>
                    </a:solidFill>
                    <a:extLst>
                      <a:ext uri="http://customooxmlschemas.google.com/">
                        <go:slidesCustomData xmlns:go="http://customooxmlschemas.google.com/" cellId="316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88%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676.0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4D2"/>
                    </a:solidFill>
                    <a:extLst>
                      <a:ext uri="http://customooxmlschemas.google.com/">
                        <go:slidesCustomData xmlns:go="http://customooxmlschemas.google.com/" cellId="316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41.0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4D3"/>
                    </a:solidFill>
                    <a:extLst>
                      <a:ext uri="http://customooxmlschemas.google.com/">
                        <go:slidesCustomData xmlns:go="http://customooxmlschemas.google.com/" cellId="316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94%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FE0FD"/>
                    </a:solidFill>
                    <a:extLst>
                      <a:ext uri="http://customooxmlschemas.google.com/">
                        <go:slidesCustomData xmlns:go="http://customooxmlschemas.google.com/" cellId="316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98.3K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9E7FD"/>
                    </a:solidFill>
                    <a:extLst>
                      <a:ext uri="http://customooxmlschemas.google.com/">
                        <go:slidesCustomData xmlns:go="http://customooxmlschemas.google.com/" cellId="316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90%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4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Email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656.0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16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15.5K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EF9F4"/>
                    </a:solidFill>
                    <a:extLst>
                      <a:ext uri="http://customooxmlschemas.google.com/">
                        <go:slidesCustomData xmlns:go="http://customooxmlschemas.google.com/" cellId="316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2268%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32.0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16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374.0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4D4"/>
                    </a:solidFill>
                    <a:extLst>
                      <a:ext uri="http://customooxmlschemas.google.com/">
                        <go:slidesCustomData xmlns:go="http://customooxmlschemas.google.com/" cellId="316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1069%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26.3K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16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702.7K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D4E3FD"/>
                    </a:solidFill>
                    <a:extLst>
                      <a:ext uri="http://customooxmlschemas.google.com/">
                        <go:slidesCustomData xmlns:go="http://customooxmlschemas.google.com/" cellId="316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2568%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5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Organic Video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F9F4"/>
                    </a:solidFill>
                    <a:extLst>
                      <a:ext uri="http://customooxmlschemas.google.com/">
                        <go:slidesCustomData xmlns:go="http://customooxmlschemas.google.com/" cellId="316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141.0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99%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184.0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100%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274.6K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100%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6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SMS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139.0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100%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16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-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1F6FF"/>
                    </a:solidFill>
                    <a:extLst>
                      <a:ext uri="http://customooxmlschemas.google.com/">
                        <go:slidesCustomData xmlns:go="http://customooxmlschemas.google.com/" cellId="316:1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-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7:9"/>
                      </a:ext>
                    </a:extLst>
                  </a:tcPr>
                </a:tc>
              </a:tr>
              <a:tr h="450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Audio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100%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-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0.0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16:1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-</a:t>
                      </a:r>
                      <a:endParaRPr b="1"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316:18:9"/>
                      </a:ext>
                    </a:extLst>
                  </a:tcPr>
                </a:tc>
              </a:tr>
              <a:tr h="47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rgbClr val="FFFFFF"/>
                          </a:solidFill>
                        </a:rPr>
                        <a:t>Toplam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16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21%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145.1K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147.8K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230.2M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285.2M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34A853"/>
                          </a:solidFill>
                        </a:rPr>
                        <a:t>24%</a:t>
                      </a:r>
                      <a:endParaRPr b="1" sz="2100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16:19:9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2" name="Google Shape;322;g3b8b80d44ef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3" name="Google Shape;323;g3b8b80d44ef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4" name="Google Shape;324;g3b8b80d44ef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b8b80d44ef_0_3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b8b80d44ef_0_3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 </a:t>
            </a:r>
            <a:r>
              <a:rPr b="1" lang="en-US" sz="2400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- GA4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b8b80d44ef_0_3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GA4 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Total Session &amp; Transaction &amp; Revenue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28" name="Google Shape;328;g3b8b80d44ef_0_3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7788" y="2305550"/>
            <a:ext cx="18739726" cy="677901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graphicFrame>
        <p:nvGraphicFramePr>
          <p:cNvPr id="329" name="Google Shape;329;g3b8b80d44ef_0_30"/>
          <p:cNvGraphicFramePr/>
          <p:nvPr/>
        </p:nvGraphicFramePr>
        <p:xfrm>
          <a:off x="1524175" y="1071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290625"/>
                <a:gridCol w="1145325"/>
                <a:gridCol w="1244050"/>
                <a:gridCol w="1066300"/>
                <a:gridCol w="1224300"/>
                <a:gridCol w="1244050"/>
                <a:gridCol w="1461250"/>
                <a:gridCol w="1560000"/>
                <a:gridCol w="1560000"/>
                <a:gridCol w="1125575"/>
                <a:gridCol w="1125575"/>
                <a:gridCol w="1303300"/>
                <a:gridCol w="1244050"/>
                <a:gridCol w="1145325"/>
                <a:gridCol w="1244050"/>
                <a:gridCol w="1066300"/>
              </a:tblGrid>
              <a:tr h="711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Ay / Metrik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Ocak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Şubat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Mart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Nisan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Mayıs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Haziran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Temmuz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Ağustos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Eylül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Ekim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Kasım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Aralık 25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Ocak 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Şubat 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Mart 26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0:15"/>
                      </a:ext>
                    </a:extLst>
                  </a:tcPr>
                </a:tc>
              </a:tr>
              <a:tr h="70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Total Session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3F2"/>
                    </a:solidFill>
                    <a:extLst>
                      <a:ext uri="http://customooxmlschemas.google.com/">
                        <go:slidesCustomData xmlns:go="http://customooxmlschemas.google.com/" cellId="32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32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6D3"/>
                    </a:solidFill>
                    <a:extLst>
                      <a:ext uri="http://customooxmlschemas.google.com/">
                        <go:slidesCustomData xmlns:go="http://customooxmlschemas.google.com/" cellId="329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29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BD9"/>
                    </a:solidFill>
                    <a:extLst>
                      <a:ext uri="http://customooxmlschemas.google.com/">
                        <go:slidesCustomData xmlns:go="http://customooxmlschemas.google.com/" cellId="329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C0BC"/>
                    </a:solidFill>
                    <a:extLst>
                      <a:ext uri="http://customooxmlschemas.google.com/">
                        <go:slidesCustomData xmlns:go="http://customooxmlschemas.google.com/" cellId="329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29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1.1M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981"/>
                    </a:solidFill>
                    <a:extLst>
                      <a:ext uri="http://customooxmlschemas.google.com/">
                        <go:slidesCustomData xmlns:go="http://customooxmlschemas.google.com/" cellId="329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8C5"/>
                    </a:solidFill>
                    <a:extLst>
                      <a:ext uri="http://customooxmlschemas.google.com/">
                        <go:slidesCustomData xmlns:go="http://customooxmlschemas.google.com/" cellId="329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DCC2"/>
                    </a:solidFill>
                    <a:extLst>
                      <a:ext uri="http://customooxmlschemas.google.com/">
                        <go:slidesCustomData xmlns:go="http://customooxmlschemas.google.com/" cellId="329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CBA5"/>
                    </a:solidFill>
                    <a:extLst>
                      <a:ext uri="http://customooxmlschemas.google.com/">
                        <go:slidesCustomData xmlns:go="http://customooxmlschemas.google.com/" cellId="329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29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CEAA"/>
                    </a:solidFill>
                    <a:extLst>
                      <a:ext uri="http://customooxmlschemas.google.com/">
                        <go:slidesCustomData xmlns:go="http://customooxmlschemas.google.com/" cellId="329:1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C79F"/>
                    </a:solidFill>
                    <a:extLst>
                      <a:ext uri="http://customooxmlschemas.google.com/">
                        <go:slidesCustomData xmlns:go="http://customooxmlschemas.google.com/" cellId="329:1:15"/>
                      </a:ext>
                    </a:extLst>
                  </a:tcPr>
                </a:tc>
              </a:tr>
              <a:tr h="69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78.4M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74.9M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0"/>
                    </a:solidFill>
                    <a:extLst>
                      <a:ext uri="http://customooxmlschemas.google.com/">
                        <go:slidesCustomData xmlns:go="http://customooxmlschemas.google.com/" cellId="32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77.0M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ED"/>
                    </a:solidFill>
                    <a:extLst>
                      <a:ext uri="http://customooxmlschemas.google.com/">
                        <go:slidesCustomData xmlns:go="http://customooxmlschemas.google.com/" cellId="32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69.9M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68F"/>
                    </a:solidFill>
                    <a:extLst>
                      <a:ext uri="http://customooxmlschemas.google.com/">
                        <go:slidesCustomData xmlns:go="http://customooxmlschemas.google.com/" cellId="329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83.3M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9F4"/>
                    </a:solidFill>
                    <a:extLst>
                      <a:ext uri="http://customooxmlschemas.google.com/">
                        <go:slidesCustomData xmlns:go="http://customooxmlschemas.google.com/" cellId="329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77.6M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5F5"/>
                    </a:solidFill>
                    <a:extLst>
                      <a:ext uri="http://customooxmlschemas.google.com/">
                        <go:slidesCustomData xmlns:go="http://customooxmlschemas.google.com/" cellId="329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70.6M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E97"/>
                    </a:solidFill>
                    <a:extLst>
                      <a:ext uri="http://customooxmlschemas.google.com/">
                        <go:slidesCustomData xmlns:go="http://customooxmlschemas.google.com/" cellId="329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71.7M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DA7"/>
                    </a:solidFill>
                    <a:extLst>
                      <a:ext uri="http://customooxmlschemas.google.com/">
                        <go:slidesCustomData xmlns:go="http://customooxmlschemas.google.com/" cellId="329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67.8M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29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80.5M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DFB"/>
                    </a:solidFill>
                    <a:extLst>
                      <a:ext uri="http://customooxmlschemas.google.com/">
                        <go:slidesCustomData xmlns:go="http://customooxmlschemas.google.com/" cellId="329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130.2M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29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120.2M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C9A1"/>
                    </a:solidFill>
                    <a:extLst>
                      <a:ext uri="http://customooxmlschemas.google.com/">
                        <go:slidesCustomData xmlns:go="http://customooxmlschemas.google.com/" cellId="329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108.8M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DD8BB"/>
                    </a:solidFill>
                    <a:extLst>
                      <a:ext uri="http://customooxmlschemas.google.com/">
                        <go:slidesCustomData xmlns:go="http://customooxmlschemas.google.com/" cellId="329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85.4M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6F0"/>
                    </a:solidFill>
                    <a:extLst>
                      <a:ext uri="http://customooxmlschemas.google.com/">
                        <go:slidesCustomData xmlns:go="http://customooxmlschemas.google.com/" cellId="329:2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91.1M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FE3"/>
                    </a:solidFill>
                    <a:extLst>
                      <a:ext uri="http://customooxmlschemas.google.com/">
                        <go:slidesCustomData xmlns:go="http://customooxmlschemas.google.com/" cellId="329:2:15"/>
                      </a:ext>
                    </a:extLst>
                  </a:tcPr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rgbClr val="FFFFFF"/>
                          </a:solidFill>
                        </a:rPr>
                        <a:t>Total Transaction</a:t>
                      </a:r>
                      <a:endParaRPr b="1" sz="21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50.1K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FE3"/>
                    </a:solidFill>
                    <a:extLst>
                      <a:ext uri="http://customooxmlschemas.google.com/">
                        <go:slidesCustomData xmlns:go="http://customooxmlschemas.google.com/" cellId="329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46.8K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9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48.2K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3"/>
                    </a:solidFill>
                    <a:extLst>
                      <a:ext uri="http://customooxmlschemas.google.com/">
                        <go:slidesCustomData xmlns:go="http://customooxmlschemas.google.com/" cellId="329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41.2K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A93"/>
                    </a:solidFill>
                    <a:extLst>
                      <a:ext uri="http://customooxmlschemas.google.com/">
                        <go:slidesCustomData xmlns:go="http://customooxmlschemas.google.com/" cellId="329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48.0K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AF5"/>
                    </a:solidFill>
                    <a:extLst>
                      <a:ext uri="http://customooxmlschemas.google.com/">
                        <go:slidesCustomData xmlns:go="http://customooxmlschemas.google.com/" cellId="329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46.8K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  <a:extLst>
                      <a:ext uri="http://customooxmlschemas.google.com/">
                        <go:slidesCustomData xmlns:go="http://customooxmlschemas.google.com/" cellId="329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FEE"/>
                    </a:solidFill>
                    <a:extLst>
                      <a:ext uri="http://customooxmlschemas.google.com/">
                        <go:slidesCustomData xmlns:go="http://customooxmlschemas.google.com/" cellId="329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44.1K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ECB"/>
                    </a:solidFill>
                    <a:extLst>
                      <a:ext uri="http://customooxmlschemas.google.com/">
                        <go:slidesCustomData xmlns:go="http://customooxmlschemas.google.com/" cellId="329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39.6K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29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42.2K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CA6"/>
                    </a:solidFill>
                    <a:extLst>
                      <a:ext uri="http://customooxmlschemas.google.com/">
                        <go:slidesCustomData xmlns:go="http://customooxmlschemas.google.com/" cellId="329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59.2K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C295"/>
                    </a:solidFill>
                    <a:extLst>
                      <a:ext uri="http://customooxmlschemas.google.com/">
                        <go:slidesCustomData xmlns:go="http://customooxmlschemas.google.com/" cellId="329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60.5K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29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54.9K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D7BA"/>
                    </a:solidFill>
                    <a:extLst>
                      <a:ext uri="http://customooxmlschemas.google.com/">
                        <go:slidesCustomData xmlns:go="http://customooxmlschemas.google.com/" cellId="329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45.2K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2E0"/>
                    </a:solidFill>
                    <a:extLst>
                      <a:ext uri="http://customooxmlschemas.google.com/">
                        <go:slidesCustomData xmlns:go="http://customooxmlschemas.google.com/" cellId="329:3:1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47.7K</a:t>
                      </a:r>
                      <a:endParaRPr sz="2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8"/>
                    </a:solidFill>
                    <a:extLst>
                      <a:ext uri="http://customooxmlschemas.google.com/">
                        <go:slidesCustomData xmlns:go="http://customooxmlschemas.google.com/" cellId="329:3:15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330" name="Google Shape;330;g3b8b80d44ef_0_30"/>
          <p:cNvSpPr txBox="1"/>
          <p:nvPr/>
        </p:nvSpPr>
        <p:spPr>
          <a:xfrm>
            <a:off x="1524175" y="9236975"/>
            <a:ext cx="219999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26 vs Q1 25: </a:t>
            </a:r>
            <a:r>
              <a:rPr b="1" lang="en-US" sz="2400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Session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+%25, Revenue +%24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, Transaction +%2 ; gelir artışının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sebebi: </a:t>
            </a:r>
            <a:r>
              <a:rPr b="1" i="0" lang="en-US" sz="2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AOV: 1.587 → 1.930 TL (+%22)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olarak öne çıkmaktadır.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Q4 25 (Kasım) zirvesi </a:t>
            </a:r>
            <a:r>
              <a:rPr b="1" i="0" lang="en-US" sz="24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130.2M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Black Friday + yılbaşı kombinasyonu kanal toplam revenue'sunu yıl içindeki en yüksek seviyeye çıkarmıştır.</a:t>
            </a:r>
            <a:endParaRPr b="0" i="0" sz="2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36" name="Google Shape;336;g3b6f7df8e8b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7" name="Google Shape;337;g3b6f7df8e8b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8" name="Google Shape;338;g3b6f7df8e8b_0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b6f7df8e8b_0_1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b6f7df8e8b_0_15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 - G</a:t>
            </a:r>
            <a:r>
              <a:rPr b="1" lang="en-US" sz="2400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A4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b6f7df8e8b_0_1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GA4 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Organic Search Session &amp; Transaction &amp; Revenue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42" name="Google Shape;342;g3b6f7df8e8b_0_1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2575" y="2263000"/>
            <a:ext cx="18787898" cy="6796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graphicFrame>
        <p:nvGraphicFramePr>
          <p:cNvPr id="343" name="Google Shape;343;g3b6f7df8e8b_0_15"/>
          <p:cNvGraphicFramePr/>
          <p:nvPr/>
        </p:nvGraphicFramePr>
        <p:xfrm>
          <a:off x="1524175" y="1068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3468175"/>
                <a:gridCol w="1035650"/>
                <a:gridCol w="1172475"/>
                <a:gridCol w="1005000"/>
                <a:gridCol w="1153875"/>
                <a:gridCol w="1172475"/>
                <a:gridCol w="1377200"/>
                <a:gridCol w="1470250"/>
                <a:gridCol w="1470250"/>
                <a:gridCol w="1060825"/>
                <a:gridCol w="1060825"/>
                <a:gridCol w="1228325"/>
                <a:gridCol w="1172475"/>
                <a:gridCol w="1079425"/>
                <a:gridCol w="1172475"/>
                <a:gridCol w="1005000"/>
              </a:tblGrid>
              <a:tr h="914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Ay / Metrik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Ocak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Şubat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Mart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Nisan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Mayıs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Haziran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Temmuz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Ağustos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Eylül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Ekim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Kasım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Aralık 25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Ocak 26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Şubat 26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Mart 26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63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Organic Search Session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96.4K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101.3K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92.5K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91.1K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86.4K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80.7K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C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100.6K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8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104.7K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DB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92.8K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109.0K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CE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114.6K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BC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114.8K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93.2K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73.4K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78.9K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A09A"/>
                    </a:solidFill>
                  </a:tcPr>
                </a:tc>
              </a:tr>
              <a:tr h="55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Organic Search Revenue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2.9M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8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2.3M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A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2.3M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2.3M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D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2.4M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8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2.6M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3.5M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8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3.4M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1.8M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1.9M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8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5.0M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4.7M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C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3.3M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E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2.7M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3.1M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</a:tcPr>
                </a:tc>
              </a:tr>
              <a:tr h="735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</a:rPr>
                        <a:t>Organic Search Transaction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8CF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1.3K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1.2K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9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1.1K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1.2K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1.3K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1.8K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CC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868.0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3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701.0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9C9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1.7K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C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1.2K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1.0K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9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1.3K</a:t>
                      </a:r>
                      <a:endParaRPr sz="2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g3b6f7df8e8b_0_15"/>
          <p:cNvSpPr txBox="1"/>
          <p:nvPr/>
        </p:nvSpPr>
        <p:spPr>
          <a:xfrm>
            <a:off x="1193650" y="9169300"/>
            <a:ext cx="21999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255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Organic Search Session Q1 YoY baktığımızda </a:t>
            </a:r>
            <a:r>
              <a:rPr b="1" i="0" lang="en-US" sz="255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255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%11 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daralmasına rağmen Revenue </a:t>
            </a:r>
            <a:r>
              <a:rPr b="1" i="0" lang="en-US" sz="255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+%19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artmış; AOV </a:t>
            </a:r>
            <a:r>
              <a:rPr b="1" i="0" lang="en-US" sz="255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1.786 → 2.600 TL (+%46)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55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çıkmıştır.</a:t>
            </a:r>
            <a:b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5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Conversion rate Q1 25 </a:t>
            </a:r>
            <a:r>
              <a:rPr b="1" i="0" lang="en-US" sz="255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%1.45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→ Q1 26 </a:t>
            </a:r>
            <a:r>
              <a:rPr b="1" i="0" lang="en-US" sz="255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%1.43</a:t>
            </a:r>
            <a:r>
              <a:rPr b="0" i="0" lang="en-US" sz="255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ile sabit kalmıştır.</a:t>
            </a:r>
            <a:endParaRPr b="0" i="0" sz="255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0" name="Google Shape;350;g3b6f7df8e8b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1" name="Google Shape;351;g3b6f7df8e8b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g3b6f7df8e8b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b6f7df8e8b_0_10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b6f7df8e8b_0_109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b6f7df8e8b_0_109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GA4  &amp; AEM 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Q1</a:t>
            </a: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Metrik Karşılaştırması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356" name="Google Shape;356;g3b6f7df8e8b_0_109"/>
          <p:cNvGraphicFramePr/>
          <p:nvPr/>
        </p:nvGraphicFramePr>
        <p:xfrm>
          <a:off x="1240150" y="93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2741050"/>
                <a:gridCol w="2943250"/>
                <a:gridCol w="2943250"/>
                <a:gridCol w="3257800"/>
                <a:gridCol w="2943250"/>
                <a:gridCol w="2943250"/>
                <a:gridCol w="3212850"/>
              </a:tblGrid>
              <a:tr h="76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Metrik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AEM Total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AEM Organic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AEM Organic / Total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GA4 Total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GA4 Organic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GA4 Organic / Total</a:t>
                      </a:r>
                      <a:endParaRPr b="1" sz="2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0:6"/>
                      </a:ext>
                    </a:extLst>
                  </a:tcPr>
                </a:tc>
              </a:tr>
              <a:tr h="62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3F3F3"/>
                          </a:solidFill>
                        </a:rPr>
                        <a:t>Session</a:t>
                      </a:r>
                      <a:endParaRPr b="1" sz="20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8.4M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1.3M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15%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5.4M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245.5K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5%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1:6"/>
                      </a:ext>
                    </a:extLst>
                  </a:tcPr>
                </a:tc>
              </a:tr>
              <a:tr h="62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3F3F3"/>
                          </a:solidFill>
                        </a:rPr>
                        <a:t>Revenue</a:t>
                      </a:r>
                      <a:endParaRPr b="1" sz="20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₺369,867,792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₺65,343,310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18%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₺285,246,319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₺9,018,251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3%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2:6"/>
                      </a:ext>
                    </a:extLst>
                  </a:tcPr>
                </a:tc>
              </a:tr>
              <a:tr h="62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3F3F3"/>
                          </a:solidFill>
                        </a:rPr>
                        <a:t>Transaction</a:t>
                      </a:r>
                      <a:endParaRPr b="1" sz="20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153.5K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26.2K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17%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147.8K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3.5K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2%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3:6"/>
                      </a:ext>
                    </a:extLst>
                  </a:tcPr>
                </a:tc>
              </a:tr>
              <a:tr h="62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3F3F3"/>
                          </a:solidFill>
                        </a:rPr>
                        <a:t>ECR</a:t>
                      </a:r>
                      <a:endParaRPr b="1" sz="20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5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1.82%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2.09%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115%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2.72%</a:t>
                      </a:r>
                      <a:endParaRPr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2E7D32"/>
                          </a:solidFill>
                        </a:rPr>
                        <a:t>1.44%</a:t>
                      </a:r>
                      <a:endParaRPr b="1" sz="2300">
                        <a:solidFill>
                          <a:srgbClr val="2E7D3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/>
                        <a:t>53%</a:t>
                      </a:r>
                      <a:endParaRPr b="1" sz="2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56:4:6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57" name="Google Shape;357;g3b6f7df8e8b_0_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8900" y="3073100"/>
            <a:ext cx="19507200" cy="5114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63" name="Google Shape;363;g38295bdd6e7bee02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4" name="Google Shape;364;g38295bdd6e7bee02_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5" name="Google Shape;365;g38295bdd6e7bee02_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8295bdd6e7bee02_13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8295bdd6e7bee02_139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8295bdd6e7bee02_139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Q1 Total Trafik - En Çok Trafik ve Revenue Getiren Sayfalar - AEM</a:t>
            </a:r>
            <a:endParaRPr b="1" sz="5500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69" name="Google Shape;369;g38295bdd6e7bee02_139"/>
          <p:cNvSpPr txBox="1"/>
          <p:nvPr/>
        </p:nvSpPr>
        <p:spPr>
          <a:xfrm>
            <a:off x="457200" y="2963230"/>
            <a:ext cx="115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↑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Trafik Getirenler</a:t>
            </a:r>
            <a:endParaRPr/>
          </a:p>
        </p:txBody>
      </p:sp>
      <p:sp>
        <p:nvSpPr>
          <p:cNvPr id="370" name="Google Shape;370;g38295bdd6e7bee02_139"/>
          <p:cNvSpPr txBox="1"/>
          <p:nvPr/>
        </p:nvSpPr>
        <p:spPr>
          <a:xfrm>
            <a:off x="12399327" y="2963230"/>
            <a:ext cx="115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$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Revenue Getirenler</a:t>
            </a:r>
            <a:endParaRPr/>
          </a:p>
        </p:txBody>
      </p:sp>
      <p:graphicFrame>
        <p:nvGraphicFramePr>
          <p:cNvPr id="371" name="Google Shape;371;g38295bdd6e7bee02_139"/>
          <p:cNvGraphicFramePr/>
          <p:nvPr/>
        </p:nvGraphicFramePr>
        <p:xfrm>
          <a:off x="457200" y="3649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4612250"/>
                <a:gridCol w="3113275"/>
                <a:gridCol w="1844900"/>
                <a:gridCol w="19602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Session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Revenue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Anasayfa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339.317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7,09M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/market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Market </a:t>
                      </a: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Anasayfa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39.549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2,83M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 Sayfa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24.422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211K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/magaza/kampanya/emu-australia-kole</a:t>
                      </a:r>
                      <a:r>
                        <a:rPr lang="en-US" sz="19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.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22.202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/magaza/kampanya/secili-giyim-aksesu..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19.821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56K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/magaza/marka/michael_kors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Marka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17.576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/magaza/marka/samsonite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Marka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15.976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/magaza/aile-setleri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13.992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90K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2" name="Google Shape;372;g38295bdd6e7bee02_139"/>
          <p:cNvGraphicFramePr/>
          <p:nvPr/>
        </p:nvGraphicFramePr>
        <p:xfrm>
          <a:off x="12399327" y="36490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4151025"/>
                <a:gridCol w="2767350"/>
                <a:gridCol w="1844900"/>
                <a:gridCol w="1153075"/>
                <a:gridCol w="16143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Revenue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Tx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Session</a:t>
                      </a:r>
                      <a:endParaRPr sz="17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Anasayfa</a:t>
                      </a:r>
                      <a:endParaRPr sz="1900">
                        <a:solidFill>
                          <a:srgbClr val="10332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7,09M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3.168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339.317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/market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Market </a:t>
                      </a: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Anasayfa</a:t>
                      </a:r>
                      <a:endParaRPr sz="1900">
                        <a:solidFill>
                          <a:srgbClr val="10332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2,83M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1.727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39.549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 Sayfa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211K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85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24.422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/magaza/homepage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Anasayfa</a:t>
                      </a:r>
                      <a:endParaRPr sz="1900">
                        <a:solidFill>
                          <a:srgbClr val="10332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116K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44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836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/magaza/kampanya/cark-firsatlari5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113K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29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1.652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/magaza/aile-setleri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90K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53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13.992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/magaza/cocuk-bebek-urunleri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85K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43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13.123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72K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5.500</a:t>
                      </a:r>
                      <a:endParaRPr sz="17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g38295bdd6e7bee02_139"/>
          <p:cNvSpPr txBox="1"/>
          <p:nvPr/>
        </p:nvSpPr>
        <p:spPr>
          <a:xfrm>
            <a:off x="457138" y="8905080"/>
            <a:ext cx="23472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Total'da kampanya sayfaları (</a:t>
            </a:r>
            <a:r>
              <a:rPr b="1" i="0" lang="en-US" sz="25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emu-australia, secili-giyim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) ve marka sayfaları (</a:t>
            </a:r>
            <a:r>
              <a:rPr b="1" i="0" lang="en-US" sz="25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michael_kors, samsonite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) yüksek session almakta; ancak revenue sıralamasında öne çıkmamakta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gelen trafiğin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browse-only davranışına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işaret etmektedir. </a:t>
            </a:r>
            <a:endParaRPr sz="2100"/>
          </a:p>
        </p:txBody>
      </p:sp>
      <p:sp>
        <p:nvSpPr>
          <p:cNvPr id="374" name="Google Shape;374;g38295bdd6e7bee02_139"/>
          <p:cNvSpPr txBox="1"/>
          <p:nvPr/>
        </p:nvSpPr>
        <p:spPr>
          <a:xfrm>
            <a:off x="1371775" y="13289120"/>
            <a:ext cx="2347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* 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Kaynak: </a:t>
            </a:r>
            <a:r>
              <a:rPr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AEM’den session’a göre top 1000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landing page veri seti çekilmiştir. </a:t>
            </a: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Tam liste ve analizler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b="1" lang="en-US" sz="21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6"/>
              </a:rPr>
              <a:t>Özdilekteyim - AEM Analiz 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80" name="Google Shape;380;g38295bdd6e7bee02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1" name="Google Shape;381;g38295bdd6e7bee02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82" name="Google Shape;382;g38295bdd6e7bee02_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8295bdd6e7bee02_10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8295bdd6e7bee02_105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 - AEM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8295bdd6e7bee02_10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Q1 Organik Trafik - En Çok Trafik ve Revenue Getiren Sayfalar</a:t>
            </a:r>
            <a:endParaRPr b="1" sz="5500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86" name="Google Shape;386;g38295bdd6e7bee02_105"/>
          <p:cNvSpPr txBox="1"/>
          <p:nvPr/>
        </p:nvSpPr>
        <p:spPr>
          <a:xfrm>
            <a:off x="406450" y="2829455"/>
            <a:ext cx="115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↑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Trafik Getirenler</a:t>
            </a:r>
            <a:endParaRPr/>
          </a:p>
        </p:txBody>
      </p:sp>
      <p:sp>
        <p:nvSpPr>
          <p:cNvPr id="387" name="Google Shape;387;g38295bdd6e7bee02_105"/>
          <p:cNvSpPr txBox="1"/>
          <p:nvPr/>
        </p:nvSpPr>
        <p:spPr>
          <a:xfrm>
            <a:off x="12348577" y="2829455"/>
            <a:ext cx="115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$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Revenue Getirenler</a:t>
            </a:r>
            <a:endParaRPr/>
          </a:p>
        </p:txBody>
      </p:sp>
      <p:sp>
        <p:nvSpPr>
          <p:cNvPr id="388" name="Google Shape;388;g38295bdd6e7bee02_105"/>
          <p:cNvSpPr txBox="1"/>
          <p:nvPr/>
        </p:nvSpPr>
        <p:spPr>
          <a:xfrm>
            <a:off x="457125" y="9130980"/>
            <a:ext cx="234729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Mağaza ve market giriş sayfaları (/magaza, /market) organik trafiğin büyük kısmını topluyor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Mağaza tarafında /magaza/homepage sayfasından revenue ve transaction akışı var gibi gözüküyor fakat sayfa açılmıyor, sebebi incelenerek yönlendirme yapılabilir. Revenu’lardaki sapmayı azaltır.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Cart, Checkout, Order-Confirmation, Login, My-Account, Beden Tablosu, Sipariş Takip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3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Bu sayfalara yazılan revenue başka bir sayfadan tetiklenmiş olabilir. Toplam 20 civarı url’e bakıldığında 49.5M Revenue’nun bu sayfalara aktığı gözlenmektedir. </a:t>
            </a:r>
            <a:endParaRPr b="1" sz="2500">
              <a:solidFill>
                <a:srgbClr val="F4845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389" name="Google Shape;389;g38295bdd6e7bee02_105"/>
          <p:cNvGraphicFramePr/>
          <p:nvPr/>
        </p:nvGraphicFramePr>
        <p:xfrm>
          <a:off x="406450" y="3515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4612250"/>
                <a:gridCol w="3113275"/>
                <a:gridCol w="1844900"/>
                <a:gridCol w="19602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Session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Revenue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Anasayfa</a:t>
                      </a:r>
                      <a:endParaRPr sz="1800">
                        <a:solidFill>
                          <a:srgbClr val="10332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29.050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2,35M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/market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Market</a:t>
                      </a: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Anasayfa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6.824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669K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/magaza/kampanya/karcher2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2.988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/magaza/canta-2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2.211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34K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2.208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83K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/magaza/kampanya/zuccaciye-elektrikl...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1.407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/magaza/search/Hot%20wheels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Search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1.184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/magaza/ozdilek-point-happy-aile-set...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Ürün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1.122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12K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90;g38295bdd6e7bee02_105"/>
          <p:cNvGraphicFramePr/>
          <p:nvPr/>
        </p:nvGraphicFramePr>
        <p:xfrm>
          <a:off x="12348577" y="3515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4151025"/>
                <a:gridCol w="2767350"/>
                <a:gridCol w="1844900"/>
                <a:gridCol w="1153075"/>
                <a:gridCol w="16143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Revenue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</a:t>
                      </a:r>
                      <a:r>
                        <a:rPr lang="en-US" sz="1800"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ransaction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Session</a:t>
                      </a:r>
                      <a:endParaRPr sz="16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</a:t>
                      </a: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2,35M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869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29.050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/market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Market Anasayfa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669K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355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6.824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/magaza/homepage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 Anasayfa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112K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797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/magaza/kampanya/cark-firsatlari5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108K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25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530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83K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23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2.208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 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60K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1.110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/market/homepage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Market </a:t>
                      </a:r>
                      <a:r>
                        <a:rPr lang="en-US" sz="1800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Anasayfa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36K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12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137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/magaza/tum-kampanyalar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35K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650</a:t>
                      </a:r>
                      <a:endParaRPr sz="16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g38295bdd6e7bee02_105"/>
          <p:cNvSpPr txBox="1"/>
          <p:nvPr/>
        </p:nvSpPr>
        <p:spPr>
          <a:xfrm>
            <a:off x="1371775" y="13289120"/>
            <a:ext cx="2347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* 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Kaynak: </a:t>
            </a:r>
            <a:r>
              <a:rPr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AEM’den session’a göre top 1000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landing page veri seti çekilmiştir. </a:t>
            </a: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Tam liste ve analizler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b="1" lang="en-US" sz="21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6"/>
              </a:rPr>
              <a:t>Özdilekteyim - AEM Analiz 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7" name="Google Shape;397;g38295bdd6e7bee02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8" name="Google Shape;398;g38295bdd6e7bee02_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99" name="Google Shape;399;g38295bdd6e7bee02_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8295bdd6e7bee02_16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8295bdd6e7bee02_163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8295bdd6e7bee02_16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Funnel Drop-off - Satın Almaya Dönüşmeyen Sayfalar</a:t>
            </a:r>
            <a:endParaRPr b="1" sz="5500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03" name="Google Shape;403;g38295bdd6e7bee02_163"/>
          <p:cNvSpPr txBox="1"/>
          <p:nvPr/>
        </p:nvSpPr>
        <p:spPr>
          <a:xfrm>
            <a:off x="457188" y="2518027"/>
            <a:ext cx="1153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C6282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⚠  </a:t>
            </a:r>
            <a:r>
              <a:rPr b="1" i="0" lang="en-US" sz="27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Sepete Eklendi - Satın Alma Yok / Düşük</a:t>
            </a:r>
            <a:endParaRPr sz="1700"/>
          </a:p>
        </p:txBody>
      </p:sp>
      <p:sp>
        <p:nvSpPr>
          <p:cNvPr id="404" name="Google Shape;404;g38295bdd6e7bee02_163"/>
          <p:cNvSpPr txBox="1"/>
          <p:nvPr/>
        </p:nvSpPr>
        <p:spPr>
          <a:xfrm>
            <a:off x="457188" y="3158107"/>
            <a:ext cx="115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 Trafik</a:t>
            </a:r>
            <a:endParaRPr sz="1700"/>
          </a:p>
        </p:txBody>
      </p:sp>
      <p:graphicFrame>
        <p:nvGraphicFramePr>
          <p:cNvPr id="405" name="Google Shape;405;g38295bdd6e7bee02_163"/>
          <p:cNvGraphicFramePr/>
          <p:nvPr/>
        </p:nvGraphicFramePr>
        <p:xfrm>
          <a:off x="457188" y="36153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{9EAA0FA4-64C8-4904-831E-6E637BB62F65}</a:tableStyleId>
              </a:tblPr>
              <a:tblGrid>
                <a:gridCol w="5765325"/>
                <a:gridCol w="1383675"/>
                <a:gridCol w="1498975"/>
                <a:gridCol w="1237125"/>
                <a:gridCol w="1645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Cart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Checkout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Purch.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Cart→Purch</a:t>
                      </a:r>
                      <a:endParaRPr sz="19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/magaza/floretta-celestine-cift-kisilik-...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/magaza/ozdilek-folha-de-ouro-aile-seti2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/magaza/fissler-vitaquick-premium-dudukl...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87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/magaza/ozdilek-cift-kisilik-yun-yorgan-...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/magaza/ozdilek-miscanthus-cift-kisilik-...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52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g38295bdd6e7bee02_163"/>
          <p:cNvSpPr txBox="1"/>
          <p:nvPr/>
        </p:nvSpPr>
        <p:spPr>
          <a:xfrm>
            <a:off x="457188" y="6678547"/>
            <a:ext cx="115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Trafik</a:t>
            </a:r>
            <a:endParaRPr sz="1700"/>
          </a:p>
        </p:txBody>
      </p:sp>
      <p:graphicFrame>
        <p:nvGraphicFramePr>
          <p:cNvPr id="407" name="Google Shape;407;g38295bdd6e7bee02_163"/>
          <p:cNvGraphicFramePr/>
          <p:nvPr/>
        </p:nvGraphicFramePr>
        <p:xfrm>
          <a:off x="457188" y="71357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{9EAA0FA4-64C8-4904-831E-6E637BB62F65}</a:tableStyleId>
              </a:tblPr>
              <a:tblGrid>
                <a:gridCol w="5765325"/>
                <a:gridCol w="1383675"/>
                <a:gridCol w="1498975"/>
                <a:gridCol w="1237125"/>
                <a:gridCol w="1645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Cart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Checkout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Purch.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Cart→Purch</a:t>
                      </a:r>
                      <a:endParaRPr sz="19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/magaza/marka/michael_kors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/magaza/dji-osmo-pocket-3-3-eksenli-kame...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/magaza/jjxx-kadin-mont-12281862-p-14012...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69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/magaza/pierre-cardin-kadin-capraz-canta...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115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/magaza/fissler-vitaquick-premium-dudukl...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66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g38295bdd6e7bee02_163"/>
          <p:cNvSpPr txBox="1"/>
          <p:nvPr/>
        </p:nvSpPr>
        <p:spPr>
          <a:xfrm>
            <a:off x="12399315" y="2518027"/>
            <a:ext cx="1153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C6282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⚠  </a:t>
            </a:r>
            <a:r>
              <a:rPr b="1" i="0" lang="en-US" sz="27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Checkout Başlatıldı - Transaction Düşük</a:t>
            </a:r>
            <a:endParaRPr sz="1700"/>
          </a:p>
        </p:txBody>
      </p:sp>
      <p:sp>
        <p:nvSpPr>
          <p:cNvPr id="409" name="Google Shape;409;g38295bdd6e7bee02_163"/>
          <p:cNvSpPr txBox="1"/>
          <p:nvPr/>
        </p:nvSpPr>
        <p:spPr>
          <a:xfrm>
            <a:off x="12399315" y="3158107"/>
            <a:ext cx="115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 Trafik</a:t>
            </a:r>
            <a:endParaRPr sz="1700"/>
          </a:p>
        </p:txBody>
      </p:sp>
      <p:graphicFrame>
        <p:nvGraphicFramePr>
          <p:cNvPr id="410" name="Google Shape;410;g38295bdd6e7bee02_163"/>
          <p:cNvGraphicFramePr/>
          <p:nvPr/>
        </p:nvGraphicFramePr>
        <p:xfrm>
          <a:off x="12399315" y="36153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{9EAA0FA4-64C8-4904-831E-6E637BB62F65}</a:tableStyleId>
              </a:tblPr>
              <a:tblGrid>
                <a:gridCol w="6341850"/>
                <a:gridCol w="1558650"/>
                <a:gridCol w="1583025"/>
                <a:gridCol w="2047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Checkout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Purchase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Check→Purch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/magaza/canta-2</a:t>
                      </a:r>
                      <a:endParaRPr b="1"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%37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46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%46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/magaza/tum-kampanyalar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17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%52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%58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/magaza/homepage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38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%60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g38295bdd6e7bee02_163"/>
          <p:cNvSpPr txBox="1"/>
          <p:nvPr/>
        </p:nvSpPr>
        <p:spPr>
          <a:xfrm>
            <a:off x="12399315" y="6678547"/>
            <a:ext cx="115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Trafik</a:t>
            </a:r>
            <a:endParaRPr sz="1700"/>
          </a:p>
        </p:txBody>
      </p:sp>
      <p:graphicFrame>
        <p:nvGraphicFramePr>
          <p:cNvPr id="412" name="Google Shape;412;g38295bdd6e7bee02_163"/>
          <p:cNvGraphicFramePr/>
          <p:nvPr/>
        </p:nvGraphicFramePr>
        <p:xfrm>
          <a:off x="12399315" y="71357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{9EAA0FA4-64C8-4904-831E-6E637BB62F65}</a:tableStyleId>
              </a:tblPr>
              <a:tblGrid>
                <a:gridCol w="6341850"/>
                <a:gridCol w="1558650"/>
                <a:gridCol w="1705175"/>
                <a:gridCol w="19249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Checkout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Purchase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Check→Purch</a:t>
                      </a:r>
                      <a:endParaRPr sz="20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/magaza/canta-2</a:t>
                      </a:r>
                      <a:endParaRPr b="1"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%35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/magaza/ozdilek-dinoasaur-tek-kisilik-co...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38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%37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45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18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/magaza/tum-kampanyalar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41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%49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170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83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%49</a:t>
                      </a:r>
                      <a:endParaRPr sz="20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g38295bdd6e7bee02_163"/>
          <p:cNvSpPr txBox="1"/>
          <p:nvPr/>
        </p:nvSpPr>
        <p:spPr>
          <a:xfrm>
            <a:off x="1371775" y="10492525"/>
            <a:ext cx="21048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Sepete eklendiği halde checkout'a bile geçmeyen sayfalar dikkat çekmektedir - özellikle </a:t>
            </a:r>
            <a:r>
              <a:rPr b="1" i="0" lang="en-US" sz="2500" u="none" cap="none" strike="noStrike">
                <a:solidFill>
                  <a:srgbClr val="C6282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ürün sayfalarında 50+ cart - 0 purchase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deseni stok, fiyat ya da kargo ücreti kaynaklı bir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duruma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işaret edebilir. Checkout başlatılan ancak transaction'a dönmeyen sayfalarda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%35-50 oranında </a:t>
            </a:r>
            <a:r>
              <a:rPr b="1" lang="en-US" sz="2500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eksilme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görülmekte; ödeme adımında ek bir analiz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yapılabilir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2500"/>
          </a:p>
        </p:txBody>
      </p:sp>
      <p:sp>
        <p:nvSpPr>
          <p:cNvPr id="414" name="Google Shape;414;g38295bdd6e7bee02_163"/>
          <p:cNvSpPr txBox="1"/>
          <p:nvPr/>
        </p:nvSpPr>
        <p:spPr>
          <a:xfrm>
            <a:off x="1371775" y="13289120"/>
            <a:ext cx="2347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* 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Kaynak: </a:t>
            </a:r>
            <a:r>
              <a:rPr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AEM’den session’a göre top 1000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landing page veri seti çekilmiştir. </a:t>
            </a: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Tam liste ve analizler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b="1" lang="en-US" sz="21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6"/>
              </a:rPr>
              <a:t>Özdilekteyim - AEM Analiz 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0" name="Google Shape;420;g38295bdd6e7bee02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1" name="Google Shape;421;g38295bdd6e7bee02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150" y="157372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8295bdd6e7bee02_20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8295bdd6e7bee02_20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Organik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8295bdd6e7bee02_200"/>
          <p:cNvSpPr/>
          <p:nvPr/>
        </p:nvSpPr>
        <p:spPr>
          <a:xfrm>
            <a:off x="406450" y="106855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Sayfa Bazında Kanal Payı - Organik vs Diğer Kanallar</a:t>
            </a:r>
            <a:endParaRPr b="1" sz="5500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sz="5500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25" name="Google Shape;425;g38295bdd6e7bee02_200"/>
          <p:cNvSpPr txBox="1"/>
          <p:nvPr/>
        </p:nvSpPr>
        <p:spPr>
          <a:xfrm>
            <a:off x="1371775" y="13289120"/>
            <a:ext cx="2347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6" name="Google Shape;426;g38295bdd6e7bee02_200"/>
          <p:cNvSpPr txBox="1"/>
          <p:nvPr/>
        </p:nvSpPr>
        <p:spPr>
          <a:xfrm>
            <a:off x="1371775" y="12162042"/>
            <a:ext cx="227424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Organik trafiği düşük sayfalar (</a:t>
            </a:r>
            <a:r>
              <a:rPr b="1" i="0" lang="en-US" sz="2500" u="none" cap="none" strike="noStrike">
                <a:solidFill>
                  <a:srgbClr val="C6282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kategori, marka, kampanya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) trafiğini ağırlıklı olarak diğer kanallardan (paid, direct, sosyal) almakta - organik görünürlüğü artırma Q2 önceliği olarak değerlendirilebilir. </a:t>
            </a:r>
            <a:endParaRPr sz="2500"/>
          </a:p>
        </p:txBody>
      </p:sp>
      <p:sp>
        <p:nvSpPr>
          <p:cNvPr id="427" name="Google Shape;427;g38295bdd6e7bee02_200"/>
          <p:cNvSpPr txBox="1"/>
          <p:nvPr/>
        </p:nvSpPr>
        <p:spPr>
          <a:xfrm>
            <a:off x="457138" y="2357014"/>
            <a:ext cx="234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62828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⬇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 Trafiği Düşük Sayfalar - Trafiğin Çoğu Diğer Kanallardan</a:t>
            </a:r>
            <a:endParaRPr sz="1600"/>
          </a:p>
        </p:txBody>
      </p:sp>
      <p:graphicFrame>
        <p:nvGraphicFramePr>
          <p:cNvPr id="428" name="Google Shape;428;g38295bdd6e7bee02_200"/>
          <p:cNvGraphicFramePr/>
          <p:nvPr/>
        </p:nvGraphicFramePr>
        <p:xfrm>
          <a:off x="457138" y="28044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7041825"/>
                <a:gridCol w="4225100"/>
                <a:gridCol w="2816725"/>
                <a:gridCol w="2816725"/>
                <a:gridCol w="2347275"/>
                <a:gridCol w="2112550"/>
                <a:gridCol w="2112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Total Session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Session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%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Total Revenue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Revenue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Mağaza/Market Listeleme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339.317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29.050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%9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7,09M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2,35M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Ana Sayfa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24.422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1.110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%5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211K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60K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/magaza/kampanya/emu-australia-kolek...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22.202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/magaza/kampanya/secili-giyim-aksesu...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19.821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193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56K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/magaza/marka/michael_kors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17.576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/magaza/marka/samsonite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15.976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/magaza/aile-setleri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13.992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203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C6282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90K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g38295bdd6e7bee02_200"/>
          <p:cNvSpPr txBox="1"/>
          <p:nvPr/>
        </p:nvSpPr>
        <p:spPr>
          <a:xfrm>
            <a:off x="457138" y="7091713"/>
            <a:ext cx="234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⬆  </a:t>
            </a:r>
            <a:r>
              <a:rPr b="1" i="0" lang="en-US" sz="26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 Trafiğin Baskın Olduğu Sayfalar</a:t>
            </a:r>
            <a:endParaRPr sz="1600"/>
          </a:p>
        </p:txBody>
      </p:sp>
      <p:graphicFrame>
        <p:nvGraphicFramePr>
          <p:cNvPr id="430" name="Google Shape;430;g38295bdd6e7bee02_200"/>
          <p:cNvGraphicFramePr/>
          <p:nvPr/>
        </p:nvGraphicFramePr>
        <p:xfrm>
          <a:off x="457138" y="7513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{91B3A754-B8C4-4A11-A259-5F5747E8FC49}</a:tableStyleId>
              </a:tblPr>
              <a:tblGrid>
                <a:gridCol w="7041825"/>
                <a:gridCol w="4225100"/>
                <a:gridCol w="2816725"/>
                <a:gridCol w="2816725"/>
                <a:gridCol w="2347275"/>
                <a:gridCol w="2112550"/>
                <a:gridCol w="2112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URL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Kategori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Total Session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Session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%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Total Revenue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Organik Revenue</a:t>
                      </a:r>
                      <a:endParaRPr sz="1800"/>
                    </a:p>
                  </a:txBody>
                  <a:tcPr marT="35000" marB="35000" marR="80000" marL="80000" anchor="ctr">
                    <a:solidFill>
                      <a:srgbClr val="1033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/magaza/kampanya/karcher2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3.736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2.988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%80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/magaza/canta-2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5.390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2.211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37K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34K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/magaza/nevresim-nevresim-takimi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5.500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2.208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%40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72K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83K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/magaza/kampanya/zuccaciye-elektrikl...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Kampanya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1.602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1.407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%88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/magaza/search/Hot%20wheels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Kategori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1.780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1.184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%67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4K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/magaza/ozdilek-point-happy-aile-set...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Ürün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1.586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1.122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%71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22K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12K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/magaza/marka/hot_wheels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Marka Sayfası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1.157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931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2E7D32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%80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9K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0332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1800"/>
                    </a:p>
                  </a:txBody>
                  <a:tcPr marT="40000" marB="40000" marR="80000" marL="8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1" name="Google Shape;431;g38295bdd6e7bee02_200"/>
          <p:cNvSpPr txBox="1"/>
          <p:nvPr/>
        </p:nvSpPr>
        <p:spPr>
          <a:xfrm>
            <a:off x="1371775" y="13289120"/>
            <a:ext cx="2347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* 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Kaynak: </a:t>
            </a:r>
            <a:r>
              <a:rPr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AEM’den session’a göre top 1000</a:t>
            </a:r>
            <a:r>
              <a:rPr b="0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landing page veri seti çekilmiştir. </a:t>
            </a:r>
            <a:r>
              <a:rPr b="1" i="0" lang="en-US" sz="2100" u="none" cap="none" strike="noStrike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Tam liste ve analizler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b="1" lang="en-US" sz="21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5"/>
              </a:rPr>
              <a:t>Özdilekteyim - AEM Analiz </a:t>
            </a:r>
            <a:r>
              <a:rPr b="1" lang="en-US" sz="2100">
                <a:solidFill>
                  <a:srgbClr val="5555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1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37" name="Google Shape;437;g371296a02dd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71296a02dd_0_11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9" name="Google Shape;439;g371296a02dd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71296a02dd_0_11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1" name="Google Shape;441;g371296a02dd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71296a02dd_0_11"/>
          <p:cNvSpPr/>
          <p:nvPr/>
        </p:nvSpPr>
        <p:spPr>
          <a:xfrm>
            <a:off x="-1886350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05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71296a02dd_0_11"/>
          <p:cNvSpPr/>
          <p:nvPr/>
        </p:nvSpPr>
        <p:spPr>
          <a:xfrm>
            <a:off x="28086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AI Traffic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49" name="Google Shape;449;g3b6f7df8e8b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502875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0" name="Google Shape;450;g3b6f7df8e8b_0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810297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1" name="Google Shape;451;g3b6f7df8e8b_0_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b6f7df8e8b_0_15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b6f7df8e8b_0_151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AI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b6f7df8e8b_0_15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Referral Traffic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55" name="Google Shape;455;g3b6f7df8e8b_0_151"/>
          <p:cNvSpPr txBox="1"/>
          <p:nvPr/>
        </p:nvSpPr>
        <p:spPr>
          <a:xfrm>
            <a:off x="1552051" y="12918000"/>
            <a:ext cx="944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1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</a:t>
            </a:r>
            <a:r>
              <a:rPr b="0" i="0" lang="en-US" sz="21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Chart altındaki tablo 2025</a:t>
            </a:r>
            <a:r>
              <a:rPr b="0" i="0" lang="en-US" sz="21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lang="en-US" sz="21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2026</a:t>
            </a:r>
            <a:r>
              <a:rPr b="0" i="0" lang="en-US" sz="21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tüm yıl verilerini göstermektedir.</a:t>
            </a:r>
            <a:endParaRPr b="0" i="0" sz="21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56" name="Google Shape;456;g3b6f7df8e8b_0_151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525" y="2524673"/>
            <a:ext cx="16328122" cy="6192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57" name="Google Shape;457;g3b6f7df8e8b_0_151"/>
          <p:cNvSpPr txBox="1"/>
          <p:nvPr/>
        </p:nvSpPr>
        <p:spPr>
          <a:xfrm>
            <a:off x="17335500" y="2524675"/>
            <a:ext cx="6691200" cy="6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25 → Q1 26 </a:t>
            </a:r>
            <a:b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AI Referral Session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81 → 7.965 (98x büyüme)</a:t>
            </a:r>
            <a:b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Revenue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 → 406K TL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1" i="0" lang="en-US" sz="26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ChatGPT %99.8 </a:t>
            </a:r>
            <a:r>
              <a:rPr b="1" lang="en-US" sz="26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trafik getirisi gözüküyor</a:t>
            </a:r>
            <a:r>
              <a:rPr b="0" i="0" lang="en-US" sz="26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, AI Mode ile ön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ümüzdeki aylar değişim görülebilir.</a:t>
            </a:r>
            <a:b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26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6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lang="en-US" sz="26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</a:t>
            </a:r>
            <a:r>
              <a:rPr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trafiğinde CR %3.7</a:t>
            </a:r>
            <a:r>
              <a:rPr b="1" i="0" lang="en-US" sz="26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(organik genelinin 2.5</a:t>
            </a:r>
            <a:r>
              <a:rPr b="1" lang="en-US" sz="26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katı</a:t>
            </a:r>
            <a:r>
              <a:rPr b="1" i="0" lang="en-US" sz="26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</a:t>
            </a:r>
            <a:r>
              <a:rPr b="0" i="0" lang="en-US" sz="26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6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yani</a:t>
            </a:r>
            <a:r>
              <a:rPr b="0" i="0" lang="en-US" sz="26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kullanıcı satın alma niyeti yüksek ve engagement kalitelidir.</a:t>
            </a:r>
            <a:endParaRPr b="0" i="0" sz="4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58" name="Google Shape;458;g3b6f7df8e8b_0_1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475" y="9097875"/>
            <a:ext cx="19862223" cy="343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64" name="Google Shape;464;g38b72145b7e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5" name="Google Shape;465;g38b72145b7e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6" name="Google Shape;466;g38b72145b7e_0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8b72145b7e_0_7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8b72145b7e_0_7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AI Trafik Ölçümlemesi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8b72145b7e_0_7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Referral Traffic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</a:t>
            </a:r>
            <a:r>
              <a:rPr b="1" lang="en-US" sz="5500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2026 Q1 Top Pages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70" name="Google Shape;470;g38b72145b7e_0_70"/>
          <p:cNvGraphicFramePr/>
          <p:nvPr/>
        </p:nvGraphicFramePr>
        <p:xfrm>
          <a:off x="1240150" y="226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{840809C2-5C02-47F8-BF0D-9863E4A9D298}</a:tableStyleId>
              </a:tblPr>
              <a:tblGrid>
                <a:gridCol w="10732250"/>
                <a:gridCol w="1744500"/>
                <a:gridCol w="1935775"/>
              </a:tblGrid>
              <a:tr h="500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Landing page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Total Users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(not set)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3,888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734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15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/magaza/cart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20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/magaza/getorix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180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derece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oyun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yaris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direksiyonu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pgs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96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/magaza/ozdilek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point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happy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aile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seti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13684720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/magaza/search/çanta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/magaza/philips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aritma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cihazi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aut306362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pompali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dijital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/magaza/stanley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adventure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vakumlu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termos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yesil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litre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/magaza/merrell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fly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strike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gore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tex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erkek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ayakkabi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j067253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13701900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/magaza/tefal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ingenio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xl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intense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titanium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set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12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parca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/market/pinar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sut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protein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pro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500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ml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/magaza/dyson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supersonic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1600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w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iyonlu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sac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kurutma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makinesi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fusya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/magaza/fissler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vitavit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premium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mat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duduklu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tencere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6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l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/market/algida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spoonful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770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ml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/magaza/acton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pocket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camera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gimbal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/magaza/keen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revel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4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mid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polar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erkek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bot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1024136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11109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13784063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E6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/magaza/molfix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ultra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firsat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paketi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6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numara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3x62li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D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/magaza/ar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yildiz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parma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granit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set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7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parca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C0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/magaza/bee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house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usb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sarjli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damacana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su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pompasi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ap112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  <a:tr h="50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/magaza/emu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australia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blurred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kadin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bot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w12641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p</a:t>
                      </a:r>
                      <a:r>
                        <a:rPr lang="en-US" sz="2400"/>
                        <a:t>-</a:t>
                      </a:r>
                      <a:r>
                        <a:rPr lang="en-US" sz="2400"/>
                        <a:t>13784172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</a:tcPr>
                </a:tc>
              </a:tr>
            </a:tbl>
          </a:graphicData>
        </a:graphic>
      </p:graphicFrame>
      <p:sp>
        <p:nvSpPr>
          <p:cNvPr id="471" name="Google Shape;471;g38b72145b7e_0_70"/>
          <p:cNvSpPr txBox="1"/>
          <p:nvPr/>
        </p:nvSpPr>
        <p:spPr>
          <a:xfrm>
            <a:off x="16121075" y="2263000"/>
            <a:ext cx="7653300" cy="113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3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(not set) %49</a:t>
            </a: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'lik tracking gap'i Q2 önceliği olarak değerlendirilebilir. </a:t>
            </a:r>
            <a:endParaRPr b="0" i="0" sz="3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1" sz="3400">
              <a:solidFill>
                <a:srgbClr val="F4845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3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AI ajanları kategori jenerik sayfaları yerine </a:t>
            </a:r>
            <a:r>
              <a:rPr b="1" i="0" lang="en-US" sz="3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güçlü brand ürün sayfalarını</a:t>
            </a: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tercih etmektedir (Philips, Stanley, Tefal, Dyson, Fissler, Merrell, Pınar, Algida, Bee House, Molfix vb.)  </a:t>
            </a:r>
            <a:endParaRPr b="0" i="0" sz="3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sz="34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4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/magaza/cart &amp; </a:t>
            </a:r>
            <a:r>
              <a:rPr lang="en-US" sz="3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magaza/search</a:t>
            </a:r>
            <a:r>
              <a:rPr b="0" i="0" lang="en-US" sz="3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AI ajanlarının doğrudan sepet </a:t>
            </a:r>
            <a:r>
              <a:rPr lang="en-US" sz="3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bağlantısı paylaştığını, ya da  searchte arama yapabildiğini göstermektedir.</a:t>
            </a:r>
            <a:endParaRPr b="0" i="0" sz="3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77" name="Google Shape;477;g3712d3a4de1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712d3a4de1_0_109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9" name="Google Shape;479;g3712d3a4de1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712d3a4de1_0_109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1" name="Google Shape;481;g3712d3a4de1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712d3a4de1_0_109"/>
          <p:cNvSpPr/>
          <p:nvPr/>
        </p:nvSpPr>
        <p:spPr>
          <a:xfrm>
            <a:off x="-16267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06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712d3a4de1_0_109"/>
          <p:cNvSpPr/>
          <p:nvPr/>
        </p:nvSpPr>
        <p:spPr>
          <a:xfrm>
            <a:off x="49071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Sıralama &amp; Görünürlük &amp; En’ler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l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89" name="Google Shape;489;g3b6f7df8e8b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0" name="Google Shape;490;g3b6f7df8e8b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1" name="Google Shape;491;g3b6f7df8e8b_0_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b6f7df8e8b_0_184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b6f7df8e8b_0_184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Görünürlük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b6f7df8e8b_0_184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Görünürlük 2026 Q1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95" name="Google Shape;495;g3b6f7df8e8b_0_184"/>
          <p:cNvSpPr txBox="1"/>
          <p:nvPr/>
        </p:nvSpPr>
        <p:spPr>
          <a:xfrm>
            <a:off x="12365650" y="8382000"/>
            <a:ext cx="10843200" cy="4168200"/>
          </a:xfrm>
          <a:prstGeom prst="rect">
            <a:avLst/>
          </a:prstGeom>
          <a:noFill/>
          <a:ln cap="flat" cmpd="sng" w="38100">
            <a:solidFill>
              <a:srgbClr val="F5A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Visibility %’leri Nasıl Hesaplanır?</a:t>
            </a:r>
            <a:endParaRPr b="1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Formül:</a:t>
            </a:r>
            <a:endParaRPr b="1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	•	Visibility = sum( Impressions) / sum(AverageSearchVolume )</a:t>
            </a:r>
            <a:endParaRPr b="0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	•	Impressions = impression_rate(rank) × SearchVolume</a:t>
            </a:r>
            <a:endParaRPr b="0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Impression_rate(rank) sıralamaya göre değişen görünürlük katsayısıdır: 1. sıra ≈ %100, 20 ve sonrası ≈ %0 (aradaki sıralarda kademeli azalır).</a:t>
            </a:r>
            <a:endParaRPr b="0" i="0" sz="25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96" name="Google Shape;496;g3b6f7df8e8b_0_1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0138" y="2458550"/>
            <a:ext cx="3867150" cy="950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7" name="Google Shape;497;g3b6f7df8e8b_0_1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9988" y="2458550"/>
            <a:ext cx="2819400" cy="9505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8" name="Google Shape;498;g3b6f7df8e8b_0_1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29403" y="2458550"/>
            <a:ext cx="2819400" cy="950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99" name="Google Shape;499;g3b6f7df8e8b_0_184"/>
          <p:cNvSpPr/>
          <p:nvPr/>
        </p:nvSpPr>
        <p:spPr>
          <a:xfrm>
            <a:off x="1753000" y="2463675"/>
            <a:ext cx="9295800" cy="101610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b6f7df8e8b_0_184"/>
          <p:cNvSpPr txBox="1"/>
          <p:nvPr/>
        </p:nvSpPr>
        <p:spPr>
          <a:xfrm>
            <a:off x="11763375" y="2262977"/>
            <a:ext cx="11933700" cy="47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3200" u="none" cap="none" strike="noStrike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26'da </a:t>
            </a:r>
            <a:r>
              <a:rPr b="1" i="0" lang="en-US" sz="3200" u="none" cap="none" strike="noStrike">
                <a:solidFill>
                  <a:srgbClr val="D32F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9 rakipten 9'u da görünürlük kaybı yaşamıştır.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32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(Trendyol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%21, Hepsiburada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%15, Boyner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%8.3 vb.); buna karşın </a:t>
            </a:r>
            <a:r>
              <a:rPr b="1" i="0" lang="en-US" sz="3200" u="none" cap="none" strike="noStrike">
                <a:solidFill>
                  <a:srgbClr val="2E7D3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Özdilekteyim mobile +%0.3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seyrederek sektörden </a:t>
            </a:r>
            <a:r>
              <a:rPr lang="en-US" sz="3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ayrışmaktadır.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3200">
                <a:solidFill>
                  <a:srgbClr val="F4845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➔ </a:t>
            </a:r>
            <a:r>
              <a:rPr b="0" i="0" lang="en-US" sz="3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Q1 dönemindeki Google algoritma değişikliklerine karşı dirençli bir yapı sergilenmektedir.</a:t>
            </a:r>
            <a:endParaRPr b="0" i="0" sz="3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1" name="Google Shape;501;g3b6f7df8e8b_0_184"/>
          <p:cNvSpPr txBox="1"/>
          <p:nvPr/>
        </p:nvSpPr>
        <p:spPr>
          <a:xfrm>
            <a:off x="1600925" y="12918000"/>
            <a:ext cx="2252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Sıralamalar ve görünürlük değişimleri SEOMonitor’e 9.4K kelime içeren yeni listenin eklendiği </a:t>
            </a:r>
            <a: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2026 </a:t>
            </a:r>
            <a: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Mart 2026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tarihine kadar olan kısmı kapsar.</a:t>
            </a:r>
            <a:endParaRPr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07" name="Google Shape;507;g38295bdd6e7bee0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8" name="Google Shape;508;g38295bdd6e7bee0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9" name="Google Shape;509;g38295bdd6e7bee0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8295bdd6e7bee02_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8295bdd6e7bee02_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Görünürlük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8295bdd6e7bee02_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2026 Q1 Görünürlüğü Artan Kategoriler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13" name="Google Shape;513;g38295bdd6e7bee02_0"/>
          <p:cNvSpPr txBox="1"/>
          <p:nvPr/>
        </p:nvSpPr>
        <p:spPr>
          <a:xfrm>
            <a:off x="21240375" y="12894900"/>
            <a:ext cx="307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Tüm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g38295bdd6e7bee02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6450" y="3465963"/>
            <a:ext cx="5164559" cy="917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id="515" name="Google Shape;515;g38295bdd6e7bee02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7725" y="3465975"/>
            <a:ext cx="5164550" cy="917778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sp>
        <p:nvSpPr>
          <p:cNvPr id="516" name="Google Shape;516;g38295bdd6e7bee02_0"/>
          <p:cNvSpPr txBox="1"/>
          <p:nvPr/>
        </p:nvSpPr>
        <p:spPr>
          <a:xfrm>
            <a:off x="1600925" y="12918000"/>
            <a:ext cx="1941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***Sı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ralamalar ve görünürlük değişimleri SEOMonitor’e 9.4K kelime içeren yeni listenin eklendiği </a:t>
            </a:r>
            <a:r>
              <a:rPr b="1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2026 - Mart 2026 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tarihine kadar olan kısmı kapsar.</a:t>
            </a:r>
            <a:endParaRPr b="0" i="0" sz="2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g38295bdd6e7bee02_0"/>
          <p:cNvSpPr txBox="1"/>
          <p:nvPr/>
        </p:nvSpPr>
        <p:spPr>
          <a:xfrm>
            <a:off x="12252960" y="3200400"/>
            <a:ext cx="1170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güçlü kazanım </a:t>
            </a: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ev tekstili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kategorilerinde gözlenmektedir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b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8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Setler (+%20), Yatak Odası Tekstili (+%11), Banyo Tekstili (+%1.6)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Çocuk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kategorilerinde ise;  </a:t>
            </a:r>
            <a:r>
              <a:rPr b="1" i="0" lang="en-US" sz="28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Çocuk Aksesuar (+%6.3), Çocuk Ayakkabı (+%4.4), Erkek Çocuk Giyim (+%1.4), Kız Çocuk Ayakkabı (+%1.4)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kategori ağacı genişletme çalışmalarının getirisi olarak okunabilir.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i="0" lang="en-US" sz="28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Backlink kategorisi (+%5.3)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Q1 backlink stratejisinin görünürlüğe yansımaya başladığı sinyali olarak değerlendirilebilir.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lang="en-US" sz="28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Gelişme gösterenler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Kadın Aksesuar (+%3.9), Erkek Spor Ayakkabıları (+%2.4), Spor Ayakkabıları (+%1.8).</a:t>
            </a:r>
            <a:endParaRPr b="0" i="0" sz="2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22" name="Google Shape;522;g38295bdd6e7bee0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3" name="Google Shape;523;g38295bdd6e7bee0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4" name="Google Shape;524;g38295bdd6e7bee02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8295bdd6e7bee02_1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8295bdd6e7bee02_15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Görünürlük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8295bdd6e7bee02_1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2026 Q1 Görünürlüğü Azalan Kategoriler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28" name="Google Shape;528;g38295bdd6e7bee02_15"/>
          <p:cNvSpPr txBox="1"/>
          <p:nvPr/>
        </p:nvSpPr>
        <p:spPr>
          <a:xfrm>
            <a:off x="19968250" y="11980825"/>
            <a:ext cx="307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Tüm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g38295bdd6e7bee02_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759" y="3465975"/>
            <a:ext cx="4887075" cy="9177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id="530" name="Google Shape;530;g38295bdd6e7bee02_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6812" y="4797763"/>
            <a:ext cx="5619750" cy="434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sp>
        <p:nvSpPr>
          <p:cNvPr id="531" name="Google Shape;531;g38295bdd6e7bee02_15"/>
          <p:cNvSpPr txBox="1"/>
          <p:nvPr/>
        </p:nvSpPr>
        <p:spPr>
          <a:xfrm>
            <a:off x="1600925" y="12918000"/>
            <a:ext cx="2252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Sıralamalar ve görünürlük değişimleri SEOMonitor’e 9.4K kelime içeren yeni listenin eklendiği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2026 - Mart 2026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tarihine kadar olan kısmı kapsar.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2" name="Google Shape;532;g38295bdd6e7bee02_15"/>
          <p:cNvSpPr txBox="1"/>
          <p:nvPr/>
        </p:nvSpPr>
        <p:spPr>
          <a:xfrm>
            <a:off x="12252950" y="3200400"/>
            <a:ext cx="11704200" cy="8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En sert düşüşler </a:t>
            </a: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dönemsel/sezon dışı kategorilerde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gözlenmektedir;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8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Bahçe ve Kamp Ürünleri (-%6.9), Bisikletler (-%3.9)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Q1 sezonsallığı ile uyumlu, kalıcı bir kayıp olarak okunmamaktadır.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Kırtasiye (-%4.9)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Q1'de okul döneminin dışında olunmasıyla mevsimsel</a:t>
            </a:r>
            <a:r>
              <a:rPr lang="en-US" sz="28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bir talep düşüşüne bağlı görünürlük düşüşü olarak 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değerlendirilebilir.</a:t>
            </a:r>
            <a:endParaRPr b="0" i="0" sz="28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8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8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Kozmetik (-%0.8) ve Mutfak Tekstili (-%0.3)</a:t>
            </a:r>
            <a:r>
              <a:rPr b="0" i="0" lang="en-US" sz="28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gibi düşüşler dar bantta seyretmekte; rakip görünürlük kayıplarına paralel pazar daralması ile ilişkilendirilebilir.</a:t>
            </a:r>
            <a:endParaRPr b="0" i="0" sz="2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38" name="Google Shape;538;g38295bdd6e7bee0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9" name="Google Shape;539;g38295bdd6e7bee02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0" name="Google Shape;540;g38295bdd6e7bee02_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8295bdd6e7bee02_3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8295bdd6e7bee02_31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Görünürlük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8295bdd6e7bee02_3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2026 Q1 Sıralama Artışı Yaşayan Top Kelimeler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44" name="Google Shape;544;g38295bdd6e7bee02_31"/>
          <p:cNvSpPr txBox="1"/>
          <p:nvPr/>
        </p:nvSpPr>
        <p:spPr>
          <a:xfrm>
            <a:off x="1600925" y="12918000"/>
            <a:ext cx="2252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Sıralamalar ve görünürlük değişimleri SEOMonitor’e 9.4K kelime içeren yeni listenin eklendiği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Ocak 2026 - Mart 2026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tarihine kadar olan kısmı kapsar.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5" name="Google Shape;545;g38295bdd6e7bee02_31"/>
          <p:cNvSpPr txBox="1"/>
          <p:nvPr/>
        </p:nvSpPr>
        <p:spPr>
          <a:xfrm>
            <a:off x="19968250" y="11980825"/>
            <a:ext cx="3079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Tüm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g38295bdd6e7bee02_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96092" y="2159263"/>
            <a:ext cx="2474631" cy="1065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8295bdd6e7bee02_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0730" y="2159263"/>
            <a:ext cx="3105110" cy="1065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8295bdd6e7bee02_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91578" y="2110501"/>
            <a:ext cx="3105110" cy="1065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8295bdd6e7bee02_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84916" y="2110501"/>
            <a:ext cx="2206677" cy="10655098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8295bdd6e7bee02_31"/>
          <p:cNvSpPr txBox="1"/>
          <p:nvPr/>
        </p:nvSpPr>
        <p:spPr>
          <a:xfrm>
            <a:off x="15413700" y="2286000"/>
            <a:ext cx="8817900" cy="9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lang="en-US" sz="22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10+</a:t>
            </a:r>
            <a:r>
              <a:rPr b="1" i="0" lang="en-US" sz="2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 rank </a:t>
            </a:r>
            <a:r>
              <a:rPr b="1" lang="en-US" sz="22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artışları;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E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v tekstili &amp; 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arka çantalarında yoğunlaşıyor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Marka + kategori sayfa açma stratejisinin yüksek hacimli kelimelerde </a:t>
            </a:r>
            <a:r>
              <a:rPr b="1" lang="en-US" sz="22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ilk sayfaya hızla taşıdığı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görülmektedir. </a:t>
            </a:r>
            <a:b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</a:t>
            </a: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pierre cardin çanta (+94), </a:t>
            </a:r>
            <a:b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polo çanta (+91), </a:t>
            </a:r>
            <a:b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michael kors çanta (+88)</a:t>
            </a:r>
            <a:b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</a:t>
            </a: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çamaşır sepeti (+87) </a:t>
            </a:r>
            <a:b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diş macunu (+86)</a:t>
            </a:r>
            <a:b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</a:t>
            </a: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kız çocuk bot (+84), </a:t>
            </a:r>
            <a:b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erkek eşofman takımı (+83) </a:t>
            </a:r>
            <a:endParaRPr i="0" sz="22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lang="en-US" sz="22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En yüksek hacimli 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 1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0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içerisine girilen kelimelerde: </a:t>
            </a:r>
            <a:b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tıraş makinesi (90.5K)</a:t>
            </a:r>
            <a:b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oto lastik (49.5K)</a:t>
            </a:r>
            <a:b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- </a:t>
            </a:r>
            <a:r>
              <a:rPr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guess çanta (110K)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 dönüşüme katkı potansiyeli yüksek kelimelerdir.</a:t>
            </a:r>
            <a:b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1" i="0" lang="en-US" sz="22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1. sıraya yerleşilen kelimeler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arasında </a:t>
            </a:r>
            <a:r>
              <a:rPr b="1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tek kişilik nevresim takımı (22.2K hacim)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öne çıkmakta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dır.</a:t>
            </a:r>
            <a:endParaRPr sz="22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➔ 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Genel pazarda kelime hacminde </a:t>
            </a:r>
            <a:r>
              <a:rPr b="1" i="0" lang="en-US" sz="22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YoY -%18 daralma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yaşanırken </a:t>
            </a:r>
            <a:r>
              <a:rPr b="1" i="0" lang="en-US" sz="22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rank kazanımlarının sürmesi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Özdilekteyim'in görünürlü</a:t>
            </a:r>
            <a:r>
              <a:rPr lang="en-US" sz="22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ğünün </a:t>
            </a:r>
            <a:r>
              <a:rPr b="0" i="0" lang="en-US" sz="22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arttığına işaret etmektedir.</a:t>
            </a:r>
            <a:endParaRPr b="0" i="0" sz="1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56" name="Google Shape;556;g38295bdd6e7bee02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8295bdd6e7bee02_5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8295bdd6e7bee02_50"/>
          <p:cNvSpPr txBox="1"/>
          <p:nvPr/>
        </p:nvSpPr>
        <p:spPr>
          <a:xfrm>
            <a:off x="13867450" y="2877325"/>
            <a:ext cx="10159200" cy="10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Click Bazında En Çok Artan Sayfalar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/magaza/aile-seti-kategori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+%346 (+7.181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/magaza/benetton-kadin-canta-cp2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+4.780 click (yeni)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/magaza/tek-kisilik-nevresim-takimi-cp2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+4.439 click (yeni)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/magaza/paspas-klozet-takimi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+%239 (+4.032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/magaza/ceyiz-setleri3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+2.981 click (yeni)</a:t>
            </a:r>
            <a:endParaRPr b="1" i="0" sz="2300" u="none" cap="none" strike="noStrike">
              <a:solidFill>
                <a:srgbClr val="2E7D3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2300">
              <a:solidFill>
                <a:srgbClr val="2E7D3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Click Bazında En Çok Azalan Sayfalar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  (Ana Sayfa)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-%16 (-23.872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/magaza/nevresim-nevresim-takimi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-%19 (-3.698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-%59 (-2.594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/magaza/pijama-takimi-3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-%45 (-1.184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/market  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3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-%13 (-1.165 click)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400">
              <a:solidFill>
                <a:srgbClr val="F4845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3845E"/>
              </a:buClr>
              <a:buSzPts val="2300"/>
              <a:buFont typeface="Outfit"/>
              <a:buChar char="➔"/>
            </a:pPr>
            <a: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‘26</a:t>
            </a: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Q1 click artışının büyük kısmı </a:t>
            </a:r>
            <a:r>
              <a:rPr b="1" i="0" lang="en-US" sz="23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yeni açılan / yeniden konumlanan kategori ve marka sayfalarından</a:t>
            </a: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gelmektedir. 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845E"/>
              </a:buClr>
              <a:buSzPts val="2300"/>
              <a:buFont typeface="Outfit"/>
              <a:buChar char="➔"/>
            </a:pPr>
            <a:r>
              <a:rPr b="1"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</a:t>
            </a:r>
            <a:r>
              <a:rPr b="1"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rand terimlerden</a:t>
            </a:r>
            <a: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gelen impressionların düşmediği, fakat </a:t>
            </a:r>
            <a:r>
              <a:rPr b="1"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brand clicklerin düştüğü</a:t>
            </a:r>
            <a: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ne bakılırsa; </a:t>
            </a:r>
            <a: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Brand taraftaki paid performans’ın iyi gittiği gözlenmektedir. Bu durum organik tarafta a</a:t>
            </a: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na sayfa ve </a:t>
            </a:r>
            <a:r>
              <a:rPr lang="en-US" sz="23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brand kelimelerinden gelen trafiği etkilemektedir. </a:t>
            </a:r>
            <a:endParaRPr sz="23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9" name="Google Shape;559;g38295bdd6e7bee02_50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Landing Page Trafik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8295bdd6e7bee02_5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GSC - En Çok Click Alan Sayfalar  - 2026 Q1 vs 2025 Q1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61" name="Google Shape;561;g38295bdd6e7bee02_50"/>
          <p:cNvSpPr txBox="1"/>
          <p:nvPr/>
        </p:nvSpPr>
        <p:spPr>
          <a:xfrm>
            <a:off x="18757775" y="12747325"/>
            <a:ext cx="5062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Tam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g38295bdd6e7bee02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50" y="2476851"/>
            <a:ext cx="13213902" cy="100820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descr=" " id="563" name="Google Shape;563;g38295bdd6e7bee02_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69" name="Google Shape;569;g38295bdd6e7bee02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8295bdd6e7bee02_6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8295bdd6e7bee02_61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Landing Page Trafik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8295bdd6e7bee02_6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GSC - En Çok Click Artışı Görülen Sayfalar  - 2026 Q1 vs 2025 Q1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73" name="Google Shape;573;g38295bdd6e7bee02_61"/>
          <p:cNvSpPr txBox="1"/>
          <p:nvPr/>
        </p:nvSpPr>
        <p:spPr>
          <a:xfrm>
            <a:off x="13822825" y="2153150"/>
            <a:ext cx="10203600" cy="10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Yeni Marka + Kategori Sayfaları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benetton-kadin-canta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(+4.780)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+%346 (+7.181 click)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marka/sisley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(+2.666)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marka/hot_wheels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(+2.253)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Ev Tekstili Kategori Sayfaları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aile-seti-kategori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(+7.181)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paspas-klozet-takimi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(+4.032)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tek-kisilik-nevresim-takimi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(+4.439)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yatak-ortusu </a:t>
            </a:r>
            <a:r>
              <a:rPr b="1" lang="en-US" sz="25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(+1.515)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Sadece yukarıdaki 4 kategoriden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+1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7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.000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click katkısı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Q1'in en güçlü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büyüyen çatı kategorisi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➔"/>
            </a:pPr>
            <a:r>
              <a:rPr b="1" lang="en-US" sz="26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Marka + Kategori Sayfaları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Marka + kategori sayfalarının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verimliliği en çok click artışı yaşanan sayfalarla daha net gözlenmiştir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 Bu yapı diğer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güçlü markalara da ölçeklenebilir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4" name="Google Shape;574;g38295bdd6e7bee02_61"/>
          <p:cNvSpPr txBox="1"/>
          <p:nvPr/>
        </p:nvSpPr>
        <p:spPr>
          <a:xfrm>
            <a:off x="13694375" y="13131875"/>
            <a:ext cx="5062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Tam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g38295bdd6e7bee02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2392800"/>
            <a:ext cx="12935252" cy="847574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descr=" " id="576" name="Google Shape;576;g38295bdd6e7bee02_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82" name="Google Shape;582;g38295bdd6e7bee02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g38295bdd6e7bee02_7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8295bdd6e7bee02_72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Landing Page Trafik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8295bdd6e7bee02_7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GSC - En Çok Click Alan Brand Query’ler  - 2026 Q1 vs 2025 Q1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86" name="Google Shape;586;g38295bdd6e7bee02_72"/>
          <p:cNvSpPr txBox="1"/>
          <p:nvPr/>
        </p:nvSpPr>
        <p:spPr>
          <a:xfrm>
            <a:off x="13694375" y="2305550"/>
            <a:ext cx="10433700" cy="10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sz="2600">
              <a:solidFill>
                <a:srgbClr val="F4845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İki Yönlü Brand Sorgular Dinamiği</a:t>
            </a:r>
            <a:br>
              <a:rPr b="1" i="0" lang="en-US" sz="26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2600"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◆"/>
            </a:pPr>
            <a:r>
              <a:rPr b="1" i="0" lang="en-US" sz="2400" u="none" cap="none" strike="noStrike">
                <a:solidFill>
                  <a:srgbClr val="D32F2F"/>
                </a:solidFill>
                <a:latin typeface="Outfit"/>
                <a:ea typeface="Outfit"/>
                <a:cs typeface="Outfit"/>
                <a:sym typeface="Outfit"/>
              </a:rPr>
              <a:t>Kısa brand sorgularında düşüş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b="1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özdilek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(-%16), </a:t>
            </a:r>
            <a:r>
              <a:rPr b="1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özdilekteyim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(-%24), ozdilek (-%44), ozdilekteyim (-%64).</a:t>
            </a:r>
            <a:b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2400"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◆"/>
            </a:pPr>
            <a:r>
              <a:rPr b="1" i="0" lang="en-US" sz="24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B) Uzun-kuyruk brand+ürün sorgularında artış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özdilek avm (+%622), </a:t>
            </a:r>
            <a:r>
              <a:rPr b="1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özdilek bornoz takımı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(+%72), </a:t>
            </a:r>
            <a:r>
              <a:rPr b="1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özdilek tek kişilik nevresim takımı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(+%155), özdilek banyo paspası (+%109).</a:t>
            </a:r>
            <a:endParaRPr b="0" i="0" sz="2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24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Paid  ↔  Organic Yer Değişimi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Bu yapı, </a:t>
            </a:r>
            <a:r>
              <a:rPr b="1" i="0" lang="en-US" sz="24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Paid Search'ün kısa brand sorgularını absorbe etmesi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ve organic'in </a:t>
            </a:r>
            <a:r>
              <a:rPr b="1" i="0" lang="en-US" sz="24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brand + intent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sorgularına evrilmesi olarak yorumlanabilir </a:t>
            </a:r>
            <a:endParaRPr b="0" i="0" sz="2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(GA4 Paid Search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+%30 session, +%68 revenue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ithafen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 b="0" i="0" sz="24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24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Q1 En Dikkat Çekici Brand Kazanımı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24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Özdilek + AVM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sorgusunda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+4.936 click sıçraması (+%622)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; pozisyon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8.2 → 4.5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iyileşmesiyle ilişkilidir.</a:t>
            </a:r>
            <a:endParaRPr b="0" i="0" sz="2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Yeni öne çıkanlar: </a:t>
            </a:r>
            <a:r>
              <a:rPr b="1" i="0" lang="en-US" sz="24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özdilek izmir (+%335), özdilek mağazalar (+%155)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fiziksel mağaza arama niyetinin</a:t>
            </a:r>
            <a:r>
              <a:rPr lang="en-US" sz="24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artığı gözlenmektedir</a:t>
            </a:r>
            <a:r>
              <a:rPr b="0" i="0" lang="en-US" sz="24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7" name="Google Shape;587;g38295bdd6e7bee02_72"/>
          <p:cNvSpPr txBox="1"/>
          <p:nvPr/>
        </p:nvSpPr>
        <p:spPr>
          <a:xfrm>
            <a:off x="13694375" y="13131875"/>
            <a:ext cx="5062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Tam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g38295bdd6e7bee02_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50" y="2392800"/>
            <a:ext cx="12935249" cy="98157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descr=" " id="589" name="Google Shape;589;g38295bdd6e7bee02_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95" name="Google Shape;595;g38295bdd6e7bee02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g38295bdd6e7bee02_83"/>
          <p:cNvSpPr txBox="1"/>
          <p:nvPr/>
        </p:nvSpPr>
        <p:spPr>
          <a:xfrm>
            <a:off x="13523725" y="2305550"/>
            <a:ext cx="10703700" cy="10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700"/>
              <a:buFont typeface="Outfit"/>
              <a:buChar char="➔"/>
            </a:pPr>
            <a:r>
              <a:rPr b="1" i="0" lang="en-US" sz="27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Click Bazında En Çok </a:t>
            </a:r>
            <a:r>
              <a:rPr b="1" lang="en-US" sz="2700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Artış Gösterenler</a:t>
            </a:r>
            <a:endParaRPr sz="2500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banyo paspası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+1.869 click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bornoz takımı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+1.849 (+%1503)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sisley çanta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+1.377 (+%629)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bornoz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+1.272 (+%695)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kabin boy valiz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+874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banyo paspas takımı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+842 (+%6014)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yatak örtüsü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+786 (+%3743)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tek kişilik nevresim takımı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+783 (+%6023)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hot wheels   </a:t>
            </a:r>
            <a:r>
              <a:rPr b="1" i="0" lang="en-US" sz="2500" u="none" cap="none" strike="noStrike">
                <a:solidFill>
                  <a:srgbClr val="F4845F"/>
                </a:solidFill>
                <a:latin typeface="Outfit"/>
                <a:ea typeface="Outfit"/>
                <a:cs typeface="Outfit"/>
                <a:sym typeface="Outfit"/>
              </a:rPr>
              <a:t>⇒ 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+641 click</a:t>
            </a:r>
            <a:b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Non-Brand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querylerde toplam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46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click büyümesi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92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 →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134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K)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ve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+%</a:t>
            </a:r>
            <a:r>
              <a:rPr b="1"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42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impression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(5.45M → 7.78M)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büyümesi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gözlenmektedir.</a:t>
            </a:r>
            <a:b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2400"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0 click'ten kazanılan kelimeler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(banyo paspası, kabin boy valiz, hot wheels, çeyiz seti, calvin klein çanta, inci ayakkabı, robin, pınar protein pro+) </a:t>
            </a:r>
            <a:r>
              <a:rPr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yeni sayfa açılışlarının </a:t>
            </a:r>
            <a: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trafiğe doğrusal etkisi gözlenmektedir</a:t>
            </a: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b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2400"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6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Pozisyon kazanımı eşliğinde trafik artışı: </a:t>
            </a:r>
            <a:br>
              <a:rPr b="1" lang="en-US" sz="2500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5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bornoz takımı</a:t>
            </a:r>
            <a:r>
              <a:rPr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(rank 11→5.6), bornoz (10.8→5.5), </a:t>
            </a:r>
            <a:b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5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banyo paspas</a:t>
            </a:r>
            <a:r>
              <a:rPr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takımı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(20.6→5.6)</a:t>
            </a:r>
            <a:br>
              <a:rPr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5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yatak örtüsü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 (33→7.4)</a:t>
            </a:r>
            <a:br>
              <a:rPr lang="en-US" sz="2500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i="0" lang="en-US" sz="2500" u="none" cap="none" strike="noStrike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tek kişilik nevresim takımı </a:t>
            </a:r>
            <a:r>
              <a:rPr b="1" i="0" lang="en-US" sz="2500" u="none" cap="none" strike="noStrik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(53→8.5)</a:t>
            </a:r>
            <a:endParaRPr b="1" i="0" sz="2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7" name="Google Shape;597;g38295bdd6e7bee02_8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8295bdd6e7bee02_83"/>
          <p:cNvSpPr/>
          <p:nvPr/>
        </p:nvSpPr>
        <p:spPr>
          <a:xfrm>
            <a:off x="406449" y="406400"/>
            <a:ext cx="881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Özdilekteyim | Landing Page Trafik Değişimi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8295bdd6e7bee02_8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GSC - En Çok Click Alan Non-Brand Queryler  - 2026 Q1 vs 2025 Q1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00" name="Google Shape;600;g38295bdd6e7bee02_83"/>
          <p:cNvSpPr txBox="1"/>
          <p:nvPr/>
        </p:nvSpPr>
        <p:spPr>
          <a:xfrm>
            <a:off x="13694375" y="13131875"/>
            <a:ext cx="5062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Tam liste link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g38295bdd6e7bee02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50" y="2392800"/>
            <a:ext cx="12750202" cy="9764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descr=" " id="602" name="Google Shape;602;g38295bdd6e7bee02_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94" y="12550222"/>
            <a:ext cx="702048" cy="73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08" name="Google Shape;6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9003" y="0"/>
            <a:ext cx="9958045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09" name="Google Shape;60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08462" y="0"/>
            <a:ext cx="727858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4"/>
          <p:cNvSpPr/>
          <p:nvPr/>
        </p:nvSpPr>
        <p:spPr>
          <a:xfrm>
            <a:off x="7862283" y="5676900"/>
            <a:ext cx="8675184" cy="30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11" name="Google Shape;61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5676900"/>
            <a:ext cx="812902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4"/>
          <p:cNvSpPr/>
          <p:nvPr/>
        </p:nvSpPr>
        <p:spPr>
          <a:xfrm>
            <a:off x="7659057" y="6210300"/>
            <a:ext cx="9081635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Bricolage Grotesque SemiBold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Teşekkürler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613" name="Google Shape;61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8750300"/>
            <a:ext cx="812902" cy="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2025-01-28T13:27:20Z</dcterms:created>
  <dc:creator>PptxGenJS</dc:creator>
</cp:coreProperties>
</file>