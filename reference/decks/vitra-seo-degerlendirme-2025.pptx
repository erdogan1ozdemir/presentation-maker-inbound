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13716000" cx="24387175"/>
  <p:notesSz cx="13716000" cy="24387175"/>
  <p:embeddedFontLst>
    <p:embeddedFont>
      <p:font typeface="Ubuntu"/>
      <p:regular r:id="rId66"/>
      <p:bold r:id="rId67"/>
      <p:italic r:id="rId68"/>
      <p:boldItalic r:id="rId69"/>
    </p:embeddedFont>
    <p:embeddedFont>
      <p:font typeface="Bricolage Grotesque SemiBold"/>
      <p:regular r:id="rId70"/>
      <p:bold r:id="rId71"/>
    </p:embeddedFont>
    <p:embeddedFont>
      <p:font typeface="Outfit Light"/>
      <p:regular r:id="rId72"/>
      <p:bold r:id="rId73"/>
    </p:embeddedFont>
    <p:embeddedFont>
      <p:font typeface="Outfit"/>
      <p:regular r:id="rId74"/>
      <p:bold r:id="rId75"/>
    </p:embeddedFont>
    <p:embeddedFont>
      <p:font typeface="Bricolage Grotesque ExtraBold"/>
      <p:bold r:id="rId76"/>
    </p:embeddedFont>
    <p:embeddedFont>
      <p:font typeface="Outfit SemiBold"/>
      <p:regular r:id="rId77"/>
      <p:bold r:id="rId78"/>
    </p:embeddedFont>
    <p:embeddedFont>
      <p:font typeface="Bricolage Grotesque"/>
      <p:regular r:id="rId79"/>
      <p:bold r:id="rId80"/>
    </p:embeddedFont>
    <p:embeddedFont>
      <p:font typeface="Inter Medium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5" roundtripDataSignature="AMtx7mjWebNlSgFXcNaku7r7VjAkVPyt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DDE367-2ECE-465A-87B5-53738C60F581}">
  <a:tblStyle styleId="{E8DDE367-2ECE-465A-87B5-53738C60F58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InterMedium-boldItalic.fntdata"/><Relationship Id="rId83" Type="http://schemas.openxmlformats.org/officeDocument/2006/relationships/font" Target="fonts/InterMedium-italic.fnt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85" Type="http://customschemas.google.com/relationships/presentationmetadata" Target="meta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BricolageGrotesque-bold.fntdata"/><Relationship Id="rId82" Type="http://schemas.openxmlformats.org/officeDocument/2006/relationships/font" Target="fonts/InterMedium-bold.fntdata"/><Relationship Id="rId81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OutfitLight-bold.fntdata"/><Relationship Id="rId72" Type="http://schemas.openxmlformats.org/officeDocument/2006/relationships/font" Target="fonts/OutfitLight-regular.fntdata"/><Relationship Id="rId31" Type="http://schemas.openxmlformats.org/officeDocument/2006/relationships/slide" Target="slides/slide26.xml"/><Relationship Id="rId75" Type="http://schemas.openxmlformats.org/officeDocument/2006/relationships/font" Target="fonts/Outfit-bold.fntdata"/><Relationship Id="rId30" Type="http://schemas.openxmlformats.org/officeDocument/2006/relationships/slide" Target="slides/slide25.xml"/><Relationship Id="rId74" Type="http://schemas.openxmlformats.org/officeDocument/2006/relationships/font" Target="fonts/Outfit-regular.fntdata"/><Relationship Id="rId33" Type="http://schemas.openxmlformats.org/officeDocument/2006/relationships/slide" Target="slides/slide28.xml"/><Relationship Id="rId77" Type="http://schemas.openxmlformats.org/officeDocument/2006/relationships/font" Target="fonts/OutfitSemiBold-regular.fntdata"/><Relationship Id="rId32" Type="http://schemas.openxmlformats.org/officeDocument/2006/relationships/slide" Target="slides/slide27.xml"/><Relationship Id="rId76" Type="http://schemas.openxmlformats.org/officeDocument/2006/relationships/font" Target="fonts/BricolageGrotesqueExtraBold-bold.fntdata"/><Relationship Id="rId35" Type="http://schemas.openxmlformats.org/officeDocument/2006/relationships/slide" Target="slides/slide30.xml"/><Relationship Id="rId79" Type="http://schemas.openxmlformats.org/officeDocument/2006/relationships/font" Target="fonts/BricolageGrotesque-regular.fntdata"/><Relationship Id="rId34" Type="http://schemas.openxmlformats.org/officeDocument/2006/relationships/slide" Target="slides/slide29.xml"/><Relationship Id="rId78" Type="http://schemas.openxmlformats.org/officeDocument/2006/relationships/font" Target="fonts/OutfitSemiBold-bold.fntdata"/><Relationship Id="rId71" Type="http://schemas.openxmlformats.org/officeDocument/2006/relationships/font" Target="fonts/BricolageGrotesqueSemiBold-bold.fntdata"/><Relationship Id="rId70" Type="http://schemas.openxmlformats.org/officeDocument/2006/relationships/font" Target="fonts/BricolageGrotesqueSemiBold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Ubuntu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Ubuntu-italic.fntdata"/><Relationship Id="rId23" Type="http://schemas.openxmlformats.org/officeDocument/2006/relationships/slide" Target="slides/slide18.xml"/><Relationship Id="rId67" Type="http://schemas.openxmlformats.org/officeDocument/2006/relationships/font" Target="fonts/Ubuntu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Ubuntu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8b6cbb570_0_570:notes"/>
          <p:cNvSpPr/>
          <p:nvPr>
            <p:ph idx="2" type="sldImg"/>
          </p:nvPr>
        </p:nvSpPr>
        <p:spPr>
          <a:xfrm>
            <a:off x="685783" y="1143007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b8b6cbb570_0_570:notes"/>
          <p:cNvSpPr txBox="1"/>
          <p:nvPr>
            <p:ph idx="1" type="body"/>
          </p:nvPr>
        </p:nvSpPr>
        <p:spPr>
          <a:xfrm>
            <a:off x="685800" y="440057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b8b6cbb570_0_570:notes"/>
          <p:cNvSpPr txBox="1"/>
          <p:nvPr>
            <p:ph idx="12" type="sldNum"/>
          </p:nvPr>
        </p:nvSpPr>
        <p:spPr>
          <a:xfrm>
            <a:off x="3884613" y="8685266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8b6cbb570_0_597:notes"/>
          <p:cNvSpPr/>
          <p:nvPr>
            <p:ph idx="2" type="sldImg"/>
          </p:nvPr>
        </p:nvSpPr>
        <p:spPr>
          <a:xfrm>
            <a:off x="685783" y="1143007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b8b6cbb570_0_597:notes"/>
          <p:cNvSpPr txBox="1"/>
          <p:nvPr>
            <p:ph idx="1" type="body"/>
          </p:nvPr>
        </p:nvSpPr>
        <p:spPr>
          <a:xfrm>
            <a:off x="685800" y="440057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b8b6cbb570_0_597:notes"/>
          <p:cNvSpPr txBox="1"/>
          <p:nvPr>
            <p:ph idx="12" type="sldNum"/>
          </p:nvPr>
        </p:nvSpPr>
        <p:spPr>
          <a:xfrm>
            <a:off x="3884613" y="8685266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b6cbb57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8b6cbb57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8b6cbb57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3c0731b07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e3c0731b07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2e3c0731b07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8f12b07e9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58f12b07e9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58f12b07e9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3c0731b07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e3c0731b07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2e3c0731b07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3c0731b07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2e3c0731b07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2e3c0731b07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b5846939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2b5846939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c2b5846939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8b6cbb570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8b6cbb570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b8b6cbb570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b6cbb570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b8b6cbb570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b8b6cbb570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8f12b07e9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58f12b07e9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58f12b07e9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8b6cbb570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b8b6cbb570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b8b6cbb570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8b6cbb570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b8b6cbb570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b8b6cbb570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8b6cbb57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b8b6cbb57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b8b6cbb570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5fe1d6387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55fe1d6387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55fe1d6387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8b6cbb570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b8b6cbb570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b8b6cbb570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d7f9d02ad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3d7f9d02ad_1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3d7f9d02ad_1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8b6cbb570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b8b6cbb570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b8b6cbb570_0_2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8b6cbb570_0_7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b8b6cbb570_0_7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b8b6cbb570_0_7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713c30ff7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c713c30ff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c713c30ff7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58f12b07e9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58f12b07e9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58f12b07e9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8b6cbb570_0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b8b6cbb570_0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b8b6cbb570_0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7653ab589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c7653ab589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3c7653ab589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7653ab589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c7653ab589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3c7653ab589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8b6cbb570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b8b6cbb570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b8b6cbb570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8b6cbb570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b8b6cbb570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8b6cbb570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8b6cbb570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b8b6cbb570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g3b8b6cbb570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8b6cbb570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b8b6cbb570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b8b6cbb570_0_1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8b6cbb570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b8b6cbb570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3b8b6cbb570_0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8b6cbb570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b8b6cbb570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3b8b6cbb570_0_2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8b6cbb570_0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b8b6cbb570_0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8b6cbb570_0_2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8b6cbb570_0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b8b6cbb570_0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g3b8b6cbb570_0_2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7653ab589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c7653ab589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c7653ab589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8b6cbb570_0_4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b8b6cbb570_0_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g3b8b6cbb570_0_4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8b6cbb570_0_4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b8b6cbb570_0_4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g3b8b6cbb570_0_4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8b6cbb570_0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g3b8b6cbb570_0_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8b6cbb570_0_3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7132f460d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7132f460d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g37132f460d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85b0b0358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85b0b0358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g385b0b0358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58f12b07e9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58f12b07e9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58f12b07e9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8b6cbb570_0_3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b8b6cbb570_0_3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g3b8b6cbb570_0_3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8b6cbb570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b8b6cbb570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g3b8b6cbb570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b8b6cbb570_0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b8b6cbb570_0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8b6cbb570_0_4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8b6cbb570_0_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b8b6cbb570_0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g3b8b6cbb570_0_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8b6cbb570_0_4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b8b6cbb570_0_4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b8b6cbb570_0_4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8b6cbb570_0_6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b8b6cbb570_0_6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2" name="Google Shape;662;g3b8b6cbb570_0_6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8b6cbb570_0_4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b8b6cbb570_0_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g3b8b6cbb570_0_4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b8b6cbb570_0_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b8b6cbb570_0_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b8b6cbb570_0_7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b8b6cbb570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b8b6cbb570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b8b6cbb570_0_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b8b6cbb570_0_6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b8b6cbb570_0_6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g3b8b6cbb570_0_6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7653ab589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c7653ab589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g3c7653ab589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7653ab589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3c7653ab589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c7653ab589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c7653ab589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g3c7653ab589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g3c7653ab589_0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c7653ab589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g3c7653ab589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3" name="Google Shape;833;g3c7653ab589_0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b8b6cbb570_0_5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b8b6cbb570_0_5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3" name="Google Shape;863;g3b8b6cbb570_0_5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b8b6cbb570_0_6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g3b8b6cbb570_0_6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b8b6cbb570_0_6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c7653ab589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3c7653ab589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8" name="Google Shape;918;g3c7653ab589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7" name="Google Shape;95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hyperlink" Target="https://ads.google.com/aw/keywordplanner/home" TargetMode="External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hyperlink" Target="https://ads.google.com/aw/keywordplanner/hom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ads.google.com/aw/keywordplanner/hom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://www.vitra.com.tr" TargetMode="External"/><Relationship Id="rId7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hyperlink" Target="http://www.vitra.com.tr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Relationship Id="rId4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5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Relationship Id="rId4" Type="http://schemas.openxmlformats.org/officeDocument/2006/relationships/image" Target="../media/image52.png"/><Relationship Id="rId5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49.png"/><Relationship Id="rId13" Type="http://schemas.openxmlformats.org/officeDocument/2006/relationships/image" Target="../media/image61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44.png"/><Relationship Id="rId15" Type="http://schemas.openxmlformats.org/officeDocument/2006/relationships/image" Target="../media/image55.png"/><Relationship Id="rId14" Type="http://schemas.openxmlformats.org/officeDocument/2006/relationships/image" Target="../media/image51.png"/><Relationship Id="rId5" Type="http://schemas.openxmlformats.org/officeDocument/2006/relationships/image" Target="../media/image7.png"/><Relationship Id="rId6" Type="http://schemas.openxmlformats.org/officeDocument/2006/relationships/image" Target="../media/image50.png"/><Relationship Id="rId7" Type="http://schemas.openxmlformats.org/officeDocument/2006/relationships/image" Target="../media/image46.png"/><Relationship Id="rId8" Type="http://schemas.openxmlformats.org/officeDocument/2006/relationships/image" Target="../media/image8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8.png"/><Relationship Id="rId7" Type="http://schemas.openxmlformats.org/officeDocument/2006/relationships/image" Target="../media/image68.png"/><Relationship Id="rId8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6.png"/><Relationship Id="rId7" Type="http://schemas.openxmlformats.org/officeDocument/2006/relationships/image" Target="../media/image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65.png"/><Relationship Id="rId5" Type="http://schemas.openxmlformats.org/officeDocument/2006/relationships/image" Target="../media/image7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5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Relationship Id="rId4" Type="http://schemas.openxmlformats.org/officeDocument/2006/relationships/image" Target="../media/image7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Relationship Id="rId4" Type="http://schemas.openxmlformats.org/officeDocument/2006/relationships/image" Target="../media/image74.png"/><Relationship Id="rId5" Type="http://schemas.openxmlformats.org/officeDocument/2006/relationships/image" Target="../media/image6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Relationship Id="rId4" Type="http://schemas.openxmlformats.org/officeDocument/2006/relationships/image" Target="../media/image87.png"/><Relationship Id="rId5" Type="http://schemas.openxmlformats.org/officeDocument/2006/relationships/image" Target="../media/image7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Relationship Id="rId4" Type="http://schemas.openxmlformats.org/officeDocument/2006/relationships/image" Target="../media/image85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8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Relationship Id="rId4" Type="http://schemas.openxmlformats.org/officeDocument/2006/relationships/image" Target="../media/image84.png"/><Relationship Id="rId5" Type="http://schemas.openxmlformats.org/officeDocument/2006/relationships/image" Target="../media/image88.png"/><Relationship Id="rId6" Type="http://schemas.openxmlformats.org/officeDocument/2006/relationships/image" Target="../media/image92.png"/><Relationship Id="rId7" Type="http://schemas.openxmlformats.org/officeDocument/2006/relationships/image" Target="../media/image9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67.png"/><Relationship Id="rId5" Type="http://schemas.openxmlformats.org/officeDocument/2006/relationships/image" Target="../media/image7.png"/><Relationship Id="rId6" Type="http://schemas.openxmlformats.org/officeDocument/2006/relationships/image" Target="../media/image79.png"/><Relationship Id="rId7" Type="http://schemas.openxmlformats.org/officeDocument/2006/relationships/image" Target="../media/image76.png"/><Relationship Id="rId8" Type="http://schemas.openxmlformats.org/officeDocument/2006/relationships/image" Target="../media/image9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69.png"/><Relationship Id="rId7" Type="http://schemas.openxmlformats.org/officeDocument/2006/relationships/image" Target="../media/image81.png"/><Relationship Id="rId8" Type="http://schemas.openxmlformats.org/officeDocument/2006/relationships/image" Target="../media/image7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7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3.png"/><Relationship Id="rId4" Type="http://schemas.openxmlformats.org/officeDocument/2006/relationships/image" Target="../media/image89.png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382048" y="5232400"/>
            <a:ext cx="15622953" cy="32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402074" y="5232400"/>
            <a:ext cx="251913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12000"/>
              <a:buFont typeface="Bricolage Grotesque SemiBold"/>
              <a:buNone/>
            </a:pPr>
            <a:r>
              <a:rPr b="0" i="0" lang="en-US" sz="9500" u="none" cap="none" strike="noStrike">
                <a:solidFill>
                  <a:srgbClr val="FEFEF7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VitrA SEO Değerlendirme</a:t>
            </a:r>
            <a:endParaRPr b="0" i="0" sz="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95755" y="7366000"/>
            <a:ext cx="159870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325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8600"/>
              <a:buFont typeface="Bricolage Grotesque SemiBold"/>
              <a:buNone/>
            </a:pPr>
            <a:r>
              <a:rPr b="0" i="0" lang="en-US" sz="8600" u="none" cap="none" strike="noStrike">
                <a:solidFill>
                  <a:srgbClr val="FEFEF7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2025</a:t>
            </a:r>
            <a:endParaRPr b="0" i="0" sz="8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732841" y="12090400"/>
            <a:ext cx="29128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732841" y="12090400"/>
            <a:ext cx="2912897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2841" y="12090400"/>
            <a:ext cx="2912896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0351794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7672335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12663625" y="381000"/>
            <a:ext cx="10923900" cy="128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r>
              <a:rPr b="0" i="0" lang="en-US" sz="4000" u="none" cap="none" strike="noStrike">
                <a:solidFill>
                  <a:srgbClr val="10332F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Neler Yaptık? </a:t>
            </a:r>
            <a:endParaRPr b="0" i="0" sz="4000" u="none" cap="none" strike="noStrike">
              <a:solidFill>
                <a:srgbClr val="1033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 Vitra Pazar &amp; Rakip Arama Hacimleri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 Google Search Console Metrikleri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 GA4 - Organik Trafik 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05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 Kategori &amp; LP Performansı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06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 Sıralama &amp; Görünürlük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07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  AI Traffic &amp; Demografi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08 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 Geçiş Özeti 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t/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ricolage Grotesque"/>
              <a:buNone/>
            </a:pPr>
            <a:r>
              <a:rPr b="0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09 </a:t>
            </a:r>
            <a:r>
              <a:rPr b="1" i="0" lang="en-US" sz="40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- 2026 Planları </a:t>
            </a:r>
            <a:endParaRPr b="1" i="0" sz="4000" u="none" cap="none" strike="noStrike">
              <a:solidFill>
                <a:srgbClr val="10332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8063" y="381000"/>
            <a:ext cx="2282052" cy="389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2000"/>
              <a:buFont typeface="Inter Medium"/>
              <a:buNone/>
            </a:pPr>
            <a:r>
              <a:rPr b="0" i="0" lang="en-US" sz="2000" u="none" cap="none" strike="noStrike">
                <a:solidFill>
                  <a:srgbClr val="FEFEF7"/>
                </a:solidFill>
                <a:latin typeface="Inter Medium"/>
                <a:ea typeface="Inter Medium"/>
                <a:cs typeface="Inter Medium"/>
                <a:sym typeface="Inter Medium"/>
              </a:rPr>
              <a:t>SECTION TITLE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19" y="0"/>
            <a:ext cx="12193524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-63508" y="5969000"/>
            <a:ext cx="12307838" cy="1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9600"/>
              <a:buFont typeface="Bricolage Grotesque"/>
              <a:buNone/>
            </a:pPr>
            <a:r>
              <a:rPr b="0" i="0" lang="en-US" sz="9600" u="none" cap="none" strike="noStrike">
                <a:solidFill>
                  <a:srgbClr val="FEFEF7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SUNUM AKIŞI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3" name="Google Shape;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1861800"/>
            <a:ext cx="1359070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777" y="12045373"/>
            <a:ext cx="988414" cy="979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" name="Google Shape;3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8865708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" name="Google Shape;3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618625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" name="Google Shape;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/>
          <p:nvPr/>
        </p:nvSpPr>
        <p:spPr>
          <a:xfrm>
            <a:off x="11787073" y="5537200"/>
            <a:ext cx="8129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" name="Google Shape;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2"/>
          <p:cNvSpPr/>
          <p:nvPr/>
        </p:nvSpPr>
        <p:spPr>
          <a:xfrm>
            <a:off x="11787073" y="7264400"/>
            <a:ext cx="8129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" name="Google Shape;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2"/>
          <p:cNvSpPr/>
          <p:nvPr/>
        </p:nvSpPr>
        <p:spPr>
          <a:xfrm>
            <a:off x="-22541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01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2"/>
          <p:cNvSpPr/>
          <p:nvPr/>
        </p:nvSpPr>
        <p:spPr>
          <a:xfrm>
            <a:off x="3028675" y="624840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Neler Yaptık? 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8b6cbb570_0_570"/>
          <p:cNvSpPr/>
          <p:nvPr/>
        </p:nvSpPr>
        <p:spPr>
          <a:xfrm>
            <a:off x="406450" y="4756025"/>
            <a:ext cx="54846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merge için proje planının güncellenmesi, mevcut eforun 2025 sonuna kadar planlanması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içerik ihtiyaçları netleştirilmesi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" name="Google Shape;55;g3b8b6cbb570_0_570"/>
          <p:cNvSpPr/>
          <p:nvPr/>
        </p:nvSpPr>
        <p:spPr>
          <a:xfrm>
            <a:off x="10251225" y="3696650"/>
            <a:ext cx="7099200" cy="3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RU ve DE projeleri için ürün içeriği üretecek ChatBot hazırlanması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test ortamı üzerinden incelemeler ve öncelikli çıkarılabilecek işlerin dökümantasyonu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6" name="Google Shape;56;g3b8b6cbb570_0_570"/>
          <p:cNvSpPr/>
          <p:nvPr/>
        </p:nvSpPr>
        <p:spPr>
          <a:xfrm>
            <a:off x="4580400" y="9317700"/>
            <a:ext cx="6706200" cy="45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kelime ve pazar araştırması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TR ve UK tüm kategori içerik ihtiyaçları tamamlandı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" name="Google Shape;57;g3b8b6cbb570_0_570"/>
          <p:cNvSpPr/>
          <p:nvPr/>
        </p:nvSpPr>
        <p:spPr>
          <a:xfrm>
            <a:off x="2629245" y="7023100"/>
            <a:ext cx="25500" cy="812700"/>
          </a:xfrm>
          <a:prstGeom prst="rect">
            <a:avLst/>
          </a:prstGeom>
          <a:solidFill>
            <a:srgbClr val="0000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b8b6cbb570_0_570"/>
          <p:cNvSpPr/>
          <p:nvPr/>
        </p:nvSpPr>
        <p:spPr>
          <a:xfrm>
            <a:off x="406458" y="3519063"/>
            <a:ext cx="4779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Planlama &amp; Optimizasyon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b8b6cbb570_0_570"/>
          <p:cNvSpPr/>
          <p:nvPr/>
        </p:nvSpPr>
        <p:spPr>
          <a:xfrm>
            <a:off x="2641946" y="7010400"/>
            <a:ext cx="25500" cy="8127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b8b6cbb570_0_570"/>
          <p:cNvSpPr/>
          <p:nvPr/>
        </p:nvSpPr>
        <p:spPr>
          <a:xfrm>
            <a:off x="419091" y="8198813"/>
            <a:ext cx="444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Mayıs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b8b6cbb570_0_570"/>
          <p:cNvSpPr/>
          <p:nvPr/>
        </p:nvSpPr>
        <p:spPr>
          <a:xfrm>
            <a:off x="10937033" y="7977800"/>
            <a:ext cx="444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Temmuz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b8b6cbb570_0_570"/>
          <p:cNvSpPr/>
          <p:nvPr/>
        </p:nvSpPr>
        <p:spPr>
          <a:xfrm>
            <a:off x="10251225" y="3166325"/>
            <a:ext cx="4779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Raporlama, Task Açılışları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b8b6cbb570_0_570"/>
          <p:cNvSpPr/>
          <p:nvPr/>
        </p:nvSpPr>
        <p:spPr>
          <a:xfrm>
            <a:off x="4970666" y="7200425"/>
            <a:ext cx="444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Haziran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b8b6cbb570_0_570"/>
          <p:cNvSpPr/>
          <p:nvPr/>
        </p:nvSpPr>
        <p:spPr>
          <a:xfrm>
            <a:off x="6319763" y="7937600"/>
            <a:ext cx="25500" cy="6138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b8b6cbb570_0_570"/>
          <p:cNvSpPr/>
          <p:nvPr/>
        </p:nvSpPr>
        <p:spPr>
          <a:xfrm>
            <a:off x="4580403" y="8627700"/>
            <a:ext cx="4950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Start &amp; Proje Audit’leri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b8b6cbb570_0_570"/>
          <p:cNvSpPr/>
          <p:nvPr/>
        </p:nvSpPr>
        <p:spPr>
          <a:xfrm>
            <a:off x="2133880" y="7835900"/>
            <a:ext cx="20119200" cy="101700"/>
          </a:xfrm>
          <a:prstGeom prst="roundRect">
            <a:avLst>
              <a:gd fmla="val 99000" name="adj"/>
            </a:avLst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b8b6cbb570_0_570"/>
          <p:cNvSpPr/>
          <p:nvPr/>
        </p:nvSpPr>
        <p:spPr>
          <a:xfrm>
            <a:off x="6205451" y="8399100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b8b6cbb570_0_570"/>
          <p:cNvSpPr/>
          <p:nvPr/>
        </p:nvSpPr>
        <p:spPr>
          <a:xfrm>
            <a:off x="2527632" y="7023100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b8b6cbb570_0_570"/>
          <p:cNvSpPr/>
          <p:nvPr/>
        </p:nvSpPr>
        <p:spPr>
          <a:xfrm>
            <a:off x="0" y="0"/>
            <a:ext cx="7925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b8b6cbb570_0_570"/>
          <p:cNvSpPr/>
          <p:nvPr/>
        </p:nvSpPr>
        <p:spPr>
          <a:xfrm>
            <a:off x="406454" y="406400"/>
            <a:ext cx="72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 | Project Timeline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71" name="Google Shape;71;g3b8b6cbb570_0_5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4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2" name="Google Shape;72;g3b8b6cbb570_0_5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0" y="12381347"/>
            <a:ext cx="702054" cy="73890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b8b6cbb570_0_570"/>
          <p:cNvSpPr/>
          <p:nvPr/>
        </p:nvSpPr>
        <p:spPr>
          <a:xfrm>
            <a:off x="11388213" y="7165100"/>
            <a:ext cx="25500" cy="812700"/>
          </a:xfrm>
          <a:prstGeom prst="rect">
            <a:avLst/>
          </a:prstGeom>
          <a:solidFill>
            <a:srgbClr val="0000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b8b6cbb570_0_570"/>
          <p:cNvSpPr/>
          <p:nvPr/>
        </p:nvSpPr>
        <p:spPr>
          <a:xfrm>
            <a:off x="11400915" y="7152400"/>
            <a:ext cx="25500" cy="8127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b8b6cbb570_0_570"/>
          <p:cNvSpPr/>
          <p:nvPr/>
        </p:nvSpPr>
        <p:spPr>
          <a:xfrm>
            <a:off x="11299375" y="7115125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b8b6cbb570_0_570"/>
          <p:cNvSpPr/>
          <p:nvPr/>
        </p:nvSpPr>
        <p:spPr>
          <a:xfrm>
            <a:off x="17774116" y="6923738"/>
            <a:ext cx="444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Ağustos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b8b6cbb570_0_570"/>
          <p:cNvSpPr/>
          <p:nvPr/>
        </p:nvSpPr>
        <p:spPr>
          <a:xfrm>
            <a:off x="17520125" y="9178711"/>
            <a:ext cx="5087100" cy="4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merge için güncel takvimde işlerin fazlandırılması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Merge sayfa tipine göre başlık yapısı ve meta tag rulesetleri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Ürün adı ruleset incelemeleri 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78" name="Google Shape;78;g3b8b6cbb570_0_570"/>
          <p:cNvSpPr/>
          <p:nvPr/>
        </p:nvSpPr>
        <p:spPr>
          <a:xfrm>
            <a:off x="17607025" y="8627700"/>
            <a:ext cx="47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ve Test Süreçleri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b8b6cbb570_0_570"/>
          <p:cNvSpPr/>
          <p:nvPr/>
        </p:nvSpPr>
        <p:spPr>
          <a:xfrm>
            <a:off x="19817788" y="7838263"/>
            <a:ext cx="25500" cy="6138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b8b6cbb570_0_570"/>
          <p:cNvSpPr/>
          <p:nvPr/>
        </p:nvSpPr>
        <p:spPr>
          <a:xfrm>
            <a:off x="19703476" y="8299763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8b6cbb570_0_597"/>
          <p:cNvSpPr/>
          <p:nvPr/>
        </p:nvSpPr>
        <p:spPr>
          <a:xfrm>
            <a:off x="17621574" y="4435150"/>
            <a:ext cx="61914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Backlink Çalışmaları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Yönlendirme Kontrolleri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Migration Checklist Kontrolleri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Geçiş Sonrası Eksiklerin Dökümantasyonu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Vitra UK Keyword Research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Pagespeed Döküman Güncellemeleri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87" name="Google Shape;87;g3b8b6cbb570_0_597"/>
          <p:cNvSpPr/>
          <p:nvPr/>
        </p:nvSpPr>
        <p:spPr>
          <a:xfrm>
            <a:off x="11526724" y="8978300"/>
            <a:ext cx="61914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Backlink Stratejisi 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Backlink İçerik Üretimleri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Geçiş için Kategori URL’leri Oluşturulması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Technical &amp; Onpage Kontroller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Ürün URL’leri simüle edilmesi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Tamamlanan Test Sitesi Kontrolleri 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Geçiş İçin Yönlendirmelerin Hazırlanması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88" name="Google Shape;88;g3b8b6cbb570_0_597"/>
          <p:cNvSpPr/>
          <p:nvPr/>
        </p:nvSpPr>
        <p:spPr>
          <a:xfrm>
            <a:off x="2629245" y="7023100"/>
            <a:ext cx="25500" cy="812700"/>
          </a:xfrm>
          <a:prstGeom prst="rect">
            <a:avLst/>
          </a:prstGeom>
          <a:solidFill>
            <a:srgbClr val="0000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b8b6cbb570_0_597"/>
          <p:cNvSpPr/>
          <p:nvPr/>
        </p:nvSpPr>
        <p:spPr>
          <a:xfrm>
            <a:off x="2641946" y="7010400"/>
            <a:ext cx="25500" cy="8127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b8b6cbb570_0_597"/>
          <p:cNvSpPr/>
          <p:nvPr/>
        </p:nvSpPr>
        <p:spPr>
          <a:xfrm>
            <a:off x="12399583" y="6534200"/>
            <a:ext cx="444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Kasım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b8b6cbb570_0_597"/>
          <p:cNvSpPr/>
          <p:nvPr/>
        </p:nvSpPr>
        <p:spPr>
          <a:xfrm>
            <a:off x="8458463" y="7937600"/>
            <a:ext cx="25500" cy="6138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b8b6cbb570_0_597"/>
          <p:cNvSpPr/>
          <p:nvPr/>
        </p:nvSpPr>
        <p:spPr>
          <a:xfrm>
            <a:off x="2133880" y="7835900"/>
            <a:ext cx="20119200" cy="101700"/>
          </a:xfrm>
          <a:prstGeom prst="roundRect">
            <a:avLst>
              <a:gd fmla="val 99000" name="adj"/>
            </a:avLst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b8b6cbb570_0_597"/>
          <p:cNvSpPr/>
          <p:nvPr/>
        </p:nvSpPr>
        <p:spPr>
          <a:xfrm>
            <a:off x="8344151" y="8399100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b8b6cbb570_0_597"/>
          <p:cNvSpPr/>
          <p:nvPr/>
        </p:nvSpPr>
        <p:spPr>
          <a:xfrm>
            <a:off x="2527632" y="7023100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b8b6cbb570_0_597"/>
          <p:cNvSpPr/>
          <p:nvPr/>
        </p:nvSpPr>
        <p:spPr>
          <a:xfrm>
            <a:off x="0" y="0"/>
            <a:ext cx="7925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b8b6cbb570_0_597"/>
          <p:cNvSpPr/>
          <p:nvPr/>
        </p:nvSpPr>
        <p:spPr>
          <a:xfrm>
            <a:off x="406454" y="406400"/>
            <a:ext cx="72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 | Project Timeline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97" name="Google Shape;97;g3b8b6cbb570_0_5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4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8" name="Google Shape;98;g3b8b6cbb570_0_5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90" y="12381347"/>
            <a:ext cx="702054" cy="7389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b8b6cbb570_0_597"/>
          <p:cNvSpPr/>
          <p:nvPr/>
        </p:nvSpPr>
        <p:spPr>
          <a:xfrm>
            <a:off x="13018513" y="7086750"/>
            <a:ext cx="25500" cy="812700"/>
          </a:xfrm>
          <a:prstGeom prst="rect">
            <a:avLst/>
          </a:prstGeom>
          <a:solidFill>
            <a:srgbClr val="0000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b8b6cbb570_0_597"/>
          <p:cNvSpPr/>
          <p:nvPr/>
        </p:nvSpPr>
        <p:spPr>
          <a:xfrm>
            <a:off x="13031215" y="7074050"/>
            <a:ext cx="25500" cy="8127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b8b6cbb570_0_597"/>
          <p:cNvSpPr/>
          <p:nvPr/>
        </p:nvSpPr>
        <p:spPr>
          <a:xfrm>
            <a:off x="12916900" y="7086750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b8b6cbb570_0_597"/>
          <p:cNvSpPr/>
          <p:nvPr/>
        </p:nvSpPr>
        <p:spPr>
          <a:xfrm>
            <a:off x="7474758" y="8754750"/>
            <a:ext cx="444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Ekim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b8b6cbb570_0_597"/>
          <p:cNvSpPr/>
          <p:nvPr/>
        </p:nvSpPr>
        <p:spPr>
          <a:xfrm>
            <a:off x="1240141" y="6311850"/>
            <a:ext cx="444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Eylül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b8b6cbb570_0_597"/>
          <p:cNvSpPr/>
          <p:nvPr/>
        </p:nvSpPr>
        <p:spPr>
          <a:xfrm>
            <a:off x="1240150" y="9158025"/>
            <a:ext cx="5087100" cy="22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Merge concernleri değerlendirme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Merge hazırlıkları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Mevcut VitrA sitesi yedeklemeleri 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Almanya Market Analizi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YTD Sunumu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05" name="Google Shape;105;g3b8b6cbb570_0_597"/>
          <p:cNvSpPr/>
          <p:nvPr/>
        </p:nvSpPr>
        <p:spPr>
          <a:xfrm>
            <a:off x="19875788" y="7868788"/>
            <a:ext cx="25500" cy="6138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b8b6cbb570_0_597"/>
          <p:cNvSpPr/>
          <p:nvPr/>
        </p:nvSpPr>
        <p:spPr>
          <a:xfrm>
            <a:off x="19761476" y="8330288"/>
            <a:ext cx="228600" cy="228600"/>
          </a:xfrm>
          <a:prstGeom prst="ellipse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b8b6cbb570_0_597"/>
          <p:cNvSpPr/>
          <p:nvPr/>
        </p:nvSpPr>
        <p:spPr>
          <a:xfrm>
            <a:off x="5602000" y="4692400"/>
            <a:ext cx="57129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Merge çalışmalarının devamı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Mevcut VitrA sitesi yedeklemeleri 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Almanya Market Analizi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Roadmap Güncellenmesi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400"/>
              <a:buFont typeface="Outfit Light"/>
              <a:buChar char="●"/>
            </a:pPr>
            <a:r>
              <a:rPr b="0" i="0" lang="en-US" sz="2400" u="none" cap="none" strike="noStrike">
                <a:solidFill>
                  <a:srgbClr val="10332F"/>
                </a:solidFill>
                <a:latin typeface="Outfit Light"/>
                <a:ea typeface="Outfit Light"/>
                <a:cs typeface="Outfit Light"/>
                <a:sym typeface="Outfit Light"/>
              </a:rPr>
              <a:t>Eski Yönlendirmelerin Düzenlenmesi</a:t>
            </a:r>
            <a:endParaRPr b="0" i="0" sz="2400" u="none" cap="none" strike="noStrike">
              <a:solidFill>
                <a:srgbClr val="10332F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08" name="Google Shape;108;g3b8b6cbb570_0_597"/>
          <p:cNvSpPr/>
          <p:nvPr/>
        </p:nvSpPr>
        <p:spPr>
          <a:xfrm>
            <a:off x="18892083" y="8624613"/>
            <a:ext cx="4445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200"/>
              <a:buFont typeface="Bricolage Grotesque"/>
              <a:buNone/>
            </a:pPr>
            <a:r>
              <a:rPr b="1" i="0" lang="en-US" sz="42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Aralık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8b6cbb570_0_597"/>
          <p:cNvSpPr/>
          <p:nvPr/>
        </p:nvSpPr>
        <p:spPr>
          <a:xfrm>
            <a:off x="17485825" y="3901750"/>
            <a:ext cx="47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Sonrası Kontroller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b8b6cbb570_0_597"/>
          <p:cNvSpPr/>
          <p:nvPr/>
        </p:nvSpPr>
        <p:spPr>
          <a:xfrm>
            <a:off x="11314900" y="8458150"/>
            <a:ext cx="666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Hazırlıkları ve Yönlendirmeler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b8b6cbb570_0_597"/>
          <p:cNvSpPr/>
          <p:nvPr/>
        </p:nvSpPr>
        <p:spPr>
          <a:xfrm>
            <a:off x="5386000" y="3901750"/>
            <a:ext cx="666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Hazırlıkları &amp; 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b8b6cbb570_0_597"/>
          <p:cNvSpPr/>
          <p:nvPr/>
        </p:nvSpPr>
        <p:spPr>
          <a:xfrm>
            <a:off x="960250" y="8521800"/>
            <a:ext cx="666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800"/>
              <a:buFont typeface="Bricolage Grotesque"/>
              <a:buNone/>
            </a:pPr>
            <a:r>
              <a:rPr b="1" i="0" lang="en-US" sz="2800" u="none" cap="none" strike="noStrike">
                <a:solidFill>
                  <a:srgbClr val="10332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Merge Hazırlıkları &amp; Raporlama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8" name="Google Shape;118;g3b8b6cbb57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b8b6cbb570_0_0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0" name="Google Shape;120;g3b8b6cbb57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b8b6cbb570_0_0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2" name="Google Shape;122;g3b8b6cbb57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b8b6cbb570_0_0"/>
          <p:cNvSpPr/>
          <p:nvPr/>
        </p:nvSpPr>
        <p:spPr>
          <a:xfrm>
            <a:off x="-18647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02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b8b6cbb570_0_0"/>
          <p:cNvSpPr/>
          <p:nvPr/>
        </p:nvSpPr>
        <p:spPr>
          <a:xfrm>
            <a:off x="5841100" y="624850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Vitra Pazar &amp; Rakip Arama Hacimleri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30" name="Google Shape;130;g2e3c0731b07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" name="Google Shape;131;g2e3c0731b07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e3c0731b07_0_9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e3c0731b07_0_92"/>
          <p:cNvSpPr/>
          <p:nvPr/>
        </p:nvSpPr>
        <p:spPr>
          <a:xfrm>
            <a:off x="406449" y="406400"/>
            <a:ext cx="1230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Marka Arama Hacimleri | VitrA Marka Hacmi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4" name="Google Shape;134;g2e3c0731b07_0_92"/>
          <p:cNvSpPr/>
          <p:nvPr/>
        </p:nvSpPr>
        <p:spPr>
          <a:xfrm>
            <a:off x="406425" y="1219200"/>
            <a:ext cx="233907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46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brand arama hacmi 2025 yılında geçtiğimiz seneye göre </a:t>
            </a:r>
            <a:r>
              <a:rPr b="1" i="0" lang="en-US" sz="4600" u="none" cap="none" strike="noStrike">
                <a:solidFill>
                  <a:srgbClr val="EA43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%5</a:t>
            </a:r>
            <a:r>
              <a:rPr b="1" i="0" lang="en-US" sz="46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azalmıştır.</a:t>
            </a:r>
            <a:endParaRPr b="1" i="0" sz="46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35" name="Google Shape;135;g2e3c0731b07_0_92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2e3c0731b07_0_92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5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7" name="Google Shape;137;g2e3c0731b07_0_92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8489" y="2132700"/>
            <a:ext cx="20430201" cy="74170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g2e3c0731b07_0_92"/>
          <p:cNvGraphicFramePr/>
          <p:nvPr/>
        </p:nvGraphicFramePr>
        <p:xfrm>
          <a:off x="2082975" y="954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243075"/>
                <a:gridCol w="1515600"/>
                <a:gridCol w="1515600"/>
                <a:gridCol w="1515600"/>
                <a:gridCol w="1515600"/>
                <a:gridCol w="1515600"/>
                <a:gridCol w="1515600"/>
                <a:gridCol w="1515600"/>
                <a:gridCol w="1515600"/>
                <a:gridCol w="1515600"/>
                <a:gridCol w="1515600"/>
                <a:gridCol w="1515600"/>
                <a:gridCol w="1515600"/>
              </a:tblGrid>
              <a:tr h="49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Vitra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Jan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Feb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Mar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Apr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May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Jun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Jul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Aug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Sep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Oct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Nov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Dec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0:12"/>
                      </a:ext>
                    </a:extLst>
                  </a:tcPr>
                </a:tc>
              </a:tr>
              <a:tr h="49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2022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1:12"/>
                      </a:ext>
                    </a:extLst>
                  </a:tcPr>
                </a:tc>
              </a:tr>
              <a:tr h="49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2023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2:12"/>
                      </a:ext>
                    </a:extLst>
                  </a:tcPr>
                </a:tc>
              </a:tr>
              <a:tr h="49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2024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13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13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13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138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138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3:12"/>
                      </a:ext>
                    </a:extLst>
                  </a:tcPr>
                </a:tc>
              </a:tr>
              <a:tr h="49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2025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3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8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38:4:12"/>
                      </a:ext>
                    </a:extLst>
                  </a:tcPr>
                </a:tc>
              </a:tr>
              <a:tr h="49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FFFF"/>
                          </a:solidFill>
                        </a:rPr>
                        <a:t>24 vs 25 Change</a:t>
                      </a:r>
                      <a:endParaRPr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3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-18%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-18%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-18%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-18%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38:5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4" name="Google Shape;144;g358f12b07e9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5" name="Google Shape;145;g358f12b07e9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58f12b07e9_0_3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58f12b07e9_0_31"/>
          <p:cNvSpPr/>
          <p:nvPr/>
        </p:nvSpPr>
        <p:spPr>
          <a:xfrm>
            <a:off x="13110250" y="1116850"/>
            <a:ext cx="10600800" cy="117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2025’te takip edilen kategorilerde markasız </a:t>
            </a:r>
            <a:r>
              <a:rPr b="1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(non-brand) aramalar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%18 düşerken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VitrA + kategori aramaları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yalnızca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%5 düşmüştür</a:t>
            </a:r>
            <a:r>
              <a:rPr b="0" i="0" lang="en-US" sz="26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. Kategori talebi daralsa da marka talebinin görece daha dayanıklı olduğu görülmektedir.</a:t>
            </a:r>
            <a:endParaRPr b="0" i="0" sz="2600" u="none" cap="none" strike="noStrike">
              <a:solidFill>
                <a:srgbClr val="31313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Karo Seramik Ürünleri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kategorisinde markasız aramalar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-%37 düşerken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VitrA + aramalar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6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%8 artmıştır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Kategori küçülmesine rağmen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VitrA’ya olan doğrudan talebin artması bu kategoride marka gücünün yükseldiğini göstermektedir.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2025’te en fazla hacim düşüşü markasız aramalarda </a:t>
            </a:r>
            <a:b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Karo Seramik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(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-%37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),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Banyo Mobilyaları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(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-%22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ve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Banyo Aksesuarları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(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-%20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kategorilerinde görülmektedir.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VitrA + keyword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aramalarda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en fazla düşüş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Banyo Mobilyaları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(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-%17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ve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Banyo Aksesuarları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(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-%15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ve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Yıkanma Alanları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(-%14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kategorilerindedir. Bu alanlarda hem kategori talebi hem marka talebi birlikte gerilemektedir.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Rezervuarlar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kategorisi hem non-brand  hem VitrA +keyword  tarafında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en stabil kategoridir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 Talep seviyesinin büyük ölçüde korunduğu görülmektedir.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Vitrifiyeler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kategorisinde markasız aramalar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-%5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düşerken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VitrA + keyword aramaları yalnızca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-%1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6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gerilemiştir</a:t>
            </a: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 Kategori küçülse de marka tarafında talebin daha iyi korunduğu görülmektedir.</a:t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8" name="Google Shape;148;g358f12b07e9_0_31"/>
          <p:cNvSpPr/>
          <p:nvPr/>
        </p:nvSpPr>
        <p:spPr>
          <a:xfrm>
            <a:off x="406449" y="406400"/>
            <a:ext cx="1230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Arama Hacimleri | VitrA Marka + Category &amp; Non Brand Hacimler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9" name="Google Shape;149;g358f12b07e9_0_31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58f12b07e9_0_31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5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51" name="Google Shape;151;g358f12b07e9_0_31"/>
          <p:cNvGraphicFramePr/>
          <p:nvPr/>
        </p:nvGraphicFramePr>
        <p:xfrm>
          <a:off x="1371775" y="713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454400"/>
                <a:gridCol w="2185425"/>
                <a:gridCol w="2050750"/>
                <a:gridCol w="1848700"/>
              </a:tblGrid>
              <a:tr h="85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Marka + Kategori Aranma Hacimleri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2024 Avg.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2025 Avg.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24 - 25 Değişim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0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Armatürler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15,663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15,113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-4%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1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Banyo Aksesuarları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2,740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2,341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-15%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2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Banyo Mobilyaları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24,248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20,020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-17%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3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Duşlar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4,698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4,171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-11%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4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Karo Seramik Ürünleri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10,229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11,039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34A853"/>
                          </a:solidFill>
                        </a:rPr>
                        <a:t>8%</a:t>
                      </a:r>
                      <a:endParaRPr b="1" sz="24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5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Rezervuarlar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22,110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21,662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-2%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6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Vitrifiyeler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48,065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47,584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7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Yıkanma Alanları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2,809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2,427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-14%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8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130,562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124,357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F0000"/>
                          </a:solidFill>
                        </a:rPr>
                        <a:t>-5%</a:t>
                      </a:r>
                      <a:endParaRPr sz="22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1:9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52" name="Google Shape;152;g358f12b07e9_0_31"/>
          <p:cNvGraphicFramePr/>
          <p:nvPr/>
        </p:nvGraphicFramePr>
        <p:xfrm>
          <a:off x="1371775" y="129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364600"/>
                <a:gridCol w="2252775"/>
                <a:gridCol w="2073200"/>
                <a:gridCol w="1848700"/>
              </a:tblGrid>
              <a:tr h="85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NonBrand Aranma Hacimleri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2024 Avg.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2025 Avg.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24 - 25 Değişim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0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Armatürler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945,815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840,394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-11%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Banyo Aksesuarları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297,965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239,541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-20%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2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Banyo Mobilyaları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1,502,982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1,166,864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-22%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3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Duşlar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193,416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161,813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-16%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4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Karo Seramik Ürünleri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745,337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472,937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-37%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5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Rezervuarlar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55,463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54,479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-2%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6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Vitrifiyeler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758,500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722,601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-5%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7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Yıkanma Alanları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613,193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510,023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-17%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8:3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Grand Total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5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5,112,671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5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4,168,651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5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</a:rPr>
                        <a:t>-18%</a:t>
                      </a:r>
                      <a:endParaRPr sz="2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9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3c0731b07_0_122"/>
          <p:cNvSpPr txBox="1"/>
          <p:nvPr/>
        </p:nvSpPr>
        <p:spPr>
          <a:xfrm>
            <a:off x="15468350" y="2299025"/>
            <a:ext cx="8918700" cy="10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Banyo &amp; armatür segmentindeki rakiplerde 2024–2025 döneminde büyüme eğilimi dikkat çekmektedir: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Kale: 60.8K → %8 artış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Creavit: 8.5K → %29 artış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Geberit: 6.1K → %12 artış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Grohe: 5.8K → %9 artış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Marketplace oyuncuları tarafında  2024–2025 döneminde genel eğilim düşüş gösterirken  yalnızca Bauhaus’un artışta olduğu görülmektedir: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Trendyol: 10.8M → -%3 düşüş 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Hepsiburada: 3.3M → -%3 düşüş)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IKEA: 1.3M → -%3 düşüş 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Koçtaş: 959.3K → -%3 düşüş 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◆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Bauhaus: 307.6K → %5 artış 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159" name="Google Shape;159;g2e3c0731b07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60" name="Google Shape;160;g2e3c0731b07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61" name="Google Shape;161;g2e3c0731b07_0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e3c0731b07_0_12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e3c0731b07_0_122"/>
          <p:cNvSpPr/>
          <p:nvPr/>
        </p:nvSpPr>
        <p:spPr>
          <a:xfrm>
            <a:off x="406449" y="406400"/>
            <a:ext cx="1082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Rekabet | Arama Hacmi Değişimi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g2e3c0731b07_0_122"/>
          <p:cNvSpPr/>
          <p:nvPr/>
        </p:nvSpPr>
        <p:spPr>
          <a:xfrm>
            <a:off x="406450" y="1219200"/>
            <a:ext cx="233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&amp; Rakip Arama Hacmi Değişimi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5" name="Google Shape;165;g2e3c0731b07_0_122"/>
          <p:cNvSpPr/>
          <p:nvPr/>
        </p:nvSpPr>
        <p:spPr>
          <a:xfrm>
            <a:off x="1590100" y="12861650"/>
            <a:ext cx="54180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e3c0731b07_0_122"/>
          <p:cNvSpPr txBox="1"/>
          <p:nvPr/>
        </p:nvSpPr>
        <p:spPr>
          <a:xfrm>
            <a:off x="1928500" y="12861650"/>
            <a:ext cx="50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6"/>
              </a:rPr>
              <a:t>Source: Keyword Planner</a:t>
            </a:r>
            <a:endParaRPr b="0" i="0" sz="30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67" name="Google Shape;167;g2e3c0731b07_0_122"/>
          <p:cNvGraphicFramePr/>
          <p:nvPr/>
        </p:nvGraphicFramePr>
        <p:xfrm>
          <a:off x="319900" y="3679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967900"/>
                <a:gridCol w="2055900"/>
                <a:gridCol w="2055900"/>
                <a:gridCol w="2055900"/>
                <a:gridCol w="2055900"/>
                <a:gridCol w="2055900"/>
              </a:tblGrid>
              <a:tr h="101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Marka Aranma Hacimleri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2023 Avg.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23 - 24 Değişim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2024 Avg.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24 - 25 Değişim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2025 Avg.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0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trendyol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13.4M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-17%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11.2M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-3%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10.8M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1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hepsiburada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3.9M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-13%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3.4M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-3%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3.3M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2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ikea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1.2M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10%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1.4M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-3%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1.3M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3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koçtaş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834.3K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19%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988.8K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-3%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959.3K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4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bauhaus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269.8K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8%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291.8K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5%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307.6K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5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kale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32.8K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71%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56.1K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8%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60.8K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6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VitrA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34.0K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7%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36.3K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FF0000"/>
                          </a:solidFill>
                        </a:rPr>
                        <a:t>-5%</a:t>
                      </a:r>
                      <a:endParaRPr sz="23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34.6K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7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creavit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5.4K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23%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6.6K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29%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8.5K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8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artema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5.4K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17%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6.2K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3%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6.4K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9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geberit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4.9K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11%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5.4K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12%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6.1K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10:5"/>
                      </a:ext>
                    </a:extLst>
                  </a:tcPr>
                </a:tc>
              </a:tr>
              <a:tr h="5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</a:rPr>
                        <a:t>grohe</a:t>
                      </a:r>
                      <a:endParaRPr b="1" sz="23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167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5.0K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167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7%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5.3K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7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</a:rPr>
                        <a:t>9%</a:t>
                      </a:r>
                      <a:endParaRPr b="1" sz="23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7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/>
                        <a:t>5.8K</a:t>
                      </a:r>
                      <a:endParaRPr sz="23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167:11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3" name="Google Shape;173;g2e3c0731b07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e3c0731b07_0_81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5" name="Google Shape;175;g2e3c0731b07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e3c0731b07_0_81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7" name="Google Shape;177;g2e3c0731b07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e3c0731b07_0_81"/>
          <p:cNvSpPr/>
          <p:nvPr/>
        </p:nvSpPr>
        <p:spPr>
          <a:xfrm>
            <a:off x="-1929600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03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2e3c0731b07_0_81"/>
          <p:cNvSpPr/>
          <p:nvPr/>
        </p:nvSpPr>
        <p:spPr>
          <a:xfrm>
            <a:off x="6014275" y="6248400"/>
            <a:ext cx="17415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Google Search Console Metrikleri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2b5846939_1_7"/>
          <p:cNvSpPr txBox="1"/>
          <p:nvPr/>
        </p:nvSpPr>
        <p:spPr>
          <a:xfrm>
            <a:off x="15795675" y="2299025"/>
            <a:ext cx="8591400" cy="11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3000"/>
              <a:buFont typeface="Outfit"/>
              <a:buChar char="➔"/>
            </a:pP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Online Vitra’da 2025 senesinde (10 aylık) toplam </a:t>
            </a:r>
            <a:r>
              <a:rPr b="1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595.4K tıklama</a:t>
            </a: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gerçekleşmiştir. </a:t>
            </a:r>
            <a:b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3000"/>
              <a:buFont typeface="Outfit"/>
              <a:buChar char="➔"/>
            </a:pP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Tıklamaları </a:t>
            </a:r>
            <a:r>
              <a:rPr b="1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geçen seneyle kıyasladığımızda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%2.8’lik düşüş</a:t>
            </a:r>
            <a:r>
              <a:rPr b="1" i="0" lang="en-US" sz="3000" u="none" cap="none" strike="noStrike">
                <a:solidFill>
                  <a:schemeClr val="accent6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görünmektedir.</a:t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Outfit"/>
              <a:buChar char="➔"/>
            </a:pP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Online Vitra’da 2025 senesinde toplam</a:t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(10 aylık) </a:t>
            </a:r>
            <a:r>
              <a:rPr b="1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19.5M</a:t>
            </a: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görüntülenme</a:t>
            </a: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gerçekleşmiştir.</a:t>
            </a:r>
            <a:b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Outfit"/>
              <a:buChar char="➔"/>
            </a:pP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Görüntülenmeleri  </a:t>
            </a:r>
            <a:r>
              <a:rPr b="1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geçen seneyle kıyasladığımızda </a:t>
            </a:r>
            <a:r>
              <a:rPr b="0" i="0" lang="en-US" sz="30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%5.4’lük düşüş</a:t>
            </a:r>
            <a:r>
              <a:rPr b="1" i="0" lang="en-US" sz="3000" u="none" cap="none" strike="noStrike">
                <a:solidFill>
                  <a:srgbClr val="70AD4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3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görünmektedir.</a:t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6" name="Google Shape;186;g3c2b5846939_1_7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Karşılaştırmalarda Aralık ayında geçiş olduğu ve 2024 Ocak ayı verileri olmadığı için 10 ay üzerinden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187" name="Google Shape;187;g3c2b5846939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8" name="Google Shape;188;g3c2b5846939_1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9" name="Google Shape;189;g3c2b5846939_1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c2b5846939_1_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c2b5846939_1_7"/>
          <p:cNvSpPr/>
          <p:nvPr/>
        </p:nvSpPr>
        <p:spPr>
          <a:xfrm>
            <a:off x="406450" y="406400"/>
            <a:ext cx="87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Online.VitrA | Google Search Console Metrikleri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c2b5846939_1_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Online Vitra - 2024 vs 2025 Click &amp; Impression Trendi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193" name="Google Shape;193;g3c2b5846939_1_7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450" y="7554275"/>
            <a:ext cx="15225976" cy="455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94" name="Google Shape;194;g3c2b5846939_1_7" title="Chart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6450" y="2326900"/>
            <a:ext cx="15225976" cy="455245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00" name="Google Shape;200;g3b8b6cbb570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1" name="Google Shape;201;g3b8b6cbb570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2" name="Google Shape;202;g3b8b6cbb570_0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b8b6cbb570_0_5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b8b6cbb570_0_52"/>
          <p:cNvSpPr/>
          <p:nvPr/>
        </p:nvSpPr>
        <p:spPr>
          <a:xfrm>
            <a:off x="406450" y="406400"/>
            <a:ext cx="87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sng" cap="none" strike="noStrike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6"/>
              </a:rPr>
              <a:t>www.vitra.com.tr</a:t>
            </a: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 | Google Search Console Metrikleri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b8b6cbb570_0_5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Vitra.com.tr Geçiş Öncesi - 2024 vs 2025 Click Trendi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06" name="Google Shape;206;g3b8b6cbb570_0_52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Karşılaştırmalar Aralık ayında geçiş olduğu için 11 ay üzerinden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07" name="Google Shape;207;g3b8b6cbb570_0_52" title="Chart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9225" y="2481100"/>
            <a:ext cx="21968599" cy="717628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208" name="Google Shape;208;g3b8b6cbb570_0_52"/>
          <p:cNvGraphicFramePr/>
          <p:nvPr/>
        </p:nvGraphicFramePr>
        <p:xfrm>
          <a:off x="1371775" y="998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  <a:gridCol w="1557575"/>
              </a:tblGrid>
              <a:tr h="59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Click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0:13"/>
                      </a:ext>
                    </a:extLst>
                  </a:tcPr>
                </a:tc>
              </a:tr>
              <a:tr h="59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2024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0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86.6K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9D7"/>
                    </a:solidFill>
                    <a:extLst>
                      <a:ext uri="http://customooxmlschemas.google.com/">
                        <go:slidesCustomData xmlns:go="http://customooxmlschemas.google.com/" cellId="20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79.5K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B5B0"/>
                    </a:solidFill>
                    <a:extLst>
                      <a:ext uri="http://customooxmlschemas.google.com/">
                        <go:slidesCustomData xmlns:go="http://customooxmlschemas.google.com/" cellId="20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86.4K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8D5"/>
                    </a:solidFill>
                    <a:extLst>
                      <a:ext uri="http://customooxmlschemas.google.com/">
                        <go:slidesCustomData xmlns:go="http://customooxmlschemas.google.com/" cellId="20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70.4K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867E"/>
                    </a:solidFill>
                    <a:extLst>
                      <a:ext uri="http://customooxmlschemas.google.com/">
                        <go:slidesCustomData xmlns:go="http://customooxmlschemas.google.com/" cellId="20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96.1K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FCF9"/>
                    </a:solidFill>
                    <a:extLst>
                      <a:ext uri="http://customooxmlschemas.google.com/">
                        <go:slidesCustomData xmlns:go="http://customooxmlschemas.google.com/" cellId="20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68.3K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0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99.5K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  <a:extLst>
                      <a:ext uri="http://customooxmlschemas.google.com/">
                        <go:slidesCustomData xmlns:go="http://customooxmlschemas.google.com/" cellId="20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95.7K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  <a:extLst>
                      <a:ext uri="http://customooxmlschemas.google.com/">
                        <go:slidesCustomData xmlns:go="http://customooxmlschemas.google.com/" cellId="20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92.0K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20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127.3K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20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126.9K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8C9A1"/>
                    </a:solidFill>
                    <a:extLst>
                      <a:ext uri="http://customooxmlschemas.google.com/">
                        <go:slidesCustomData xmlns:go="http://customooxmlschemas.google.com/" cellId="20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134.8K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08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1.0M</a:t>
                      </a:r>
                      <a:endParaRPr b="1"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1:13"/>
                      </a:ext>
                    </a:extLst>
                  </a:tcPr>
                </a:tc>
              </a:tr>
              <a:tr h="59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136.1K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109.1K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0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113.1K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F87"/>
                    </a:solidFill>
                    <a:extLst>
                      <a:ext uri="http://customooxmlschemas.google.com/">
                        <go:slidesCustomData xmlns:go="http://customooxmlschemas.google.com/" cellId="20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130.4K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9E3E1"/>
                    </a:solidFill>
                    <a:extLst>
                      <a:ext uri="http://customooxmlschemas.google.com/">
                        <go:slidesCustomData xmlns:go="http://customooxmlschemas.google.com/" cellId="20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138.0K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F5EE"/>
                    </a:solidFill>
                    <a:extLst>
                      <a:ext uri="http://customooxmlschemas.google.com/">
                        <go:slidesCustomData xmlns:go="http://customooxmlschemas.google.com/" cellId="20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113.2K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9088"/>
                    </a:solidFill>
                    <a:extLst>
                      <a:ext uri="http://customooxmlschemas.google.com/">
                        <go:slidesCustomData xmlns:go="http://customooxmlschemas.google.com/" cellId="20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138.4K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0F3EA"/>
                    </a:solidFill>
                    <a:extLst>
                      <a:ext uri="http://customooxmlschemas.google.com/">
                        <go:slidesCustomData xmlns:go="http://customooxmlschemas.google.com/" cellId="20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136.5K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208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133.8K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3F3"/>
                    </a:solidFill>
                    <a:extLst>
                      <a:ext uri="http://customooxmlschemas.google.com/">
                        <go:slidesCustomData xmlns:go="http://customooxmlschemas.google.com/" cellId="208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148.4K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08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143.0K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1D9BE"/>
                    </a:solidFill>
                    <a:extLst>
                      <a:ext uri="http://customooxmlschemas.google.com/">
                        <go:slidesCustomData xmlns:go="http://customooxmlschemas.google.com/" cellId="208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1.4M</a:t>
                      </a:r>
                      <a:endParaRPr b="1"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2:13"/>
                      </a:ext>
                    </a:extLst>
                  </a:tcPr>
                </a:tc>
              </a:tr>
              <a:tr h="59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Change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0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57%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37%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31%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85%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44%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66%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39%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43%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45%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17%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13%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40%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8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b8b6cbb570_0_65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109" y="2390775"/>
            <a:ext cx="21478825" cy="70162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descr=" " id="215" name="Google Shape;215;g3b8b6cbb570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6" name="Google Shape;216;g3b8b6cbb570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g3b8b6cbb570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b8b6cbb570_0_6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b8b6cbb570_0_65"/>
          <p:cNvSpPr/>
          <p:nvPr/>
        </p:nvSpPr>
        <p:spPr>
          <a:xfrm>
            <a:off x="406450" y="406400"/>
            <a:ext cx="87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sng" cap="none" strike="noStrike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7"/>
              </a:rPr>
              <a:t>www.vitra.com.tr</a:t>
            </a: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 | Google Search Console Metrikleri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8b6cbb570_0_6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Vitra.com.tr Geçiş Öncesi - 2024 vs 2025 Impression Trendi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21" name="Google Shape;221;g3b8b6cbb570_0_65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Karşılaştırmalar Aralık ayında geçiş olduğu için 11 ay üzerinden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22" name="Google Shape;222;g3b8b6cbb570_0_65"/>
          <p:cNvGraphicFramePr/>
          <p:nvPr/>
        </p:nvGraphicFramePr>
        <p:xfrm>
          <a:off x="1454100" y="96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68970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  <a:gridCol w="1522250"/>
              </a:tblGrid>
              <a:tr h="6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Impression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0:13"/>
                      </a:ext>
                    </a:extLst>
                  </a:tcPr>
                </a:tc>
              </a:tr>
              <a:tr h="6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2024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2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22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1.8M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2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2.0M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AEA9"/>
                    </a:solidFill>
                    <a:extLst>
                      <a:ext uri="http://customooxmlschemas.google.com/">
                        <go:slidesCustomData xmlns:go="http://customooxmlschemas.google.com/" cellId="22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2.0M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A59F"/>
                    </a:solidFill>
                    <a:extLst>
                      <a:ext uri="http://customooxmlschemas.google.com/">
                        <go:slidesCustomData xmlns:go="http://customooxmlschemas.google.com/" cellId="22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2.5M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0DFC8"/>
                    </a:solidFill>
                    <a:extLst>
                      <a:ext uri="http://customooxmlschemas.google.com/">
                        <go:slidesCustomData xmlns:go="http://customooxmlschemas.google.com/" cellId="22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6C2"/>
                    </a:solidFill>
                    <a:extLst>
                      <a:ext uri="http://customooxmlschemas.google.com/">
                        <go:slidesCustomData xmlns:go="http://customooxmlschemas.google.com/" cellId="22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2.6M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CFAB"/>
                    </a:solidFill>
                    <a:extLst>
                      <a:ext uri="http://customooxmlschemas.google.com/">
                        <go:slidesCustomData xmlns:go="http://customooxmlschemas.google.com/" cellId="22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2.4M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AF6"/>
                    </a:solidFill>
                    <a:extLst>
                      <a:ext uri="http://customooxmlschemas.google.com/">
                        <go:slidesCustomData xmlns:go="http://customooxmlschemas.google.com/" cellId="22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7F7"/>
                    </a:solidFill>
                    <a:extLst>
                      <a:ext uri="http://customooxmlschemas.google.com/">
                        <go:slidesCustomData xmlns:go="http://customooxmlschemas.google.com/" cellId="222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2.7M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6C8A0"/>
                    </a:solidFill>
                    <a:extLst>
                      <a:ext uri="http://customooxmlschemas.google.com/">
                        <go:slidesCustomData xmlns:go="http://customooxmlschemas.google.com/" cellId="222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2.6M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BD7B9"/>
                    </a:solidFill>
                    <a:extLst>
                      <a:ext uri="http://customooxmlschemas.google.com/">
                        <go:slidesCustomData xmlns:go="http://customooxmlschemas.google.com/" cellId="222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2.7M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22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25.1M</a:t>
                      </a:r>
                      <a:endParaRPr b="1"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1:13"/>
                      </a:ext>
                    </a:extLst>
                  </a:tcPr>
                </a:tc>
              </a:tr>
              <a:tr h="6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2.8M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8C5"/>
                    </a:solidFill>
                    <a:extLst>
                      <a:ext uri="http://customooxmlschemas.google.com/">
                        <go:slidesCustomData xmlns:go="http://customooxmlschemas.google.com/" cellId="22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2.5M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D75"/>
                    </a:solidFill>
                    <a:extLst>
                      <a:ext uri="http://customooxmlschemas.google.com/">
                        <go:slidesCustomData xmlns:go="http://customooxmlschemas.google.com/" cellId="22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2.5M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2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2.9M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  <a:extLst>
                      <a:ext uri="http://customooxmlschemas.google.com/">
                        <go:slidesCustomData xmlns:go="http://customooxmlschemas.google.com/" cellId="22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3.1M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5"/>
                    </a:solidFill>
                    <a:extLst>
                      <a:ext uri="http://customooxmlschemas.google.com/">
                        <go:slidesCustomData xmlns:go="http://customooxmlschemas.google.com/" cellId="22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2.9M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22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3.3M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4C193"/>
                    </a:solidFill>
                    <a:extLst>
                      <a:ext uri="http://customooxmlschemas.google.com/">
                        <go:slidesCustomData xmlns:go="http://customooxmlschemas.google.com/" cellId="22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3.4M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2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3.1M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22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3.3M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1CCA8"/>
                    </a:solidFill>
                    <a:extLst>
                      <a:ext uri="http://customooxmlschemas.google.com/">
                        <go:slidesCustomData xmlns:go="http://customooxmlschemas.google.com/" cellId="222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3.1M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4"/>
                    </a:solidFill>
                    <a:extLst>
                      <a:ext uri="http://customooxmlschemas.google.com/">
                        <go:slidesCustomData xmlns:go="http://customooxmlschemas.google.com/" cellId="222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32.9M</a:t>
                      </a:r>
                      <a:endParaRPr b="1"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2:13"/>
                      </a:ext>
                    </a:extLst>
                  </a:tcPr>
                </a:tc>
              </a:tr>
              <a:tr h="6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Change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2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33%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38%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23%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47%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24%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35%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28%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42%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34%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24%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22%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31%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22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8f12b07e9_0_64"/>
          <p:cNvSpPr txBox="1"/>
          <p:nvPr/>
        </p:nvSpPr>
        <p:spPr>
          <a:xfrm>
            <a:off x="16324475" y="2401375"/>
            <a:ext cx="7837200" cy="111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Vitra’da 2025 senesinde (11 aylık) toplam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2.1M tıklama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 Tıklamaları geçen seneyle kıyasladığımızda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%20’lik artış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 yılında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en yüksek tıklama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2300">
                <a:latin typeface="Outfit"/>
                <a:ea typeface="Outfit"/>
                <a:cs typeface="Outfit"/>
                <a:sym typeface="Outfit"/>
              </a:rPr>
              <a:t>Ekim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ayında (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218.6K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 gerçekleşmiştir.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En düşük tıklama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ise Şubat ayında (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149.0K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 kaydedilmiştir.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Tıklama tarafında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en güçlü artış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Nisan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ayında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%62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ile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Vitra’da 2025 senesinde (11 aylık) toplam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54.1M görüntülenme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 Görüntülenmeleri geçen yıl ile kıyasladığımızda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%12’lik artış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Görüntülenme tarafında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en güçlü artış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Ağustos ayında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%31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olarak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Genel olarak 2025 yılı,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özellikle Q2 sonrası dönemde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hem tıklama hem görüntülenme tarafında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yukarı yönlü ivmelenme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göstermektedir.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229" name="Google Shape;229;g358f12b07e9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58f12b07e9_0_64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8f12b07e9_0_64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- 2024 vs 2025 Click &amp; Impression Trendi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32" name="Google Shape;232;g358f12b07e9_0_64"/>
          <p:cNvSpPr/>
          <p:nvPr/>
        </p:nvSpPr>
        <p:spPr>
          <a:xfrm>
            <a:off x="406450" y="406400"/>
            <a:ext cx="1591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 Overall  | Domain level Google Search Console Metrikleri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g358f12b07e9_0_64"/>
          <p:cNvGraphicFramePr/>
          <p:nvPr/>
        </p:nvGraphicFramePr>
        <p:xfrm>
          <a:off x="227188" y="812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370450"/>
                <a:gridCol w="992425"/>
                <a:gridCol w="1402225"/>
                <a:gridCol w="1440925"/>
                <a:gridCol w="1071200"/>
                <a:gridCol w="1071200"/>
                <a:gridCol w="1071200"/>
                <a:gridCol w="1071200"/>
                <a:gridCol w="1071200"/>
                <a:gridCol w="1071200"/>
                <a:gridCol w="1071200"/>
                <a:gridCol w="1071200"/>
                <a:gridCol w="1071200"/>
                <a:gridCol w="1071200"/>
              </a:tblGrid>
              <a:tr h="47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Click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Total (11 ay)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0:13"/>
                      </a:ext>
                    </a:extLst>
                  </a:tcPr>
                </a:tc>
              </a:tr>
              <a:tr h="648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2024 Click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D7E6B"/>
                    </a:solidFill>
                    <a:extLst>
                      <a:ext uri="http://customooxmlschemas.google.com/">
                        <go:slidesCustomData xmlns:go="http://customooxmlschemas.google.com/" cellId="23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-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159.4K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2FAF6"/>
                    </a:solidFill>
                    <a:extLst>
                      <a:ext uri="http://customooxmlschemas.google.com/">
                        <go:slidesCustomData xmlns:go="http://customooxmlschemas.google.com/" cellId="23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147.1K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9E4E2"/>
                    </a:solidFill>
                    <a:extLst>
                      <a:ext uri="http://customooxmlschemas.google.com/">
                        <go:slidesCustomData xmlns:go="http://customooxmlschemas.google.com/" cellId="23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118.6K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B83"/>
                    </a:solidFill>
                    <a:extLst>
                      <a:ext uri="http://customooxmlschemas.google.com/">
                        <go:slidesCustomData xmlns:go="http://customooxmlschemas.google.com/" cellId="23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155.6K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113.5K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3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162.2K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  <a:extLst>
                      <a:ext uri="http://customooxmlschemas.google.com/">
                        <go:slidesCustomData xmlns:go="http://customooxmlschemas.google.com/" cellId="233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154.4K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233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148.1K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7E6"/>
                    </a:solidFill>
                    <a:extLst>
                      <a:ext uri="http://customooxmlschemas.google.com/">
                        <go:slidesCustomData xmlns:go="http://customooxmlschemas.google.com/" cellId="233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202.4K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3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193.2K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9C9A1"/>
                    </a:solidFill>
                    <a:extLst>
                      <a:ext uri="http://customooxmlschemas.google.com/">
                        <go:slidesCustomData xmlns:go="http://customooxmlschemas.google.com/" cellId="233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199.4K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2C092"/>
                    </a:solidFill>
                    <a:extLst>
                      <a:ext uri="http://customooxmlschemas.google.com/">
                        <go:slidesCustomData xmlns:go="http://customooxmlschemas.google.com/" cellId="233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1.8M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1:13"/>
                      </a:ext>
                    </a:extLst>
                  </a:tcPr>
                </a:tc>
              </a:tr>
              <a:tr h="69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2025 Click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199.5K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159.0K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165.2K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9088"/>
                    </a:solidFill>
                    <a:extLst>
                      <a:ext uri="http://customooxmlschemas.google.com/">
                        <go:slidesCustomData xmlns:go="http://customooxmlschemas.google.com/" cellId="23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192.2K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8E7"/>
                    </a:solidFill>
                    <a:extLst>
                      <a:ext uri="http://customooxmlschemas.google.com/">
                        <go:slidesCustomData xmlns:go="http://customooxmlschemas.google.com/" cellId="23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194.5K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233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161.3K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837A"/>
                    </a:solidFill>
                    <a:extLst>
                      <a:ext uri="http://customooxmlschemas.google.com/">
                        <go:slidesCustomData xmlns:go="http://customooxmlschemas.google.com/" cellId="233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199.5K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233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201.9K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F5EE"/>
                    </a:solidFill>
                    <a:extLst>
                      <a:ext uri="http://customooxmlschemas.google.com/">
                        <go:slidesCustomData xmlns:go="http://customooxmlschemas.google.com/" cellId="233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198.4K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cellId="233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218.6K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3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208.8K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233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202.9K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233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2.1M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2:13"/>
                      </a:ext>
                    </a:extLst>
                  </a:tcPr>
                </a:tc>
              </a:tr>
              <a:tr h="47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Change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-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EA4335"/>
                          </a:solidFill>
                        </a:rPr>
                        <a:t>0%</a:t>
                      </a:r>
                      <a:endParaRPr sz="20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12%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62%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25%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42%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23%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31%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34%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8%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8%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20%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3:13"/>
                      </a:ext>
                    </a:extLst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2024 Impression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D7E6B"/>
                    </a:solidFill>
                    <a:extLst>
                      <a:ext uri="http://customooxmlschemas.google.com/">
                        <go:slidesCustomData xmlns:go="http://customooxmlschemas.google.com/" cellId="23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-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4.4M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4.2M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CD9"/>
                    </a:solidFill>
                    <a:extLst>
                      <a:ext uri="http://customooxmlschemas.google.com/">
                        <go:slidesCustomData xmlns:go="http://customooxmlschemas.google.com/" cellId="233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3.9M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8F87"/>
                    </a:solidFill>
                    <a:extLst>
                      <a:ext uri="http://customooxmlschemas.google.com/">
                        <go:slidesCustomData xmlns:go="http://customooxmlschemas.google.com/" cellId="233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4.7M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EC49A"/>
                    </a:solidFill>
                    <a:extLst>
                      <a:ext uri="http://customooxmlschemas.google.com/">
                        <go:slidesCustomData xmlns:go="http://customooxmlschemas.google.com/" cellId="233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3.8M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3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4.7M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C295"/>
                    </a:solidFill>
                    <a:extLst>
                      <a:ext uri="http://customooxmlschemas.google.com/">
                        <go:slidesCustomData xmlns:go="http://customooxmlschemas.google.com/" cellId="233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4.3M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1F0"/>
                    </a:solidFill>
                    <a:extLst>
                      <a:ext uri="http://customooxmlschemas.google.com/">
                        <go:slidesCustomData xmlns:go="http://customooxmlschemas.google.com/" cellId="233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4.2M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1CE"/>
                    </a:solidFill>
                    <a:extLst>
                      <a:ext uri="http://customooxmlschemas.google.com/">
                        <go:slidesCustomData xmlns:go="http://customooxmlschemas.google.com/" cellId="233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4.8M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3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EBDD"/>
                    </a:solidFill>
                    <a:extLst>
                      <a:ext uri="http://customooxmlschemas.google.com/">
                        <go:slidesCustomData xmlns:go="http://customooxmlschemas.google.com/" cellId="233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4.6M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AD6B9"/>
                    </a:solidFill>
                    <a:extLst>
                      <a:ext uri="http://customooxmlschemas.google.com/">
                        <go:slidesCustomData xmlns:go="http://customooxmlschemas.google.com/" cellId="233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48.2M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4:13"/>
                      </a:ext>
                    </a:extLst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2025 Impression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4.6M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6E4"/>
                    </a:solidFill>
                    <a:extLst>
                      <a:ext uri="http://customooxmlschemas.google.com/">
                        <go:slidesCustomData xmlns:go="http://customooxmlschemas.google.com/" cellId="23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3.9M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4.0M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8880"/>
                    </a:solidFill>
                    <a:extLst>
                      <a:ext uri="http://customooxmlschemas.google.com/">
                        <go:slidesCustomData xmlns:go="http://customooxmlschemas.google.com/" cellId="233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4.7M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2F1"/>
                    </a:solidFill>
                    <a:extLst>
                      <a:ext uri="http://customooxmlschemas.google.com/">
                        <go:slidesCustomData xmlns:go="http://customooxmlschemas.google.com/" cellId="233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4.9M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4"/>
                    </a:solidFill>
                    <a:extLst>
                      <a:ext uri="http://customooxmlschemas.google.com/">
                        <go:slidesCustomData xmlns:go="http://customooxmlschemas.google.com/" cellId="233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7D4"/>
                    </a:solidFill>
                    <a:extLst>
                      <a:ext uri="http://customooxmlschemas.google.com/">
                        <go:slidesCustomData xmlns:go="http://customooxmlschemas.google.com/" cellId="233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CCAA4"/>
                    </a:solidFill>
                    <a:extLst>
                      <a:ext uri="http://customooxmlschemas.google.com/">
                        <go:slidesCustomData xmlns:go="http://customooxmlschemas.google.com/" cellId="233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5.7M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3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5.4M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ED1B0"/>
                    </a:solidFill>
                    <a:extLst>
                      <a:ext uri="http://customooxmlschemas.google.com/">
                        <go:slidesCustomData xmlns:go="http://customooxmlschemas.google.com/" cellId="233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5.6M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5C194"/>
                    </a:solidFill>
                    <a:extLst>
                      <a:ext uri="http://customooxmlschemas.google.com/">
                        <go:slidesCustomData xmlns:go="http://customooxmlschemas.google.com/" cellId="233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5.4M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8CFAC"/>
                    </a:solidFill>
                    <a:extLst>
                      <a:ext uri="http://customooxmlschemas.google.com/">
                        <go:slidesCustomData xmlns:go="http://customooxmlschemas.google.com/" cellId="233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ECA"/>
                    </a:solidFill>
                    <a:extLst>
                      <a:ext uri="http://customooxmlschemas.google.com/">
                        <go:slidesCustomData xmlns:go="http://customooxmlschemas.google.com/" cellId="233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54.1M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5:13"/>
                      </a:ext>
                    </a:extLst>
                  </a:tcPr>
                </a:tc>
              </a:tr>
              <a:tr h="49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Change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-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EA4335"/>
                          </a:solidFill>
                        </a:rPr>
                        <a:t>-11%</a:t>
                      </a:r>
                      <a:endParaRPr sz="20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EA4335"/>
                          </a:solidFill>
                        </a:rPr>
                        <a:t>-6%</a:t>
                      </a:r>
                      <a:endParaRPr sz="20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20%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3%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18%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16%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31%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29%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18%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21%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-3%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</a:rPr>
                        <a:t>12%</a:t>
                      </a:r>
                      <a:endParaRPr b="1" sz="20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33:6:13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234" name="Google Shape;234;g358f12b07e9_0_64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200" y="2633401"/>
            <a:ext cx="15559501" cy="500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35" name="Google Shape;235;g358f12b07e9_0_64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Karşılaştırmalar ve Toplamlar Ocak datası olmadığı  için 11 ay üzerinden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g3b8b6cbb570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b8b6cbb570_0_11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b8b6cbb570_0_11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- 2025 Aylara Göre Click &amp; Position &amp; CTR Dağılımı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44" name="Google Shape;244;g3b8b6cbb570_0_117"/>
          <p:cNvSpPr/>
          <p:nvPr/>
        </p:nvSpPr>
        <p:spPr>
          <a:xfrm>
            <a:off x="406450" y="406400"/>
            <a:ext cx="1591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 Overall  | Domain level Google Search Console Metrikleri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g3b8b6cbb570_0_117"/>
          <p:cNvGraphicFramePr/>
          <p:nvPr/>
        </p:nvGraphicFramePr>
        <p:xfrm>
          <a:off x="152400" y="983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375750"/>
                <a:gridCol w="1351250"/>
                <a:gridCol w="1099250"/>
                <a:gridCol w="1099250"/>
                <a:gridCol w="1099250"/>
                <a:gridCol w="1099250"/>
                <a:gridCol w="1099250"/>
                <a:gridCol w="1099250"/>
                <a:gridCol w="1099250"/>
                <a:gridCol w="1099250"/>
                <a:gridCol w="1099250"/>
                <a:gridCol w="1099250"/>
                <a:gridCol w="1099250"/>
                <a:gridCol w="1099250"/>
              </a:tblGrid>
              <a:tr h="62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0:13"/>
                      </a:ext>
                    </a:extLst>
                  </a:tcPr>
                </a:tc>
              </a:tr>
              <a:tr h="62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Impression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4.6M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6E4"/>
                    </a:solidFill>
                    <a:extLst>
                      <a:ext uri="http://customooxmlschemas.google.com/">
                        <go:slidesCustomData xmlns:go="http://customooxmlschemas.google.com/" cellId="24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3.9M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4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4.0M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8880"/>
                    </a:solidFill>
                    <a:extLst>
                      <a:ext uri="http://customooxmlschemas.google.com/">
                        <go:slidesCustomData xmlns:go="http://customooxmlschemas.google.com/" cellId="24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4.7M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2F1"/>
                    </a:solidFill>
                    <a:extLst>
                      <a:ext uri="http://customooxmlschemas.google.com/">
                        <go:slidesCustomData xmlns:go="http://customooxmlschemas.google.com/" cellId="24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4.9M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4"/>
                    </a:solidFill>
                    <a:extLst>
                      <a:ext uri="http://customooxmlschemas.google.com/">
                        <go:slidesCustomData xmlns:go="http://customooxmlschemas.google.com/" cellId="24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7D4"/>
                    </a:solidFill>
                    <a:extLst>
                      <a:ext uri="http://customooxmlschemas.google.com/">
                        <go:slidesCustomData xmlns:go="http://customooxmlschemas.google.com/" cellId="245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CCAA4"/>
                    </a:solidFill>
                    <a:extLst>
                      <a:ext uri="http://customooxmlschemas.google.com/">
                        <go:slidesCustomData xmlns:go="http://customooxmlschemas.google.com/" cellId="245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5.7M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45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5.4M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ED1B0"/>
                    </a:solidFill>
                    <a:extLst>
                      <a:ext uri="http://customooxmlschemas.google.com/">
                        <go:slidesCustomData xmlns:go="http://customooxmlschemas.google.com/" cellId="245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5.6M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5C194"/>
                    </a:solidFill>
                    <a:extLst>
                      <a:ext uri="http://customooxmlschemas.google.com/">
                        <go:slidesCustomData xmlns:go="http://customooxmlschemas.google.com/" cellId="245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5.4M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8CFAC"/>
                    </a:solidFill>
                    <a:extLst>
                      <a:ext uri="http://customooxmlschemas.google.com/">
                        <go:slidesCustomData xmlns:go="http://customooxmlschemas.google.com/" cellId="245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4.5M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ECA"/>
                    </a:solidFill>
                    <a:extLst>
                      <a:ext uri="http://customooxmlschemas.google.com/">
                        <go:slidesCustomData xmlns:go="http://customooxmlschemas.google.com/" cellId="245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58.7M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45:1:13"/>
                      </a:ext>
                    </a:extLst>
                  </a:tcPr>
                </a:tc>
              </a:tr>
              <a:tr h="62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Total Click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199.5K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24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159.0K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4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165.2K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9088"/>
                    </a:solidFill>
                    <a:extLst>
                      <a:ext uri="http://customooxmlschemas.google.com/">
                        <go:slidesCustomData xmlns:go="http://customooxmlschemas.google.com/" cellId="24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192.2K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8E7"/>
                    </a:solidFill>
                    <a:extLst>
                      <a:ext uri="http://customooxmlschemas.google.com/">
                        <go:slidesCustomData xmlns:go="http://customooxmlschemas.google.com/" cellId="245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194.5K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245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161.3K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837A"/>
                    </a:solidFill>
                    <a:extLst>
                      <a:ext uri="http://customooxmlschemas.google.com/">
                        <go:slidesCustomData xmlns:go="http://customooxmlschemas.google.com/" cellId="245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199.5K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245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201.9K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F5EE"/>
                    </a:solidFill>
                    <a:extLst>
                      <a:ext uri="http://customooxmlschemas.google.com/">
                        <go:slidesCustomData xmlns:go="http://customooxmlschemas.google.com/" cellId="245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198.4K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cellId="245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218.6K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45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208.8K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245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202.9K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245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2.3M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45:2:13"/>
                      </a:ext>
                    </a:extLst>
                  </a:tcPr>
                </a:tc>
              </a:tr>
              <a:tr h="62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Position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8.8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48D"/>
                    </a:solidFill>
                    <a:extLst>
                      <a:ext uri="http://customooxmlschemas.google.com/">
                        <go:slidesCustomData xmlns:go="http://customooxmlschemas.google.com/" cellId="24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8.5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5AF"/>
                    </a:solidFill>
                    <a:extLst>
                      <a:ext uri="http://customooxmlschemas.google.com/">
                        <go:slidesCustomData xmlns:go="http://customooxmlschemas.google.com/" cellId="24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7.1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6EEE3"/>
                    </a:solidFill>
                    <a:extLst>
                      <a:ext uri="http://customooxmlschemas.google.com/">
                        <go:slidesCustomData xmlns:go="http://customooxmlschemas.google.com/" cellId="24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8.3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7C4"/>
                    </a:solidFill>
                    <a:extLst>
                      <a:ext uri="http://customooxmlschemas.google.com/">
                        <go:slidesCustomData xmlns:go="http://customooxmlschemas.google.com/" cellId="245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9.1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45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8.8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B95"/>
                    </a:solidFill>
                    <a:extLst>
                      <a:ext uri="http://customooxmlschemas.google.com/">
                        <go:slidesCustomData xmlns:go="http://customooxmlschemas.google.com/" cellId="245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8.1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9DEDC"/>
                    </a:solidFill>
                    <a:extLst>
                      <a:ext uri="http://customooxmlschemas.google.com/">
                        <go:slidesCustomData xmlns:go="http://customooxmlschemas.google.com/" cellId="245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7.5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  <a:extLst>
                      <a:ext uri="http://customooxmlschemas.google.com/">
                        <go:slidesCustomData xmlns:go="http://customooxmlschemas.google.com/" cellId="245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5.6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0CBA6"/>
                    </a:solidFill>
                    <a:extLst>
                      <a:ext uri="http://customooxmlschemas.google.com/">
                        <go:slidesCustomData xmlns:go="http://customooxmlschemas.google.com/" cellId="245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4.8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45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5.3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1C59C"/>
                    </a:solidFill>
                    <a:extLst>
                      <a:ext uri="http://customooxmlschemas.google.com/">
                        <go:slidesCustomData xmlns:go="http://customooxmlschemas.google.com/" cellId="245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7.0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4EDE1"/>
                    </a:solidFill>
                    <a:extLst>
                      <a:ext uri="http://customooxmlschemas.google.com/">
                        <go:slidesCustomData xmlns:go="http://customooxmlschemas.google.com/" cellId="245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7.4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45:3:13"/>
                      </a:ext>
                    </a:extLst>
                  </a:tcPr>
                </a:tc>
              </a:tr>
              <a:tr h="62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CTR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4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4.7%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45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4.4%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  <a:extLst>
                      <a:ext uri="http://customooxmlschemas.google.com/">
                        <go:slidesCustomData xmlns:go="http://customooxmlschemas.google.com/" cellId="245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DBC0"/>
                    </a:solidFill>
                    <a:extLst>
                      <a:ext uri="http://customooxmlschemas.google.com/">
                        <go:slidesCustomData xmlns:go="http://customooxmlschemas.google.com/" cellId="245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4.5%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E5D3"/>
                    </a:solidFill>
                    <a:extLst>
                      <a:ext uri="http://customooxmlschemas.google.com/">
                        <go:slidesCustomData xmlns:go="http://customooxmlschemas.google.com/" cellId="245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4.3%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245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3.9%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45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4.0%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58E"/>
                    </a:solidFill>
                    <a:extLst>
                      <a:ext uri="http://customooxmlschemas.google.com/">
                        <go:slidesCustomData xmlns:go="http://customooxmlschemas.google.com/" cellId="245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4.0%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8279"/>
                    </a:solidFill>
                    <a:extLst>
                      <a:ext uri="http://customooxmlschemas.google.com/">
                        <go:slidesCustomData xmlns:go="http://customooxmlschemas.google.com/" cellId="245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4.1%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5B0"/>
                    </a:solidFill>
                    <a:extLst>
                      <a:ext uri="http://customooxmlschemas.google.com/">
                        <go:slidesCustomData xmlns:go="http://customooxmlschemas.google.com/" cellId="245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4.4%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245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4.2%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4D1"/>
                    </a:solidFill>
                    <a:extLst>
                      <a:ext uri="http://customooxmlschemas.google.com/">
                        <go:slidesCustomData xmlns:go="http://customooxmlschemas.google.com/" cellId="245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4.7%</a:t>
                      </a:r>
                      <a:endParaRPr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C49A"/>
                    </a:solidFill>
                    <a:extLst>
                      <a:ext uri="http://customooxmlschemas.google.com/">
                        <go:slidesCustomData xmlns:go="http://customooxmlschemas.google.com/" cellId="245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4.3%</a:t>
                      </a:r>
                      <a:endParaRPr b="1" sz="20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45:4:13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246" name="Google Shape;246;g3b8b6cbb570_0_117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305550"/>
            <a:ext cx="15917998" cy="672319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47" name="Google Shape;247;g3b8b6cbb570_0_117"/>
          <p:cNvSpPr txBox="1"/>
          <p:nvPr/>
        </p:nvSpPr>
        <p:spPr>
          <a:xfrm>
            <a:off x="16324475" y="2305550"/>
            <a:ext cx="7837200" cy="111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2025 senesinde toplam 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58.7M 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görüntülenme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gerçekleşmiştir. </a:t>
            </a:r>
            <a:r>
              <a:rPr b="1" i="0" lang="en-US" sz="22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En yüksek 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görüntülenme 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Ağustos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ayında (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5.7M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gerçekleşmiştir, </a:t>
            </a:r>
            <a:r>
              <a:rPr b="0" i="0" lang="en-US" sz="22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en düşük görüntülenme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ise 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Şubat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ayında (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3.9M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 seviyesindedir.</a:t>
            </a:r>
            <a:endParaRPr b="0" i="0" sz="2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Yılın ikinci yarısında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gösterim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hacminin belirgin şekilde </a:t>
            </a:r>
            <a:r>
              <a:rPr b="1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yükseldiği</a:t>
            </a:r>
            <a: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görülmektedir. </a:t>
            </a:r>
            <a:br>
              <a:rPr b="0" i="0" lang="en-US" sz="2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 senesinde toplam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2.3M tıklama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</a:t>
            </a:r>
            <a:r>
              <a:rPr b="1" i="0" lang="en-US" sz="22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En  yüksek tıklama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Ekim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ayında (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218.6K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 , 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en düşük tıklama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ise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Şubat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ayında (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159.0K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 kaydedilmiştir.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Tıklama trendi özellikle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Temmuz–Kasım döneminde 200K+ 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stabil seyretmiştir.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Q4 döneminde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trafik seviyesinin yüksek bantta korunduğu görülmektedir.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Ortalama pozisyon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2025 genelinde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7.4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seviyesindedir.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Eylül–Kasım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döneminde pozisyon tarafında </a:t>
            </a:r>
            <a:r>
              <a:rPr b="1" i="0" lang="en-US" sz="22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güçlü iyileşme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dikkat çekmektedir.</a:t>
            </a:r>
            <a:b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 yılı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ortalama CTR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oranı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%4.3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seviyesindedir.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Pozisyon iyileşmesine paralel olarak özellikle </a:t>
            </a:r>
            <a:b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Q4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döneminde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CTR’ın </a:t>
            </a:r>
            <a:r>
              <a:rPr b="1" i="0" lang="en-US" sz="22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yeniden yükseldiği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3" name="Google Shape;253;g3b8b6cbb570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b8b6cbb570_0_10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b8b6cbb570_0_10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- 2025 Brand &amp; Non-Brand Click Dağılımı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56" name="Google Shape;256;g3b8b6cbb570_0_103"/>
          <p:cNvSpPr/>
          <p:nvPr/>
        </p:nvSpPr>
        <p:spPr>
          <a:xfrm>
            <a:off x="406450" y="406400"/>
            <a:ext cx="1591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 Overall  | Domain level Google Search Console Metrikleri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3b8b6cbb570_0_103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100" y="2462950"/>
            <a:ext cx="23394176" cy="707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258" name="Google Shape;258;g3b8b6cbb570_0_103"/>
          <p:cNvGraphicFramePr/>
          <p:nvPr/>
        </p:nvGraphicFramePr>
        <p:xfrm>
          <a:off x="602100" y="984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020575"/>
                <a:gridCol w="1355650"/>
                <a:gridCol w="1535525"/>
                <a:gridCol w="1535525"/>
                <a:gridCol w="1535525"/>
                <a:gridCol w="1535525"/>
                <a:gridCol w="1535525"/>
                <a:gridCol w="1535525"/>
                <a:gridCol w="1535525"/>
                <a:gridCol w="1535525"/>
                <a:gridCol w="1535525"/>
                <a:gridCol w="1535525"/>
                <a:gridCol w="1535525"/>
                <a:gridCol w="1535525"/>
              </a:tblGrid>
              <a:tr h="54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0:13"/>
                      </a:ext>
                    </a:extLst>
                  </a:tcPr>
                </a:tc>
              </a:tr>
              <a:tr h="54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Impression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4.6M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CFC"/>
                    </a:solidFill>
                    <a:extLst>
                      <a:ext uri="http://customooxmlschemas.google.com/">
                        <go:slidesCustomData xmlns:go="http://customooxmlschemas.google.com/" cellId="25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3.9M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25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4.0M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9E8"/>
                    </a:solidFill>
                    <a:extLst>
                      <a:ext uri="http://customooxmlschemas.google.com/">
                        <go:slidesCustomData xmlns:go="http://customooxmlschemas.google.com/" cellId="25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4.7M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4.9M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3F4EB"/>
                    </a:solidFill>
                    <a:extLst>
                      <a:ext uri="http://customooxmlschemas.google.com/">
                        <go:slidesCustomData xmlns:go="http://customooxmlschemas.google.com/" cellId="25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9F9"/>
                    </a:solidFill>
                    <a:extLst>
                      <a:ext uri="http://customooxmlschemas.google.com/">
                        <go:slidesCustomData xmlns:go="http://customooxmlschemas.google.com/" cellId="25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9C9A2"/>
                    </a:solidFill>
                    <a:extLst>
                      <a:ext uri="http://customooxmlschemas.google.com/">
                        <go:slidesCustomData xmlns:go="http://customooxmlschemas.google.com/" cellId="25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5.7M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5.4M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9D0AD"/>
                    </a:solidFill>
                    <a:extLst>
                      <a:ext uri="http://customooxmlschemas.google.com/">
                        <go:slidesCustomData xmlns:go="http://customooxmlschemas.google.com/" cellId="25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5.6M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4C193"/>
                    </a:solidFill>
                    <a:extLst>
                      <a:ext uri="http://customooxmlschemas.google.com/">
                        <go:slidesCustomData xmlns:go="http://customooxmlschemas.google.com/" cellId="25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5.4M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3CDA9"/>
                    </a:solidFill>
                    <a:extLst>
                      <a:ext uri="http://customooxmlschemas.google.com/">
                        <go:slidesCustomData xmlns:go="http://customooxmlschemas.google.com/" cellId="25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7F7"/>
                    </a:solidFill>
                    <a:extLst>
                      <a:ext uri="http://customooxmlschemas.google.com/">
                        <go:slidesCustomData xmlns:go="http://customooxmlschemas.google.com/" cellId="258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58.7M</a:t>
                      </a:r>
                      <a:endParaRPr b="1"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1:13"/>
                      </a:ext>
                    </a:extLst>
                  </a:tcPr>
                </a:tc>
              </a:tr>
              <a:tr h="54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 Click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199.5K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159.0K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165.2K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9088"/>
                    </a:solidFill>
                    <a:extLst>
                      <a:ext uri="http://customooxmlschemas.google.com/">
                        <go:slidesCustomData xmlns:go="http://customooxmlschemas.google.com/" cellId="25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192.2K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8E7"/>
                    </a:solidFill>
                    <a:extLst>
                      <a:ext uri="http://customooxmlschemas.google.com/">
                        <go:slidesCustomData xmlns:go="http://customooxmlschemas.google.com/" cellId="25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194.5K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25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161.3K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837A"/>
                    </a:solidFill>
                    <a:extLst>
                      <a:ext uri="http://customooxmlschemas.google.com/">
                        <go:slidesCustomData xmlns:go="http://customooxmlschemas.google.com/" cellId="25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199.5K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25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201.9K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F5EE"/>
                    </a:solidFill>
                    <a:extLst>
                      <a:ext uri="http://customooxmlschemas.google.com/">
                        <go:slidesCustomData xmlns:go="http://customooxmlschemas.google.com/" cellId="258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198.4K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cellId="258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218.6K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8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208.8K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258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202.9K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258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2.3M</a:t>
                      </a:r>
                      <a:endParaRPr b="1"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2:13"/>
                      </a:ext>
                    </a:extLst>
                  </a:tcPr>
                </a:tc>
              </a:tr>
              <a:tr h="54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Non - Brand Click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145.1K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9D7"/>
                    </a:solidFill>
                    <a:extLst>
                      <a:ext uri="http://customooxmlschemas.google.com/">
                        <go:slidesCustomData xmlns:go="http://customooxmlschemas.google.com/" cellId="25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122.4K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128.9K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68F"/>
                    </a:solidFill>
                    <a:extLst>
                      <a:ext uri="http://customooxmlschemas.google.com/">
                        <go:slidesCustomData xmlns:go="http://customooxmlschemas.google.com/" cellId="25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150.4K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EFEE"/>
                    </a:solidFill>
                    <a:extLst>
                      <a:ext uri="http://customooxmlschemas.google.com/">
                        <go:slidesCustomData xmlns:go="http://customooxmlschemas.google.com/" cellId="25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151.7K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25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125.5K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8880"/>
                    </a:solidFill>
                    <a:extLst>
                      <a:ext uri="http://customooxmlschemas.google.com/">
                        <go:slidesCustomData xmlns:go="http://customooxmlschemas.google.com/" cellId="25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156.5K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F8F2"/>
                    </a:solidFill>
                    <a:extLst>
                      <a:ext uri="http://customooxmlschemas.google.com/">
                        <go:slidesCustomData xmlns:go="http://customooxmlschemas.google.com/" cellId="25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160.3K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CEBDC"/>
                    </a:solidFill>
                    <a:extLst>
                      <a:ext uri="http://customooxmlschemas.google.com/">
                        <go:slidesCustomData xmlns:go="http://customooxmlschemas.google.com/" cellId="258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159.3K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5EEE2"/>
                    </a:solidFill>
                    <a:extLst>
                      <a:ext uri="http://customooxmlschemas.google.com/">
                        <go:slidesCustomData xmlns:go="http://customooxmlschemas.google.com/" cellId="258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174.5K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8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165.2K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4DBC0"/>
                    </a:solidFill>
                    <a:extLst>
                      <a:ext uri="http://customooxmlschemas.google.com/">
                        <go:slidesCustomData xmlns:go="http://customooxmlschemas.google.com/" cellId="258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163.0K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6E2CC"/>
                    </a:solidFill>
                    <a:extLst>
                      <a:ext uri="http://customooxmlschemas.google.com/">
                        <go:slidesCustomData xmlns:go="http://customooxmlschemas.google.com/" cellId="258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1.8M</a:t>
                      </a:r>
                      <a:endParaRPr b="1"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3:13"/>
                      </a:ext>
                    </a:extLst>
                  </a:tcPr>
                </a:tc>
              </a:tr>
              <a:tr h="54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Brand Click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54.5K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5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36.6K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D85"/>
                    </a:solidFill>
                    <a:extLst>
                      <a:ext uri="http://customooxmlschemas.google.com/">
                        <go:slidesCustomData xmlns:go="http://customooxmlschemas.google.com/" cellId="25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36.3K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8880"/>
                    </a:solidFill>
                    <a:extLst>
                      <a:ext uri="http://customooxmlschemas.google.com/">
                        <go:slidesCustomData xmlns:go="http://customooxmlschemas.google.com/" cellId="25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41.7K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5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42.7K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FAF6"/>
                    </a:solidFill>
                    <a:extLst>
                      <a:ext uri="http://customooxmlschemas.google.com/">
                        <go:slidesCustomData xmlns:go="http://customooxmlschemas.google.com/" cellId="25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35.8K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5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43.0K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  <a:extLst>
                      <a:ext uri="http://customooxmlschemas.google.com/">
                        <go:slidesCustomData xmlns:go="http://customooxmlschemas.google.com/" cellId="258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41.6K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cellId="258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39.1K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5C1"/>
                    </a:solidFill>
                    <a:extLst>
                      <a:ext uri="http://customooxmlschemas.google.com/">
                        <go:slidesCustomData xmlns:go="http://customooxmlschemas.google.com/" cellId="258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44.1K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0F3E9"/>
                    </a:solidFill>
                    <a:extLst>
                      <a:ext uri="http://customooxmlschemas.google.com/">
                        <go:slidesCustomData xmlns:go="http://customooxmlschemas.google.com/" cellId="258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43.6K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F5EE"/>
                    </a:solidFill>
                    <a:extLst>
                      <a:ext uri="http://customooxmlschemas.google.com/">
                        <go:slidesCustomData xmlns:go="http://customooxmlschemas.google.com/" cellId="258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39.9K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7D4"/>
                    </a:solidFill>
                    <a:extLst>
                      <a:ext uri="http://customooxmlschemas.google.com/">
                        <go:slidesCustomData xmlns:go="http://customooxmlschemas.google.com/" cellId="258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498.8K</a:t>
                      </a:r>
                      <a:endParaRPr b="1"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4:13"/>
                      </a:ext>
                    </a:extLst>
                  </a:tcPr>
                </a:tc>
              </a:tr>
              <a:tr h="54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Non-Brand / Total %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5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73%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77%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78%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78%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78%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78%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78%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79%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80%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80%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79%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80%</a:t>
                      </a:r>
                      <a:endParaRPr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78%</a:t>
                      </a:r>
                      <a:endParaRPr b="1" sz="2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58:5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64" name="Google Shape;264;g3b8b6cbb570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5" name="Google Shape;265;g3b8b6cbb570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6" name="Google Shape;266;g3b8b6cbb570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b8b6cbb570_0_1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b8b6cbb570_0_13"/>
          <p:cNvSpPr/>
          <p:nvPr/>
        </p:nvSpPr>
        <p:spPr>
          <a:xfrm>
            <a:off x="406450" y="406400"/>
            <a:ext cx="87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Online.VitrA | Google Search Console Metrikleri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b8b6cbb570_0_1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Online Vitra - 2025 Click &amp; Impression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70" name="Google Shape;270;g3b8b6cbb570_0_13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9538" y="2435350"/>
            <a:ext cx="21608100" cy="705851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271" name="Google Shape;271;g3b8b6cbb570_0_13"/>
          <p:cNvGraphicFramePr/>
          <p:nvPr/>
        </p:nvGraphicFramePr>
        <p:xfrm>
          <a:off x="1389538" y="977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774575"/>
                <a:gridCol w="1549725"/>
                <a:gridCol w="1662150"/>
                <a:gridCol w="1662150"/>
                <a:gridCol w="1662150"/>
                <a:gridCol w="1662150"/>
                <a:gridCol w="1662150"/>
                <a:gridCol w="1662150"/>
                <a:gridCol w="1662150"/>
                <a:gridCol w="1662150"/>
                <a:gridCol w="1662150"/>
                <a:gridCol w="1662150"/>
                <a:gridCol w="1662150"/>
              </a:tblGrid>
              <a:tr h="56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Date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Grand 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0:12"/>
                      </a:ext>
                    </a:extLst>
                  </a:tcPr>
                </a:tc>
              </a:tr>
              <a:tr h="56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 Clicks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63.5K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27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49.9K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D85"/>
                    </a:solidFill>
                    <a:extLst>
                      <a:ext uri="http://customooxmlschemas.google.com/">
                        <go:slidesCustomData xmlns:go="http://customooxmlschemas.google.com/" cellId="27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52.1K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A39C"/>
                    </a:solidFill>
                    <a:extLst>
                      <a:ext uri="http://customooxmlschemas.google.com/">
                        <go:slidesCustomData xmlns:go="http://customooxmlschemas.google.com/" cellId="27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61.8K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7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56.5K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DC9"/>
                    </a:solidFill>
                    <a:extLst>
                      <a:ext uri="http://customooxmlschemas.google.com/">
                        <go:slidesCustomData xmlns:go="http://customooxmlschemas.google.com/" cellId="27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48.0K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71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61.1K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8F7"/>
                    </a:solidFill>
                    <a:extLst>
                      <a:ext uri="http://customooxmlschemas.google.com/">
                        <go:slidesCustomData xmlns:go="http://customooxmlschemas.google.com/" cellId="271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6E2CC"/>
                    </a:solidFill>
                    <a:extLst>
                      <a:ext uri="http://customooxmlschemas.google.com/">
                        <go:slidesCustomData xmlns:go="http://customooxmlschemas.google.com/" cellId="271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64.6K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6E8D8"/>
                    </a:solidFill>
                    <a:extLst>
                      <a:ext uri="http://customooxmlschemas.google.com/">
                        <go:slidesCustomData xmlns:go="http://customooxmlschemas.google.com/" cellId="271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70.2K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71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FDFC8"/>
                    </a:solidFill>
                    <a:extLst>
                      <a:ext uri="http://customooxmlschemas.google.com/">
                        <go:slidesCustomData xmlns:go="http://customooxmlschemas.google.com/" cellId="271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658.9K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1:12"/>
                      </a:ext>
                    </a:extLst>
                  </a:tcPr>
                </a:tc>
              </a:tr>
              <a:tr h="56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CTR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3.6%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3.5%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3.5%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3.4%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3.2%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2.9%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2.8%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2.8%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2.8%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3.0%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2.8%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3.2%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2:12"/>
                      </a:ext>
                    </a:extLst>
                  </a:tcPr>
                </a:tc>
              </a:tr>
              <a:tr h="56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Position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4.6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3:12"/>
                      </a:ext>
                    </a:extLst>
                  </a:tcPr>
                </a:tc>
              </a:tr>
              <a:tr h="569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Impressions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7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8F8"/>
                    </a:solidFill>
                    <a:extLst>
                      <a:ext uri="http://customooxmlschemas.google.com/">
                        <go:slidesCustomData xmlns:go="http://customooxmlschemas.google.com/" cellId="27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1.4M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7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9C95"/>
                    </a:solidFill>
                    <a:extLst>
                      <a:ext uri="http://customooxmlschemas.google.com/">
                        <go:slidesCustomData xmlns:go="http://customooxmlschemas.google.com/" cellId="27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71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1.7M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C"/>
                    </a:solidFill>
                    <a:extLst>
                      <a:ext uri="http://customooxmlschemas.google.com/">
                        <go:slidesCustomData xmlns:go="http://customooxmlschemas.google.com/" cellId="271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1.7M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ECB"/>
                    </a:solidFill>
                    <a:extLst>
                      <a:ext uri="http://customooxmlschemas.google.com/">
                        <go:slidesCustomData xmlns:go="http://customooxmlschemas.google.com/" cellId="271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0D2B2"/>
                    </a:solidFill>
                    <a:extLst>
                      <a:ext uri="http://customooxmlschemas.google.com/">
                        <go:slidesCustomData xmlns:go="http://customooxmlschemas.google.com/" cellId="271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71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0BF91"/>
                    </a:solidFill>
                    <a:extLst>
                      <a:ext uri="http://customooxmlschemas.google.com/">
                        <go:slidesCustomData xmlns:go="http://customooxmlschemas.google.com/" cellId="271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ABD8C"/>
                    </a:solidFill>
                    <a:extLst>
                      <a:ext uri="http://customooxmlschemas.google.com/">
                        <go:slidesCustomData xmlns:go="http://customooxmlschemas.google.com/" cellId="271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DBE8F"/>
                    </a:solidFill>
                    <a:extLst>
                      <a:ext uri="http://customooxmlschemas.google.com/">
                        <go:slidesCustomData xmlns:go="http://customooxmlschemas.google.com/" cellId="271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21.3M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71:4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5fe1d6387_0_13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Karşılaştırmalarda Aralık ayında geçiş olduğu ve 2024 Ocak ayı verileri olmadığı için 10 ay üzerinden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278" name="Google Shape;278;g355fe1d638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9" name="Google Shape;279;g355fe1d6387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0" name="Google Shape;280;g355fe1d6387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55fe1d6387_0_1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55fe1d6387_0_13"/>
          <p:cNvSpPr/>
          <p:nvPr/>
        </p:nvSpPr>
        <p:spPr>
          <a:xfrm>
            <a:off x="406450" y="406400"/>
            <a:ext cx="87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Online.VitrA | Google Search Console Metrikleri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55fe1d6387_0_1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Online Vitra - 2024 vs 2025 Click Trendi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84" name="Google Shape;284;g355fe1d6387_0_13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988" y="2323638"/>
            <a:ext cx="22157051" cy="72378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285" name="Google Shape;285;g355fe1d6387_0_13"/>
          <p:cNvGraphicFramePr/>
          <p:nvPr/>
        </p:nvGraphicFramePr>
        <p:xfrm>
          <a:off x="1115038" y="9871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599900"/>
                <a:gridCol w="1358400"/>
              </a:tblGrid>
              <a:tr h="62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Click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0:13"/>
                      </a:ext>
                    </a:extLst>
                  </a:tcPr>
                </a:tc>
              </a:tr>
              <a:tr h="62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2024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8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79.9K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8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60.7K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8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48.3K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A958E"/>
                    </a:solidFill>
                    <a:extLst>
                      <a:ext uri="http://customooxmlschemas.google.com/">
                        <go:slidesCustomData xmlns:go="http://customooxmlschemas.google.com/" cellId="28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59.5K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4F4"/>
                    </a:solidFill>
                    <a:extLst>
                      <a:ext uri="http://customooxmlschemas.google.com/">
                        <go:slidesCustomData xmlns:go="http://customooxmlschemas.google.com/" cellId="28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45.2K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85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62.7K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  <a:extLst>
                      <a:ext uri="http://customooxmlschemas.google.com/">
                        <go:slidesCustomData xmlns:go="http://customooxmlschemas.google.com/" cellId="285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58.7K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EDEC"/>
                    </a:solidFill>
                    <a:extLst>
                      <a:ext uri="http://customooxmlschemas.google.com/">
                        <go:slidesCustomData xmlns:go="http://customooxmlschemas.google.com/" cellId="285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56.1K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8D5"/>
                    </a:solidFill>
                    <a:extLst>
                      <a:ext uri="http://customooxmlschemas.google.com/">
                        <go:slidesCustomData xmlns:go="http://customooxmlschemas.google.com/" cellId="285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75.1K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2CDA8"/>
                    </a:solidFill>
                    <a:extLst>
                      <a:ext uri="http://customooxmlschemas.google.com/">
                        <go:slidesCustomData xmlns:go="http://customooxmlschemas.google.com/" cellId="285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66.2K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FECDE"/>
                    </a:solidFill>
                    <a:extLst>
                      <a:ext uri="http://customooxmlschemas.google.com/">
                        <go:slidesCustomData xmlns:go="http://customooxmlschemas.google.com/" cellId="285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64.7K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DF2E7"/>
                    </a:solidFill>
                    <a:extLst>
                      <a:ext uri="http://customooxmlschemas.google.com/">
                        <go:slidesCustomData xmlns:go="http://customooxmlschemas.google.com/" cellId="285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612.4K</a:t>
                      </a:r>
                      <a:endParaRPr b="1"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1:13"/>
                      </a:ext>
                    </a:extLst>
                  </a:tcPr>
                </a:tc>
              </a:tr>
              <a:tr h="62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63.5K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28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49.9K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D85"/>
                    </a:solidFill>
                    <a:extLst>
                      <a:ext uri="http://customooxmlschemas.google.com/">
                        <go:slidesCustomData xmlns:go="http://customooxmlschemas.google.com/" cellId="28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52.1K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A39C"/>
                    </a:solidFill>
                    <a:extLst>
                      <a:ext uri="http://customooxmlschemas.google.com/">
                        <go:slidesCustomData xmlns:go="http://customooxmlschemas.google.com/" cellId="28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61.8K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85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56.5K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CC9"/>
                    </a:solidFill>
                    <a:extLst>
                      <a:ext uri="http://customooxmlschemas.google.com/">
                        <go:slidesCustomData xmlns:go="http://customooxmlschemas.google.com/" cellId="285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48.0K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85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61.1K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8F7"/>
                    </a:solidFill>
                    <a:extLst>
                      <a:ext uri="http://customooxmlschemas.google.com/">
                        <go:slidesCustomData xmlns:go="http://customooxmlschemas.google.com/" cellId="285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65.4K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6E2CC"/>
                    </a:solidFill>
                    <a:extLst>
                      <a:ext uri="http://customooxmlschemas.google.com/">
                        <go:slidesCustomData xmlns:go="http://customooxmlschemas.google.com/" cellId="285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64.6K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6E8D8"/>
                    </a:solidFill>
                    <a:extLst>
                      <a:ext uri="http://customooxmlschemas.google.com/">
                        <go:slidesCustomData xmlns:go="http://customooxmlschemas.google.com/" cellId="285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70.2K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85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65.8K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FDFC8"/>
                    </a:solidFill>
                    <a:extLst>
                      <a:ext uri="http://customooxmlschemas.google.com/">
                        <go:slidesCustomData xmlns:go="http://customooxmlschemas.google.com/" cellId="285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595.4K</a:t>
                      </a:r>
                      <a:endParaRPr b="1"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2:13"/>
                      </a:ext>
                    </a:extLst>
                  </a:tcPr>
                </a:tc>
              </a:tr>
              <a:tr h="62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Change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8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-38%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-14%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28%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-5%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6%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-3%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11%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15%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-7%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-1%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EA4335"/>
                          </a:solidFill>
                        </a:rPr>
                        <a:t>-2.8%</a:t>
                      </a:r>
                      <a:endParaRPr b="1"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5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1" name="Google Shape;291;g3b8b6cbb570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2" name="Google Shape;292;g3b8b6cbb570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3" name="Google Shape;293;g3b8b6cbb570_0_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b8b6cbb570_0_3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b8b6cbb570_0_36"/>
          <p:cNvSpPr/>
          <p:nvPr/>
        </p:nvSpPr>
        <p:spPr>
          <a:xfrm>
            <a:off x="406450" y="406400"/>
            <a:ext cx="87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Online.VitrA | Google Search Console Metrikleri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b8b6cbb570_0_36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Online Vitra - 2024 vs 2025 Impression Trendi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297" name="Google Shape;297;g3b8b6cbb570_0_36" title="Chart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4088" y="2390775"/>
            <a:ext cx="21478851" cy="701629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298" name="Google Shape;298;g3b8b6cbb570_0_36"/>
          <p:cNvGraphicFramePr/>
          <p:nvPr/>
        </p:nvGraphicFramePr>
        <p:xfrm>
          <a:off x="1454200" y="96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755925"/>
                <a:gridCol w="1345925"/>
                <a:gridCol w="1550925"/>
                <a:gridCol w="1550925"/>
                <a:gridCol w="1550925"/>
                <a:gridCol w="1550925"/>
                <a:gridCol w="1550925"/>
                <a:gridCol w="1550925"/>
                <a:gridCol w="1550925"/>
                <a:gridCol w="1550925"/>
                <a:gridCol w="1550925"/>
                <a:gridCol w="1550925"/>
                <a:gridCol w="1550925"/>
                <a:gridCol w="1316825"/>
              </a:tblGrid>
              <a:tr h="6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Impression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0:13"/>
                      </a:ext>
                    </a:extLst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2024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9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2.6M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9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2.2M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7E2CD"/>
                    </a:solidFill>
                    <a:extLst>
                      <a:ext uri="http://customooxmlschemas.google.com/">
                        <go:slidesCustomData xmlns:go="http://customooxmlschemas.google.com/" cellId="29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1.9M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29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2.2M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  <a:extLst>
                      <a:ext uri="http://customooxmlschemas.google.com/">
                        <go:slidesCustomData xmlns:go="http://customooxmlschemas.google.com/" cellId="29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1.7M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9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8EFE4"/>
                    </a:solidFill>
                    <a:extLst>
                      <a:ext uri="http://customooxmlschemas.google.com/">
                        <go:slidesCustomData xmlns:go="http://customooxmlschemas.google.com/" cellId="29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2.0M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9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1.9M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6D3"/>
                    </a:solidFill>
                    <a:extLst>
                      <a:ext uri="http://customooxmlschemas.google.com/">
                        <go:slidesCustomData xmlns:go="http://customooxmlschemas.google.com/" cellId="29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  <a:extLst>
                      <a:ext uri="http://customooxmlschemas.google.com/">
                        <go:slidesCustomData xmlns:go="http://customooxmlschemas.google.com/" cellId="29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1.9M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29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1.9M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DCD9"/>
                    </a:solidFill>
                    <a:extLst>
                      <a:ext uri="http://customooxmlschemas.google.com/">
                        <go:slidesCustomData xmlns:go="http://customooxmlschemas.google.com/" cellId="298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20.6M</a:t>
                      </a:r>
                      <a:endParaRPr b="1"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1:13"/>
                      </a:ext>
                    </a:extLst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1.8M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1.4M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9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1.5M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A928A"/>
                    </a:solidFill>
                    <a:extLst>
                      <a:ext uri="http://customooxmlschemas.google.com/">
                        <go:slidesCustomData xmlns:go="http://customooxmlschemas.google.com/" cellId="29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1.8M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  <a:extLst>
                      <a:ext uri="http://customooxmlschemas.google.com/">
                        <go:slidesCustomData xmlns:go="http://customooxmlschemas.google.com/" cellId="29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1.7M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8C5"/>
                    </a:solidFill>
                    <a:extLst>
                      <a:ext uri="http://customooxmlschemas.google.com/">
                        <go:slidesCustomData xmlns:go="http://customooxmlschemas.google.com/" cellId="29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1.7M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B4AF"/>
                    </a:solidFill>
                    <a:extLst>
                      <a:ext uri="http://customooxmlschemas.google.com/">
                        <go:slidesCustomData xmlns:go="http://customooxmlschemas.google.com/" cellId="29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2.1M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CDEC5"/>
                    </a:solidFill>
                    <a:extLst>
                      <a:ext uri="http://customooxmlschemas.google.com/">
                        <go:slidesCustomData xmlns:go="http://customooxmlschemas.google.com/" cellId="29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98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5C194"/>
                    </a:solidFill>
                    <a:extLst>
                      <a:ext uri="http://customooxmlschemas.google.com/">
                        <go:slidesCustomData xmlns:go="http://customooxmlschemas.google.com/" cellId="298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BBD8D"/>
                    </a:solidFill>
                    <a:extLst>
                      <a:ext uri="http://customooxmlschemas.google.com/">
                        <go:slidesCustomData xmlns:go="http://customooxmlschemas.google.com/" cellId="298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2.3M</a:t>
                      </a:r>
                      <a:endParaRPr sz="2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0BF91"/>
                    </a:solidFill>
                    <a:extLst>
                      <a:ext uri="http://customooxmlschemas.google.com/">
                        <go:slidesCustomData xmlns:go="http://customooxmlschemas.google.com/" cellId="298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19.5M</a:t>
                      </a:r>
                      <a:endParaRPr b="1"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2:13"/>
                      </a:ext>
                    </a:extLst>
                  </a:tcPr>
                </a:tc>
              </a:tr>
              <a:tr h="6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3F3F3"/>
                          </a:solidFill>
                        </a:rPr>
                        <a:t>Change</a:t>
                      </a:r>
                      <a:endParaRPr sz="26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9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-46%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-33%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-7%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-20%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-4%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19%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22%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10%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34A853"/>
                          </a:solidFill>
                        </a:rPr>
                        <a:t>20%</a:t>
                      </a:r>
                      <a:endParaRPr b="1" sz="26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-</a:t>
                      </a:r>
                      <a:endParaRPr sz="26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EA4335"/>
                          </a:solidFill>
                        </a:rPr>
                        <a:t>-5.4%</a:t>
                      </a:r>
                      <a:endParaRPr sz="2600" u="none" cap="none" strike="noStrike">
                        <a:solidFill>
                          <a:srgbClr val="EA433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98:3:13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299" name="Google Shape;299;g3b8b6cbb570_0_36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Karşılaştırmalarda Aralık ayında geçiş olduğu ve 2024 Ocak ayı verileri olmadığı için 10 ay üzerinden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05" name="Google Shape;305;g33d7f9d02ad_1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3d7f9d02ad_1_92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7" name="Google Shape;307;g33d7f9d02ad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04385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3d7f9d02ad_1_92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9" name="Google Shape;309;g33d7f9d02ad_1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6184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3d7f9d02ad_1_92"/>
          <p:cNvSpPr/>
          <p:nvPr/>
        </p:nvSpPr>
        <p:spPr>
          <a:xfrm>
            <a:off x="-1826900" y="4884600"/>
            <a:ext cx="10063800" cy="3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04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3d7f9d02ad_1_92"/>
          <p:cNvSpPr/>
          <p:nvPr/>
        </p:nvSpPr>
        <p:spPr>
          <a:xfrm>
            <a:off x="2808613" y="5768075"/>
            <a:ext cx="1876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GA4 - Organik Trafik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17" name="Google Shape;317;g3b8b6cbb570_0_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b8b6cbb570_0_256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 Property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b8b6cbb570_0_256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2024 vs 2025 Kanal Bazında Karşılaştırma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320" name="Google Shape;320;g3b8b6cbb570_0_256"/>
          <p:cNvGraphicFramePr/>
          <p:nvPr/>
        </p:nvGraphicFramePr>
        <p:xfrm>
          <a:off x="168475" y="25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428100"/>
                <a:gridCol w="1149400"/>
                <a:gridCol w="1149400"/>
                <a:gridCol w="1149400"/>
                <a:gridCol w="1149400"/>
                <a:gridCol w="1149400"/>
                <a:gridCol w="1149400"/>
                <a:gridCol w="1248625"/>
                <a:gridCol w="1268475"/>
                <a:gridCol w="1169225"/>
                <a:gridCol w="1089875"/>
                <a:gridCol w="1050175"/>
                <a:gridCol w="1070025"/>
              </a:tblGrid>
              <a:tr h="93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Session default channel group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2024 Sessions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2025 Sessions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Session Change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2024 Revenue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2025 Revenue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Revenue Change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2024 Transaction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2025 Transaction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Transaction Change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2024 ECR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2025 ECR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ECR Change</a:t>
                      </a:r>
                      <a:endParaRPr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0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Organic Search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583.9K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8C296"/>
                    </a:solidFill>
                    <a:extLst>
                      <a:ext uri="http://customooxmlschemas.google.com/">
                        <go:slidesCustomData xmlns:go="http://customooxmlschemas.google.com/" cellId="32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783.2K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2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34%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5.1M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B79"/>
                    </a:solidFill>
                    <a:extLst>
                      <a:ext uri="http://customooxmlschemas.google.com/">
                        <go:slidesCustomData xmlns:go="http://customooxmlschemas.google.com/" cellId="320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6.8M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970"/>
                    </a:solidFill>
                    <a:extLst>
                      <a:ext uri="http://customooxmlschemas.google.com/">
                        <go:slidesCustomData xmlns:go="http://customooxmlschemas.google.com/" cellId="320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34%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714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18F"/>
                    </a:solidFill>
                    <a:extLst>
                      <a:ext uri="http://customooxmlschemas.google.com/">
                        <go:slidesCustomData xmlns:go="http://customooxmlschemas.google.com/" cellId="320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743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768"/>
                    </a:solidFill>
                    <a:extLst>
                      <a:ext uri="http://customooxmlschemas.google.com/">
                        <go:slidesCustomData xmlns:go="http://customooxmlschemas.google.com/" cellId="320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4%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0.12%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E6ED"/>
                    </a:solidFill>
                    <a:extLst>
                      <a:ext uri="http://customooxmlschemas.google.com/">
                        <go:slidesCustomData xmlns:go="http://customooxmlschemas.google.com/" cellId="320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0.09%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DEE8"/>
                    </a:solidFill>
                    <a:extLst>
                      <a:ext uri="http://customooxmlschemas.google.com/">
                        <go:slidesCustomData xmlns:go="http://customooxmlschemas.google.com/" cellId="320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-22%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Paid Search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729.8K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2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515.8K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74C79F"/>
                    </a:solidFill>
                    <a:extLst>
                      <a:ext uri="http://customooxmlschemas.google.com/">
                        <go:slidesCustomData xmlns:go="http://customooxmlschemas.google.com/" cellId="32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-29%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6.6M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20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7.8M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20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18%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969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20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748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20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-23%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0.13%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E4EB"/>
                    </a:solidFill>
                    <a:extLst>
                      <a:ext uri="http://customooxmlschemas.google.com/">
                        <go:slidesCustomData xmlns:go="http://customooxmlschemas.google.com/" cellId="320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0.15%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CDDB"/>
                    </a:solidFill>
                    <a:extLst>
                      <a:ext uri="http://customooxmlschemas.google.com/">
                        <go:slidesCustomData xmlns:go="http://customooxmlschemas.google.com/" cellId="320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9%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2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Organic Social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156.6K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AD6B9"/>
                    </a:solidFill>
                    <a:extLst>
                      <a:ext uri="http://customooxmlschemas.google.com/">
                        <go:slidesCustomData xmlns:go="http://customooxmlschemas.google.com/" cellId="32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306.9K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BD0AF"/>
                    </a:solidFill>
                    <a:extLst>
                      <a:ext uri="http://customooxmlschemas.google.com/">
                        <go:slidesCustomData xmlns:go="http://customooxmlschemas.google.com/" cellId="32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96%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260.5K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2"/>
                    </a:solidFill>
                    <a:extLst>
                      <a:ext uri="http://customooxmlschemas.google.com/">
                        <go:slidesCustomData xmlns:go="http://customooxmlschemas.google.com/" cellId="320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576.0K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AAE"/>
                    </a:solidFill>
                    <a:extLst>
                      <a:ext uri="http://customooxmlschemas.google.com/">
                        <go:slidesCustomData xmlns:go="http://customooxmlschemas.google.com/" cellId="320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121%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7"/>
                    </a:solidFill>
                    <a:extLst>
                      <a:ext uri="http://customooxmlschemas.google.com/">
                        <go:slidesCustomData xmlns:go="http://customooxmlschemas.google.com/" cellId="320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6"/>
                    </a:solidFill>
                    <a:extLst>
                      <a:ext uri="http://customooxmlschemas.google.com/">
                        <go:slidesCustomData xmlns:go="http://customooxmlschemas.google.com/" cellId="320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-8%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0.03%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9FB"/>
                    </a:solidFill>
                    <a:extLst>
                      <a:ext uri="http://customooxmlschemas.google.com/">
                        <go:slidesCustomData xmlns:go="http://customooxmlschemas.google.com/" cellId="320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0.02%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AFC"/>
                    </a:solidFill>
                    <a:extLst>
                      <a:ext uri="http://customooxmlschemas.google.com/">
                        <go:slidesCustomData xmlns:go="http://customooxmlschemas.google.com/" cellId="320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-53%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3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Direct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286.3K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BD0AF"/>
                    </a:solidFill>
                    <a:extLst>
                      <a:ext uri="http://customooxmlschemas.google.com/">
                        <go:slidesCustomData xmlns:go="http://customooxmlschemas.google.com/" cellId="32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247.7K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1D3B3"/>
                    </a:solidFill>
                    <a:extLst>
                      <a:ext uri="http://customooxmlschemas.google.com/">
                        <go:slidesCustomData xmlns:go="http://customooxmlschemas.google.com/" cellId="32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6.3M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76A"/>
                    </a:solidFill>
                    <a:extLst>
                      <a:ext uri="http://customooxmlschemas.google.com/">
                        <go:slidesCustomData xmlns:go="http://customooxmlschemas.google.com/" cellId="320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5.7M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C7B"/>
                    </a:solidFill>
                    <a:extLst>
                      <a:ext uri="http://customooxmlschemas.google.com/">
                        <go:slidesCustomData xmlns:go="http://customooxmlschemas.google.com/" cellId="320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892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A73"/>
                    </a:solidFill>
                    <a:extLst>
                      <a:ext uri="http://customooxmlschemas.google.com/">
                        <go:slidesCustomData xmlns:go="http://customooxmlschemas.google.com/" cellId="320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624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D80"/>
                    </a:solidFill>
                    <a:extLst>
                      <a:ext uri="http://customooxmlschemas.google.com/">
                        <go:slidesCustomData xmlns:go="http://customooxmlschemas.google.com/" cellId="320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-30%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0.31%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BED0"/>
                    </a:solidFill>
                    <a:extLst>
                      <a:ext uri="http://customooxmlschemas.google.com/">
                        <go:slidesCustomData xmlns:go="http://customooxmlschemas.google.com/" cellId="320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0.25%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7A7C0"/>
                    </a:solidFill>
                    <a:extLst>
                      <a:ext uri="http://customooxmlschemas.google.com/">
                        <go:slidesCustomData xmlns:go="http://customooxmlschemas.google.com/" cellId="320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-19%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4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Unassigned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44.4K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7DCC3"/>
                    </a:solidFill>
                    <a:extLst>
                      <a:ext uri="http://customooxmlschemas.google.com/">
                        <go:slidesCustomData xmlns:go="http://customooxmlschemas.google.com/" cellId="32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48.9K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7DCC2"/>
                    </a:solidFill>
                    <a:extLst>
                      <a:ext uri="http://customooxmlschemas.google.com/">
                        <go:slidesCustomData xmlns:go="http://customooxmlschemas.google.com/" cellId="32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10%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832.1K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9AB"/>
                    </a:solidFill>
                    <a:extLst>
                      <a:ext uri="http://customooxmlschemas.google.com/">
                        <go:slidesCustomData xmlns:go="http://customooxmlschemas.google.com/" cellId="320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948.5K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9AA"/>
                    </a:solidFill>
                    <a:extLst>
                      <a:ext uri="http://customooxmlschemas.google.com/">
                        <go:slidesCustomData xmlns:go="http://customooxmlschemas.google.com/" cellId="320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14%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BEE"/>
                    </a:solidFill>
                    <a:extLst>
                      <a:ext uri="http://customooxmlschemas.google.com/">
                        <go:slidesCustomData xmlns:go="http://customooxmlschemas.google.com/" cellId="320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AEC"/>
                    </a:solidFill>
                    <a:extLst>
                      <a:ext uri="http://customooxmlschemas.google.com/">
                        <go:slidesCustomData xmlns:go="http://customooxmlschemas.google.com/" cellId="320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-18%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0.25%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CAD9"/>
                    </a:solidFill>
                    <a:extLst>
                      <a:ext uri="http://customooxmlschemas.google.com/">
                        <go:slidesCustomData xmlns:go="http://customooxmlschemas.google.com/" cellId="320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0.19%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BDD0"/>
                    </a:solidFill>
                    <a:extLst>
                      <a:ext uri="http://customooxmlschemas.google.com/">
                        <go:slidesCustomData xmlns:go="http://customooxmlschemas.google.com/" cellId="320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-25%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5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Organic Shopping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7.7K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2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14.6K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ADDC5"/>
                    </a:solidFill>
                    <a:extLst>
                      <a:ext uri="http://customooxmlschemas.google.com/">
                        <go:slidesCustomData xmlns:go="http://customooxmlschemas.google.com/" cellId="32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89%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274.1K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2"/>
                    </a:solidFill>
                    <a:extLst>
                      <a:ext uri="http://customooxmlschemas.google.com/">
                        <go:slidesCustomData xmlns:go="http://customooxmlschemas.google.com/" cellId="320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383.5K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0"/>
                    </a:solidFill>
                    <a:extLst>
                      <a:ext uri="http://customooxmlschemas.google.com/">
                        <go:slidesCustomData xmlns:go="http://customooxmlschemas.google.com/" cellId="320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40%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EFA"/>
                    </a:solidFill>
                    <a:extLst>
                      <a:ext uri="http://customooxmlschemas.google.com/">
                        <go:slidesCustomData xmlns:go="http://customooxmlschemas.google.com/" cellId="320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55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320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62%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0.44%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5A3BD"/>
                    </a:solidFill>
                    <a:extLst>
                      <a:ext uri="http://customooxmlschemas.google.com/">
                        <go:slidesCustomData xmlns:go="http://customooxmlschemas.google.com/" cellId="320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0.38%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  <a:extLst>
                      <a:ext uri="http://customooxmlschemas.google.com/">
                        <go:slidesCustomData xmlns:go="http://customooxmlschemas.google.com/" cellId="320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6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Mobile Push Not.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13.5K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20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20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-45%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23.5K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CF0"/>
                    </a:solidFill>
                    <a:extLst>
                      <a:ext uri="http://customooxmlschemas.google.com/">
                        <go:slidesCustomData xmlns:go="http://customooxmlschemas.google.com/" cellId="320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134.5K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2"/>
                    </a:solidFill>
                    <a:extLst>
                      <a:ext uri="http://customooxmlschemas.google.com/">
                        <go:slidesCustomData xmlns:go="http://customooxmlschemas.google.com/" cellId="320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473%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20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20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0.06%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3F7"/>
                    </a:solidFill>
                    <a:extLst>
                      <a:ext uri="http://customooxmlschemas.google.com/">
                        <go:slidesCustomData xmlns:go="http://customooxmlschemas.google.com/" cellId="320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0.09%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DFE8"/>
                    </a:solidFill>
                    <a:extLst>
                      <a:ext uri="http://customooxmlschemas.google.com/">
                        <go:slidesCustomData xmlns:go="http://customooxmlschemas.google.com/" cellId="320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58%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7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Referral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12.0K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20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6.8K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20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-44%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117.3K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CB4"/>
                    </a:solidFill>
                    <a:extLst>
                      <a:ext uri="http://customooxmlschemas.google.com/">
                        <go:slidesCustomData xmlns:go="http://customooxmlschemas.google.com/" cellId="320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26.1K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20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-78%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EF9"/>
                    </a:solidFill>
                    <a:extLst>
                      <a:ext uri="http://customooxmlschemas.google.com/">
                        <go:slidesCustomData xmlns:go="http://customooxmlschemas.google.com/" cellId="320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D"/>
                    </a:solidFill>
                    <a:extLst>
                      <a:ext uri="http://customooxmlschemas.google.com/">
                        <go:slidesCustomData xmlns:go="http://customooxmlschemas.google.com/" cellId="320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-75%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0.33%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FB9CD"/>
                    </a:solidFill>
                    <a:extLst>
                      <a:ext uri="http://customooxmlschemas.google.com/">
                        <go:slidesCustomData xmlns:go="http://customooxmlschemas.google.com/" cellId="320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0.15%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CCDA"/>
                    </a:solidFill>
                    <a:extLst>
                      <a:ext uri="http://customooxmlschemas.google.com/">
                        <go:slidesCustomData xmlns:go="http://customooxmlschemas.google.com/" cellId="320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-56%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8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Cross-network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88.0K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2DABF"/>
                    </a:solidFill>
                    <a:extLst>
                      <a:ext uri="http://customooxmlschemas.google.com/">
                        <go:slidesCustomData xmlns:go="http://customooxmlschemas.google.com/" cellId="320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5.1K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320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-94%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170.4K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20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73.7K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20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-57%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EFB"/>
                    </a:solidFill>
                    <a:extLst>
                      <a:ext uri="http://customooxmlschemas.google.com/">
                        <go:slidesCustomData xmlns:go="http://customooxmlschemas.google.com/" cellId="320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20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-70%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0.03%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9FB"/>
                    </a:solidFill>
                    <a:extLst>
                      <a:ext uri="http://customooxmlschemas.google.com/">
                        <go:slidesCustomData xmlns:go="http://customooxmlschemas.google.com/" cellId="320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0.16%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C9D8"/>
                    </a:solidFill>
                    <a:extLst>
                      <a:ext uri="http://customooxmlschemas.google.com/">
                        <go:slidesCustomData xmlns:go="http://customooxmlschemas.google.com/" cellId="320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411%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9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Paid Other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4.3K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1ECDF"/>
                    </a:solidFill>
                    <a:extLst>
                      <a:ext uri="http://customooxmlschemas.google.com/">
                        <go:slidesCustomData xmlns:go="http://customooxmlschemas.google.com/" cellId="320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1.4K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  <a:extLst>
                      <a:ext uri="http://customooxmlschemas.google.com/">
                        <go:slidesCustomData xmlns:go="http://customooxmlschemas.google.com/" cellId="320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-67%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186.5K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20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3.4K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6"/>
                    </a:solidFill>
                    <a:extLst>
                      <a:ext uri="http://customooxmlschemas.google.com/">
                        <go:slidesCustomData xmlns:go="http://customooxmlschemas.google.com/" cellId="320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-98%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EFB"/>
                    </a:solidFill>
                    <a:extLst>
                      <a:ext uri="http://customooxmlschemas.google.com/">
                        <go:slidesCustomData xmlns:go="http://customooxmlschemas.google.com/" cellId="320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-93%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0.63%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  <a:extLst>
                      <a:ext uri="http://customooxmlschemas.google.com/">
                        <go:slidesCustomData xmlns:go="http://customooxmlschemas.google.com/" cellId="320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0.14%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CEDC"/>
                    </a:solidFill>
                    <a:extLst>
                      <a:ext uri="http://customooxmlschemas.google.com/">
                        <go:slidesCustomData xmlns:go="http://customooxmlschemas.google.com/" cellId="320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-77%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0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Paid Social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3.0K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FF2E9"/>
                    </a:solidFill>
                    <a:extLst>
                      <a:ext uri="http://customooxmlschemas.google.com/">
                        <go:slidesCustomData xmlns:go="http://customooxmlschemas.google.com/" cellId="320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602.0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FBF9"/>
                    </a:solidFill>
                    <a:extLst>
                      <a:ext uri="http://customooxmlschemas.google.com/">
                        <go:slidesCustomData xmlns:go="http://customooxmlschemas.google.com/" cellId="320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-80%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4.9K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C"/>
                    </a:solidFill>
                    <a:extLst>
                      <a:ext uri="http://customooxmlschemas.google.com/">
                        <go:slidesCustomData xmlns:go="http://customooxmlschemas.google.com/" cellId="320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0.03%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8FA"/>
                    </a:solidFill>
                    <a:extLst>
                      <a:ext uri="http://customooxmlschemas.google.com/">
                        <go:slidesCustomData xmlns:go="http://customooxmlschemas.google.com/" cellId="320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1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Email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4.6K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EEBDD"/>
                    </a:solidFill>
                    <a:extLst>
                      <a:ext uri="http://customooxmlschemas.google.com/">
                        <go:slidesCustomData xmlns:go="http://customooxmlschemas.google.com/" cellId="320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134.0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FFE"/>
                    </a:solidFill>
                    <a:extLst>
                      <a:ext uri="http://customooxmlschemas.google.com/">
                        <go:slidesCustomData xmlns:go="http://customooxmlschemas.google.com/" cellId="320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-97%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118.0K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320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D"/>
                    </a:solidFill>
                    <a:extLst>
                      <a:ext uri="http://customooxmlschemas.google.com/">
                        <go:slidesCustomData xmlns:go="http://customooxmlschemas.google.com/" cellId="320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0.37%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BB1C7"/>
                    </a:solidFill>
                    <a:extLst>
                      <a:ext uri="http://customooxmlschemas.google.com/">
                        <go:slidesCustomData xmlns:go="http://customooxmlschemas.google.com/" cellId="320:1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2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Organic Video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79.0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67.0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20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-15%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3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SMS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41.0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4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Display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5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Paid Video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1.9K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F7F1"/>
                    </a:solidFill>
                    <a:extLst>
                      <a:ext uri="http://customooxmlschemas.google.com/">
                        <go:slidesCustomData xmlns:go="http://customooxmlschemas.google.com/" cellId="320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6.8K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EFB"/>
                    </a:solidFill>
                    <a:extLst>
                      <a:ext uri="http://customooxmlschemas.google.com/">
                        <go:slidesCustomData xmlns:go="http://customooxmlschemas.google.com/" cellId="320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0.05%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5F8"/>
                    </a:solidFill>
                    <a:extLst>
                      <a:ext uri="http://customooxmlschemas.google.com/">
                        <go:slidesCustomData xmlns:go="http://customooxmlschemas.google.com/" cellId="320:1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6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Paid Shopping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348.0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  <a:extLst>
                      <a:ext uri="http://customooxmlschemas.google.com/">
                        <go:slidesCustomData xmlns:go="http://customooxmlschemas.google.com/" cellId="320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F0000"/>
                          </a:solidFill>
                        </a:rPr>
                        <a:t>-100%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0.0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0%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20:1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-%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7:12"/>
                      </a:ext>
                    </a:extLst>
                  </a:tcPr>
                </a:tc>
              </a:tr>
              <a:tr h="51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2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20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1.9M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1.9M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0%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20.1M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22.5M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34A853"/>
                          </a:solidFill>
                        </a:rPr>
                        <a:t>12%</a:t>
                      </a:r>
                      <a:endParaRPr b="1" sz="1900" u="none" cap="none" strike="noStrike">
                        <a:solidFill>
                          <a:srgbClr val="34A85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20:1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2,894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2,337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-19%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0.15%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/>
                        <a:t>0.12%</a:t>
                      </a:r>
                      <a:endParaRPr b="1" sz="19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0000"/>
                          </a:solidFill>
                        </a:rPr>
                        <a:t>-19%</a:t>
                      </a:r>
                      <a:endParaRPr b="1"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20:18:12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321" name="Google Shape;321;g3b8b6cbb570_0_256"/>
          <p:cNvSpPr txBox="1"/>
          <p:nvPr/>
        </p:nvSpPr>
        <p:spPr>
          <a:xfrm>
            <a:off x="16569525" y="2504400"/>
            <a:ext cx="7559700" cy="10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Vitra’da 2025 senesinde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1.9M session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 Session sayısı önceki yıla göre aynı kalmıştır (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%0 değişim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2025’te toplam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22.5M ₺ gelir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elde edilmiştir. Gelir tarafında geçen seneye göre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%12 artış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2.337 transaction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 Satın alım sayısı geçen seneye göre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-%19 düşmüştür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ECR oranı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%0.15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’ten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%0.12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’ye gerilemiştir (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-%19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). Daha az işlemle daha yüksek gelir elde edilmesi,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ortalama sepet tutarında artış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olduğunu göstermektedir.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Search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kanalında </a:t>
            </a:r>
            <a:r>
              <a:rPr b="0" i="0" lang="en-US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session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 %34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 gelir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 %34 artmıştır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Transaction tarafında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%4 artış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görülürken ECR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-%22 düşmüştür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Paid Search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kanalında session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-%29 düşmüş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gelir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%18 artmıştır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Transaction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-%23 düşerken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ECR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%9 artmıştır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Social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kanalında session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%96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gelir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%121 artmıştır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Ancak transaction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-%8 düşmüş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ECR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-%53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gerilemiştir.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kanalında session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-%13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gelir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-%9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transaction </a:t>
            </a:r>
            <a:r>
              <a:rPr b="0" i="0" lang="en-US" sz="21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-%30 düşmüştür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 tarafında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zayıflama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Shopping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kanalında session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%89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gelir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%40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transaction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%62 artmıştır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2025’te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 güçlü büyüme gösteren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kanallardan biri olmuştur.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2" name="Google Shape;322;g3b8b6cbb570_0_256"/>
          <p:cNvSpPr txBox="1"/>
          <p:nvPr/>
        </p:nvSpPr>
        <p:spPr>
          <a:xfrm>
            <a:off x="2015875" y="13120250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China’dan gelen bot trafiği exclude edilmiştir.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8" name="Google Shape;328;g3b8b6cbb570_0_7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b8b6cbb570_0_759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b8b6cbb570_0_759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b8b6cbb570_0_759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Kanal Bazında Metrikler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332" name="Google Shape;332;g3b8b6cbb570_0_759"/>
          <p:cNvGraphicFramePr/>
          <p:nvPr/>
        </p:nvGraphicFramePr>
        <p:xfrm>
          <a:off x="406450" y="265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613875"/>
                <a:gridCol w="1444125"/>
                <a:gridCol w="1444125"/>
                <a:gridCol w="1444125"/>
                <a:gridCol w="1444125"/>
                <a:gridCol w="1444125"/>
                <a:gridCol w="1444125"/>
                <a:gridCol w="1444125"/>
                <a:gridCol w="1444125"/>
                <a:gridCol w="1444125"/>
              </a:tblGrid>
              <a:tr h="139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Session default channel group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Revenue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Share %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Share %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ECR %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Purchases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Average purchase revenue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Bounce rate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Average session duration (s)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0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Search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6.8M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C7A"/>
                    </a:solidFill>
                    <a:extLst>
                      <a:ext uri="http://customooxmlschemas.google.com/">
                        <go:slidesCustomData xmlns:go="http://customooxmlschemas.google.com/" cellId="33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783.2K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3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DEE8"/>
                    </a:solidFill>
                    <a:extLst>
                      <a:ext uri="http://customooxmlschemas.google.com/">
                        <go:slidesCustomData xmlns:go="http://customooxmlschemas.google.com/" cellId="33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743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768"/>
                    </a:solidFill>
                    <a:extLst>
                      <a:ext uri="http://customooxmlschemas.google.com/">
                        <go:slidesCustomData xmlns:go="http://customooxmlschemas.google.com/" cellId="33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₺9,174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cellId="33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8F8"/>
                    </a:solidFill>
                    <a:extLst>
                      <a:ext uri="http://customooxmlschemas.google.com/">
                        <go:slidesCustomData xmlns:go="http://customooxmlschemas.google.com/" cellId="33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229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2C9"/>
                    </a:solidFill>
                    <a:extLst>
                      <a:ext uri="http://customooxmlschemas.google.com/">
                        <go:slidesCustomData xmlns:go="http://customooxmlschemas.google.com/" cellId="332:1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Paid Search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7.8M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3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34.7%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515.8K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1D3B2"/>
                    </a:solidFill>
                    <a:extLst>
                      <a:ext uri="http://customooxmlschemas.google.com/">
                        <go:slidesCustomData xmlns:go="http://customooxmlschemas.google.com/" cellId="33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26.6%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CDDB"/>
                    </a:solidFill>
                    <a:extLst>
                      <a:ext uri="http://customooxmlschemas.google.com/">
                        <go:slidesCustomData xmlns:go="http://customooxmlschemas.google.com/" cellId="33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748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3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₺10,457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9BDFA"/>
                    </a:solidFill>
                    <a:extLst>
                      <a:ext uri="http://customooxmlschemas.google.com/">
                        <go:slidesCustomData xmlns:go="http://customooxmlschemas.google.com/" cellId="33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5F4"/>
                    </a:solidFill>
                    <a:extLst>
                      <a:ext uri="http://customooxmlschemas.google.com/">
                        <go:slidesCustomData xmlns:go="http://customooxmlschemas.google.com/" cellId="33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261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7B8C0"/>
                    </a:solidFill>
                    <a:extLst>
                      <a:ext uri="http://customooxmlschemas.google.com/">
                        <go:slidesCustomData xmlns:go="http://customooxmlschemas.google.com/" cellId="332:2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Social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576.0K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33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2.6%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306.9K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EE5D2"/>
                    </a:solidFill>
                    <a:extLst>
                      <a:ext uri="http://customooxmlschemas.google.com/">
                        <go:slidesCustomData xmlns:go="http://customooxmlschemas.google.com/" cellId="33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15.8%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AFC"/>
                    </a:solidFill>
                    <a:extLst>
                      <a:ext uri="http://customooxmlschemas.google.com/">
                        <go:slidesCustomData xmlns:go="http://customooxmlschemas.google.com/" cellId="33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6"/>
                    </a:solidFill>
                    <a:extLst>
                      <a:ext uri="http://customooxmlschemas.google.com/">
                        <go:slidesCustomData xmlns:go="http://customooxmlschemas.google.com/" cellId="33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₺12,256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B2F8"/>
                    </a:solidFill>
                    <a:extLst>
                      <a:ext uri="http://customooxmlschemas.google.com/">
                        <go:slidesCustomData xmlns:go="http://customooxmlschemas.google.com/" cellId="33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58E"/>
                    </a:solidFill>
                    <a:extLst>
                      <a:ext uri="http://customooxmlschemas.google.com/">
                        <go:slidesCustomData xmlns:go="http://customooxmlschemas.google.com/" cellId="33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7F8"/>
                    </a:solidFill>
                    <a:extLst>
                      <a:ext uri="http://customooxmlschemas.google.com/">
                        <go:slidesCustomData xmlns:go="http://customooxmlschemas.google.com/" cellId="332:3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Direct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5.7M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18F"/>
                    </a:solidFill>
                    <a:extLst>
                      <a:ext uri="http://customooxmlschemas.google.com/">
                        <go:slidesCustomData xmlns:go="http://customooxmlschemas.google.com/" cellId="33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25.5%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247.7K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AEADB"/>
                    </a:solidFill>
                    <a:extLst>
                      <a:ext uri="http://customooxmlschemas.google.com/">
                        <go:slidesCustomData xmlns:go="http://customooxmlschemas.google.com/" cellId="33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12.8%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0.25%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7A7C0"/>
                    </a:solidFill>
                    <a:extLst>
                      <a:ext uri="http://customooxmlschemas.google.com/">
                        <go:slidesCustomData xmlns:go="http://customooxmlschemas.google.com/" cellId="332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624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D80"/>
                    </a:solidFill>
                    <a:extLst>
                      <a:ext uri="http://customooxmlschemas.google.com/">
                        <go:slidesCustomData xmlns:go="http://customooxmlschemas.google.com/" cellId="332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₺9,213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cellId="332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3E1"/>
                    </a:solidFill>
                    <a:extLst>
                      <a:ext uri="http://customooxmlschemas.google.com/">
                        <go:slidesCustomData xmlns:go="http://customooxmlschemas.google.com/" cellId="332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5B7BF"/>
                    </a:solidFill>
                    <a:extLst>
                      <a:ext uri="http://customooxmlschemas.google.com/">
                        <go:slidesCustomData xmlns:go="http://customooxmlschemas.google.com/" cellId="332:4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Unassigned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948.5K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BED"/>
                    </a:solidFill>
                    <a:extLst>
                      <a:ext uri="http://customooxmlschemas.google.com/">
                        <go:slidesCustomData xmlns:go="http://customooxmlschemas.google.com/" cellId="33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4.2%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48.9K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33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2.5%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BDD0"/>
                    </a:solidFill>
                    <a:extLst>
                      <a:ext uri="http://customooxmlschemas.google.com/">
                        <go:slidesCustomData xmlns:go="http://customooxmlschemas.google.com/" cellId="332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AEC"/>
                    </a:solidFill>
                    <a:extLst>
                      <a:ext uri="http://customooxmlschemas.google.com/">
                        <go:slidesCustomData xmlns:go="http://customooxmlschemas.google.com/" cellId="332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₺10,199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BBFFA"/>
                    </a:solidFill>
                    <a:extLst>
                      <a:ext uri="http://customooxmlschemas.google.com/">
                        <go:slidesCustomData xmlns:go="http://customooxmlschemas.google.com/" cellId="332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2CF"/>
                    </a:solidFill>
                    <a:extLst>
                      <a:ext uri="http://customooxmlschemas.google.com/">
                        <go:slidesCustomData xmlns:go="http://customooxmlschemas.google.com/" cellId="332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206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0C9CF"/>
                    </a:solidFill>
                    <a:extLst>
                      <a:ext uri="http://customooxmlschemas.google.com/">
                        <go:slidesCustomData xmlns:go="http://customooxmlschemas.google.com/" cellId="332:5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Shopping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383.5K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  <a:extLst>
                      <a:ext uri="http://customooxmlschemas.google.com/">
                        <go:slidesCustomData xmlns:go="http://customooxmlschemas.google.com/" cellId="33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1.7%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14.6K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  <a:extLst>
                      <a:ext uri="http://customooxmlschemas.google.com/">
                        <go:slidesCustomData xmlns:go="http://customooxmlschemas.google.com/" cellId="33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  <a:extLst>
                      <a:ext uri="http://customooxmlschemas.google.com/">
                        <go:slidesCustomData xmlns:go="http://customooxmlschemas.google.com/" cellId="332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332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₺6,972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BD3FC"/>
                    </a:solidFill>
                    <a:extLst>
                      <a:ext uri="http://customooxmlschemas.google.com/">
                        <go:slidesCustomData xmlns:go="http://customooxmlschemas.google.com/" cellId="332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6F6"/>
                    </a:solidFill>
                    <a:extLst>
                      <a:ext uri="http://customooxmlschemas.google.com/">
                        <go:slidesCustomData xmlns:go="http://customooxmlschemas.google.com/" cellId="332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235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2C0C7"/>
                    </a:solidFill>
                    <a:extLst>
                      <a:ext uri="http://customooxmlschemas.google.com/">
                        <go:slidesCustomData xmlns:go="http://customooxmlschemas.google.com/" cellId="332:6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Mobile Push Not.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134.5K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D"/>
                    </a:solidFill>
                    <a:extLst>
                      <a:ext uri="http://customooxmlschemas.google.com/">
                        <go:slidesCustomData xmlns:go="http://customooxmlschemas.google.com/" cellId="33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33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DFE8"/>
                    </a:solidFill>
                    <a:extLst>
                      <a:ext uri="http://customooxmlschemas.google.com/">
                        <go:slidesCustomData xmlns:go="http://customooxmlschemas.google.com/" cellId="332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32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₺19,219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  <a:extLst>
                      <a:ext uri="http://customooxmlschemas.google.com/">
                        <go:slidesCustomData xmlns:go="http://customooxmlschemas.google.com/" cellId="332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5E3"/>
                    </a:solidFill>
                    <a:extLst>
                      <a:ext uri="http://customooxmlschemas.google.com/">
                        <go:slidesCustomData xmlns:go="http://customooxmlschemas.google.com/" cellId="332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185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9D0D5"/>
                    </a:solidFill>
                    <a:extLst>
                      <a:ext uri="http://customooxmlschemas.google.com/">
                        <go:slidesCustomData xmlns:go="http://customooxmlschemas.google.com/" cellId="332:7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Referral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6.8K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33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CCDA"/>
                    </a:solidFill>
                    <a:extLst>
                      <a:ext uri="http://customooxmlschemas.google.com/">
                        <go:slidesCustomData xmlns:go="http://customooxmlschemas.google.com/" cellId="332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D"/>
                    </a:solidFill>
                    <a:extLst>
                      <a:ext uri="http://customooxmlschemas.google.com/">
                        <go:slidesCustomData xmlns:go="http://customooxmlschemas.google.com/" cellId="332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₺2,613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EFFE"/>
                    </a:solidFill>
                    <a:extLst>
                      <a:ext uri="http://customooxmlschemas.google.com/">
                        <go:slidesCustomData xmlns:go="http://customooxmlschemas.google.com/" cellId="332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DBD8"/>
                    </a:solidFill>
                    <a:extLst>
                      <a:ext uri="http://customooxmlschemas.google.com/">
                        <go:slidesCustomData xmlns:go="http://customooxmlschemas.google.com/" cellId="332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E929E"/>
                    </a:solidFill>
                    <a:extLst>
                      <a:ext uri="http://customooxmlschemas.google.com/">
                        <go:slidesCustomData xmlns:go="http://customooxmlschemas.google.com/" cellId="332:8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Cross-network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73.7K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3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32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C9D8"/>
                    </a:solidFill>
                    <a:extLst>
                      <a:ext uri="http://customooxmlschemas.google.com/">
                        <go:slidesCustomData xmlns:go="http://customooxmlschemas.google.com/" cellId="332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32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₺9,217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cellId="332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183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AD0D5"/>
                    </a:solidFill>
                    <a:extLst>
                      <a:ext uri="http://customooxmlschemas.google.com/">
                        <go:slidesCustomData xmlns:go="http://customooxmlschemas.google.com/" cellId="332:9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Paid Other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3.4K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1.4K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CEDC"/>
                    </a:solidFill>
                    <a:extLst>
                      <a:ext uri="http://customooxmlschemas.google.com/">
                        <go:slidesCustomData xmlns:go="http://customooxmlschemas.google.com/" cellId="332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₺1,716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F5FF"/>
                    </a:solidFill>
                    <a:extLst>
                      <a:ext uri="http://customooxmlschemas.google.com/">
                        <go:slidesCustomData xmlns:go="http://customooxmlschemas.google.com/" cellId="332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332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188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8CFD4"/>
                    </a:solidFill>
                    <a:extLst>
                      <a:ext uri="http://customooxmlschemas.google.com/">
                        <go:slidesCustomData xmlns:go="http://customooxmlschemas.google.com/" cellId="332:10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Paid Social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602.0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32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1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Email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134.0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2E0"/>
                    </a:solidFill>
                    <a:extLst>
                      <a:ext uri="http://customooxmlschemas.google.com/">
                        <go:slidesCustomData xmlns:go="http://customooxmlschemas.google.com/" cellId="332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441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  <a:extLst>
                      <a:ext uri="http://customooxmlschemas.google.com/">
                        <go:slidesCustomData xmlns:go="http://customooxmlschemas.google.com/" cellId="332:12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Video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67.0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ECEB"/>
                    </a:solidFill>
                    <a:extLst>
                      <a:ext uri="http://customooxmlschemas.google.com/">
                        <go:slidesCustomData xmlns:go="http://customooxmlschemas.google.com/" cellId="332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F2F3"/>
                    </a:solidFill>
                    <a:extLst>
                      <a:ext uri="http://customooxmlschemas.google.com/">
                        <go:slidesCustomData xmlns:go="http://customooxmlschemas.google.com/" cellId="332:13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SMS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41.0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9DFDD"/>
                    </a:solidFill>
                    <a:extLst>
                      <a:ext uri="http://customooxmlschemas.google.com/">
                        <go:slidesCustomData xmlns:go="http://customooxmlschemas.google.com/" cellId="332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126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3E2E5"/>
                    </a:solidFill>
                    <a:extLst>
                      <a:ext uri="http://customooxmlschemas.google.com/">
                        <go:slidesCustomData xmlns:go="http://customooxmlschemas.google.com/" cellId="332:14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Display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32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18A"/>
                    </a:solidFill>
                    <a:extLst>
                      <a:ext uri="http://customooxmlschemas.google.com/">
                        <go:slidesCustomData xmlns:go="http://customooxmlschemas.google.com/" cellId="332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94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BEE"/>
                    </a:solidFill>
                    <a:extLst>
                      <a:ext uri="http://customooxmlschemas.google.com/">
                        <go:slidesCustomData xmlns:go="http://customooxmlschemas.google.com/" cellId="332:15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32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22.5M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1.9M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2337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₺9,565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30%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290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32:16:9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33" name="Google Shape;333;g3b8b6cbb570_0_759"/>
          <p:cNvPicPr preferRelativeResize="0"/>
          <p:nvPr/>
        </p:nvPicPr>
        <p:blipFill rotWithShape="1">
          <a:blip r:embed="rId4">
            <a:alphaModFix/>
          </a:blip>
          <a:srcRect b="0" l="0" r="8391" t="0"/>
          <a:stretch/>
        </p:blipFill>
        <p:spPr>
          <a:xfrm>
            <a:off x="17582550" y="2658325"/>
            <a:ext cx="3681900" cy="98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39" name="Google Shape;339;g3c713c30ff7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c713c30ff7_0_3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c713c30ff7_0_37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c713c30ff7_0_3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Kanal Bazında Metrikler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343" name="Google Shape;343;g3c713c30ff7_0_37"/>
          <p:cNvGraphicFramePr/>
          <p:nvPr/>
        </p:nvGraphicFramePr>
        <p:xfrm>
          <a:off x="406450" y="265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613875"/>
                <a:gridCol w="1444125"/>
                <a:gridCol w="1444125"/>
                <a:gridCol w="1444125"/>
                <a:gridCol w="1444125"/>
                <a:gridCol w="1444125"/>
                <a:gridCol w="1444125"/>
                <a:gridCol w="1444125"/>
                <a:gridCol w="1444125"/>
                <a:gridCol w="1444125"/>
              </a:tblGrid>
              <a:tr h="139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Session default channel group</a:t>
                      </a:r>
                      <a:endParaRPr b="1"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Revenue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Share %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Sessions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Share %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ECR %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Purchases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Average purchase revenue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Bounce rate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</a:rPr>
                        <a:t>Average session duration (s)</a:t>
                      </a:r>
                      <a:endParaRPr b="1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0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Search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6.8M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C7A"/>
                    </a:solidFill>
                    <a:extLst>
                      <a:ext uri="http://customooxmlschemas.google.com/">
                        <go:slidesCustomData xmlns:go="http://customooxmlschemas.google.com/" cellId="34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783.2K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4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40.4%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DEE8"/>
                    </a:solidFill>
                    <a:extLst>
                      <a:ext uri="http://customooxmlschemas.google.com/">
                        <go:slidesCustomData xmlns:go="http://customooxmlschemas.google.com/" cellId="343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743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768"/>
                    </a:solidFill>
                    <a:extLst>
                      <a:ext uri="http://customooxmlschemas.google.com/">
                        <go:slidesCustomData xmlns:go="http://customooxmlschemas.google.com/" cellId="343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₺9,174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cellId="343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8F8"/>
                    </a:solidFill>
                    <a:extLst>
                      <a:ext uri="http://customooxmlschemas.google.com/">
                        <go:slidesCustomData xmlns:go="http://customooxmlschemas.google.com/" cellId="343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229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2C9"/>
                    </a:solidFill>
                    <a:extLst>
                      <a:ext uri="http://customooxmlschemas.google.com/">
                        <go:slidesCustomData xmlns:go="http://customooxmlschemas.google.com/" cellId="343:1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Paid Search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7.8M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4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34.7%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515.8K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1D3B2"/>
                    </a:solidFill>
                    <a:extLst>
                      <a:ext uri="http://customooxmlschemas.google.com/">
                        <go:slidesCustomData xmlns:go="http://customooxmlschemas.google.com/" cellId="34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26.6%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CDDB"/>
                    </a:solidFill>
                    <a:extLst>
                      <a:ext uri="http://customooxmlschemas.google.com/">
                        <go:slidesCustomData xmlns:go="http://customooxmlschemas.google.com/" cellId="343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748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343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₺10,457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9BDFA"/>
                    </a:solidFill>
                    <a:extLst>
                      <a:ext uri="http://customooxmlschemas.google.com/">
                        <go:slidesCustomData xmlns:go="http://customooxmlschemas.google.com/" cellId="343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5F4"/>
                    </a:solidFill>
                    <a:extLst>
                      <a:ext uri="http://customooxmlschemas.google.com/">
                        <go:slidesCustomData xmlns:go="http://customooxmlschemas.google.com/" cellId="343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261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7B8C0"/>
                    </a:solidFill>
                    <a:extLst>
                      <a:ext uri="http://customooxmlschemas.google.com/">
                        <go:slidesCustomData xmlns:go="http://customooxmlschemas.google.com/" cellId="343:2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Social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576.0K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34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2.6%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306.9K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EE5D2"/>
                    </a:solidFill>
                    <a:extLst>
                      <a:ext uri="http://customooxmlschemas.google.com/">
                        <go:slidesCustomData xmlns:go="http://customooxmlschemas.google.com/" cellId="34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15.8%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AFC"/>
                    </a:solidFill>
                    <a:extLst>
                      <a:ext uri="http://customooxmlschemas.google.com/">
                        <go:slidesCustomData xmlns:go="http://customooxmlschemas.google.com/" cellId="343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6"/>
                    </a:solidFill>
                    <a:extLst>
                      <a:ext uri="http://customooxmlschemas.google.com/">
                        <go:slidesCustomData xmlns:go="http://customooxmlschemas.google.com/" cellId="343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₺12,256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B2F8"/>
                    </a:solidFill>
                    <a:extLst>
                      <a:ext uri="http://customooxmlschemas.google.com/">
                        <go:slidesCustomData xmlns:go="http://customooxmlschemas.google.com/" cellId="343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58E"/>
                    </a:solidFill>
                    <a:extLst>
                      <a:ext uri="http://customooxmlschemas.google.com/">
                        <go:slidesCustomData xmlns:go="http://customooxmlschemas.google.com/" cellId="343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F7F8"/>
                    </a:solidFill>
                    <a:extLst>
                      <a:ext uri="http://customooxmlschemas.google.com/">
                        <go:slidesCustomData xmlns:go="http://customooxmlschemas.google.com/" cellId="343:3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Direct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5.7M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E18F"/>
                    </a:solidFill>
                    <a:extLst>
                      <a:ext uri="http://customooxmlschemas.google.com/">
                        <go:slidesCustomData xmlns:go="http://customooxmlschemas.google.com/" cellId="34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25.5%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247.7K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AEADB"/>
                    </a:solidFill>
                    <a:extLst>
                      <a:ext uri="http://customooxmlschemas.google.com/">
                        <go:slidesCustomData xmlns:go="http://customooxmlschemas.google.com/" cellId="343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12.8%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0.25%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7A7C0"/>
                    </a:solidFill>
                    <a:extLst>
                      <a:ext uri="http://customooxmlschemas.google.com/">
                        <go:slidesCustomData xmlns:go="http://customooxmlschemas.google.com/" cellId="343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624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DD80"/>
                    </a:solidFill>
                    <a:extLst>
                      <a:ext uri="http://customooxmlschemas.google.com/">
                        <go:slidesCustomData xmlns:go="http://customooxmlschemas.google.com/" cellId="343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₺9,213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cellId="343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3E1"/>
                    </a:solidFill>
                    <a:extLst>
                      <a:ext uri="http://customooxmlschemas.google.com/">
                        <go:slidesCustomData xmlns:go="http://customooxmlschemas.google.com/" cellId="343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5B7BF"/>
                    </a:solidFill>
                    <a:extLst>
                      <a:ext uri="http://customooxmlschemas.google.com/">
                        <go:slidesCustomData xmlns:go="http://customooxmlschemas.google.com/" cellId="343:4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Unassigned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948.5K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BED"/>
                    </a:solidFill>
                    <a:extLst>
                      <a:ext uri="http://customooxmlschemas.google.com/">
                        <go:slidesCustomData xmlns:go="http://customooxmlschemas.google.com/" cellId="34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4.2%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48.9K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343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2.5%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BDD0"/>
                    </a:solidFill>
                    <a:extLst>
                      <a:ext uri="http://customooxmlschemas.google.com/">
                        <go:slidesCustomData xmlns:go="http://customooxmlschemas.google.com/" cellId="343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AEC"/>
                    </a:solidFill>
                    <a:extLst>
                      <a:ext uri="http://customooxmlschemas.google.com/">
                        <go:slidesCustomData xmlns:go="http://customooxmlschemas.google.com/" cellId="343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₺10,199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BBFFA"/>
                    </a:solidFill>
                    <a:extLst>
                      <a:ext uri="http://customooxmlschemas.google.com/">
                        <go:slidesCustomData xmlns:go="http://customooxmlschemas.google.com/" cellId="343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2CF"/>
                    </a:solidFill>
                    <a:extLst>
                      <a:ext uri="http://customooxmlschemas.google.com/">
                        <go:slidesCustomData xmlns:go="http://customooxmlschemas.google.com/" cellId="343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206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0C9CF"/>
                    </a:solidFill>
                    <a:extLst>
                      <a:ext uri="http://customooxmlschemas.google.com/">
                        <go:slidesCustomData xmlns:go="http://customooxmlschemas.google.com/" cellId="343:5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Shopping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383.5K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  <a:extLst>
                      <a:ext uri="http://customooxmlschemas.google.com/">
                        <go:slidesCustomData xmlns:go="http://customooxmlschemas.google.com/" cellId="34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1.7%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14.6K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  <a:extLst>
                      <a:ext uri="http://customooxmlschemas.google.com/">
                        <go:slidesCustomData xmlns:go="http://customooxmlschemas.google.com/" cellId="343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27BA0"/>
                    </a:solidFill>
                    <a:extLst>
                      <a:ext uri="http://customooxmlschemas.google.com/">
                        <go:slidesCustomData xmlns:go="http://customooxmlschemas.google.com/" cellId="343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343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₺6,972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BD3FC"/>
                    </a:solidFill>
                    <a:extLst>
                      <a:ext uri="http://customooxmlschemas.google.com/">
                        <go:slidesCustomData xmlns:go="http://customooxmlschemas.google.com/" cellId="343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6F6"/>
                    </a:solidFill>
                    <a:extLst>
                      <a:ext uri="http://customooxmlschemas.google.com/">
                        <go:slidesCustomData xmlns:go="http://customooxmlschemas.google.com/" cellId="343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235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2C0C7"/>
                    </a:solidFill>
                    <a:extLst>
                      <a:ext uri="http://customooxmlschemas.google.com/">
                        <go:slidesCustomData xmlns:go="http://customooxmlschemas.google.com/" cellId="343:6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Mobile Push Not.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134.5K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D"/>
                    </a:solidFill>
                    <a:extLst>
                      <a:ext uri="http://customooxmlschemas.google.com/">
                        <go:slidesCustomData xmlns:go="http://customooxmlschemas.google.com/" cellId="343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7.5K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343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DFE8"/>
                    </a:solidFill>
                    <a:extLst>
                      <a:ext uri="http://customooxmlschemas.google.com/">
                        <go:slidesCustomData xmlns:go="http://customooxmlschemas.google.com/" cellId="343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43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₺19,219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  <a:extLst>
                      <a:ext uri="http://customooxmlschemas.google.com/">
                        <go:slidesCustomData xmlns:go="http://customooxmlschemas.google.com/" cellId="343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5E3"/>
                    </a:solidFill>
                    <a:extLst>
                      <a:ext uri="http://customooxmlschemas.google.com/">
                        <go:slidesCustomData xmlns:go="http://customooxmlschemas.google.com/" cellId="343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185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9D0D5"/>
                    </a:solidFill>
                    <a:extLst>
                      <a:ext uri="http://customooxmlschemas.google.com/">
                        <go:slidesCustomData xmlns:go="http://customooxmlschemas.google.com/" cellId="343:7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Referral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26.1K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6.8K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343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0.15%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CCDA"/>
                    </a:solidFill>
                    <a:extLst>
                      <a:ext uri="http://customooxmlschemas.google.com/">
                        <go:slidesCustomData xmlns:go="http://customooxmlschemas.google.com/" cellId="343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D"/>
                    </a:solidFill>
                    <a:extLst>
                      <a:ext uri="http://customooxmlschemas.google.com/">
                        <go:slidesCustomData xmlns:go="http://customooxmlschemas.google.com/" cellId="343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₺2,613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EFFE"/>
                    </a:solidFill>
                    <a:extLst>
                      <a:ext uri="http://customooxmlschemas.google.com/">
                        <go:slidesCustomData xmlns:go="http://customooxmlschemas.google.com/" cellId="343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DBD8"/>
                    </a:solidFill>
                    <a:extLst>
                      <a:ext uri="http://customooxmlschemas.google.com/">
                        <go:slidesCustomData xmlns:go="http://customooxmlschemas.google.com/" cellId="343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E929E"/>
                    </a:solidFill>
                    <a:extLst>
                      <a:ext uri="http://customooxmlschemas.google.com/">
                        <go:slidesCustomData xmlns:go="http://customooxmlschemas.google.com/" cellId="343:8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Cross-network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73.7K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43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5.1K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43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0.16%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C9D8"/>
                    </a:solidFill>
                    <a:extLst>
                      <a:ext uri="http://customooxmlschemas.google.com/">
                        <go:slidesCustomData xmlns:go="http://customooxmlschemas.google.com/" cellId="343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343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₺9,217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C5FA"/>
                    </a:solidFill>
                    <a:extLst>
                      <a:ext uri="http://customooxmlschemas.google.com/">
                        <go:slidesCustomData xmlns:go="http://customooxmlschemas.google.com/" cellId="343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183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AD0D5"/>
                    </a:solidFill>
                    <a:extLst>
                      <a:ext uri="http://customooxmlschemas.google.com/">
                        <go:slidesCustomData xmlns:go="http://customooxmlschemas.google.com/" cellId="343:9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Paid Other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3.4K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1.4K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CEDC"/>
                    </a:solidFill>
                    <a:extLst>
                      <a:ext uri="http://customooxmlschemas.google.com/">
                        <go:slidesCustomData xmlns:go="http://customooxmlschemas.google.com/" cellId="343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₺1,716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F5FF"/>
                    </a:solidFill>
                    <a:extLst>
                      <a:ext uri="http://customooxmlschemas.google.com/">
                        <go:slidesCustomData xmlns:go="http://customooxmlschemas.google.com/" cellId="343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33%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343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188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8CFD4"/>
                    </a:solidFill>
                    <a:extLst>
                      <a:ext uri="http://customooxmlschemas.google.com/">
                        <go:slidesCustomData xmlns:go="http://customooxmlschemas.google.com/" cellId="343:10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Paid Social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602.0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₺0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43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28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1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Email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134.0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38%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2E0"/>
                    </a:solidFill>
                    <a:extLst>
                      <a:ext uri="http://customooxmlschemas.google.com/">
                        <go:slidesCustomData xmlns:go="http://customooxmlschemas.google.com/" cellId="343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441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  <a:extLst>
                      <a:ext uri="http://customooxmlschemas.google.com/">
                        <go:slidesCustomData xmlns:go="http://customooxmlschemas.google.com/" cellId="343:12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Organic Video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67.0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34%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ECEB"/>
                    </a:solidFill>
                    <a:extLst>
                      <a:ext uri="http://customooxmlschemas.google.com/">
                        <go:slidesCustomData xmlns:go="http://customooxmlschemas.google.com/" cellId="343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72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F2F3"/>
                    </a:solidFill>
                    <a:extLst>
                      <a:ext uri="http://customooxmlschemas.google.com/">
                        <go:slidesCustomData xmlns:go="http://customooxmlschemas.google.com/" cellId="343:13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SMS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41.0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39%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9DFDD"/>
                    </a:solidFill>
                    <a:extLst>
                      <a:ext uri="http://customooxmlschemas.google.com/">
                        <go:slidesCustomData xmlns:go="http://customooxmlschemas.google.com/" cellId="343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126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3E2E5"/>
                    </a:solidFill>
                    <a:extLst>
                      <a:ext uri="http://customooxmlschemas.google.com/">
                        <go:slidesCustomData xmlns:go="http://customooxmlschemas.google.com/" cellId="343:14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Display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9.0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0.00%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43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67%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18A"/>
                    </a:solidFill>
                    <a:extLst>
                      <a:ext uri="http://customooxmlschemas.google.com/">
                        <go:slidesCustomData xmlns:go="http://customooxmlschemas.google.com/" cellId="343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94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BEE"/>
                    </a:solidFill>
                    <a:extLst>
                      <a:ext uri="http://customooxmlschemas.google.com/">
                        <go:slidesCustomData xmlns:go="http://customooxmlschemas.google.com/" cellId="343:15:9"/>
                      </a:ext>
                    </a:extLst>
                  </a:tcPr>
                </a:tc>
              </a:tr>
              <a:tr h="528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2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43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22.5M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1.9M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-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0.12%</a:t>
                      </a:r>
                      <a:endParaRPr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2337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₺9,565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30%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290</a:t>
                      </a:r>
                      <a:endParaRPr b="1" sz="22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43:16:9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344" name="Google Shape;344;g3c713c30ff7_0_37"/>
          <p:cNvSpPr txBox="1"/>
          <p:nvPr/>
        </p:nvSpPr>
        <p:spPr>
          <a:xfrm>
            <a:off x="16291725" y="2504400"/>
            <a:ext cx="7837500" cy="11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Toplama baktığımızda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aylık  ortalama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158K session, ₺1.88M ciro ve 195 satış gerçekleştiği görülmektedir.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 trafiğin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%40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’ı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Search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kanalından gelmektedir. Organic Search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783.2K session ve 6.8M ciro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üretmiştir.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ECR oranı %0.09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ile ortalamanın altındadır.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tarafta hacim güçlü, dönüşüm oranı iyileştirme alanı barındırmaktadır.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Gelir tarafında en yüksek katkılar</a:t>
            </a:r>
            <a:endParaRPr b="1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Paid Search (7.8M, %34.7 pay) 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Search (6.8M, %30.3 pay)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 (5.7M, %25.5 pay)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 üç kanal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 gelirin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%90’ını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oluşturmaktadır.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Dönüşüm oranı en yüksek</a:t>
            </a:r>
            <a:r>
              <a:rPr b="0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1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kanallar </a:t>
            </a:r>
            <a:r>
              <a:rPr b="0" i="0" lang="en-US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düşük hacimde ancak yüksek verim profili sergilemektedirler.</a:t>
            </a:r>
            <a:endParaRPr b="1" i="0" sz="2100" u="none" cap="none" strike="noStrike">
              <a:solidFill>
                <a:srgbClr val="34A85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Shopping (%0.38 ECR) 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Direct (%0.25 ECR) 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Social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session payı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%15.8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olmasına rağmen gelir payı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%2.6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seviyesindedir.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ECR %0.02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bounce rate %65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ölçümlenmiş,  satış katkısı sınırlı kalmıştır.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50" name="Google Shape;350;g358f12b07e9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58f12b07e9_0_5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58f12b07e9_0_51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 Property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58f12b07e9_0_5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Kanal Bazında Session &amp; Revenue Dağılımı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54" name="Google Shape;354;g358f12b07e9_0_51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50" y="2405738"/>
            <a:ext cx="7927676" cy="555276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355" name="Google Shape;355;g358f12b07e9_0_51"/>
          <p:cNvSpPr txBox="1"/>
          <p:nvPr/>
        </p:nvSpPr>
        <p:spPr>
          <a:xfrm>
            <a:off x="9590400" y="2579700"/>
            <a:ext cx="14538900" cy="10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Gelir dağılımı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trafik dağılımından daha konsantre diyebiliriz. Trafikte ilk 3 kanalın payı yaklaşık %80 iken gelirde ilk 3 kanalın payı yaklaşık %90’a çıkıyor. 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 kanal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az trafik–yüksek gelir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profili çiziyor. Session payı %12.8 iken gelir payı %25.5. Bu kanalın ortalama sipariş değeri ve/veya satın alma niyeti daha yüksek kullanıcı getirdiği görülüyor.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Organic Search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yüksek hacim &amp; gelir fırsatı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profili çiziyor. Session payı %40.4 iken gelir payı %30.3. Organik trafik büyüklüğü korunurken, gelir payının daha geride kalması ise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trafiğin daha çok araştırma/karşılaştırma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aşamasında yoğunlaşıldığını  düşündürüyor.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Paid Search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trafikteki payından daha fazla gelir üretiyor. Session payı %26.6, gelir payı %34.7.  Kampanya dönemlerinin etkisi gözlenmekte.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Main 3 kanal dışındaki kanalların toplam etkisi düşük kalıyor. Sessions tarafında Organic Social + Unassigned gibi kanalların payı yüksek olsa da, gelir tarafında aynı ölçekte karşılık bulamamış. 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Gelir üretimi daha çok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arama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(organic + paid)  ve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direct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’te toplanıyor. Bu da büyüme için oyun alanının arama + direct ekseninde olduğunu gösteriyor.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56" name="Google Shape;356;g358f12b07e9_0_51" title="Chart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0" y="8211100"/>
            <a:ext cx="7927676" cy="555278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62" name="Google Shape;362;g3b8b6cbb570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b8b6cbb570_0_24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b8b6cbb570_0_243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b8b6cbb570_0_24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&amp; Revenue - Session - Transaction Monthly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66" name="Google Shape;366;g3b8b6cbb570_0_243"/>
          <p:cNvSpPr txBox="1"/>
          <p:nvPr/>
        </p:nvSpPr>
        <p:spPr>
          <a:xfrm>
            <a:off x="15919200" y="2504400"/>
            <a:ext cx="8210100" cy="10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 yılında toplam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22.5M ciro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2.337 </a:t>
            </a:r>
            <a:r>
              <a:rPr b="1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transaction</a:t>
            </a:r>
            <a:r>
              <a:rPr b="0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yaklaşık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2.0M session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Aylık ortalamada yaklaşık 1.88M ciro, 195 </a:t>
            </a:r>
            <a:r>
              <a:rPr b="0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transaction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167K session üretilmiştir.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300"/>
              <a:buFont typeface="Outfit"/>
              <a:buChar char="➔"/>
            </a:pP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Peak Aylar</a:t>
            </a:r>
            <a:endParaRPr b="1" i="0" sz="2300" u="none" cap="none" strike="noStrike">
              <a:solidFill>
                <a:srgbClr val="34A85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Kasım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3.3M ciro, 312 işlem (yılın en yüksek ayı)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Ekim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2.4M ciro, 270 transaction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Nisan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2.9M ciro, 265 transaction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Q4 döneminde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hem ciro hem transaction sayısı belirgin şekilde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artmıştır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 </a:t>
            </a:r>
            <a:r>
              <a:rPr b="0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Q4’te trafiğin de yükseldiği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Düşüş Yaşanan Dönemler</a:t>
            </a:r>
            <a:endParaRPr b="0" i="0" sz="2300" u="none" cap="none" strike="noStrike">
              <a:solidFill>
                <a:srgbClr val="FF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Mayıs–Haziran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döneminde ciro ve işlem sayısında </a:t>
            </a:r>
            <a:r>
              <a:rPr b="0" i="0" lang="en-US" sz="23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düşüş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Haziran ayında 109 işlem ile yılın en düşük seviyesi kaydedilmiştir.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Aralık ayında session en yüksek seviyededir (489K), ancak ciro 1.5M ile Kasım’a göre düşüktür. Bu durumda en büyük etken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consent mode’un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aktif edilmesidir.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67" name="Google Shape;367;g3b8b6cbb570_0_243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305550"/>
            <a:ext cx="15117711" cy="53960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368" name="Google Shape;368;g3b8b6cbb570_0_243"/>
          <p:cNvGraphicFramePr/>
          <p:nvPr/>
        </p:nvGraphicFramePr>
        <p:xfrm>
          <a:off x="165175" y="934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661075"/>
                <a:gridCol w="1224400"/>
                <a:gridCol w="1175875"/>
                <a:gridCol w="1002800"/>
                <a:gridCol w="1002800"/>
                <a:gridCol w="1002800"/>
                <a:gridCol w="1002800"/>
                <a:gridCol w="1002800"/>
                <a:gridCol w="1002800"/>
                <a:gridCol w="1002800"/>
                <a:gridCol w="1002800"/>
                <a:gridCol w="1002800"/>
                <a:gridCol w="1002800"/>
                <a:gridCol w="1002800"/>
              </a:tblGrid>
              <a:tr h="61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0:13"/>
                      </a:ext>
                    </a:extLst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Total Revenue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961.9K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6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36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2.9M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3CDA9"/>
                    </a:solidFill>
                    <a:extLst>
                      <a:ext uri="http://customooxmlschemas.google.com/">
                        <go:slidesCustomData xmlns:go="http://customooxmlschemas.google.com/" cellId="36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1.0M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847B"/>
                    </a:solidFill>
                    <a:extLst>
                      <a:ext uri="http://customooxmlschemas.google.com/">
                        <go:slidesCustomData xmlns:go="http://customooxmlschemas.google.com/" cellId="36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891"/>
                    </a:solidFill>
                    <a:extLst>
                      <a:ext uri="http://customooxmlschemas.google.com/">
                        <go:slidesCustomData xmlns:go="http://customooxmlschemas.google.com/" cellId="36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  <a:extLst>
                      <a:ext uri="http://customooxmlschemas.google.com/">
                        <go:slidesCustomData xmlns:go="http://customooxmlschemas.google.com/" cellId="36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1.8M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  <a:extLst>
                      <a:ext uri="http://customooxmlschemas.google.com/">
                        <go:slidesCustomData xmlns:go="http://customooxmlschemas.google.com/" cellId="36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2.1M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BF1E6"/>
                    </a:solidFill>
                    <a:extLst>
                      <a:ext uri="http://customooxmlschemas.google.com/">
                        <go:slidesCustomData xmlns:go="http://customooxmlschemas.google.com/" cellId="36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2.4M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BE4D0"/>
                    </a:solidFill>
                    <a:extLst>
                      <a:ext uri="http://customooxmlschemas.google.com/">
                        <go:slidesCustomData xmlns:go="http://customooxmlschemas.google.com/" cellId="36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3.3M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6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1.5M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D0CD"/>
                    </a:solidFill>
                    <a:extLst>
                      <a:ext uri="http://customooxmlschemas.google.com/">
                        <go:slidesCustomData xmlns:go="http://customooxmlschemas.google.com/" cellId="368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22.5M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68:1:13"/>
                      </a:ext>
                    </a:extLst>
                  </a:tcPr>
                </a:tc>
              </a:tr>
              <a:tr h="76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Total Transaction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127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E97"/>
                    </a:solidFill>
                    <a:extLst>
                      <a:ext uri="http://customooxmlschemas.google.com/">
                        <go:slidesCustomData xmlns:go="http://customooxmlschemas.google.com/" cellId="36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223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7E8D8"/>
                    </a:solidFill>
                    <a:extLst>
                      <a:ext uri="http://customooxmlschemas.google.com/">
                        <go:slidesCustomData xmlns:go="http://customooxmlschemas.google.com/" cellId="36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173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6F5"/>
                    </a:solidFill>
                    <a:extLst>
                      <a:ext uri="http://customooxmlschemas.google.com/">
                        <go:slidesCustomData xmlns:go="http://customooxmlschemas.google.com/" cellId="36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265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2D3B3"/>
                    </a:solidFill>
                    <a:extLst>
                      <a:ext uri="http://customooxmlschemas.google.com/">
                        <go:slidesCustomData xmlns:go="http://customooxmlschemas.google.com/" cellId="36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135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ADA8"/>
                    </a:solidFill>
                    <a:extLst>
                      <a:ext uri="http://customooxmlschemas.google.com/">
                        <go:slidesCustomData xmlns:go="http://customooxmlschemas.google.com/" cellId="36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109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6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174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8F7"/>
                    </a:solidFill>
                    <a:extLst>
                      <a:ext uri="http://customooxmlschemas.google.com/">
                        <go:slidesCustomData xmlns:go="http://customooxmlschemas.google.com/" cellId="36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181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368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217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EECDD"/>
                    </a:solidFill>
                    <a:extLst>
                      <a:ext uri="http://customooxmlschemas.google.com/">
                        <go:slidesCustomData xmlns:go="http://customooxmlschemas.google.com/" cellId="368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270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CD1AF"/>
                    </a:solidFill>
                    <a:extLst>
                      <a:ext uri="http://customooxmlschemas.google.com/">
                        <go:slidesCustomData xmlns:go="http://customooxmlschemas.google.com/" cellId="368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312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68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151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CC8"/>
                    </a:solidFill>
                    <a:extLst>
                      <a:ext uri="http://customooxmlschemas.google.com/">
                        <go:slidesCustomData xmlns:go="http://customooxmlschemas.google.com/" cellId="368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2,337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68:2:13"/>
                      </a:ext>
                    </a:extLst>
                  </a:tcPr>
                </a:tc>
              </a:tr>
              <a:tr h="56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F3F3F3"/>
                          </a:solidFill>
                        </a:rPr>
                        <a:t>Total Session</a:t>
                      </a:r>
                      <a:endParaRPr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6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83.7K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6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104.7K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BA5"/>
                    </a:solidFill>
                    <a:extLst>
                      <a:ext uri="http://customooxmlschemas.google.com/">
                        <go:slidesCustomData xmlns:go="http://customooxmlschemas.google.com/" cellId="36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111.3K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AB5"/>
                    </a:solidFill>
                    <a:extLst>
                      <a:ext uri="http://customooxmlschemas.google.com/">
                        <go:slidesCustomData xmlns:go="http://customooxmlschemas.google.com/" cellId="36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142.4K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141.2K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EFE"/>
                    </a:solidFill>
                    <a:extLst>
                      <a:ext uri="http://customooxmlschemas.google.com/">
                        <go:slidesCustomData xmlns:go="http://customooxmlschemas.google.com/" cellId="36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112.3K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CB8"/>
                    </a:solidFill>
                    <a:extLst>
                      <a:ext uri="http://customooxmlschemas.google.com/">
                        <go:slidesCustomData xmlns:go="http://customooxmlschemas.google.com/" cellId="36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135.4K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0F0"/>
                    </a:solidFill>
                    <a:extLst>
                      <a:ext uri="http://customooxmlschemas.google.com/">
                        <go:slidesCustomData xmlns:go="http://customooxmlschemas.google.com/" cellId="36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143.0K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141.9K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171.6K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AF5"/>
                    </a:solidFill>
                    <a:extLst>
                      <a:ext uri="http://customooxmlschemas.google.com/">
                        <go:slidesCustomData xmlns:go="http://customooxmlschemas.google.com/" cellId="368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186.1K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7F0"/>
                    </a:solidFill>
                    <a:extLst>
                      <a:ext uri="http://customooxmlschemas.google.com/">
                        <go:slidesCustomData xmlns:go="http://customooxmlschemas.google.com/" cellId="368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489.0K</a:t>
                      </a:r>
                      <a:endParaRPr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68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2.0M</a:t>
                      </a:r>
                      <a:endParaRPr b="1" sz="21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68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74" name="Google Shape;374;g3c7653ab589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c7653ab589_0_7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c7653ab589_0_71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c7653ab589_0_7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Organic Search &amp; Revenue - Session - Transaction Monthly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78" name="Google Shape;378;g3c7653ab589_0_71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600" y="2658325"/>
            <a:ext cx="15117701" cy="53960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sp>
        <p:nvSpPr>
          <p:cNvPr id="379" name="Google Shape;379;g3c7653ab589_0_71"/>
          <p:cNvSpPr txBox="1"/>
          <p:nvPr/>
        </p:nvSpPr>
        <p:spPr>
          <a:xfrm>
            <a:off x="15919200" y="2504400"/>
            <a:ext cx="8210100" cy="10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 yılında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kanalda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6.8M ciro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743 transaction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803.6K session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gerçekleşmiştir.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Aylık ortalamada yaklaşık 567K ciro, 62 transaction ve 67K session gerçekleşmiştir.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300"/>
              <a:buFont typeface="Outfit"/>
              <a:buChar char="➔"/>
            </a:pP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Peak Aylar</a:t>
            </a:r>
            <a:endParaRPr b="1" i="0" sz="2300" u="none" cap="none" strike="noStrike">
              <a:solidFill>
                <a:srgbClr val="34A853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Nisan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839K ciro, 82 transaction (ciro zirvesi)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Kasım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761K ciro, 77 </a:t>
            </a:r>
            <a:r>
              <a:rPr b="0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transaction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Aralık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713K ciro, 194K session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Transaction tarafında en yüksek ay Şubat (81) ve Nisan (82) olmuştur.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Outfit"/>
              <a:buChar char="➔"/>
            </a:pPr>
            <a:r>
              <a:rPr b="0" i="0" lang="en-US" sz="23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Düşüş Yaşanan Dönemler</a:t>
            </a:r>
            <a:endParaRPr b="0" i="0" sz="2300" u="none" cap="none" strike="noStrike">
              <a:solidFill>
                <a:srgbClr val="FF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Mayıs–Haziran döneminde belirgin düşüş görülmektedir.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◆"/>
            </a:pP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Haziran ayında 276K ciro ve 32 transaction ile yılın en düşük seviyesi kaydedilmiştir.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Aralık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ayında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session en yüksek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seviyededir (194K), ancak işlem sayısı 65’te kalmıştır. </a:t>
            </a: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Consent mode’a geçiş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ile trafik ölçümleme şekli değiştirilmiştir.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Outfit"/>
              <a:buChar char="➔"/>
            </a:pPr>
            <a:r>
              <a:rPr b="1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Nisan</a:t>
            </a:r>
            <a:r>
              <a:rPr b="0" i="0" lang="en-US" sz="23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ayında session daha düşük olmasına rağmen hem ciro hem transaction en yüksek ay olarak gözlenmektedir.</a:t>
            </a:r>
            <a:endParaRPr b="0" i="0" sz="23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380" name="Google Shape;380;g3c7653ab589_0_71"/>
          <p:cNvGraphicFramePr/>
          <p:nvPr/>
        </p:nvGraphicFramePr>
        <p:xfrm>
          <a:off x="195588" y="994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800025"/>
                <a:gridCol w="1134100"/>
                <a:gridCol w="1134100"/>
                <a:gridCol w="1004500"/>
                <a:gridCol w="1004500"/>
                <a:gridCol w="1004500"/>
                <a:gridCol w="1004500"/>
                <a:gridCol w="1004500"/>
                <a:gridCol w="1004500"/>
                <a:gridCol w="1004500"/>
                <a:gridCol w="1004500"/>
                <a:gridCol w="1004500"/>
                <a:gridCol w="1004500"/>
                <a:gridCol w="1004500"/>
              </a:tblGrid>
              <a:tr h="438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0:13"/>
                      </a:ext>
                    </a:extLst>
                  </a:tcPr>
                </a:tc>
              </a:tr>
              <a:tr h="82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Organic Revenue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575.6K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38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719.7K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3DABF"/>
                    </a:solidFill>
                    <a:extLst>
                      <a:ext uri="http://customooxmlschemas.google.com/">
                        <go:slidesCustomData xmlns:go="http://customooxmlschemas.google.com/" cellId="38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644.7K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2EDE0"/>
                    </a:solidFill>
                    <a:extLst>
                      <a:ext uri="http://customooxmlschemas.google.com/">
                        <go:slidesCustomData xmlns:go="http://customooxmlschemas.google.com/" cellId="38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839.5K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80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314.7K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C84"/>
                    </a:solidFill>
                    <a:extLst>
                      <a:ext uri="http://customooxmlschemas.google.com/">
                        <go:slidesCustomData xmlns:go="http://customooxmlschemas.google.com/" cellId="380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276.9K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80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340.0K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790"/>
                    </a:solidFill>
                    <a:extLst>
                      <a:ext uri="http://customooxmlschemas.google.com/">
                        <go:slidesCustomData xmlns:go="http://customooxmlschemas.google.com/" cellId="380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508.0K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9E2E0"/>
                    </a:solidFill>
                    <a:extLst>
                      <a:ext uri="http://customooxmlschemas.google.com/">
                        <go:slidesCustomData xmlns:go="http://customooxmlschemas.google.com/" cellId="380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569.8K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DFD"/>
                    </a:solidFill>
                    <a:extLst>
                      <a:ext uri="http://customooxmlschemas.google.com/">
                        <go:slidesCustomData xmlns:go="http://customooxmlschemas.google.com/" cellId="380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552.4K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6F5"/>
                    </a:solidFill>
                    <a:extLst>
                      <a:ext uri="http://customooxmlschemas.google.com/">
                        <go:slidesCustomData xmlns:go="http://customooxmlschemas.google.com/" cellId="380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761.5K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9CFAD"/>
                    </a:solidFill>
                    <a:extLst>
                      <a:ext uri="http://customooxmlschemas.google.com/">
                        <go:slidesCustomData xmlns:go="http://customooxmlschemas.google.com/" cellId="380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713.4K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7DCC2"/>
                    </a:solidFill>
                    <a:extLst>
                      <a:ext uri="http://customooxmlschemas.google.com/">
                        <go:slidesCustomData xmlns:go="http://customooxmlschemas.google.com/" cellId="380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6.8M</a:t>
                      </a:r>
                      <a:endParaRPr b="1"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80:1:13"/>
                      </a:ext>
                    </a:extLst>
                  </a:tcPr>
                </a:tc>
              </a:tr>
              <a:tr h="54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Organic Transaction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75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FD8BC"/>
                    </a:solidFill>
                    <a:extLst>
                      <a:ext uri="http://customooxmlschemas.google.com/">
                        <go:slidesCustomData xmlns:go="http://customooxmlschemas.google.com/" cellId="38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81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62C092"/>
                    </a:solidFill>
                    <a:extLst>
                      <a:ext uri="http://customooxmlschemas.google.com/">
                        <go:slidesCustomData xmlns:go="http://customooxmlschemas.google.com/" cellId="38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54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D2CE"/>
                    </a:solidFill>
                    <a:extLst>
                      <a:ext uri="http://customooxmlschemas.google.com/">
                        <go:slidesCustomData xmlns:go="http://customooxmlschemas.google.com/" cellId="38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82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80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42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DA39C"/>
                    </a:solidFill>
                    <a:extLst>
                      <a:ext uri="http://customooxmlschemas.google.com/">
                        <go:slidesCustomData xmlns:go="http://customooxmlschemas.google.com/" cellId="380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32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80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39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790"/>
                    </a:solidFill>
                    <a:extLst>
                      <a:ext uri="http://customooxmlschemas.google.com/">
                        <go:slidesCustomData xmlns:go="http://customooxmlschemas.google.com/" cellId="380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61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EDEC"/>
                    </a:solidFill>
                    <a:extLst>
                      <a:ext uri="http://customooxmlschemas.google.com/">
                        <go:slidesCustomData xmlns:go="http://customooxmlschemas.google.com/" cellId="380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66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380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69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CF1E7"/>
                    </a:solidFill>
                    <a:extLst>
                      <a:ext uri="http://customooxmlschemas.google.com/">
                        <go:slidesCustomData xmlns:go="http://customooxmlschemas.google.com/" cellId="380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77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AD0AE"/>
                    </a:solidFill>
                    <a:extLst>
                      <a:ext uri="http://customooxmlschemas.google.com/">
                        <go:slidesCustomData xmlns:go="http://customooxmlschemas.google.com/" cellId="380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65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DFC"/>
                    </a:solidFill>
                    <a:extLst>
                      <a:ext uri="http://customooxmlschemas.google.com/">
                        <go:slidesCustomData xmlns:go="http://customooxmlschemas.google.com/" cellId="380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743</a:t>
                      </a:r>
                      <a:endParaRPr b="1"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80:2:13"/>
                      </a:ext>
                    </a:extLst>
                  </a:tcPr>
                </a:tc>
              </a:tr>
              <a:tr h="67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F3F3F3"/>
                          </a:solidFill>
                        </a:rPr>
                        <a:t>Organic Session</a:t>
                      </a:r>
                      <a:endParaRPr sz="18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8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65.1K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CF9"/>
                    </a:solidFill>
                    <a:extLst>
                      <a:ext uri="http://customooxmlschemas.google.com/">
                        <go:slidesCustomData xmlns:go="http://customooxmlschemas.google.com/" cellId="38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47.5K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39D"/>
                    </a:solidFill>
                    <a:extLst>
                      <a:ext uri="http://customooxmlschemas.google.com/">
                        <go:slidesCustomData xmlns:go="http://customooxmlschemas.google.com/" cellId="38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47.9K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7A1"/>
                    </a:solidFill>
                    <a:extLst>
                      <a:ext uri="http://customooxmlschemas.google.com/">
                        <go:slidesCustomData xmlns:go="http://customooxmlschemas.google.com/" cellId="38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56.6K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380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52.3K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ECB"/>
                    </a:solidFill>
                    <a:extLst>
                      <a:ext uri="http://customooxmlschemas.google.com/">
                        <go:slidesCustomData xmlns:go="http://customooxmlschemas.google.com/" cellId="380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43.0K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80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55.2K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8E7"/>
                    </a:solidFill>
                    <a:extLst>
                      <a:ext uri="http://customooxmlschemas.google.com/">
                        <go:slidesCustomData xmlns:go="http://customooxmlschemas.google.com/" cellId="380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62.3K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380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58.8K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380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60.8K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  <a:extLst>
                      <a:ext uri="http://customooxmlschemas.google.com/">
                        <go:slidesCustomData xmlns:go="http://customooxmlschemas.google.com/" cellId="380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59.8K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EFE"/>
                    </a:solidFill>
                    <a:extLst>
                      <a:ext uri="http://customooxmlschemas.google.com/">
                        <go:slidesCustomData xmlns:go="http://customooxmlschemas.google.com/" cellId="380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194.3K</a:t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80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803.6K</a:t>
                      </a:r>
                      <a:endParaRPr b="1" sz="18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80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86" name="Google Shape;386;g3c7653ab589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c7653ab589_0_5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c7653ab589_0_57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-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c7653ab589_0_5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&amp; Organik Trafik Karşılaştırması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390" name="Google Shape;390;g3c7653ab589_0_57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639" y="2263000"/>
            <a:ext cx="21757901" cy="7787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391" name="Google Shape;391;g3c7653ab589_0_57"/>
          <p:cNvGraphicFramePr/>
          <p:nvPr/>
        </p:nvGraphicFramePr>
        <p:xfrm>
          <a:off x="696575" y="1035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944450"/>
                <a:gridCol w="1504500"/>
                <a:gridCol w="1556275"/>
                <a:gridCol w="1426875"/>
                <a:gridCol w="1608025"/>
                <a:gridCol w="1608025"/>
                <a:gridCol w="1608025"/>
                <a:gridCol w="1608025"/>
                <a:gridCol w="1608025"/>
                <a:gridCol w="1608025"/>
                <a:gridCol w="1608025"/>
                <a:gridCol w="1608025"/>
                <a:gridCol w="1608025"/>
                <a:gridCol w="1608025"/>
              </a:tblGrid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0:13"/>
                      </a:ext>
                    </a:extLst>
                  </a:tcPr>
                </a:tc>
              </a:tr>
              <a:tr h="70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3F3F3"/>
                          </a:solidFill>
                        </a:rPr>
                        <a:t>Total Session</a:t>
                      </a:r>
                      <a:endParaRPr sz="19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83.7K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9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104.7K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9B4"/>
                    </a:solidFill>
                    <a:extLst>
                      <a:ext uri="http://customooxmlschemas.google.com/">
                        <go:slidesCustomData xmlns:go="http://customooxmlschemas.google.com/" cellId="39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111.3K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C4C0"/>
                    </a:solidFill>
                    <a:extLst>
                      <a:ext uri="http://customooxmlschemas.google.com/">
                        <go:slidesCustomData xmlns:go="http://customooxmlschemas.google.com/" cellId="39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142.4K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DFB"/>
                    </a:solidFill>
                    <a:extLst>
                      <a:ext uri="http://customooxmlschemas.google.com/">
                        <go:slidesCustomData xmlns:go="http://customooxmlschemas.google.com/" cellId="39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141.2K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39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112.3K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C2BE"/>
                    </a:solidFill>
                    <a:extLst>
                      <a:ext uri="http://customooxmlschemas.google.com/">
                        <go:slidesCustomData xmlns:go="http://customooxmlschemas.google.com/" cellId="391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135.4K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391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143.0K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9F9"/>
                    </a:solidFill>
                    <a:extLst>
                      <a:ext uri="http://customooxmlschemas.google.com/">
                        <go:slidesCustomData xmlns:go="http://customooxmlschemas.google.com/" cellId="391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141.9K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FFE"/>
                    </a:solidFill>
                    <a:extLst>
                      <a:ext uri="http://customooxmlschemas.google.com/">
                        <go:slidesCustomData xmlns:go="http://customooxmlschemas.google.com/" cellId="391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171.6K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5"/>
                    </a:solidFill>
                    <a:extLst>
                      <a:ext uri="http://customooxmlschemas.google.com/">
                        <go:slidesCustomData xmlns:go="http://customooxmlschemas.google.com/" cellId="391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186.1K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5F5ED"/>
                    </a:solidFill>
                    <a:extLst>
                      <a:ext uri="http://customooxmlschemas.google.com/">
                        <go:slidesCustomData xmlns:go="http://customooxmlschemas.google.com/" cellId="391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489.0K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91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2.0M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1:13"/>
                      </a:ext>
                    </a:extLst>
                  </a:tcPr>
                </a:tc>
              </a:tr>
              <a:tr h="70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3F3F3"/>
                          </a:solidFill>
                        </a:rPr>
                        <a:t>Organic Session</a:t>
                      </a:r>
                      <a:endParaRPr sz="19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EAE9"/>
                    </a:solidFill>
                    <a:extLst>
                      <a:ext uri="http://customooxmlschemas.google.com/">
                        <go:slidesCustomData xmlns:go="http://customooxmlschemas.google.com/" cellId="39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47.5K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A099"/>
                    </a:solidFill>
                    <a:extLst>
                      <a:ext uri="http://customooxmlschemas.google.com/">
                        <go:slidesCustomData xmlns:go="http://customooxmlschemas.google.com/" cellId="39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47.9K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B1AC"/>
                    </a:solidFill>
                    <a:extLst>
                      <a:ext uri="http://customooxmlschemas.google.com/">
                        <go:slidesCustomData xmlns:go="http://customooxmlschemas.google.com/" cellId="39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56.6K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39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EFE"/>
                    </a:solidFill>
                    <a:extLst>
                      <a:ext uri="http://customooxmlschemas.google.com/">
                        <go:slidesCustomData xmlns:go="http://customooxmlschemas.google.com/" cellId="39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43.0K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391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55.2K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D3D0"/>
                    </a:solidFill>
                    <a:extLst>
                      <a:ext uri="http://customooxmlschemas.google.com/">
                        <go:slidesCustomData xmlns:go="http://customooxmlschemas.google.com/" cellId="391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391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58.8K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  <a:extLst>
                      <a:ext uri="http://customooxmlschemas.google.com/">
                        <go:slidesCustomData xmlns:go="http://customooxmlschemas.google.com/" cellId="391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60.8K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  <a:extLst>
                      <a:ext uri="http://customooxmlschemas.google.com/">
                        <go:slidesCustomData xmlns:go="http://customooxmlschemas.google.com/" cellId="391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59.8K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2F4EB"/>
                    </a:solidFill>
                    <a:extLst>
                      <a:ext uri="http://customooxmlschemas.google.com/">
                        <go:slidesCustomData xmlns:go="http://customooxmlschemas.google.com/" cellId="391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194.3K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391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803.6K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2:13"/>
                      </a:ext>
                    </a:extLst>
                  </a:tcPr>
                </a:tc>
              </a:tr>
              <a:tr h="59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F3F3F3"/>
                          </a:solidFill>
                        </a:rPr>
                        <a:t>Organic/Total %</a:t>
                      </a:r>
                      <a:endParaRPr sz="2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39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77.8%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45.4%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43.0%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39.8%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37.0%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38.3%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40.8%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43.6%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41.5%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35.4%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32.1%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39.7%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40.9%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91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7" name="Google Shape;397;g3b8b6cbb570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b8b6cbb570_0_14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b8b6cbb570_0_145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0" name="Google Shape;400;g3b8b6cbb570_0_14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&amp; Organik Revenue Karşılaştırması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401" name="Google Shape;401;g3b8b6cbb570_0_145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575" y="2263000"/>
            <a:ext cx="22512348" cy="76616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402" name="Google Shape;402;g3b8b6cbb570_0_145"/>
          <p:cNvGraphicFramePr/>
          <p:nvPr/>
        </p:nvGraphicFramePr>
        <p:xfrm>
          <a:off x="696575" y="1021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325600"/>
                <a:gridCol w="1242275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</a:tblGrid>
              <a:tr h="72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0:13"/>
                      </a:ext>
                    </a:extLst>
                  </a:tcPr>
                </a:tc>
              </a:tr>
              <a:tr h="72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 Revenue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961.9K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F99"/>
                    </a:solidFill>
                    <a:extLst>
                      <a:ext uri="http://customooxmlschemas.google.com/">
                        <go:slidesCustomData xmlns:go="http://customooxmlschemas.google.com/" cellId="40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5"/>
                    </a:solidFill>
                    <a:extLst>
                      <a:ext uri="http://customooxmlschemas.google.com/">
                        <go:slidesCustomData xmlns:go="http://customooxmlschemas.google.com/" cellId="40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40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2.9M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0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1.0M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0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8B3"/>
                    </a:solidFill>
                    <a:extLst>
                      <a:ext uri="http://customooxmlschemas.google.com/">
                        <go:slidesCustomData xmlns:go="http://customooxmlschemas.google.com/" cellId="40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F3EA"/>
                    </a:solidFill>
                    <a:extLst>
                      <a:ext uri="http://customooxmlschemas.google.com/">
                        <go:slidesCustomData xmlns:go="http://customooxmlschemas.google.com/" cellId="40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6E4"/>
                    </a:solidFill>
                    <a:extLst>
                      <a:ext uri="http://customooxmlschemas.google.com/">
                        <go:slidesCustomData xmlns:go="http://customooxmlschemas.google.com/" cellId="402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402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2.4M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  <a:extLst>
                      <a:ext uri="http://customooxmlschemas.google.com/">
                        <go:slidesCustomData xmlns:go="http://customooxmlschemas.google.com/" cellId="402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BBD8D"/>
                    </a:solidFill>
                    <a:extLst>
                      <a:ext uri="http://customooxmlschemas.google.com/">
                        <go:slidesCustomData xmlns:go="http://customooxmlschemas.google.com/" cellId="402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  <a:extLst>
                      <a:ext uri="http://customooxmlschemas.google.com/">
                        <go:slidesCustomData xmlns:go="http://customooxmlschemas.google.com/" cellId="402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22.5M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1:13"/>
                      </a:ext>
                    </a:extLst>
                  </a:tcPr>
                </a:tc>
              </a:tr>
              <a:tr h="72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rgbClr val="F3F3F3"/>
                          </a:solidFill>
                        </a:rPr>
                        <a:t>Organic Revenue</a:t>
                      </a:r>
                      <a:endParaRPr sz="22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575.6K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  <a:extLst>
                      <a:ext uri="http://customooxmlschemas.google.com/">
                        <go:slidesCustomData xmlns:go="http://customooxmlschemas.google.com/" cellId="40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719.7K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AF0E5"/>
                    </a:solidFill>
                    <a:extLst>
                      <a:ext uri="http://customooxmlschemas.google.com/">
                        <go:slidesCustomData xmlns:go="http://customooxmlschemas.google.com/" cellId="40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644.7K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EBE9"/>
                    </a:solidFill>
                    <a:extLst>
                      <a:ext uri="http://customooxmlschemas.google.com/">
                        <go:slidesCustomData xmlns:go="http://customooxmlschemas.google.com/" cellId="40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839.5K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0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314.7K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0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276.9K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8880"/>
                    </a:solidFill>
                    <a:extLst>
                      <a:ext uri="http://customooxmlschemas.google.com/">
                        <go:slidesCustomData xmlns:go="http://customooxmlschemas.google.com/" cellId="40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340.0K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A099"/>
                    </a:solidFill>
                    <a:extLst>
                      <a:ext uri="http://customooxmlschemas.google.com/">
                        <go:slidesCustomData xmlns:go="http://customooxmlschemas.google.com/" cellId="40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508.0K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4F4"/>
                    </a:solidFill>
                    <a:extLst>
                      <a:ext uri="http://customooxmlschemas.google.com/">
                        <go:slidesCustomData xmlns:go="http://customooxmlschemas.google.com/" cellId="402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569.8K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8E9D9"/>
                    </a:solidFill>
                    <a:extLst>
                      <a:ext uri="http://customooxmlschemas.google.com/">
                        <go:slidesCustomData xmlns:go="http://customooxmlschemas.google.com/" cellId="402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552.4K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  <a:extLst>
                      <a:ext uri="http://customooxmlschemas.google.com/">
                        <go:slidesCustomData xmlns:go="http://customooxmlschemas.google.com/" cellId="402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761.5K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8B3"/>
                    </a:solidFill>
                    <a:extLst>
                      <a:ext uri="http://customooxmlschemas.google.com/">
                        <go:slidesCustomData xmlns:go="http://customooxmlschemas.google.com/" cellId="402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713.4K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AE4CF"/>
                    </a:solidFill>
                    <a:extLst>
                      <a:ext uri="http://customooxmlschemas.google.com/">
                        <go:slidesCustomData xmlns:go="http://customooxmlschemas.google.com/" cellId="402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2:13"/>
                      </a:ext>
                    </a:extLst>
                  </a:tcPr>
                </a:tc>
              </a:tr>
              <a:tr h="72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Organic/Total %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0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59.8%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40.5%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35.9%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28.6%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31.0%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24.3%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19.2%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28.6%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26.9%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22.9%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22.8%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48.0%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30.3%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02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08" name="Google Shape;408;g3b8b6cbb570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b8b6cbb570_0_17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b8b6cbb570_0_172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g3b8b6cbb570_0_17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Total &amp; Organik Transaction Karşılaştırması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412" name="Google Shape;412;g3b8b6cbb570_0_172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575" y="2263000"/>
            <a:ext cx="22512276" cy="76616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413" name="Google Shape;413;g3b8b6cbb570_0_172"/>
          <p:cNvGraphicFramePr/>
          <p:nvPr/>
        </p:nvGraphicFramePr>
        <p:xfrm>
          <a:off x="696575" y="1022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299725"/>
                <a:gridCol w="1423425"/>
                <a:gridCol w="1423425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  <a:gridCol w="1578700"/>
              </a:tblGrid>
              <a:tr h="63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0:13"/>
                      </a:ext>
                    </a:extLst>
                  </a:tcPr>
                </a:tc>
              </a:tr>
              <a:tr h="73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3F3F3"/>
                          </a:solidFill>
                        </a:rPr>
                        <a:t>Total Transaction</a:t>
                      </a:r>
                      <a:endParaRPr sz="19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127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1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223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6E2CD"/>
                    </a:solidFill>
                    <a:extLst>
                      <a:ext uri="http://customooxmlschemas.google.com/">
                        <go:slidesCustomData xmlns:go="http://customooxmlschemas.google.com/" cellId="41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CAC6"/>
                    </a:solidFill>
                    <a:extLst>
                      <a:ext uri="http://customooxmlschemas.google.com/">
                        <go:slidesCustomData xmlns:go="http://customooxmlschemas.google.com/" cellId="41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265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CFAC"/>
                    </a:solidFill>
                    <a:extLst>
                      <a:ext uri="http://customooxmlschemas.google.com/">
                        <go:slidesCustomData xmlns:go="http://customooxmlschemas.google.com/" cellId="41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135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98F87"/>
                    </a:solidFill>
                    <a:extLst>
                      <a:ext uri="http://customooxmlschemas.google.com/">
                        <go:slidesCustomData xmlns:go="http://customooxmlschemas.google.com/" cellId="413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109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13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413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181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413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217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BEADB"/>
                    </a:solidFill>
                    <a:extLst>
                      <a:ext uri="http://customooxmlschemas.google.com/">
                        <go:slidesCustomData xmlns:go="http://customooxmlschemas.google.com/" cellId="413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270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CFAC"/>
                    </a:solidFill>
                    <a:extLst>
                      <a:ext uri="http://customooxmlschemas.google.com/">
                        <go:slidesCustomData xmlns:go="http://customooxmlschemas.google.com/" cellId="413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312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13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151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AAA5"/>
                    </a:solidFill>
                    <a:extLst>
                      <a:ext uri="http://customooxmlschemas.google.com/">
                        <go:slidesCustomData xmlns:go="http://customooxmlschemas.google.com/" cellId="413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2,337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1:13"/>
                      </a:ext>
                    </a:extLst>
                  </a:tcPr>
                </a:tc>
              </a:tr>
              <a:tr h="73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3F3F3"/>
                          </a:solidFill>
                        </a:rPr>
                        <a:t>Organic Transaction</a:t>
                      </a:r>
                      <a:endParaRPr sz="19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FE5D3"/>
                    </a:solidFill>
                    <a:extLst>
                      <a:ext uri="http://customooxmlschemas.google.com/">
                        <go:slidesCustomData xmlns:go="http://customooxmlschemas.google.com/" cellId="41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A5DBC1"/>
                    </a:solidFill>
                    <a:extLst>
                      <a:ext uri="http://customooxmlschemas.google.com/">
                        <go:slidesCustomData xmlns:go="http://customooxmlschemas.google.com/" cellId="41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1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1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B1AC"/>
                    </a:solidFill>
                    <a:extLst>
                      <a:ext uri="http://customooxmlschemas.google.com/">
                        <go:slidesCustomData xmlns:go="http://customooxmlschemas.google.com/" cellId="413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68F"/>
                    </a:solidFill>
                    <a:extLst>
                      <a:ext uri="http://customooxmlschemas.google.com/">
                        <go:slidesCustomData xmlns:go="http://customooxmlschemas.google.com/" cellId="413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D96"/>
                    </a:solidFill>
                    <a:extLst>
                      <a:ext uri="http://customooxmlschemas.google.com/">
                        <go:slidesCustomData xmlns:go="http://customooxmlschemas.google.com/" cellId="413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413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9F0E4"/>
                    </a:solidFill>
                    <a:extLst>
                      <a:ext uri="http://customooxmlschemas.google.com/">
                        <go:slidesCustomData xmlns:go="http://customooxmlschemas.google.com/" cellId="413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AF7F1"/>
                    </a:solidFill>
                    <a:extLst>
                      <a:ext uri="http://customooxmlschemas.google.com/">
                        <go:slidesCustomData xmlns:go="http://customooxmlschemas.google.com/" cellId="413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D"/>
                    </a:solidFill>
                    <a:extLst>
                      <a:ext uri="http://customooxmlschemas.google.com/">
                        <go:slidesCustomData xmlns:go="http://customooxmlschemas.google.com/" cellId="413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413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743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2:13"/>
                      </a:ext>
                    </a:extLst>
                  </a:tcPr>
                </a:tc>
              </a:tr>
              <a:tr h="63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rgbClr val="F3F3F3"/>
                          </a:solidFill>
                        </a:rPr>
                        <a:t>Organic/Total %</a:t>
                      </a:r>
                      <a:endParaRPr sz="19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1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59.1%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36.3%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31.2%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30.9%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31.1%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29.4%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22.4%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33.7%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30.4%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25.6%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24.7%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43.0%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31.8%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13:3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19" name="Google Shape;419;g3b8b6cbb570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b8b6cbb570_0_18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b8b6cbb570_0_182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2" name="Google Shape;422;g3b8b6cbb570_0_18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Aylara Göre Total Session &amp; ECR Dağılımı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423" name="Google Shape;423;g3b8b6cbb570_0_182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5925" y="2403262"/>
            <a:ext cx="19943439" cy="75761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424" name="Google Shape;424;g3b8b6cbb570_0_182"/>
          <p:cNvGraphicFramePr/>
          <p:nvPr/>
        </p:nvGraphicFramePr>
        <p:xfrm>
          <a:off x="1109925" y="1042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6254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  <a:gridCol w="1450525"/>
              </a:tblGrid>
              <a:tr h="67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0:13"/>
                      </a:ext>
                    </a:extLst>
                  </a:tcPr>
                </a:tc>
              </a:tr>
              <a:tr h="84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 Session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83.7K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2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104.7K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9B4"/>
                    </a:solidFill>
                    <a:extLst>
                      <a:ext uri="http://customooxmlschemas.google.com/">
                        <go:slidesCustomData xmlns:go="http://customooxmlschemas.google.com/" cellId="42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111.3K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C4C0"/>
                    </a:solidFill>
                    <a:extLst>
                      <a:ext uri="http://customooxmlschemas.google.com/">
                        <go:slidesCustomData xmlns:go="http://customooxmlschemas.google.com/" cellId="42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142.4K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FDFB"/>
                    </a:solidFill>
                    <a:extLst>
                      <a:ext uri="http://customooxmlschemas.google.com/">
                        <go:slidesCustomData xmlns:go="http://customooxmlschemas.google.com/" cellId="42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141.2K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  <a:extLst>
                      <a:ext uri="http://customooxmlschemas.google.com/">
                        <go:slidesCustomData xmlns:go="http://customooxmlschemas.google.com/" cellId="42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112.3K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3C2BE"/>
                    </a:solidFill>
                    <a:extLst>
                      <a:ext uri="http://customooxmlschemas.google.com/">
                        <go:slidesCustomData xmlns:go="http://customooxmlschemas.google.com/" cellId="42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135.4K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  <a:extLst>
                      <a:ext uri="http://customooxmlschemas.google.com/">
                        <go:slidesCustomData xmlns:go="http://customooxmlschemas.google.com/" cellId="42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143.0K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9F9"/>
                    </a:solidFill>
                    <a:extLst>
                      <a:ext uri="http://customooxmlschemas.google.com/">
                        <go:slidesCustomData xmlns:go="http://customooxmlschemas.google.com/" cellId="424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141.9K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FFE"/>
                    </a:solidFill>
                    <a:extLst>
                      <a:ext uri="http://customooxmlschemas.google.com/">
                        <go:slidesCustomData xmlns:go="http://customooxmlschemas.google.com/" cellId="424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171.6K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5"/>
                    </a:solidFill>
                    <a:extLst>
                      <a:ext uri="http://customooxmlschemas.google.com/">
                        <go:slidesCustomData xmlns:go="http://customooxmlschemas.google.com/" cellId="424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186.1K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5F5ED"/>
                    </a:solidFill>
                    <a:extLst>
                      <a:ext uri="http://customooxmlschemas.google.com/">
                        <go:slidesCustomData xmlns:go="http://customooxmlschemas.google.com/" cellId="424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489.0K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24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2.0M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1:13"/>
                      </a:ext>
                    </a:extLst>
                  </a:tcPr>
                </a:tc>
              </a:tr>
              <a:tr h="84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ECR %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2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0.15%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0.21%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0.16%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0.15%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0.16%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0.03%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24:2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30" name="Google Shape;430;g3b8b6cbb570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b8b6cbb570_0_19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b8b6cbb570_0_196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3" name="Google Shape;433;g3b8b6cbb570_0_196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Aylara Göre Organic Session &amp; ECR Dağılımı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434" name="Google Shape;434;g3b8b6cbb570_0_196"/>
          <p:cNvGraphicFramePr/>
          <p:nvPr/>
        </p:nvGraphicFramePr>
        <p:xfrm>
          <a:off x="980550" y="1068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999575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  <a:gridCol w="1463200"/>
              </a:tblGrid>
              <a:tr h="65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0:13"/>
                      </a:ext>
                    </a:extLst>
                  </a:tcPr>
                </a:tc>
              </a:tr>
              <a:tr h="65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Organic Session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EAE9"/>
                    </a:solidFill>
                    <a:extLst>
                      <a:ext uri="http://customooxmlschemas.google.com/">
                        <go:slidesCustomData xmlns:go="http://customooxmlschemas.google.com/" cellId="43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47.5K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A099"/>
                    </a:solidFill>
                    <a:extLst>
                      <a:ext uri="http://customooxmlschemas.google.com/">
                        <go:slidesCustomData xmlns:go="http://customooxmlschemas.google.com/" cellId="43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47.9K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B1AC"/>
                    </a:solidFill>
                    <a:extLst>
                      <a:ext uri="http://customooxmlschemas.google.com/">
                        <go:slidesCustomData xmlns:go="http://customooxmlschemas.google.com/" cellId="43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56.6K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43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DFEFE"/>
                    </a:solidFill>
                    <a:extLst>
                      <a:ext uri="http://customooxmlschemas.google.com/">
                        <go:slidesCustomData xmlns:go="http://customooxmlschemas.google.com/" cellId="43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43.0K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3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55.2K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D3D0"/>
                    </a:solidFill>
                    <a:extLst>
                      <a:ext uri="http://customooxmlschemas.google.com/">
                        <go:slidesCustomData xmlns:go="http://customooxmlschemas.google.com/" cellId="43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0EF"/>
                    </a:solidFill>
                    <a:extLst>
                      <a:ext uri="http://customooxmlschemas.google.com/">
                        <go:slidesCustomData xmlns:go="http://customooxmlschemas.google.com/" cellId="434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58.8K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  <a:extLst>
                      <a:ext uri="http://customooxmlschemas.google.com/">
                        <go:slidesCustomData xmlns:go="http://customooxmlschemas.google.com/" cellId="434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60.8K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7F6EF"/>
                    </a:solidFill>
                    <a:extLst>
                      <a:ext uri="http://customooxmlschemas.google.com/">
                        <go:slidesCustomData xmlns:go="http://customooxmlschemas.google.com/" cellId="434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59.8K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2F4EB"/>
                    </a:solidFill>
                    <a:extLst>
                      <a:ext uri="http://customooxmlschemas.google.com/">
                        <go:slidesCustomData xmlns:go="http://customooxmlschemas.google.com/" cellId="434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194.3K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34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803.6K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1:13"/>
                      </a:ext>
                    </a:extLst>
                  </a:tcPr>
                </a:tc>
              </a:tr>
              <a:tr h="65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ECR %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3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0.12%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0.14%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0.08%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0.07%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0.07%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0.10%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0.11%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0.13%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0.03%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0.09%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34:2:13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435" name="Google Shape;435;g3b8b6cbb570_0_196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3713" y="2411175"/>
            <a:ext cx="20587884" cy="78210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41" name="Google Shape;441;g3b8b6cbb570_0_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b8b6cbb570_0_209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b8b6cbb570_0_209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g3b8b6cbb570_0_209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Aylara Göre Total Revenue &amp; AOV Dağılımı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445" name="Google Shape;445;g3b8b6cbb570_0_209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2475" y="2405575"/>
            <a:ext cx="20617334" cy="78321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graphicFrame>
        <p:nvGraphicFramePr>
          <p:cNvPr id="446" name="Google Shape;446;g3b8b6cbb570_0_209"/>
          <p:cNvGraphicFramePr/>
          <p:nvPr/>
        </p:nvGraphicFramePr>
        <p:xfrm>
          <a:off x="1161700" y="1068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98547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</a:tblGrid>
              <a:tr h="699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0:13"/>
                      </a:ext>
                    </a:extLst>
                  </a:tcPr>
                </a:tc>
              </a:tr>
              <a:tr h="699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 Revenue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961.9K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F99"/>
                    </a:solidFill>
                    <a:extLst>
                      <a:ext uri="http://customooxmlschemas.google.com/">
                        <go:slidesCustomData xmlns:go="http://customooxmlschemas.google.com/" cellId="44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5"/>
                    </a:solidFill>
                    <a:extLst>
                      <a:ext uri="http://customooxmlschemas.google.com/">
                        <go:slidesCustomData xmlns:go="http://customooxmlschemas.google.com/" cellId="44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44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2.9M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4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1.0M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4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8B3"/>
                    </a:solidFill>
                    <a:extLst>
                      <a:ext uri="http://customooxmlschemas.google.com/">
                        <go:slidesCustomData xmlns:go="http://customooxmlschemas.google.com/" cellId="44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F3EA"/>
                    </a:solidFill>
                    <a:extLst>
                      <a:ext uri="http://customooxmlschemas.google.com/">
                        <go:slidesCustomData xmlns:go="http://customooxmlschemas.google.com/" cellId="446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6E4"/>
                    </a:solidFill>
                    <a:extLst>
                      <a:ext uri="http://customooxmlschemas.google.com/">
                        <go:slidesCustomData xmlns:go="http://customooxmlschemas.google.com/" cellId="446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446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2.4M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  <a:extLst>
                      <a:ext uri="http://customooxmlschemas.google.com/">
                        <go:slidesCustomData xmlns:go="http://customooxmlschemas.google.com/" cellId="446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BBD8D"/>
                    </a:solidFill>
                    <a:extLst>
                      <a:ext uri="http://customooxmlschemas.google.com/">
                        <go:slidesCustomData xmlns:go="http://customooxmlschemas.google.com/" cellId="446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  <a:extLst>
                      <a:ext uri="http://customooxmlschemas.google.com/">
                        <go:slidesCustomData xmlns:go="http://customooxmlschemas.google.com/" cellId="446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22.5M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46:1:13"/>
                      </a:ext>
                    </a:extLst>
                  </a:tcPr>
                </a:tc>
              </a:tr>
              <a:tr h="699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4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₺7,574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9D6"/>
                    </a:solidFill>
                    <a:extLst>
                      <a:ext uri="http://customooxmlschemas.google.com/">
                        <go:slidesCustomData xmlns:go="http://customooxmlschemas.google.com/" cellId="44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₺7,971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BB6"/>
                    </a:solidFill>
                    <a:extLst>
                      <a:ext uri="http://customooxmlschemas.google.com/">
                        <go:slidesCustomData xmlns:go="http://customooxmlschemas.google.com/" cellId="44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₺10,369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8F2"/>
                    </a:solidFill>
                    <a:extLst>
                      <a:ext uri="http://customooxmlschemas.google.com/">
                        <go:slidesCustomData xmlns:go="http://customooxmlschemas.google.com/" cellId="44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₺11,072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4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₺7,513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4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₺10,466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7F0"/>
                    </a:solidFill>
                    <a:extLst>
                      <a:ext uri="http://customooxmlschemas.google.com/">
                        <go:slidesCustomData xmlns:go="http://customooxmlschemas.google.com/" cellId="44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₺10,189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D0AE"/>
                    </a:solidFill>
                    <a:extLst>
                      <a:ext uri="http://customooxmlschemas.google.com/">
                        <go:slidesCustomData xmlns:go="http://customooxmlschemas.google.com/" cellId="446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₺9,810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1CE"/>
                    </a:solidFill>
                    <a:extLst>
                      <a:ext uri="http://customooxmlschemas.google.com/">
                        <go:slidesCustomData xmlns:go="http://customooxmlschemas.google.com/" cellId="446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₺9,763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2F1"/>
                    </a:solidFill>
                    <a:extLst>
                      <a:ext uri="http://customooxmlschemas.google.com/">
                        <go:slidesCustomData xmlns:go="http://customooxmlschemas.google.com/" cellId="446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₺8,950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ECB"/>
                    </a:solidFill>
                    <a:extLst>
                      <a:ext uri="http://customooxmlschemas.google.com/">
                        <go:slidesCustomData xmlns:go="http://customooxmlschemas.google.com/" cellId="446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₺10,704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E3CE"/>
                    </a:solidFill>
                    <a:extLst>
                      <a:ext uri="http://customooxmlschemas.google.com/">
                        <go:slidesCustomData xmlns:go="http://customooxmlschemas.google.com/" cellId="446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₺9,849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6F0"/>
                    </a:solidFill>
                    <a:extLst>
                      <a:ext uri="http://customooxmlschemas.google.com/">
                        <go:slidesCustomData xmlns:go="http://customooxmlschemas.google.com/" cellId="446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₺9,519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46:2:1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EFFF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52" name="Google Shape;452;g3b8b6cbb570_0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3b8b6cbb570_0_22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b8b6cbb570_0_222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5" name="Google Shape;455;g3b8b6cbb570_0_222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Aylara Göre Organik Revenue &amp; AOV Dağılımı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456" name="Google Shape;456;g3b8b6cbb570_0_222"/>
          <p:cNvGraphicFramePr/>
          <p:nvPr/>
        </p:nvGraphicFramePr>
        <p:xfrm>
          <a:off x="1161700" y="1068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98547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  <a:gridCol w="1456325"/>
              </a:tblGrid>
              <a:tr h="699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Month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0:13"/>
                      </a:ext>
                    </a:extLst>
                  </a:tcPr>
                </a:tc>
              </a:tr>
              <a:tr h="699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 Revenue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961.9K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F99"/>
                    </a:solidFill>
                    <a:extLst>
                      <a:ext uri="http://customooxmlschemas.google.com/">
                        <go:slidesCustomData xmlns:go="http://customooxmlschemas.google.com/" cellId="45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F9F5"/>
                    </a:solidFill>
                    <a:extLst>
                      <a:ext uri="http://customooxmlschemas.google.com/">
                        <go:slidesCustomData xmlns:go="http://customooxmlschemas.google.com/" cellId="45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  <a:extLst>
                      <a:ext uri="http://customooxmlschemas.google.com/">
                        <go:slidesCustomData xmlns:go="http://customooxmlschemas.google.com/" cellId="45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2.9M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5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1.0M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5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B8B3"/>
                    </a:solidFill>
                    <a:extLst>
                      <a:ext uri="http://customooxmlschemas.google.com/">
                        <go:slidesCustomData xmlns:go="http://customooxmlschemas.google.com/" cellId="45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1F3EA"/>
                    </a:solidFill>
                    <a:extLst>
                      <a:ext uri="http://customooxmlschemas.google.com/">
                        <go:slidesCustomData xmlns:go="http://customooxmlschemas.google.com/" cellId="456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1.8M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AE6E4"/>
                    </a:solidFill>
                    <a:extLst>
                      <a:ext uri="http://customooxmlschemas.google.com/">
                        <go:slidesCustomData xmlns:go="http://customooxmlschemas.google.com/" cellId="456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2.1M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DEF2E8"/>
                    </a:solidFill>
                    <a:extLst>
                      <a:ext uri="http://customooxmlschemas.google.com/">
                        <go:slidesCustomData xmlns:go="http://customooxmlschemas.google.com/" cellId="456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2.4M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  <a:extLst>
                      <a:ext uri="http://customooxmlschemas.google.com/">
                        <go:slidesCustomData xmlns:go="http://customooxmlschemas.google.com/" cellId="456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3.3M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BBD8D"/>
                    </a:solidFill>
                    <a:extLst>
                      <a:ext uri="http://customooxmlschemas.google.com/">
                        <go:slidesCustomData xmlns:go="http://customooxmlschemas.google.com/" cellId="456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  <a:extLst>
                      <a:ext uri="http://customooxmlschemas.google.com/">
                        <go:slidesCustomData xmlns:go="http://customooxmlschemas.google.com/" cellId="456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22.5M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56:1:13"/>
                      </a:ext>
                    </a:extLst>
                  </a:tcPr>
                </a:tc>
              </a:tr>
              <a:tr h="699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5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₺7,574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9D6"/>
                    </a:solidFill>
                    <a:extLst>
                      <a:ext uri="http://customooxmlschemas.google.com/">
                        <go:slidesCustomData xmlns:go="http://customooxmlschemas.google.com/" cellId="45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₺7,971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BB6"/>
                    </a:solidFill>
                    <a:extLst>
                      <a:ext uri="http://customooxmlschemas.google.com/">
                        <go:slidesCustomData xmlns:go="http://customooxmlschemas.google.com/" cellId="45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₺10,369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8F2"/>
                    </a:solidFill>
                    <a:extLst>
                      <a:ext uri="http://customooxmlschemas.google.com/">
                        <go:slidesCustomData xmlns:go="http://customooxmlschemas.google.com/" cellId="45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₺11,072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5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₺7,513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45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₺10,466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7F0"/>
                    </a:solidFill>
                    <a:extLst>
                      <a:ext uri="http://customooxmlschemas.google.com/">
                        <go:slidesCustomData xmlns:go="http://customooxmlschemas.google.com/" cellId="45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₺10,189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D0AE"/>
                    </a:solidFill>
                    <a:extLst>
                      <a:ext uri="http://customooxmlschemas.google.com/">
                        <go:slidesCustomData xmlns:go="http://customooxmlschemas.google.com/" cellId="456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₺9,810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1CE"/>
                    </a:solidFill>
                    <a:extLst>
                      <a:ext uri="http://customooxmlschemas.google.com/">
                        <go:slidesCustomData xmlns:go="http://customooxmlschemas.google.com/" cellId="456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₺9,763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2F1"/>
                    </a:solidFill>
                    <a:extLst>
                      <a:ext uri="http://customooxmlschemas.google.com/">
                        <go:slidesCustomData xmlns:go="http://customooxmlschemas.google.com/" cellId="456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₺8,950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ECB"/>
                    </a:solidFill>
                    <a:extLst>
                      <a:ext uri="http://customooxmlschemas.google.com/">
                        <go:slidesCustomData xmlns:go="http://customooxmlschemas.google.com/" cellId="456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₺10,704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E3CE"/>
                    </a:solidFill>
                    <a:extLst>
                      <a:ext uri="http://customooxmlschemas.google.com/">
                        <go:slidesCustomData xmlns:go="http://customooxmlschemas.google.com/" cellId="456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₺9,849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6F0"/>
                    </a:solidFill>
                    <a:extLst>
                      <a:ext uri="http://customooxmlschemas.google.com/">
                        <go:slidesCustomData xmlns:go="http://customooxmlschemas.google.com/" cellId="456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₺9,519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456:2:13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457" name="Google Shape;457;g3b8b6cbb570_0_222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2438" y="2276637"/>
            <a:ext cx="21296225" cy="809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63" name="Google Shape;463;g3b8b6cbb570_0_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b8b6cbb570_0_269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5" name="Google Shape;465;g3b8b6cbb570_0_2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b8b6cbb570_0_269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7" name="Google Shape;467;g3b8b6cbb570_0_2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b8b6cbb570_0_269"/>
          <p:cNvSpPr/>
          <p:nvPr/>
        </p:nvSpPr>
        <p:spPr>
          <a:xfrm>
            <a:off x="-1929600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05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b8b6cbb570_0_269"/>
          <p:cNvSpPr/>
          <p:nvPr/>
        </p:nvSpPr>
        <p:spPr>
          <a:xfrm>
            <a:off x="6014275" y="6248400"/>
            <a:ext cx="17415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Kategori &amp; LP Performansı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8b6cbb570_0_280"/>
          <p:cNvSpPr txBox="1"/>
          <p:nvPr/>
        </p:nvSpPr>
        <p:spPr>
          <a:xfrm>
            <a:off x="10303200" y="2369150"/>
            <a:ext cx="13956900" cy="10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2025’te en yüksek tıklama üreten sayfa Ana Sayfa (169K tıklama, 4.0M gösterim) olmuştur. CTR oranı %4.15 ile ortalamanın üzerindedir.</a:t>
            </a:r>
            <a:b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Kategori bazında en yüksek trafik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: Bu 4 kategori toplam kategori trafiğinin ana gövdesini oluşturmaktadır.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Klozetler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(88.5K tıklama)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Lavabolar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(66.4K)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Banyo Mobilyaları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(52.6K)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Karo Seramik Ürünleri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(41.1K)</a:t>
            </a:r>
            <a:b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CTR açısından güçlü kategoriler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: Görece daha düşük hacimde olsa da yüksek tıklama oranı gözlenmektedir. 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Gömme Rezervuarlar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%2.80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Duş Kanallar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ı → %3.26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Duş Sistemleri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%3.50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Duş Setleri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%2.65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Küvetler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%4.14</a:t>
            </a:r>
            <a:b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Fırsat bulunan yüksek hacimli kategoriler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: Gösterim yüksek olmasına rağmen CTR düşük seviyededir.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Lavabolar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%1.58 CTR (66K tıklama, 4.1M gösterim)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Banyo Dolapları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%1.48 CTR (32K tıklama, 2.2M gösterim)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Klozet Kapakları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%1.02 CTR (20K tıklama, 2.0M gösterim)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◆"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Rezervuarlar &amp; İç Takımlar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%1.27 CTR (1.7M gösterim)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476" name="Google Shape;476;g3b8b6cbb570_0_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b8b6cbb570_0_28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b8b6cbb570_0_280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GSC En Çok Click Alan Sayfalar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9" name="Google Shape;479;g3b8b6cbb570_0_280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GSC - En İyi Click Getiren Sayfalar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480" name="Google Shape;480;g3b8b6cbb570_0_280"/>
          <p:cNvGraphicFramePr/>
          <p:nvPr/>
        </p:nvGraphicFramePr>
        <p:xfrm>
          <a:off x="406438" y="236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2033425"/>
                <a:gridCol w="3656250"/>
                <a:gridCol w="1318375"/>
                <a:gridCol w="1210375"/>
                <a:gridCol w="1210375"/>
              </a:tblGrid>
              <a:tr h="63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Sayfa Tipi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8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Sayfa Adı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8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Toplam Tıklama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8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Toplam Gösterim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8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CTR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80:0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🏠 Ana Sayfa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Ana Sayfa (vitra + online vitra)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169.0K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8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4.1M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76A"/>
                    </a:solidFill>
                    <a:extLst>
                      <a:ext uri="http://customooxmlschemas.google.com/">
                        <go:slidesCustomData xmlns:go="http://customooxmlschemas.google.com/" cellId="48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4.15%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Klozetler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88.6K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5CEAB"/>
                    </a:solidFill>
                    <a:extLst>
                      <a:ext uri="http://customooxmlschemas.google.com/">
                        <go:slidesCustomData xmlns:go="http://customooxmlschemas.google.com/" cellId="48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3.2M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81"/>
                    </a:solidFill>
                    <a:extLst>
                      <a:ext uri="http://customooxmlschemas.google.com/">
                        <go:slidesCustomData xmlns:go="http://customooxmlschemas.google.com/" cellId="48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2,75%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Lavabolar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66.5K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3B3"/>
                    </a:solidFill>
                    <a:extLst>
                      <a:ext uri="http://customooxmlschemas.google.com/">
                        <go:slidesCustomData xmlns:go="http://customooxmlschemas.google.com/" cellId="48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4.2M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48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1,58%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3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Banyo Mobilyaları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52.7K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AD6B9"/>
                    </a:solidFill>
                    <a:extLst>
                      <a:ext uri="http://customooxmlschemas.google.com/">
                        <go:slidesCustomData xmlns:go="http://customooxmlschemas.google.com/" cellId="48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2.0M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A1"/>
                    </a:solidFill>
                    <a:extLst>
                      <a:ext uri="http://customooxmlschemas.google.com/">
                        <go:slidesCustomData xmlns:go="http://customooxmlschemas.google.com/" cellId="48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2,59%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4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Karo Seramik Ürünleri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41.2K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D9BE"/>
                    </a:solidFill>
                    <a:extLst>
                      <a:ext uri="http://customooxmlschemas.google.com/">
                        <go:slidesCustomData xmlns:go="http://customooxmlschemas.google.com/" cellId="48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1.7M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9AA"/>
                    </a:solidFill>
                    <a:extLst>
                      <a:ext uri="http://customooxmlschemas.google.com/">
                        <go:slidesCustomData xmlns:go="http://customooxmlschemas.google.com/" cellId="48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2,43%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5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 Setleri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39.1K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D9BE"/>
                    </a:solidFill>
                    <a:extLst>
                      <a:ext uri="http://customooxmlschemas.google.com/">
                        <go:slidesCustomData xmlns:go="http://customooxmlschemas.google.com/" cellId="48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1.5M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AF"/>
                    </a:solidFill>
                    <a:extLst>
                      <a:ext uri="http://customooxmlschemas.google.com/">
                        <go:slidesCustomData xmlns:go="http://customooxmlschemas.google.com/" cellId="48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2,65%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6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Gömme Rezervuarlar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36.0K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DAC0"/>
                    </a:solidFill>
                    <a:extLst>
                      <a:ext uri="http://customooxmlschemas.google.com/">
                        <go:slidesCustomData xmlns:go="http://customooxmlschemas.google.com/" cellId="480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1.3M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B7"/>
                    </a:solidFill>
                    <a:extLst>
                      <a:ext uri="http://customooxmlschemas.google.com/">
                        <go:slidesCustomData xmlns:go="http://customooxmlschemas.google.com/" cellId="480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2,80%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7:4"/>
                      </a:ext>
                    </a:extLst>
                  </a:tcPr>
                </a:tc>
              </a:tr>
              <a:tr h="48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📍 Servis &amp; Satış 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Servisler ve satis noktalari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35.0K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DAC0"/>
                    </a:solidFill>
                    <a:extLst>
                      <a:ext uri="http://customooxmlschemas.google.com/">
                        <go:slidesCustomData xmlns:go="http://customooxmlschemas.google.com/" cellId="480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1.3M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480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2,60%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8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Banyo Dolapları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32.6K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DBC1"/>
                    </a:solidFill>
                    <a:extLst>
                      <a:ext uri="http://customooxmlschemas.google.com/">
                        <go:slidesCustomData xmlns:go="http://customooxmlschemas.google.com/" cellId="480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2.2M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C"/>
                    </a:solidFill>
                    <a:extLst>
                      <a:ext uri="http://customooxmlschemas.google.com/">
                        <go:slidesCustomData xmlns:go="http://customooxmlschemas.google.com/" cellId="480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1,48%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9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Mutfak Eviye Bataryaları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27.8K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CC3"/>
                    </a:solidFill>
                    <a:extLst>
                      <a:ext uri="http://customooxmlschemas.google.com/">
                        <go:slidesCustomData xmlns:go="http://customooxmlschemas.google.com/" cellId="480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1.8M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A7"/>
                    </a:solidFill>
                    <a:extLst>
                      <a:ext uri="http://customooxmlschemas.google.com/">
                        <go:slidesCustomData xmlns:go="http://customooxmlschemas.google.com/" cellId="480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1,57%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0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Karo Seramik - Banyo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26.8K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CC3"/>
                    </a:solidFill>
                    <a:extLst>
                      <a:ext uri="http://customooxmlschemas.google.com/">
                        <go:slidesCustomData xmlns:go="http://customooxmlschemas.google.com/" cellId="480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1.7M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9AA"/>
                    </a:solidFill>
                    <a:extLst>
                      <a:ext uri="http://customooxmlschemas.google.com/">
                        <go:slidesCustomData xmlns:go="http://customooxmlschemas.google.com/" cellId="480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1,59%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1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Lavabo Dolapları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23.6K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5"/>
                    </a:solidFill>
                    <a:extLst>
                      <a:ext uri="http://customooxmlschemas.google.com/">
                        <go:slidesCustomData xmlns:go="http://customooxmlschemas.google.com/" cellId="480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2.4M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497"/>
                    </a:solidFill>
                    <a:extLst>
                      <a:ext uri="http://customooxmlschemas.google.com/">
                        <go:slidesCustomData xmlns:go="http://customooxmlschemas.google.com/" cellId="480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0,99%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2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Bataryalar &amp; Musluklar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21.9K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480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1.3M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B6"/>
                    </a:solidFill>
                    <a:extLst>
                      <a:ext uri="http://customooxmlschemas.google.com/">
                        <go:slidesCustomData xmlns:go="http://customooxmlschemas.google.com/" cellId="480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1,70%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3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Rezervuarlar &amp; İç Takımlar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21.7K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480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1.7M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9A9"/>
                    </a:solidFill>
                    <a:extLst>
                      <a:ext uri="http://customooxmlschemas.google.com/">
                        <go:slidesCustomData xmlns:go="http://customooxmlschemas.google.com/" cellId="480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1,27%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4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Küvetler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480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522.2K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4"/>
                    </a:solidFill>
                    <a:extLst>
                      <a:ext uri="http://customooxmlschemas.google.com/">
                        <go:slidesCustomData xmlns:go="http://customooxmlschemas.google.com/" cellId="480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4,14%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5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Banyo Bataryaları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21.1K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DFC7"/>
                    </a:solidFill>
                    <a:extLst>
                      <a:ext uri="http://customooxmlschemas.google.com/">
                        <go:slidesCustomData xmlns:go="http://customooxmlschemas.google.com/" cellId="480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1.5M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AF"/>
                    </a:solidFill>
                    <a:extLst>
                      <a:ext uri="http://customooxmlschemas.google.com/">
                        <go:slidesCustomData xmlns:go="http://customooxmlschemas.google.com/" cellId="480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1,42%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6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 Kabinleri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20.9K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E0C9"/>
                    </a:solidFill>
                    <a:extLst>
                      <a:ext uri="http://customooxmlschemas.google.com/">
                        <go:slidesCustomData xmlns:go="http://customooxmlschemas.google.com/" cellId="480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820.7K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DC"/>
                    </a:solidFill>
                    <a:extLst>
                      <a:ext uri="http://customooxmlschemas.google.com/">
                        <go:slidesCustomData xmlns:go="http://customooxmlschemas.google.com/" cellId="480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2,54%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7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 Tekneleri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20.8K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E0CA"/>
                    </a:solidFill>
                    <a:extLst>
                      <a:ext uri="http://customooxmlschemas.google.com/">
                        <go:slidesCustomData xmlns:go="http://customooxmlschemas.google.com/" cellId="480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662.7K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E9"/>
                    </a:solidFill>
                    <a:extLst>
                      <a:ext uri="http://customooxmlschemas.google.com/">
                        <go:slidesCustomData xmlns:go="http://customooxmlschemas.google.com/" cellId="480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3,14%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18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Klozet Kapakları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20.4K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E2CC"/>
                    </a:solidFill>
                    <a:extLst>
                      <a:ext uri="http://customooxmlschemas.google.com/">
                        <go:slidesCustomData xmlns:go="http://customooxmlschemas.google.com/" cellId="480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2.0M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1"/>
                    </a:solidFill>
                    <a:extLst>
                      <a:ext uri="http://customooxmlschemas.google.com/">
                        <go:slidesCustomData xmlns:go="http://customooxmlschemas.google.com/" cellId="480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1,02%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19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Banyo Koleksiyonları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18.9K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  <a:extLst>
                      <a:ext uri="http://customooxmlschemas.google.com/">
                        <go:slidesCustomData xmlns:go="http://customooxmlschemas.google.com/" cellId="480:2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1.3M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B5"/>
                    </a:solidFill>
                    <a:extLst>
                      <a:ext uri="http://customooxmlschemas.google.com/">
                        <go:slidesCustomData xmlns:go="http://customooxmlschemas.google.com/" cellId="480:2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1,45%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0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✨ Koleksiyon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Banyo koleksiyonlari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18.9K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E8D7"/>
                    </a:solidFill>
                    <a:extLst>
                      <a:ext uri="http://customooxmlschemas.google.com/">
                        <go:slidesCustomData xmlns:go="http://customooxmlschemas.google.com/" cellId="480:2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1.3M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B5"/>
                    </a:solidFill>
                    <a:extLst>
                      <a:ext uri="http://customooxmlschemas.google.com/">
                        <go:slidesCustomData xmlns:go="http://customooxmlschemas.google.com/" cellId="480:2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1,45%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1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Asma Klozetler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18.0K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CDE"/>
                    </a:solidFill>
                    <a:extLst>
                      <a:ext uri="http://customooxmlschemas.google.com/">
                        <go:slidesCustomData xmlns:go="http://customooxmlschemas.google.com/" cellId="480:2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1.8M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A6"/>
                    </a:solidFill>
                    <a:extLst>
                      <a:ext uri="http://customooxmlschemas.google.com/">
                        <go:slidesCustomData xmlns:go="http://customooxmlschemas.google.com/" cellId="480:2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0,98%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2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 Üniteleri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17.6K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EE1"/>
                    </a:solidFill>
                    <a:extLst>
                      <a:ext uri="http://customooxmlschemas.google.com/">
                        <go:slidesCustomData xmlns:go="http://customooxmlschemas.google.com/" cellId="480:2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679.5K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E7"/>
                    </a:solidFill>
                    <a:extLst>
                      <a:ext uri="http://customooxmlschemas.google.com/">
                        <go:slidesCustomData xmlns:go="http://customooxmlschemas.google.com/" cellId="480:2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2,59%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3:4"/>
                      </a:ext>
                    </a:extLst>
                  </a:tcPr>
                </a:tc>
              </a:tr>
              <a:tr h="40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📝 Blog/İçerik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Duşakabin temizliği nasıl yapılır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2E8"/>
                    </a:solidFill>
                    <a:extLst>
                      <a:ext uri="http://customooxmlschemas.google.com/">
                        <go:slidesCustomData xmlns:go="http://customooxmlschemas.google.com/" cellId="480:2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616.6K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D"/>
                    </a:solidFill>
                    <a:extLst>
                      <a:ext uri="http://customooxmlschemas.google.com/">
                        <go:slidesCustomData xmlns:go="http://customooxmlschemas.google.com/" cellId="480:2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2,69%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4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Akıllı Klozetler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16.5K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2E9"/>
                    </a:solidFill>
                    <a:extLst>
                      <a:ext uri="http://customooxmlschemas.google.com/">
                        <go:slidesCustomData xmlns:go="http://customooxmlschemas.google.com/" cellId="480:2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774.9K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7E0"/>
                    </a:solidFill>
                    <a:extLst>
                      <a:ext uri="http://customooxmlschemas.google.com/">
                        <go:slidesCustomData xmlns:go="http://customooxmlschemas.google.com/" cellId="480:2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2,13%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5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Karo Seramik - Mutfak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16.0K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  <a:extLst>
                      <a:ext uri="http://customooxmlschemas.google.com/">
                        <go:slidesCustomData xmlns:go="http://customooxmlschemas.google.com/" cellId="480:2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990.3K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E"/>
                    </a:solidFill>
                    <a:extLst>
                      <a:ext uri="http://customooxmlschemas.google.com/">
                        <go:slidesCustomData xmlns:go="http://customooxmlschemas.google.com/" cellId="480:2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1,62%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6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Takım Klozetler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15.8K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5ED"/>
                    </a:solidFill>
                    <a:extLst>
                      <a:ext uri="http://customooxmlschemas.google.com/">
                        <go:slidesCustomData xmlns:go="http://customooxmlschemas.google.com/" cellId="480:2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730.8K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3"/>
                    </a:solidFill>
                    <a:extLst>
                      <a:ext uri="http://customooxmlschemas.google.com/">
                        <go:slidesCustomData xmlns:go="http://customooxmlschemas.google.com/" cellId="480:2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2,16%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7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Karo Seramik - Zemin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15.0K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  <a:extLst>
                      <a:ext uri="http://customooxmlschemas.google.com/">
                        <go:slidesCustomData xmlns:go="http://customooxmlschemas.google.com/" cellId="480:2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1.2M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FC0"/>
                    </a:solidFill>
                    <a:extLst>
                      <a:ext uri="http://customooxmlschemas.google.com/">
                        <go:slidesCustomData xmlns:go="http://customooxmlschemas.google.com/" cellId="480:2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1,29%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28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 Kanalları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14.6K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AF6"/>
                    </a:solidFill>
                    <a:extLst>
                      <a:ext uri="http://customooxmlschemas.google.com/">
                        <go:slidesCustomData xmlns:go="http://customooxmlschemas.google.com/" cellId="480:2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447.7K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FA"/>
                    </a:solidFill>
                    <a:extLst>
                      <a:ext uri="http://customooxmlschemas.google.com/">
                        <go:slidesCustomData xmlns:go="http://customooxmlschemas.google.com/" cellId="480:2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3,26%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29:4"/>
                      </a:ext>
                    </a:extLst>
                  </a:tcPr>
                </a:tc>
              </a:tr>
              <a:tr h="34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📂 Kategori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3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Duş Sistemleri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3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13.3K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3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380.3K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80:3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3,50%</a:t>
                      </a:r>
                      <a:endParaRPr sz="16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80:30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7653ab589_0_45"/>
          <p:cNvSpPr txBox="1"/>
          <p:nvPr/>
        </p:nvSpPr>
        <p:spPr>
          <a:xfrm>
            <a:off x="10238400" y="2369150"/>
            <a:ext cx="14021700" cy="10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Marka + ürün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kombinasyonlu sorguların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CTR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oranları ortalama üzerindedir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b="1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 duşakabin → %44.7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 banyo → %29.3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 lavabo → %22.3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 banyo dolabı → %22.1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vitra seramik → %20.7 CTR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Yüksek Gösterime Sahip  Non-Brand Sorgular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: Bu sorgularda ek optimizasyonlarla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tıklama getirme potansiyeli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bulunmaktadır.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lavabo → 741K gösterim, %1.5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banyo dolabı → 647K gösterim, %3.3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klozet fiyatları → 479K gösterim, %3.4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klozet → 375K gösterim, %3.8 CTR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◆"/>
            </a:pP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duşakabin → 379K gösterim, %2.0 CTR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Klozet &amp; Rezervuar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grubu hem yüksek hacimli (gösterim) hem de tıklama almaktadır. Ana trafik alanlarından biri.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Lavabo grubu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en yüksek gösterim hacmine sahiptir. Jenerik “lavabo” sorgusunda CTR düşüktür; büyüme alanı bulunmaktadır.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Duşakabin &amp; Duş sistemleri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grubu yüksek görünürlük almaktadır. Marka içeren sorgular güçlü, jeneriklerde optimizasyon fırsatı vardır.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Banyo dolabı &amp; mobilya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grubunda  VitrA sorguları verimli, jenerik sorgularda pay artırılabilir.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utfit"/>
              <a:buChar char="➔"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Batarya / armatür grubu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yüksek gösterim alsa da tıklama oranı görece düşüktür. Potansiyel alanlardan biridir.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487" name="Google Shape;487;g3c7653ab589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c7653ab589_0_4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c7653ab589_0_45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GSC En Çok Click Alan Sayfalar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g3c7653ab589_0_4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GSC - En İyi Click Getiren Query’ler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491" name="Google Shape;491;g3c7653ab589_0_45"/>
          <p:cNvGraphicFramePr/>
          <p:nvPr/>
        </p:nvGraphicFramePr>
        <p:xfrm>
          <a:off x="152400" y="236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207625"/>
                <a:gridCol w="1595825"/>
                <a:gridCol w="1595825"/>
                <a:gridCol w="1595825"/>
                <a:gridCol w="1595825"/>
              </a:tblGrid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</a:rPr>
                        <a:t>Top queries</a:t>
                      </a:r>
                      <a:endParaRPr b="1"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9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Clicks</a:t>
                      </a:r>
                      <a:endParaRPr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9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Impressions</a:t>
                      </a:r>
                      <a:endParaRPr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9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CTR</a:t>
                      </a:r>
                      <a:endParaRPr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9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solidFill>
                            <a:srgbClr val="FFFFFF"/>
                          </a:solidFill>
                        </a:rPr>
                        <a:t>Position</a:t>
                      </a:r>
                      <a:endParaRPr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491:0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129.3K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49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371.4K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96"/>
                    </a:solidFill>
                    <a:extLst>
                      <a:ext uri="http://customooxmlschemas.google.com/">
                        <go:slidesCustomData xmlns:go="http://customooxmlschemas.google.com/" cellId="49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34.8%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3.9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55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banyo dolabı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21.4K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D9BE"/>
                    </a:solidFill>
                    <a:extLst>
                      <a:ext uri="http://customooxmlschemas.google.com/">
                        <go:slidesCustomData xmlns:go="http://customooxmlschemas.google.com/" cellId="49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647.6K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A73"/>
                    </a:solidFill>
                    <a:extLst>
                      <a:ext uri="http://customooxmlschemas.google.com/">
                        <go:slidesCustomData xmlns:go="http://customooxmlschemas.google.com/" cellId="49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3.3%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4.0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klozet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17.5K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DAC0"/>
                    </a:solidFill>
                    <a:extLst>
                      <a:ext uri="http://customooxmlschemas.google.com/">
                        <go:slidesCustomData xmlns:go="http://customooxmlschemas.google.com/" cellId="49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94.8K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CF"/>
                    </a:solidFill>
                    <a:extLst>
                      <a:ext uri="http://customooxmlschemas.google.com/">
                        <go:slidesCustomData xmlns:go="http://customooxmlschemas.google.com/" cellId="49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18.5%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1.3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3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klozet fiyatları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16.5K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DAC0"/>
                    </a:solidFill>
                    <a:extLst>
                      <a:ext uri="http://customooxmlschemas.google.com/">
                        <go:slidesCustomData xmlns:go="http://customooxmlschemas.google.com/" cellId="49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479.6K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88"/>
                    </a:solidFill>
                    <a:extLst>
                      <a:ext uri="http://customooxmlschemas.google.com/">
                        <go:slidesCustomData xmlns:go="http://customooxmlschemas.google.com/" cellId="49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3.4%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3.0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4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klozet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14.1K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DBC1"/>
                    </a:solidFill>
                    <a:extLst>
                      <a:ext uri="http://customooxmlschemas.google.com/">
                        <go:slidesCustomData xmlns:go="http://customooxmlschemas.google.com/" cellId="49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375.4K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95"/>
                    </a:solidFill>
                    <a:extLst>
                      <a:ext uri="http://customooxmlschemas.google.com/">
                        <go:slidesCustomData xmlns:go="http://customooxmlschemas.google.com/" cellId="49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3.8%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5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seramik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12.6K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DBC2"/>
                    </a:solidFill>
                    <a:extLst>
                      <a:ext uri="http://customooxmlschemas.google.com/">
                        <go:slidesCustomData xmlns:go="http://customooxmlschemas.google.com/" cellId="49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61.0K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3"/>
                    </a:solidFill>
                    <a:extLst>
                      <a:ext uri="http://customooxmlschemas.google.com/">
                        <go:slidesCustomData xmlns:go="http://customooxmlschemas.google.com/" cellId="49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20.7%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1.2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6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lavabo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11.2K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DCC3"/>
                    </a:solidFill>
                    <a:extLst>
                      <a:ext uri="http://customooxmlschemas.google.com/">
                        <go:slidesCustomData xmlns:go="http://customooxmlschemas.google.com/" cellId="49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741.3K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66"/>
                    </a:solidFill>
                    <a:extLst>
                      <a:ext uri="http://customooxmlschemas.google.com/">
                        <go:slidesCustomData xmlns:go="http://customooxmlschemas.google.com/" cellId="49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1.5%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7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gömme rezervuar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11.0K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CC3"/>
                    </a:solidFill>
                    <a:extLst>
                      <a:ext uri="http://customooxmlschemas.google.com/">
                        <go:slidesCustomData xmlns:go="http://customooxmlschemas.google.com/" cellId="49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101.8K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B"/>
                    </a:solidFill>
                    <a:extLst>
                      <a:ext uri="http://customooxmlschemas.google.com/">
                        <go:slidesCustomData xmlns:go="http://customooxmlschemas.google.com/" cellId="49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10.8%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1.3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8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banyo dolabı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9.3K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CC4"/>
                    </a:solidFill>
                    <a:extLst>
                      <a:ext uri="http://customooxmlschemas.google.com/">
                        <go:slidesCustomData xmlns:go="http://customooxmlschemas.google.com/" cellId="49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42.3K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EE"/>
                    </a:solidFill>
                    <a:extLst>
                      <a:ext uri="http://customooxmlschemas.google.com/">
                        <go:slidesCustomData xmlns:go="http://customooxmlschemas.google.com/" cellId="49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22.1%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9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duşakabin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7.4K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4"/>
                    </a:solidFill>
                    <a:extLst>
                      <a:ext uri="http://customooxmlschemas.google.com/">
                        <go:slidesCustomData xmlns:go="http://customooxmlschemas.google.com/" cellId="491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379.5K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95"/>
                    </a:solidFill>
                    <a:extLst>
                      <a:ext uri="http://customooxmlschemas.google.com/">
                        <go:slidesCustomData xmlns:go="http://customooxmlschemas.google.com/" cellId="491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2.0%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8.3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0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banyo dolabı modelleri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6.9K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5"/>
                    </a:solidFill>
                    <a:extLst>
                      <a:ext uri="http://customooxmlschemas.google.com/">
                        <go:slidesCustomData xmlns:go="http://customooxmlschemas.google.com/" cellId="491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212.2K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9AA"/>
                    </a:solidFill>
                    <a:extLst>
                      <a:ext uri="http://customooxmlschemas.google.com/">
                        <go:slidesCustomData xmlns:go="http://customooxmlschemas.google.com/" cellId="491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3.2%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4.8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1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lavabo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6.9K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5"/>
                    </a:solidFill>
                    <a:extLst>
                      <a:ext uri="http://customooxmlschemas.google.com/">
                        <go:slidesCustomData xmlns:go="http://customooxmlschemas.google.com/" cellId="491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30.8K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4"/>
                    </a:solidFill>
                    <a:extLst>
                      <a:ext uri="http://customooxmlschemas.google.com/">
                        <go:slidesCustomData xmlns:go="http://customooxmlschemas.google.com/" cellId="491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22.3%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1.9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2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seramik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ADDC5"/>
                    </a:solidFill>
                    <a:extLst>
                      <a:ext uri="http://customooxmlschemas.google.com/">
                        <go:slidesCustomData xmlns:go="http://customooxmlschemas.google.com/" cellId="491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219.5K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9A9"/>
                    </a:solidFill>
                    <a:extLst>
                      <a:ext uri="http://customooxmlschemas.google.com/">
                        <go:slidesCustomData xmlns:go="http://customooxmlschemas.google.com/" cellId="491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3.1%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6.4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3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duşakabin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491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12.1K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44.7%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2.3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4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mutfak bataryası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  <a:extLst>
                      <a:ext uri="http://customooxmlschemas.google.com/">
                        <go:slidesCustomData xmlns:go="http://customooxmlschemas.google.com/" cellId="491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226.5K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9A9"/>
                    </a:solidFill>
                    <a:extLst>
                      <a:ext uri="http://customooxmlschemas.google.com/">
                        <go:slidesCustomData xmlns:go="http://customooxmlschemas.google.com/" cellId="491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2.4%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4.1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5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duşakabin modelleri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0CB"/>
                    </a:solidFill>
                    <a:extLst>
                      <a:ext uri="http://customooxmlschemas.google.com/">
                        <go:slidesCustomData xmlns:go="http://customooxmlschemas.google.com/" cellId="491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258.9K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4"/>
                    </a:solidFill>
                    <a:extLst>
                      <a:ext uri="http://customooxmlschemas.google.com/">
                        <go:slidesCustomData xmlns:go="http://customooxmlschemas.google.com/" cellId="491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1.9%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6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duş başlığı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4D0"/>
                    </a:solidFill>
                    <a:extLst>
                      <a:ext uri="http://customooxmlschemas.google.com/">
                        <go:slidesCustomData xmlns:go="http://customooxmlschemas.google.com/" cellId="491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286.0K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A1"/>
                    </a:solidFill>
                    <a:extLst>
                      <a:ext uri="http://customooxmlschemas.google.com/">
                        <go:slidesCustomData xmlns:go="http://customooxmlschemas.google.com/" cellId="491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1.7%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5.2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7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banyo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EADB"/>
                    </a:solidFill>
                    <a:extLst>
                      <a:ext uri="http://customooxmlschemas.google.com/">
                        <go:slidesCustomData xmlns:go="http://customooxmlschemas.google.com/" cellId="491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15.4K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  <a:extLst>
                      <a:ext uri="http://customooxmlschemas.google.com/">
                        <go:slidesCustomData xmlns:go="http://customooxmlschemas.google.com/" cellId="491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29.3%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2.1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18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klozet fiyatları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BDD"/>
                    </a:solidFill>
                    <a:extLst>
                      <a:ext uri="http://customooxmlschemas.google.com/">
                        <go:slidesCustomData xmlns:go="http://customooxmlschemas.google.com/" cellId="491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28.6K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6"/>
                    </a:solidFill>
                    <a:extLst>
                      <a:ext uri="http://customooxmlschemas.google.com/">
                        <go:slidesCustomData xmlns:go="http://customooxmlschemas.google.com/" cellId="491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15.5%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1.5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19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banyo modelleri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CDF"/>
                    </a:solidFill>
                    <a:extLst>
                      <a:ext uri="http://customooxmlschemas.google.com/">
                        <go:slidesCustomData xmlns:go="http://customooxmlschemas.google.com/" cellId="491:2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261.0K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7A4"/>
                    </a:solidFill>
                    <a:extLst>
                      <a:ext uri="http://customooxmlschemas.google.com/">
                        <go:slidesCustomData xmlns:go="http://customooxmlschemas.google.com/" cellId="491:2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1.7%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0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küvet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DE0"/>
                    </a:solidFill>
                    <a:extLst>
                      <a:ext uri="http://customooxmlschemas.google.com/">
                        <go:slidesCustomData xmlns:go="http://customooxmlschemas.google.com/" cellId="491:2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116.5K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FC2"/>
                    </a:solidFill>
                    <a:extLst>
                      <a:ext uri="http://customooxmlschemas.google.com/">
                        <go:slidesCustomData xmlns:go="http://customooxmlschemas.google.com/" cellId="491:2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3.7%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1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duş seti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4.2K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FE4"/>
                    </a:solidFill>
                    <a:extLst>
                      <a:ext uri="http://customooxmlschemas.google.com/">
                        <go:slidesCustomData xmlns:go="http://customooxmlschemas.google.com/" cellId="491:2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123.0K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EBE"/>
                    </a:solidFill>
                    <a:extLst>
                      <a:ext uri="http://customooxmlschemas.google.com/">
                        <go:slidesCustomData xmlns:go="http://customooxmlschemas.google.com/" cellId="491:2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3.4%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3.6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2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duş başlığı seti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4.1K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F1E7"/>
                    </a:solidFill>
                    <a:extLst>
                      <a:ext uri="http://customooxmlschemas.google.com/">
                        <go:slidesCustomData xmlns:go="http://customooxmlschemas.google.com/" cellId="491:2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152.2K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2"/>
                    </a:solidFill>
                    <a:extLst>
                      <a:ext uri="http://customooxmlschemas.google.com/">
                        <go:slidesCustomData xmlns:go="http://customooxmlschemas.google.com/" cellId="491:2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2.7%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3.9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3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banyo bataryası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4.1K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2E9"/>
                    </a:solidFill>
                    <a:extLst>
                      <a:ext uri="http://customooxmlschemas.google.com/">
                        <go:slidesCustomData xmlns:go="http://customooxmlschemas.google.com/" cellId="491:2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252.7K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8A5"/>
                    </a:solidFill>
                    <a:extLst>
                      <a:ext uri="http://customooxmlschemas.google.com/">
                        <go:slidesCustomData xmlns:go="http://customooxmlschemas.google.com/" cellId="491:2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1.6%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4.3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4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banyo fayans modelleri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F3EB"/>
                    </a:solidFill>
                    <a:extLst>
                      <a:ext uri="http://customooxmlschemas.google.com/">
                        <go:slidesCustomData xmlns:go="http://customooxmlschemas.google.com/" cellId="491:2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139.8K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B5"/>
                    </a:solidFill>
                    <a:extLst>
                      <a:ext uri="http://customooxmlschemas.google.com/">
                        <go:slidesCustomData xmlns:go="http://customooxmlschemas.google.com/" cellId="491:2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2.9%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5.9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5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gömme rezervuar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4.0K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4EB"/>
                    </a:solidFill>
                    <a:extLst>
                      <a:ext uri="http://customooxmlschemas.google.com/">
                        <go:slidesCustomData xmlns:go="http://customooxmlschemas.google.com/" cellId="491:2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137.3K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CB6"/>
                    </a:solidFill>
                    <a:extLst>
                      <a:ext uri="http://customooxmlschemas.google.com/">
                        <go:slidesCustomData xmlns:go="http://customooxmlschemas.google.com/" cellId="491:2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2.9%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2.3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6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klozet kapağı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3.6K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  <a:extLst>
                      <a:ext uri="http://customooxmlschemas.google.com/">
                        <go:slidesCustomData xmlns:go="http://customooxmlschemas.google.com/" cellId="491:2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33.8K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CF3"/>
                    </a:solidFill>
                    <a:extLst>
                      <a:ext uri="http://customooxmlschemas.google.com/">
                        <go:slidesCustomData xmlns:go="http://customooxmlschemas.google.com/" cellId="491:2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10.6%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1.5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7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vitra duş seti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3.5K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491:2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18.4K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C"/>
                    </a:solidFill>
                    <a:extLst>
                      <a:ext uri="http://customooxmlschemas.google.com/">
                        <go:slidesCustomData xmlns:go="http://customooxmlschemas.google.com/" cellId="491:2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18.9%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1.4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28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duşakabin fiyatları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FFE"/>
                    </a:solidFill>
                    <a:extLst>
                      <a:ext uri="http://customooxmlschemas.google.com/">
                        <go:slidesCustomData xmlns:go="http://customooxmlschemas.google.com/" cellId="491:2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143.2K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B3"/>
                    </a:solidFill>
                    <a:extLst>
                      <a:ext uri="http://customooxmlschemas.google.com/">
                        <go:slidesCustomData xmlns:go="http://customooxmlschemas.google.com/" cellId="491:2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2.4%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7.1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29:4"/>
                      </a:ext>
                    </a:extLst>
                  </a:tcPr>
                </a:tc>
              </a:tr>
              <a:tr h="35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klozet modelleri</a:t>
                      </a:r>
                      <a:endParaRPr b="1"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3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3.4K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491:3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62.0K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2"/>
                    </a:solidFill>
                    <a:extLst>
                      <a:ext uri="http://customooxmlschemas.google.com/">
                        <go:slidesCustomData xmlns:go="http://customooxmlschemas.google.com/" cellId="491:3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5.4%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3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/>
                        <a:t>2.0</a:t>
                      </a:r>
                      <a:endParaRPr sz="17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A"/>
                    </a:solidFill>
                    <a:extLst>
                      <a:ext uri="http://customooxmlschemas.google.com/">
                        <go:slidesCustomData xmlns:go="http://customooxmlschemas.google.com/" cellId="491:30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97" name="Google Shape;497;g3b8b6cbb570_0_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b8b6cbb570_0_483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b8b6cbb570_0_483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00" name="Google Shape;500;g3b8b6cbb570_0_483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- Aylara Göre GSC Blog Performansı Click &amp; Impression 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501" name="Google Shape;501;g3b8b6cbb570_0_483"/>
          <p:cNvGraphicFramePr/>
          <p:nvPr/>
        </p:nvGraphicFramePr>
        <p:xfrm>
          <a:off x="878000" y="1126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537525"/>
                <a:gridCol w="1585225"/>
                <a:gridCol w="1561375"/>
                <a:gridCol w="1561375"/>
                <a:gridCol w="1561375"/>
                <a:gridCol w="1561375"/>
                <a:gridCol w="1561375"/>
                <a:gridCol w="1561375"/>
                <a:gridCol w="1561375"/>
                <a:gridCol w="1561375"/>
                <a:gridCol w="1561375"/>
                <a:gridCol w="1561375"/>
                <a:gridCol w="1561375"/>
                <a:gridCol w="1561375"/>
              </a:tblGrid>
              <a:tr h="66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b="1"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0:13"/>
                      </a:ext>
                    </a:extLst>
                  </a:tcPr>
                </a:tc>
              </a:tr>
              <a:tr h="66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3F3F3"/>
                          </a:solidFill>
                        </a:rPr>
                        <a:t>Impression</a:t>
                      </a:r>
                      <a:endParaRPr b="1"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268.2K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50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290.4K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88A82"/>
                    </a:solidFill>
                    <a:extLst>
                      <a:ext uri="http://customooxmlschemas.google.com/">
                        <go:slidesCustomData xmlns:go="http://customooxmlschemas.google.com/" cellId="50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352.5K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0B1AB"/>
                    </a:solidFill>
                    <a:extLst>
                      <a:ext uri="http://customooxmlschemas.google.com/">
                        <go:slidesCustomData xmlns:go="http://customooxmlschemas.google.com/" cellId="50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399.6K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5CFCB"/>
                    </a:solidFill>
                    <a:extLst>
                      <a:ext uri="http://customooxmlschemas.google.com/">
                        <go:slidesCustomData xmlns:go="http://customooxmlschemas.google.com/" cellId="50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467.4K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9F9"/>
                    </a:solidFill>
                    <a:extLst>
                      <a:ext uri="http://customooxmlschemas.google.com/">
                        <go:slidesCustomData xmlns:go="http://customooxmlschemas.google.com/" cellId="50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446.5K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BECEB"/>
                    </a:solidFill>
                    <a:extLst>
                      <a:ext uri="http://customooxmlschemas.google.com/">
                        <go:slidesCustomData xmlns:go="http://customooxmlschemas.google.com/" cellId="501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533.4K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2CDA8"/>
                    </a:solidFill>
                    <a:extLst>
                      <a:ext uri="http://customooxmlschemas.google.com/">
                        <go:slidesCustomData xmlns:go="http://customooxmlschemas.google.com/" cellId="501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552.3K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9BC8C"/>
                    </a:solidFill>
                    <a:extLst>
                      <a:ext uri="http://customooxmlschemas.google.com/">
                        <go:slidesCustomData xmlns:go="http://customooxmlschemas.google.com/" cellId="501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521.6K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9BD7BA"/>
                    </a:solidFill>
                    <a:extLst>
                      <a:ext uri="http://customooxmlschemas.google.com/">
                        <go:slidesCustomData xmlns:go="http://customooxmlschemas.google.com/" cellId="501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553.0K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501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483.2K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EF9F4"/>
                    </a:solidFill>
                    <a:extLst>
                      <a:ext uri="http://customooxmlschemas.google.com/">
                        <go:slidesCustomData xmlns:go="http://customooxmlschemas.google.com/" cellId="501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506.0K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BDE5D1"/>
                    </a:solidFill>
                    <a:extLst>
                      <a:ext uri="http://customooxmlschemas.google.com/">
                        <go:slidesCustomData xmlns:go="http://customooxmlschemas.google.com/" cellId="501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5.4M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01:1:13"/>
                      </a:ext>
                    </a:extLst>
                  </a:tcPr>
                </a:tc>
              </a:tr>
              <a:tr h="66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3F3F3"/>
                          </a:solidFill>
                        </a:rPr>
                        <a:t>Click</a:t>
                      </a:r>
                      <a:endParaRPr b="1" sz="21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50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50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5.5K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E76"/>
                    </a:solidFill>
                    <a:extLst>
                      <a:ext uri="http://customooxmlschemas.google.com/">
                        <go:slidesCustomData xmlns:go="http://customooxmlschemas.google.com/" cellId="50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C2BD"/>
                    </a:solidFill>
                    <a:extLst>
                      <a:ext uri="http://customooxmlschemas.google.com/">
                        <go:slidesCustomData xmlns:go="http://customooxmlschemas.google.com/" cellId="50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5F5"/>
                    </a:solidFill>
                    <a:extLst>
                      <a:ext uri="http://customooxmlschemas.google.com/">
                        <go:slidesCustomData xmlns:go="http://customooxmlschemas.google.com/" cellId="50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7D5B7"/>
                    </a:solidFill>
                    <a:extLst>
                      <a:ext uri="http://customooxmlschemas.google.com/">
                        <go:slidesCustomData xmlns:go="http://customooxmlschemas.google.com/" cellId="50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7.1K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4E2"/>
                    </a:solidFill>
                    <a:extLst>
                      <a:ext uri="http://customooxmlschemas.google.com/">
                        <go:slidesCustomData xmlns:go="http://customooxmlschemas.google.com/" cellId="501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8.6K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CBA5"/>
                    </a:solidFill>
                    <a:extLst>
                      <a:ext uri="http://customooxmlschemas.google.com/">
                        <go:slidesCustomData xmlns:go="http://customooxmlschemas.google.com/" cellId="501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8.8K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DBE8F"/>
                    </a:solidFill>
                    <a:extLst>
                      <a:ext uri="http://customooxmlschemas.google.com/">
                        <go:slidesCustomData xmlns:go="http://customooxmlschemas.google.com/" cellId="501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8.4K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D2B1"/>
                    </a:solidFill>
                    <a:extLst>
                      <a:ext uri="http://customooxmlschemas.google.com/">
                        <go:slidesCustomData xmlns:go="http://customooxmlschemas.google.com/" cellId="501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8.9K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501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7.7K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8F3"/>
                    </a:solidFill>
                    <a:extLst>
                      <a:ext uri="http://customooxmlschemas.google.com/">
                        <go:slidesCustomData xmlns:go="http://customooxmlschemas.google.com/" cellId="501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7.3K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1F0"/>
                    </a:solidFill>
                    <a:extLst>
                      <a:ext uri="http://customooxmlschemas.google.com/">
                        <go:slidesCustomData xmlns:go="http://customooxmlschemas.google.com/" cellId="501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90.1K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01:2:13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502" name="Google Shape;502;g3b8b6cbb570_0_483"/>
          <p:cNvSpPr txBox="1"/>
          <p:nvPr/>
        </p:nvSpPr>
        <p:spPr>
          <a:xfrm>
            <a:off x="973475" y="8744425"/>
            <a:ext cx="21859200" cy="21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ricolage Grotesque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Yılın ilk çeyreğinde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tıklamalar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daha düşük seviyededir. </a:t>
            </a:r>
            <a:r>
              <a:rPr b="1" i="0" lang="en-US" sz="26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Mart itibariyle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hem tıklama hem gösterim tarafında yükseliş başlamıştır.</a:t>
            </a:r>
            <a:endParaRPr b="0" i="0" sz="26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ricolage Grotesque"/>
              <a:buChar char="➔"/>
            </a:pPr>
            <a:r>
              <a:rPr b="1" i="0" lang="en-US" sz="26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yüksek tıklama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Ekim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ayında (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8.9K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gerçekleşmiştir.  Ardından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Ağustos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(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8.8K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ve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Temmuz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(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8.6K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ayları takip etmektedir.</a:t>
            </a:r>
            <a:endParaRPr b="0" i="0" sz="26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ricolage Grotesque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Genel olarak blog performansı </a:t>
            </a:r>
            <a:r>
              <a:rPr b="1" i="0" lang="en-US" sz="26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Q2 sonrası artış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göstermiş ,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Q3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ve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Q4</a:t>
            </a:r>
            <a:r>
              <a:rPr b="0" i="0" lang="en-US" sz="26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döneminde yüksek bantta stabil seyretmiştir.</a:t>
            </a:r>
            <a:endParaRPr b="0" i="0" sz="26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503" name="Google Shape;503;g3b8b6cbb570_0_483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050" y="2263000"/>
            <a:ext cx="21859200" cy="61265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09" name="Google Shape;509;g3b8b6cbb570_0_4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b8b6cbb570_0_46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b8b6cbb570_0_467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2" name="Google Shape;512;g3b8b6cbb570_0_467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GSC - Blog Performansı 2024 vs 2025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513" name="Google Shape;513;g3b8b6cbb570_0_4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830" y="11631425"/>
            <a:ext cx="2953922" cy="1985425"/>
          </a:xfrm>
          <a:prstGeom prst="rect">
            <a:avLst/>
          </a:prstGeom>
          <a:noFill/>
          <a:ln>
            <a:noFill/>
          </a:ln>
          <a:effectLst>
            <a:outerShdw blurRad="65316" rotWithShape="0" algn="bl" dir="5400000" dist="21772">
              <a:srgbClr val="000000">
                <a:alpha val="50196"/>
              </a:srgbClr>
            </a:outerShdw>
          </a:effectLst>
        </p:spPr>
      </p:pic>
      <p:pic>
        <p:nvPicPr>
          <p:cNvPr id="514" name="Google Shape;514;g3b8b6cbb570_0_4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9436" y="11631433"/>
            <a:ext cx="2953908" cy="1985416"/>
          </a:xfrm>
          <a:prstGeom prst="rect">
            <a:avLst/>
          </a:prstGeom>
          <a:noFill/>
          <a:ln>
            <a:noFill/>
          </a:ln>
          <a:effectLst>
            <a:outerShdw blurRad="65316" rotWithShape="0" algn="bl" dir="5400000" dist="21772">
              <a:srgbClr val="000000">
                <a:alpha val="50196"/>
              </a:srgbClr>
            </a:outerShdw>
          </a:effectLst>
        </p:spPr>
      </p:pic>
      <p:pic>
        <p:nvPicPr>
          <p:cNvPr id="515" name="Google Shape;515;g3b8b6cbb570_0_4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5042" y="11631434"/>
            <a:ext cx="2953908" cy="1985416"/>
          </a:xfrm>
          <a:prstGeom prst="rect">
            <a:avLst/>
          </a:prstGeom>
          <a:noFill/>
          <a:ln>
            <a:noFill/>
          </a:ln>
          <a:effectLst>
            <a:outerShdw blurRad="65316" rotWithShape="0" algn="bl" dir="5400000" dist="21772">
              <a:srgbClr val="000000">
                <a:alpha val="50196"/>
              </a:srgbClr>
            </a:outerShdw>
          </a:effectLst>
        </p:spPr>
      </p:pic>
      <p:pic>
        <p:nvPicPr>
          <p:cNvPr id="516" name="Google Shape;516;g3b8b6cbb570_0_4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6450" y="2432700"/>
            <a:ext cx="15792399" cy="862082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b8b6cbb570_0_467"/>
          <p:cNvSpPr txBox="1"/>
          <p:nvPr/>
        </p:nvSpPr>
        <p:spPr>
          <a:xfrm>
            <a:off x="16198850" y="2256575"/>
            <a:ext cx="8039700" cy="9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2025’te bloglar toplam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90.113 tıklama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5.4M gösterim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almıştır.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Geçen seneye göre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tıklamalarda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2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%418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gösterimlerde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2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%522 artış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görülmektedir.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 yüksek trafik üreten sayfalar</a:t>
            </a:r>
            <a:endParaRPr b="1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b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Duşakabin Temizliği Nasıl Yapılır?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16.587 tıklama (%258 artış)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Ahşap Görünümlü Seramik Modelleri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→ 9.879 tıklama (%997 artış)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Klozet Seçim Rehberi ve Tavsiyeler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→ 5.464 tıklama (%169 artış)</a:t>
            </a:r>
            <a:endParaRPr b="0" i="0" sz="2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Küçük Banyolar İçin Karo Seçimi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→ 3.654 tıklama (%244 artış)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utfit"/>
              <a:buChar char="➔"/>
            </a:pPr>
            <a:r>
              <a:rPr b="1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 dikkat çeken büyümeler (oran bazlı)</a:t>
            </a:r>
            <a:endParaRPr b="1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b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Klozet Kapağı Montajı Nasıl Yapılır?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%3.534 artış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Ahşap Görünümlü Seramik Modelleri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→ %4.519 artış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Gömme Rezervuar Montajı Nasıl Yapılır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? → %2.467 artış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Mutfak Dekorasyonu Nasıl Yapılır?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→ %959 artış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Lavabo Seçim Rehberi ve Tavsiyeler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→ %282 artış</a:t>
            </a:r>
            <a:endParaRPr b="0" i="0" sz="22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23" name="Google Shape;523;g3b8b6cbb570_0_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b8b6cbb570_0_333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5" name="Google Shape;525;g3b8b6cbb570_0_3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3b8b6cbb570_0_333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7" name="Google Shape;527;g3b8b6cbb570_0_3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b8b6cbb570_0_333"/>
          <p:cNvSpPr/>
          <p:nvPr/>
        </p:nvSpPr>
        <p:spPr>
          <a:xfrm>
            <a:off x="-184937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06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b8b6cbb570_0_333"/>
          <p:cNvSpPr/>
          <p:nvPr/>
        </p:nvSpPr>
        <p:spPr>
          <a:xfrm>
            <a:off x="3028675" y="624840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Sıralama &amp; Görünürlük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35" name="Google Shape;535;g37132f460d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37132f460d5_0_1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7132f460d5_0_16"/>
          <p:cNvSpPr/>
          <p:nvPr/>
        </p:nvSpPr>
        <p:spPr>
          <a:xfrm>
            <a:off x="406450" y="1219200"/>
            <a:ext cx="2171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 Eylül - 31 Aralık 2025 SEOmonitor Visibility Değişimi &amp; Rekabet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38" name="Google Shape;538;g37132f460d5_0_16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Competitor Visibility Comparison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7132f460d5_0_16"/>
          <p:cNvSpPr/>
          <p:nvPr/>
        </p:nvSpPr>
        <p:spPr>
          <a:xfrm>
            <a:off x="1500625" y="12861650"/>
            <a:ext cx="42177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7132f460d5_0_16"/>
          <p:cNvSpPr txBox="1"/>
          <p:nvPr/>
        </p:nvSpPr>
        <p:spPr>
          <a:xfrm>
            <a:off x="2218975" y="12861650"/>
            <a:ext cx="325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Kaynak: SEOmonitor</a:t>
            </a:r>
            <a:endParaRPr b="0" i="0" sz="23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41" name="Google Shape;541;g37132f460d5_0_16"/>
          <p:cNvSpPr txBox="1"/>
          <p:nvPr/>
        </p:nvSpPr>
        <p:spPr>
          <a:xfrm>
            <a:off x="10933900" y="2759425"/>
            <a:ext cx="13008000" cy="10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Ağustos ayında anahtar kelime araştırması yapılarak Vitra markası özelinde takip için 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2.300 kelime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belirlenmiştir.</a:t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Visibility score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projesi özelinde takip edilen bu kelimelerdeki görünürlük oranını % olarak temsil eder. </a:t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Projesinde Eylül sonrasında Aralık ayına kadar 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%33’lük bir görünürlük artışı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olmuştur.</a:t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Rakip olarak önümüzde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Trendyol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(</a:t>
            </a: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%92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ve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Koçtaş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</a:t>
            </a: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%75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bulunmaktadır.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Hepsiburada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ile skorlarımız paralel ilerlemektedir.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</a:b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Bizden sonra en çok 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artış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Koçtaş (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%4.6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 ve Banyomarka da (</a:t>
            </a:r>
            <a:r>
              <a:rPr b="1" i="0" lang="en-US" sz="25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%7.2</a:t>
            </a: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gözlenmektedir.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</a:b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çok </a:t>
            </a:r>
            <a:r>
              <a:rPr b="0" i="0" lang="en-US" sz="25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düşüş yaşayan markalar 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Hepsiburada (</a:t>
            </a:r>
            <a:r>
              <a:rPr b="1" i="0" lang="en-US" sz="25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%11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, Akakçe (</a:t>
            </a:r>
            <a:r>
              <a:rPr b="1" i="0" lang="en-US" sz="25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%3.9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, Creavit (</a:t>
            </a:r>
            <a:r>
              <a:rPr b="1" i="0" lang="en-US" sz="25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%3.9</a:t>
            </a:r>
            <a:r>
              <a:rPr b="0" i="0" lang="en-US" sz="25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 olarak ölçülmüştür.</a:t>
            </a:r>
            <a:endParaRPr b="0" i="0" sz="2500" u="none" cap="none" strike="noStrike">
              <a:solidFill>
                <a:schemeClr val="dk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SEOmonitor Visibility %’leri Nasıl Hesaplanır?</a:t>
            </a:r>
            <a:endParaRPr b="1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Bricolage Grotesque"/>
              <a:buChar char="➔"/>
            </a:pPr>
            <a:r>
              <a:rPr b="1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Formül:  </a:t>
            </a:r>
            <a:r>
              <a:rPr b="0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Visibility = sum( Impressions) / sum(AverageSearchVolume )</a:t>
            </a:r>
            <a:endParaRPr b="0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Tanımlar</a:t>
            </a:r>
            <a:r>
              <a:rPr b="1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br>
              <a:rPr b="1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1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Impressions</a:t>
            </a:r>
            <a:r>
              <a:rPr b="0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= impression_rate(rank) × SearchVolume</a:t>
            </a:r>
            <a:endParaRPr b="0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Impression_rate</a:t>
            </a:r>
            <a:r>
              <a:rPr b="0" i="0" lang="en-US" sz="20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(rank) sıralamaya göre değişen görünürlük katsayısıdır: 1. sıra ≈ %100, 20 ve sonrası ≈ %0 (aradaki sıralarda kademeli azalır).</a:t>
            </a:r>
            <a:endParaRPr b="0" i="0" sz="20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542" name="Google Shape;542;g37132f460d5_0_16"/>
          <p:cNvPicPr preferRelativeResize="0"/>
          <p:nvPr/>
        </p:nvPicPr>
        <p:blipFill rotWithShape="1">
          <a:blip r:embed="rId4">
            <a:alphaModFix/>
          </a:blip>
          <a:srcRect b="0" l="0" r="1864" t="0"/>
          <a:stretch/>
        </p:blipFill>
        <p:spPr>
          <a:xfrm>
            <a:off x="816700" y="2632925"/>
            <a:ext cx="7299400" cy="998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g37132f460d5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6101" y="2632925"/>
            <a:ext cx="2307336" cy="998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49" name="Google Shape;549;g385b0b03589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85b0b03589_0_4"/>
          <p:cNvSpPr txBox="1"/>
          <p:nvPr/>
        </p:nvSpPr>
        <p:spPr>
          <a:xfrm>
            <a:off x="2053050" y="11148100"/>
            <a:ext cx="225612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SEOmonitor üzerinden takip ettiğimiz 2.3K civarı kelimede Google’da  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 çok tıklama alan marka %27 ile Trendyol,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2. marka ise 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%11 ile Koçtaş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olmuştur. 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-"/>
            </a:pP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vitra.com.tr %9  ile 3. sırada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gelmektedir. Ardından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%5 ile Hepsiburada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,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%3.5 ile </a:t>
            </a:r>
            <a:r>
              <a:rPr lang="en-US" sz="2500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Kale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gelmektedir.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GPT AI Share of Voice takip edilen kelimelerin arama hacimlerine ve bu kelimelerdeki AI yanıtlarındaki mention edilme ve linklenme oranına göre hesaplanır.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GPT AI SoV metriklerinde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1.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sırada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%25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ile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Trendyol, 2.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sırada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%24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ile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HB, 3.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sırada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%17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ile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Koçtaş ve 4.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sırada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%12 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ile</a:t>
            </a:r>
            <a:r>
              <a:rPr b="0" i="0" lang="en-US" sz="2500" u="none" cap="none" strike="noStrike">
                <a:solidFill>
                  <a:srgbClr val="FF7B5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Vitra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gelmektedir.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551" name="Google Shape;551;g385b0b03589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52" name="Google Shape;552;g385b0b03589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85b0b03589_0_4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85b0b03589_0_4"/>
          <p:cNvSpPr/>
          <p:nvPr/>
        </p:nvSpPr>
        <p:spPr>
          <a:xfrm>
            <a:off x="406450" y="1219200"/>
            <a:ext cx="215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 Eylül - 31 Aralık Share of Clicks &amp; GPT Share of Voice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55" name="Google Shape;555;g385b0b03589_0_4"/>
          <p:cNvSpPr/>
          <p:nvPr/>
        </p:nvSpPr>
        <p:spPr>
          <a:xfrm>
            <a:off x="20169475" y="0"/>
            <a:ext cx="4217700" cy="738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85b0b03589_0_4"/>
          <p:cNvSpPr txBox="1"/>
          <p:nvPr/>
        </p:nvSpPr>
        <p:spPr>
          <a:xfrm>
            <a:off x="20887825" y="0"/>
            <a:ext cx="325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Kaynak: SEOmonitor</a:t>
            </a:r>
            <a:endParaRPr b="0" i="0" sz="2300" u="none" cap="none" strike="noStrike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57" name="Google Shape;557;g385b0b03589_0_4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Total Click Share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g385b0b03589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30150" y="2305550"/>
            <a:ext cx="7625880" cy="72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85b0b03589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1863" y="9733850"/>
            <a:ext cx="195072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85b0b03589_0_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275325" y="2305550"/>
            <a:ext cx="6554101" cy="7191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85b0b03589_0_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4101" y="5144325"/>
            <a:ext cx="2533650" cy="438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562" name="Google Shape;562;g385b0b03589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70426" y="7263888"/>
            <a:ext cx="2476500" cy="41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563" name="Google Shape;563;g385b0b03589_0_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654876" y="5026825"/>
            <a:ext cx="2514600" cy="41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564" name="Google Shape;564;g385b0b03589_0_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763626" y="6997275"/>
            <a:ext cx="3124200" cy="53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565" name="Google Shape;565;g385b0b03589_0_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395501" y="7984650"/>
            <a:ext cx="2609850" cy="41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566" name="Google Shape;566;g385b0b03589_0_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07926" y="8768700"/>
            <a:ext cx="2133600" cy="68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567" name="Google Shape;567;g385b0b03589_0_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021701" y="6083050"/>
            <a:ext cx="2419350" cy="571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73" name="Google Shape;573;g358f12b07e9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4" name="Google Shape;574;g358f12b07e9_0_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5" name="Google Shape;575;g358f12b07e9_0_2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58f12b07e9_0_23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58f12b07e9_0_237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- Anahtar Kelime Sıralamaları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78" name="Google Shape;578;g358f12b07e9_0_237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58f12b07e9_0_237"/>
          <p:cNvSpPr txBox="1"/>
          <p:nvPr/>
        </p:nvSpPr>
        <p:spPr>
          <a:xfrm>
            <a:off x="16313813" y="1569307"/>
            <a:ext cx="81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Visibility En Çok Etkileyen Kelimeler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580" name="Google Shape;580;g358f12b07e9_0_2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13813" y="2278100"/>
            <a:ext cx="5602933" cy="111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58f12b07e9_0_237"/>
          <p:cNvSpPr txBox="1"/>
          <p:nvPr/>
        </p:nvSpPr>
        <p:spPr>
          <a:xfrm>
            <a:off x="2738700" y="2802200"/>
            <a:ext cx="97425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8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Kategori Bazında Visibility Değişimleri</a:t>
            </a:r>
            <a:endParaRPr b="1" i="0" sz="38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582" name="Google Shape;582;g358f12b07e9_0_2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29447" y="3854900"/>
            <a:ext cx="6972300" cy="6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g358f12b07e9_0_2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9447" y="10046150"/>
            <a:ext cx="69723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358f12b07e9_0_237"/>
          <p:cNvSpPr/>
          <p:nvPr/>
        </p:nvSpPr>
        <p:spPr>
          <a:xfrm rot="-5400000">
            <a:off x="2310400" y="4199000"/>
            <a:ext cx="730200" cy="50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4A8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58f12b07e9_0_237"/>
          <p:cNvSpPr/>
          <p:nvPr/>
        </p:nvSpPr>
        <p:spPr>
          <a:xfrm rot="-5400000">
            <a:off x="2310400" y="6183375"/>
            <a:ext cx="730200" cy="50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4A8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58f12b07e9_0_237"/>
          <p:cNvSpPr/>
          <p:nvPr/>
        </p:nvSpPr>
        <p:spPr>
          <a:xfrm rot="-5400000">
            <a:off x="2310400" y="7237688"/>
            <a:ext cx="730200" cy="50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4A8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58f12b07e9_0_237"/>
          <p:cNvSpPr/>
          <p:nvPr/>
        </p:nvSpPr>
        <p:spPr>
          <a:xfrm rot="-5400000">
            <a:off x="2310400" y="9259150"/>
            <a:ext cx="730200" cy="50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4A8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58f12b07e9_0_237"/>
          <p:cNvSpPr/>
          <p:nvPr/>
        </p:nvSpPr>
        <p:spPr>
          <a:xfrm rot="-5400000">
            <a:off x="2310400" y="10276375"/>
            <a:ext cx="730200" cy="50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4A85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94" name="Google Shape;594;g3b8b6cbb570_0_3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95" name="Google Shape;595;g3b8b6cbb570_0_3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96" name="Google Shape;596;g3b8b6cbb570_0_3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b8b6cbb570_0_37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b8b6cbb570_0_377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SEOMonitor - Anahtar Kelime Sıralamaları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599" name="Google Shape;599;g3b8b6cbb570_0_377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b8b6cbb570_0_377"/>
          <p:cNvSpPr txBox="1"/>
          <p:nvPr/>
        </p:nvSpPr>
        <p:spPr>
          <a:xfrm>
            <a:off x="2067150" y="2412375"/>
            <a:ext cx="783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Yüksek Arama Hacimli Kelimeler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601" name="Google Shape;601;g3b8b6cbb570_0_3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6622" y="3200650"/>
            <a:ext cx="7126764" cy="10058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g3b8b6cbb570_0_377"/>
          <p:cNvSpPr txBox="1"/>
          <p:nvPr/>
        </p:nvSpPr>
        <p:spPr>
          <a:xfrm>
            <a:off x="13882600" y="2412375"/>
            <a:ext cx="690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İyi Artış Yaşayan Kelimeler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603" name="Google Shape;603;g3b8b6cbb570_0_3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82600" y="3200650"/>
            <a:ext cx="7986135" cy="991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09" name="Google Shape;609;g3b8b6cbb570_0_4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10" name="Google Shape;610;g3b8b6cbb570_0_4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11" name="Google Shape;611;g3b8b6cbb570_0_4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b8b6cbb570_0_44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b8b6cbb570_0_442"/>
          <p:cNvSpPr/>
          <p:nvPr/>
        </p:nvSpPr>
        <p:spPr>
          <a:xfrm>
            <a:off x="406450" y="1219200"/>
            <a:ext cx="2066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Ahrefs - Sıralama Alınan Anahtar Kelime Değişimi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14" name="Google Shape;614;g3b8b6cbb570_0_442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Anahtar Kelime Sıralamaları &amp; Visibility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g3b8b6cbb570_0_4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026" y="2381800"/>
            <a:ext cx="20662200" cy="62651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616" name="Google Shape;616;g3b8b6cbb570_0_4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5025" y="8759350"/>
            <a:ext cx="2837950" cy="2065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617" name="Google Shape;617;g3b8b6cbb570_0_4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89275" y="8759348"/>
            <a:ext cx="2837950" cy="2065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618" name="Google Shape;618;g3b8b6cbb570_0_4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77150" y="8759348"/>
            <a:ext cx="2837950" cy="2065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619" name="Google Shape;619;g3b8b6cbb570_0_442"/>
          <p:cNvSpPr txBox="1"/>
          <p:nvPr/>
        </p:nvSpPr>
        <p:spPr>
          <a:xfrm>
            <a:off x="2053050" y="11148100"/>
            <a:ext cx="22561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Tablo altındaki G ifadeleri Google updatelerini, yeşil daireler ise büyük çaplı içerik değişikliklerini göstermektedir. 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Toplamda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ilk 3’te  sııralama alınan kelimeler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özelinde 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YoY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bakıldığında 2024’ten 2025’e </a:t>
            </a:r>
            <a:r>
              <a:rPr b="1" i="0" lang="en-US" sz="2500" u="none" cap="none" strike="noStrike">
                <a:solidFill>
                  <a:srgbClr val="6AA84F"/>
                </a:solidFill>
                <a:latin typeface="Outfit"/>
                <a:ea typeface="Outfit"/>
                <a:cs typeface="Outfit"/>
                <a:sym typeface="Outfit"/>
              </a:rPr>
              <a:t>%7 artış </a:t>
            </a:r>
            <a:r>
              <a:rPr b="1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, 2025’ten 2026’ya </a:t>
            </a:r>
            <a:r>
              <a:rPr b="1" i="0" lang="en-US" sz="2500" u="none" cap="none" strike="noStrike">
                <a:solidFill>
                  <a:srgbClr val="6AA84F"/>
                </a:solidFill>
                <a:latin typeface="Outfit"/>
                <a:ea typeface="Outfit"/>
                <a:cs typeface="Outfit"/>
                <a:sym typeface="Outfit"/>
              </a:rPr>
              <a:t>%76 artış</a:t>
            </a:r>
            <a:r>
              <a:rPr b="0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gözlenmektedir.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500"/>
              <a:buFont typeface="Outfit"/>
              <a:buChar char="-"/>
            </a:pP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Toplamda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 ilk 10’da  sııralama alınan kelimeler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özelinde </a:t>
            </a:r>
            <a:r>
              <a:rPr b="1" i="0" lang="en-US" sz="25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YoY</a:t>
            </a:r>
            <a:r>
              <a:rPr b="0" i="0" lang="en-US" sz="25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bakıldığında 2024’ten 2025’e </a:t>
            </a:r>
            <a:r>
              <a:rPr b="1" i="0" lang="en-US" sz="2500" u="none" cap="none" strike="noStrike">
                <a:solidFill>
                  <a:srgbClr val="6AA84F"/>
                </a:solidFill>
                <a:latin typeface="Outfit"/>
                <a:ea typeface="Outfit"/>
                <a:cs typeface="Outfit"/>
                <a:sym typeface="Outfit"/>
              </a:rPr>
              <a:t>%37 artış </a:t>
            </a:r>
            <a:r>
              <a:rPr b="1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, 2025’ten 2026’ya </a:t>
            </a:r>
            <a:r>
              <a:rPr b="1" i="0" lang="en-US" sz="2500" u="none" cap="none" strike="noStrike">
                <a:solidFill>
                  <a:srgbClr val="6AA84F"/>
                </a:solidFill>
                <a:latin typeface="Outfit"/>
                <a:ea typeface="Outfit"/>
                <a:cs typeface="Outfit"/>
                <a:sym typeface="Outfit"/>
              </a:rPr>
              <a:t>%97 artış</a:t>
            </a:r>
            <a:r>
              <a:rPr b="0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gözlenmektedir.</a:t>
            </a:r>
            <a:endParaRPr b="0" i="0" sz="25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20" name="Google Shape;620;g3b8b6cbb570_0_442"/>
          <p:cNvCxnSpPr>
            <a:endCxn id="616" idx="0"/>
          </p:cNvCxnSpPr>
          <p:nvPr/>
        </p:nvCxnSpPr>
        <p:spPr>
          <a:xfrm>
            <a:off x="1596400" y="5643850"/>
            <a:ext cx="87600" cy="311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g3b8b6cbb570_0_442"/>
          <p:cNvCxnSpPr/>
          <p:nvPr/>
        </p:nvCxnSpPr>
        <p:spPr>
          <a:xfrm>
            <a:off x="10545575" y="5216575"/>
            <a:ext cx="94500" cy="3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g3b8b6cbb570_0_442"/>
          <p:cNvCxnSpPr>
            <a:endCxn id="617" idx="0"/>
          </p:cNvCxnSpPr>
          <p:nvPr/>
        </p:nvCxnSpPr>
        <p:spPr>
          <a:xfrm flipH="1">
            <a:off x="19508250" y="4132148"/>
            <a:ext cx="161400" cy="462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28" name="Google Shape;628;g3b8b6cbb570_0_4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b8b6cbb570_0_410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30" name="Google Shape;630;g3b8b6cbb570_0_4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g3b8b6cbb570_0_410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32" name="Google Shape;632;g3b8b6cbb570_0_4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g3b8b6cbb570_0_410"/>
          <p:cNvSpPr/>
          <p:nvPr/>
        </p:nvSpPr>
        <p:spPr>
          <a:xfrm>
            <a:off x="-18647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07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b8b6cbb570_0_410"/>
          <p:cNvSpPr/>
          <p:nvPr/>
        </p:nvSpPr>
        <p:spPr>
          <a:xfrm>
            <a:off x="5841100" y="6248500"/>
            <a:ext cx="18329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AI Trafik &amp; Demografi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40" name="Google Shape;640;g3b8b6cbb570_0_4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b8b6cbb570_0_421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b8b6cbb570_0_421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3" name="Google Shape;643;g3b8b6cbb570_0_421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AI Referal Trafik Performansı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644" name="Google Shape;644;g3b8b6cbb570_0_421"/>
          <p:cNvGraphicFramePr/>
          <p:nvPr/>
        </p:nvGraphicFramePr>
        <p:xfrm>
          <a:off x="621925" y="1117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  <a:gridCol w="1628750"/>
              </a:tblGrid>
              <a:tr h="585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2025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Jan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Feb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Apr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May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Jul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Aug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Sep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Oct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Nov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Dec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Total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0:13"/>
                      </a:ext>
                    </a:extLst>
                  </a:tcPr>
                </a:tc>
              </a:tr>
              <a:tr h="585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Session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77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C9E98"/>
                    </a:solidFill>
                    <a:extLst>
                      <a:ext uri="http://customooxmlschemas.google.com/">
                        <go:slidesCustomData xmlns:go="http://customooxmlschemas.google.com/" cellId="64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92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F76"/>
                    </a:solidFill>
                    <a:extLst>
                      <a:ext uri="http://customooxmlschemas.google.com/">
                        <go:slidesCustomData xmlns:go="http://customooxmlschemas.google.com/" cellId="64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66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64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100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B9992"/>
                    </a:solidFill>
                    <a:extLst>
                      <a:ext uri="http://customooxmlschemas.google.com/">
                        <go:slidesCustomData xmlns:go="http://customooxmlschemas.google.com/" cellId="64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207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FFF"/>
                    </a:solidFill>
                    <a:extLst>
                      <a:ext uri="http://customooxmlschemas.google.com/">
                        <go:slidesCustomData xmlns:go="http://customooxmlschemas.google.com/" cellId="64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8DAD7"/>
                    </a:solidFill>
                    <a:extLst>
                      <a:ext uri="http://customooxmlschemas.google.com/">
                        <go:slidesCustomData xmlns:go="http://customooxmlschemas.google.com/" cellId="64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249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EFBFB"/>
                    </a:solidFill>
                    <a:extLst>
                      <a:ext uri="http://customooxmlschemas.google.com/">
                        <go:slidesCustomData xmlns:go="http://customooxmlschemas.google.com/" cellId="64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340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  <a:extLst>
                      <a:ext uri="http://customooxmlschemas.google.com/">
                        <go:slidesCustomData xmlns:go="http://customooxmlschemas.google.com/" cellId="644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299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  <a:extLst>
                      <a:ext uri="http://customooxmlschemas.google.com/">
                        <go:slidesCustomData xmlns:go="http://customooxmlschemas.google.com/" cellId="644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329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1FAF6"/>
                    </a:solidFill>
                    <a:extLst>
                      <a:ext uri="http://customooxmlschemas.google.com/">
                        <go:slidesCustomData xmlns:go="http://customooxmlschemas.google.com/" cellId="644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274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6FCF9"/>
                    </a:solidFill>
                    <a:extLst>
                      <a:ext uri="http://customooxmlschemas.google.com/">
                        <go:slidesCustomData xmlns:go="http://customooxmlschemas.google.com/" cellId="644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1073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44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3,276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44:1:13"/>
                      </a:ext>
                    </a:extLst>
                  </a:tcPr>
                </a:tc>
              </a:tr>
              <a:tr h="585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3F3F3"/>
                          </a:solidFill>
                        </a:rPr>
                        <a:t>User</a:t>
                      </a:r>
                      <a:endParaRPr sz="24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64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49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8178"/>
                    </a:solidFill>
                    <a:extLst>
                      <a:ext uri="http://customooxmlschemas.google.com/">
                        <go:slidesCustomData xmlns:go="http://customooxmlschemas.google.com/" cellId="64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64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24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837B"/>
                    </a:solidFill>
                    <a:extLst>
                      <a:ext uri="http://customooxmlschemas.google.com/">
                        <go:slidesCustomData xmlns:go="http://customooxmlschemas.google.com/" cellId="64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37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59F"/>
                    </a:solidFill>
                    <a:extLst>
                      <a:ext uri="http://customooxmlschemas.google.com/">
                        <go:slidesCustomData xmlns:go="http://customooxmlschemas.google.com/" cellId="64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130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EC"/>
                    </a:solidFill>
                    <a:extLst>
                      <a:ext uri="http://customooxmlschemas.google.com/">
                        <go:slidesCustomData xmlns:go="http://customooxmlschemas.google.com/" cellId="64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EC"/>
                    </a:solidFill>
                    <a:extLst>
                      <a:ext uri="http://customooxmlschemas.google.com/">
                        <go:slidesCustomData xmlns:go="http://customooxmlschemas.google.com/" cellId="64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171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C"/>
                    </a:solidFill>
                    <a:extLst>
                      <a:ext uri="http://customooxmlschemas.google.com/">
                        <go:slidesCustomData xmlns:go="http://customooxmlschemas.google.com/" cellId="64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249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EDE0"/>
                    </a:solidFill>
                    <a:extLst>
                      <a:ext uri="http://customooxmlschemas.google.com/">
                        <go:slidesCustomData xmlns:go="http://customooxmlschemas.google.com/" cellId="644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249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5EE"/>
                    </a:solidFill>
                    <a:extLst>
                      <a:ext uri="http://customooxmlschemas.google.com/">
                        <go:slidesCustomData xmlns:go="http://customooxmlschemas.google.com/" cellId="644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265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1E7"/>
                    </a:solidFill>
                    <a:extLst>
                      <a:ext uri="http://customooxmlschemas.google.com/">
                        <go:slidesCustomData xmlns:go="http://customooxmlschemas.google.com/" cellId="644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218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  <a:extLst>
                      <a:ext uri="http://customooxmlschemas.google.com/">
                        <go:slidesCustomData xmlns:go="http://customooxmlschemas.google.com/" cellId="644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663</a:t>
                      </a:r>
                      <a:endParaRPr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644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2,141</a:t>
                      </a:r>
                      <a:endParaRPr b="1" sz="2400" u="none" cap="none" strike="noStrike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644:2:13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645" name="Google Shape;645;g3b8b6cbb570_0_421"/>
          <p:cNvSpPr txBox="1"/>
          <p:nvPr/>
        </p:nvSpPr>
        <p:spPr>
          <a:xfrm>
            <a:off x="878050" y="9227600"/>
            <a:ext cx="218592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Bricolage Grotesque"/>
              <a:buChar char="➔"/>
            </a:pP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yüksek trafik Aralık ayındadır </a:t>
            </a:r>
            <a:r>
              <a:rPr b="0" i="0" lang="en-US" sz="28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</a:t>
            </a:r>
            <a:r>
              <a:rPr b="1" i="0" lang="en-US" sz="28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1.073 session, 663 kullanıcı</a:t>
            </a:r>
            <a:r>
              <a:rPr b="0" i="0" lang="en-US" sz="28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).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Aralık ayı tek başına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toplam AI session’ın %33’ünü</a:t>
            </a: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üretmiştir.</a:t>
            </a:r>
            <a:endParaRPr b="0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Bricolage Grotesque"/>
              <a:buChar char="➔"/>
            </a:pP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Genel trend AI Referral kanalının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yılın ikinci yarısında ivmelendiğini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ve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Q4 döneminde güçlü bir artışı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işaret etmektedir.</a:t>
            </a:r>
            <a:endParaRPr b="0" i="0" sz="28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646" name="Google Shape;646;g3b8b6cbb570_0_421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75" y="2352850"/>
            <a:ext cx="22802401" cy="64799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8b6cbb570_0_432"/>
          <p:cNvSpPr txBox="1"/>
          <p:nvPr/>
        </p:nvSpPr>
        <p:spPr>
          <a:xfrm>
            <a:off x="14927500" y="2579700"/>
            <a:ext cx="9201900" cy="10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 yüksek ilgi segmenti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Lifestyles &amp; Hobbies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(74.9K session) olarak görülmektedir. Ardından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Banking &amp; Finance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(72.3K) ve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Technology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(62.6K) segmentleri takip etmektedir.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İlk 3 ilgi alanı toplam kitlenin yaklaşık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%30+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’ını oluşturmaktadır.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Home &amp; Garden / Home Decor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segmenti 53.4K session ile ilk 6 içinde yer almaktadır. Bu tablo, </a:t>
            </a:r>
            <a:r>
              <a:rPr b="0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kitlenin yalnızca dekorasyon odaklı değil; finans, teknoloji ve gündem takibi yüksek, dijital eğilimi güçlü bir profil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sahip olduğunu göstermektedir.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Toplam trafiğin %34.6’sı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İstanbul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kaynaklıdır (756K session). İstanbul tek başına en yüksek payı oluşturmaktadır.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İkinci sırada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Ankara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(%13.3 – 290K), üçüncü sırada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İzmir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(%9 – 186K) yer almaktadır.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İlk 3 şehir toplam trafiğin yaklaşık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%57’sini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oluşturmaktadır.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Trafik büyük ölçüde </a:t>
            </a:r>
            <a:r>
              <a:rPr b="0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metropol yoğunluklu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ilerlemektedir.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Bursa, Antalya, Adana’da session daha düşük olsa da </a:t>
            </a:r>
            <a:r>
              <a:rPr b="0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büyük şehir etkisi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ile  kayda değer trafik gözlenmektedir.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653" name="Google Shape;653;g3b8b6cbb570_0_4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3b8b6cbb570_0_43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b8b6cbb570_0_432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6" name="Google Shape;656;g3b8b6cbb570_0_432"/>
          <p:cNvSpPr/>
          <p:nvPr/>
        </p:nvSpPr>
        <p:spPr>
          <a:xfrm>
            <a:off x="406450" y="1219200"/>
            <a:ext cx="2333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0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İlgi Alanı &amp; Şehir Dağılımları  / Total Session</a:t>
            </a:r>
            <a:endParaRPr b="1" i="0" sz="50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657" name="Google Shape;657;g3b8b6cbb570_0_4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88" y="2658325"/>
            <a:ext cx="7159925" cy="104265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658" name="Google Shape;658;g3b8b6cbb570_0_4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3013" y="2658350"/>
            <a:ext cx="7159900" cy="1042648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64" name="Google Shape;664;g3b8b6cbb570_0_6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g3b8b6cbb570_0_690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b8b6cbb570_0_690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7" name="Google Shape;667;g3b8b6cbb570_0_690"/>
          <p:cNvSpPr/>
          <p:nvPr/>
        </p:nvSpPr>
        <p:spPr>
          <a:xfrm>
            <a:off x="406450" y="1219200"/>
            <a:ext cx="2333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0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Popüler Sayfa &amp; İlgi Alanı &amp; Şehir Dağılımları  / Organik Session</a:t>
            </a:r>
            <a:endParaRPr b="1" i="0" sz="50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668" name="Google Shape;668;g3b8b6cbb570_0_6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559925"/>
            <a:ext cx="7073375" cy="10300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669" name="Google Shape;669;g3b8b6cbb570_0_690"/>
          <p:cNvSpPr txBox="1"/>
          <p:nvPr/>
        </p:nvSpPr>
        <p:spPr>
          <a:xfrm>
            <a:off x="14927500" y="2579700"/>
            <a:ext cx="9201900" cy="109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trafikte en yüksek ilgi segmenti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Lifestyles &amp; Hobbies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(10.278 session) olarak görülmektedir. Ardından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Technology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(9.037) ve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Banking &amp; Finance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(8.559) takip etmektedir.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İlk 3 ilgi alanı toplam organik kitlenin yaklaşık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%45’idir.</a:t>
            </a:r>
            <a:b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Home &amp; Garden / Home Decor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(7.075 session) ilk 4 içinde yer almaktadır. Organikte kullanıcıların  önemli bir kısmı teknoloji, finans ve gündem takibi yüksek, dijital davranışa yatkın profilden oluşmaktadır.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trafiğin %37.7’si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İstanbul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kaynaklıdır (73.574 session).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İkinci sırada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Ankara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(%12.2 – 23.777), üçüncü sırada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İzmir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(%8.8 – 15.233) yer almaktadır.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İlk 3 şehir toplam organik trafiğin yaklaşık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%59’unu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oluşturmaktadır.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Bursa ve Antalya sonrası şehirlerde hacim hızlı şekilde düşmektedir. 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kanal, </a:t>
            </a:r>
            <a:r>
              <a:rPr b="1" i="0" lang="en-US" sz="25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metropol yoğunluklu</a:t>
            </a:r>
            <a:r>
              <a:rPr b="0" i="0" lang="en-US" sz="25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yüksek dijital erişime sahip şehirlerde konsantre görünmektedir.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70" name="Google Shape;670;g3b8b6cbb570_0_6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2875" y="2559925"/>
            <a:ext cx="6866983" cy="10300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b8b6cbb570_0_495"/>
          <p:cNvSpPr txBox="1"/>
          <p:nvPr/>
        </p:nvSpPr>
        <p:spPr>
          <a:xfrm>
            <a:off x="237088" y="11429075"/>
            <a:ext cx="23913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Outfit"/>
              <a:buChar char="➔"/>
            </a:pPr>
            <a:r>
              <a:rPr b="1" i="0" lang="en-US" sz="3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Total trafikte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mobil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cihazlar , </a:t>
            </a:r>
            <a:r>
              <a:rPr b="1" i="0" lang="en-US" sz="3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organik trafikte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desktop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öne çıkmaktadır.</a:t>
            </a:r>
            <a:endParaRPr b="0" i="0" sz="3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Outfit"/>
              <a:buChar char="➔"/>
            </a:pP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Tablet ve smart TV kategorileri hem total hem organik tarafta oldukça düşük paya sahiptir.</a:t>
            </a:r>
            <a:endParaRPr b="0" i="0" sz="3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Outfit"/>
              <a:buChar char="➔"/>
            </a:pP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Device brand tarafında hem total hem organikte </a:t>
            </a:r>
            <a:r>
              <a:rPr b="1" i="0" lang="en-US" sz="3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Google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, </a:t>
            </a:r>
            <a:r>
              <a:rPr b="1" i="0" lang="en-US" sz="3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Apple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ve </a:t>
            </a:r>
            <a:r>
              <a:rPr b="1" i="0" lang="en-US" sz="31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Xiaomi</a:t>
            </a:r>
            <a:r>
              <a:rPr b="0" i="0" lang="en-US" sz="31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 ilk üç sıradadır. </a:t>
            </a:r>
            <a:endParaRPr b="0" i="0" sz="31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 " id="677" name="Google Shape;677;g3b8b6cbb570_0_4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b8b6cbb570_0_495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3b8b6cbb570_0_495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0" name="Google Shape;680;g3b8b6cbb570_0_495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Device Cihaz ve Marka / Organik &amp; Total Session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81" name="Google Shape;681;g3b8b6cbb570_0_495"/>
          <p:cNvSpPr txBox="1"/>
          <p:nvPr/>
        </p:nvSpPr>
        <p:spPr>
          <a:xfrm>
            <a:off x="2035688" y="2963232"/>
            <a:ext cx="81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82" name="Google Shape;682;g3b8b6cbb570_0_495"/>
          <p:cNvSpPr txBox="1"/>
          <p:nvPr/>
        </p:nvSpPr>
        <p:spPr>
          <a:xfrm>
            <a:off x="14397563" y="2963232"/>
            <a:ext cx="81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Organik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id="683" name="Google Shape;683;g3b8b6cbb570_0_4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50" y="3702146"/>
            <a:ext cx="5141575" cy="7031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g3b8b6cbb570_0_4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65667" y="3623050"/>
            <a:ext cx="5141575" cy="7031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g3b8b6cbb570_0_4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6445" y="3860327"/>
            <a:ext cx="5052003" cy="7031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g3b8b6cbb570_0_4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98101" y="3781252"/>
            <a:ext cx="5051994" cy="703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92" name="Google Shape;692;g3b8b6cbb570_0_7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g3b8b6cbb570_0_72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b8b6cbb570_0_726"/>
          <p:cNvSpPr/>
          <p:nvPr/>
        </p:nvSpPr>
        <p:spPr>
          <a:xfrm>
            <a:off x="406450" y="406400"/>
            <a:ext cx="773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 | GA4  Metrikleri Online Vitra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5" name="Google Shape;695;g3b8b6cbb570_0_726"/>
          <p:cNvSpPr/>
          <p:nvPr/>
        </p:nvSpPr>
        <p:spPr>
          <a:xfrm>
            <a:off x="406450" y="1219200"/>
            <a:ext cx="2280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Vitra 2025 Cinsiyet - Yaş / Organik &amp; Total Session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96" name="Google Shape;696;g3b8b6cbb570_0_726"/>
          <p:cNvSpPr txBox="1"/>
          <p:nvPr/>
        </p:nvSpPr>
        <p:spPr>
          <a:xfrm>
            <a:off x="1009375" y="2284282"/>
            <a:ext cx="81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97" name="Google Shape;697;g3b8b6cbb570_0_726"/>
          <p:cNvSpPr txBox="1"/>
          <p:nvPr/>
        </p:nvSpPr>
        <p:spPr>
          <a:xfrm>
            <a:off x="1009375" y="7928082"/>
            <a:ext cx="81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3200" u="none" cap="none" strike="noStrike">
                <a:solidFill>
                  <a:srgbClr val="254E49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Organik</a:t>
            </a:r>
            <a:endParaRPr b="1" i="0" sz="3200" u="none" cap="none" strike="noStrike">
              <a:solidFill>
                <a:srgbClr val="254E49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98" name="Google Shape;698;g3b8b6cbb570_0_726"/>
          <p:cNvSpPr txBox="1"/>
          <p:nvPr/>
        </p:nvSpPr>
        <p:spPr>
          <a:xfrm>
            <a:off x="14927500" y="2579700"/>
            <a:ext cx="9201900" cy="10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Cinsiyet dağılımı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total ve organik tarafta neredeyse aynıdır.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Erkek kullanıcı oranı yaklaşık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%53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, kadın kullanıcı oranı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%47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seviyesindedir.</a:t>
            </a:r>
            <a:b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Total trafikte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6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en büyük yaş grubu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25–34 (%30.7) segmentidir. Organik tarafta ise 25–34 payı %22.1’e düşmektedir.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kanal daha dengeli yaş dağılımına sahiptir.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kanalda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6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18–24 yaş grubu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(%25.8) total trafiğe göre daha yüksek paya sahiptir.Organik tarafta genç kullanıcı oranı öne çıkmaktadır.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45–54 ve 35–44 yaş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grupları, organik trafikte toplamda yaklaşık </a:t>
            </a:r>
            <a:r>
              <a:rPr b="1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%43 paya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sahiptir.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Organik kullanıcı kitlesi yalnızca genç değil, orta yaş segmentte de güçlüdür.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utfit"/>
              <a:buChar char="➔"/>
            </a:pPr>
            <a:r>
              <a:rPr b="1" i="0" lang="en-US" sz="2600" u="none" cap="none" strike="noStrike">
                <a:solidFill>
                  <a:schemeClr val="accent2"/>
                </a:solidFill>
                <a:latin typeface="Outfit"/>
                <a:ea typeface="Outfit"/>
                <a:cs typeface="Outfit"/>
                <a:sym typeface="Outfit"/>
              </a:rPr>
              <a:t>55+ segmenti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her iki tarafta da sınırlı paya sahiptir (</a:t>
            </a:r>
            <a:r>
              <a:rPr b="1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%7</a:t>
            </a:r>
            <a:r>
              <a:rPr b="0" i="0" lang="en-US" sz="26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 b="0" i="0" sz="26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99" name="Google Shape;699;g3b8b6cbb570_0_7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750" y="8645692"/>
            <a:ext cx="5359507" cy="49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b8b6cbb570_0_7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750" y="2940480"/>
            <a:ext cx="5359500" cy="4917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b8b6cbb570_0_7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134" y="8798093"/>
            <a:ext cx="5193422" cy="47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b8b6cbb570_0_7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133" y="3092868"/>
            <a:ext cx="5193425" cy="476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08" name="Google Shape;708;g3b8b6cbb570_0_5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3b8b6cbb570_0_514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10" name="Google Shape;710;g3b8b6cbb570_0_5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g3b8b6cbb570_0_514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12" name="Google Shape;712;g3b8b6cbb570_0_5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b8b6cbb570_0_514"/>
          <p:cNvSpPr/>
          <p:nvPr/>
        </p:nvSpPr>
        <p:spPr>
          <a:xfrm>
            <a:off x="-18647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08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b8b6cbb570_0_514"/>
          <p:cNvSpPr/>
          <p:nvPr/>
        </p:nvSpPr>
        <p:spPr>
          <a:xfrm>
            <a:off x="1682188" y="6193350"/>
            <a:ext cx="21022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Geçiş Özeti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20" name="Google Shape;720;g3b8b6cbb570_0_6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21" name="Google Shape;721;g3b8b6cbb570_0_6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026" y="124372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22" name="Google Shape;722;g3b8b6cbb570_0_6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656" y="125757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g3b8b6cbb570_0_64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3b8b6cbb570_0_646"/>
          <p:cNvSpPr/>
          <p:nvPr/>
        </p:nvSpPr>
        <p:spPr>
          <a:xfrm>
            <a:off x="406450" y="1219200"/>
            <a:ext cx="2322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Özeti - Teknik SEO Altyapısı &amp; Dokümantasyon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25" name="Google Shape;725;g3b8b6cbb570_0_646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Geçiş Özeti 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b8b6cbb570_0_646"/>
          <p:cNvSpPr/>
          <p:nvPr/>
        </p:nvSpPr>
        <p:spPr>
          <a:xfrm>
            <a:off x="1219359" y="3291840"/>
            <a:ext cx="10486500" cy="487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7" name="Google Shape;727;g3b8b6cbb570_0_6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9038" y="3657600"/>
            <a:ext cx="682752" cy="682752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g3b8b6cbb570_0_646"/>
          <p:cNvSpPr/>
          <p:nvPr/>
        </p:nvSpPr>
        <p:spPr>
          <a:xfrm>
            <a:off x="2804525" y="3584448"/>
            <a:ext cx="82917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SEO Kural Setleri &amp; Dokümantasyon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29" name="Google Shape;729;g3b8b6cbb570_0_646"/>
          <p:cNvSpPr/>
          <p:nvPr/>
        </p:nvSpPr>
        <p:spPr>
          <a:xfrm>
            <a:off x="1829038" y="4511040"/>
            <a:ext cx="92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URL, Canonical, Robots.txt, Sitemap.xml kuralları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Meta Title &amp; Description sayfa tipi bazlı kurallar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Hx etiket hiyerarşisi ve Image Alt Tag kuralları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Schema Markup kuralları (sayfa tipine göre)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Nofollow &amp; Noindex etiket dokümantasyonu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0" name="Google Shape;730;g3b8b6cbb570_0_646"/>
          <p:cNvSpPr/>
          <p:nvPr/>
        </p:nvSpPr>
        <p:spPr>
          <a:xfrm>
            <a:off x="1219359" y="8534400"/>
            <a:ext cx="10486500" cy="438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1" name="Google Shape;731;g3b8b6cbb570_0_6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55877" y="8827008"/>
            <a:ext cx="780288" cy="780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g3b8b6cbb570_0_646"/>
          <p:cNvSpPr/>
          <p:nvPr/>
        </p:nvSpPr>
        <p:spPr>
          <a:xfrm>
            <a:off x="2804525" y="8827008"/>
            <a:ext cx="82917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Mevcut Varlıkların Yedeklenmesi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33" name="Google Shape;733;g3b8b6cbb570_0_646"/>
          <p:cNvSpPr/>
          <p:nvPr/>
        </p:nvSpPr>
        <p:spPr>
          <a:xfrm>
            <a:off x="1829038" y="9753600"/>
            <a:ext cx="92670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Vitra &amp; Online Vitra tüm On-page elementlerin yedeklenmesi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Mevcut backlinklerin store edilmesi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Filtreli sayfaların index kurallarının belirlenmesi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Footer'a eklenecek sayfaların belirlenmesi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4" name="Google Shape;734;g3b8b6cbb570_0_646"/>
          <p:cNvSpPr/>
          <p:nvPr/>
        </p:nvSpPr>
        <p:spPr>
          <a:xfrm>
            <a:off x="12681331" y="3291840"/>
            <a:ext cx="10486500" cy="4876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5" name="Google Shape;735;g3b8b6cbb570_0_6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217849" y="3584448"/>
            <a:ext cx="780288" cy="780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g3b8b6cbb570_0_646"/>
          <p:cNvSpPr/>
          <p:nvPr/>
        </p:nvSpPr>
        <p:spPr>
          <a:xfrm>
            <a:off x="14266497" y="3584448"/>
            <a:ext cx="82917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URL Yapısı &amp; Yönlendirme Planı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37" name="Google Shape;737;g3b8b6cbb570_0_646"/>
          <p:cNvSpPr/>
          <p:nvPr/>
        </p:nvSpPr>
        <p:spPr>
          <a:xfrm>
            <a:off x="13291010" y="4511040"/>
            <a:ext cx="9267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Kategori ve ürün URL'lerinin oluşturulması ve simülasyonu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Kapsamlı yönlendirme mapping çalışması (V1 &amp; V2)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Log analizi ile yönlendirilecek URL tespiti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Non-200 Internal Link optimizasyonu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Eski yönlendirmelerin yeni yapıya uyarlanması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8" name="Google Shape;738;g3b8b6cbb570_0_646"/>
          <p:cNvSpPr/>
          <p:nvPr/>
        </p:nvSpPr>
        <p:spPr>
          <a:xfrm>
            <a:off x="12681331" y="8534400"/>
            <a:ext cx="10486500" cy="438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9" name="Google Shape;739;g3b8b6cbb570_0_6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217849" y="8827008"/>
            <a:ext cx="780288" cy="780288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g3b8b6cbb570_0_646"/>
          <p:cNvSpPr/>
          <p:nvPr/>
        </p:nvSpPr>
        <p:spPr>
          <a:xfrm>
            <a:off x="14266497" y="8827008"/>
            <a:ext cx="82917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Planı &amp; Kontrol Listesi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41" name="Google Shape;741;g3b8b6cbb570_0_646"/>
          <p:cNvSpPr/>
          <p:nvPr/>
        </p:nvSpPr>
        <p:spPr>
          <a:xfrm>
            <a:off x="13291010" y="9753600"/>
            <a:ext cx="92670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Migration checklist ve kontrol dokümanı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Site hızı analizi ve Core Web Vitals optimizasyonu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Statik sayfaların HTML olarak store edilmesi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GSC sitemap yönetimi planlanması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47" name="Google Shape;747;g3c7653ab589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48" name="Google Shape;748;g3c7653ab589_0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49" name="Google Shape;749;g3c7653ab589_0_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3c7653ab589_0_96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c7653ab589_0_96"/>
          <p:cNvSpPr/>
          <p:nvPr/>
        </p:nvSpPr>
        <p:spPr>
          <a:xfrm>
            <a:off x="406450" y="1219200"/>
            <a:ext cx="2117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Özeti - Merge İçerik ve Yönlendirme Yönetimi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52" name="Google Shape;752;g3c7653ab589_0_96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Geçiş Özeti 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53" name="Google Shape;753;g3c7653ab589_0_96"/>
          <p:cNvSpPr/>
          <p:nvPr/>
        </p:nvSpPr>
        <p:spPr>
          <a:xfrm>
            <a:off x="1219359" y="3291840"/>
            <a:ext cx="7072200" cy="926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c7653ab589_0_96"/>
          <p:cNvSpPr/>
          <p:nvPr/>
        </p:nvSpPr>
        <p:spPr>
          <a:xfrm>
            <a:off x="3780012" y="3901440"/>
            <a:ext cx="1707000" cy="17070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5" name="Google Shape;755;g3c7653ab589_0_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5820" y="4267200"/>
            <a:ext cx="975360" cy="97536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g3c7653ab589_0_96"/>
          <p:cNvSpPr/>
          <p:nvPr/>
        </p:nvSpPr>
        <p:spPr>
          <a:xfrm>
            <a:off x="1585166" y="5974080"/>
            <a:ext cx="63408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Manuel Meta Tag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Çalışması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57" name="Google Shape;757;g3c7653ab589_0_96"/>
          <p:cNvSpPr/>
          <p:nvPr/>
        </p:nvSpPr>
        <p:spPr>
          <a:xfrm>
            <a:off x="1585166" y="7559040"/>
            <a:ext cx="6340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Tüm kategori sayfaları için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8602C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manuel meta title &amp; description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oluşturulması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58" name="Google Shape;758;g3c7653ab589_0_96"/>
          <p:cNvSpPr/>
          <p:nvPr/>
        </p:nvSpPr>
        <p:spPr>
          <a:xfrm>
            <a:off x="8657447" y="3291840"/>
            <a:ext cx="7072200" cy="926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c7653ab589_0_96"/>
          <p:cNvSpPr/>
          <p:nvPr/>
        </p:nvSpPr>
        <p:spPr>
          <a:xfrm>
            <a:off x="11218101" y="3901440"/>
            <a:ext cx="1707000" cy="17070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0" name="Google Shape;760;g3c7653ab589_0_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83908" y="4267200"/>
            <a:ext cx="975360" cy="97536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g3c7653ab589_0_96"/>
          <p:cNvSpPr/>
          <p:nvPr/>
        </p:nvSpPr>
        <p:spPr>
          <a:xfrm>
            <a:off x="9023255" y="5974080"/>
            <a:ext cx="63408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Yönlendirme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Mapping &amp; Uygulama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62" name="Google Shape;762;g3c7653ab589_0_96"/>
          <p:cNvSpPr/>
          <p:nvPr/>
        </p:nvSpPr>
        <p:spPr>
          <a:xfrm>
            <a:off x="9023255" y="7559040"/>
            <a:ext cx="6340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Kapsamlı redirect mapping ile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8602C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SEO değer kaybının önlenmesi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4xx kontrol ve düzeltme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çalışmaları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63" name="Google Shape;763;g3c7653ab589_0_96"/>
          <p:cNvSpPr/>
          <p:nvPr/>
        </p:nvSpPr>
        <p:spPr>
          <a:xfrm>
            <a:off x="16095536" y="3291840"/>
            <a:ext cx="7072200" cy="926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c7653ab589_0_96"/>
          <p:cNvSpPr/>
          <p:nvPr/>
        </p:nvSpPr>
        <p:spPr>
          <a:xfrm>
            <a:off x="18656189" y="3901440"/>
            <a:ext cx="1707000" cy="17070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5" name="Google Shape;765;g3c7653ab589_0_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021996" y="4267200"/>
            <a:ext cx="975360" cy="97536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g3c7653ab589_0_96"/>
          <p:cNvSpPr/>
          <p:nvPr/>
        </p:nvSpPr>
        <p:spPr>
          <a:xfrm>
            <a:off x="16461343" y="5974080"/>
            <a:ext cx="63408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Kategori İçerik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Üretimi &amp; Güncelleme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67" name="Google Shape;767;g3c7653ab589_0_96"/>
          <p:cNvSpPr/>
          <p:nvPr/>
        </p:nvSpPr>
        <p:spPr>
          <a:xfrm>
            <a:off x="16461343" y="7559040"/>
            <a:ext cx="6340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Yeni URL yapısına uygun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8602C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özgün kategori içerikleri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Kategori içeriklerindeki internal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linklerin yeni URL'lere göre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güncellenmesi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73" name="Google Shape;773;g3c7653ab589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74" name="Google Shape;774;g3c7653ab589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75" name="Google Shape;775;g3c7653ab589_0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g3c7653ab589_0_10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c7653ab589_0_107"/>
          <p:cNvSpPr/>
          <p:nvPr/>
        </p:nvSpPr>
        <p:spPr>
          <a:xfrm>
            <a:off x="406450" y="1219200"/>
            <a:ext cx="2078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Özeti - Post-Migration Kontrol &amp; Sonuçlar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78" name="Google Shape;778;g3c7653ab589_0_107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Geçiş Özeti 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79" name="Google Shape;779;g3c7653ab589_0_107"/>
          <p:cNvSpPr/>
          <p:nvPr/>
        </p:nvSpPr>
        <p:spPr>
          <a:xfrm>
            <a:off x="1219359" y="3413760"/>
            <a:ext cx="10486500" cy="91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g3c7653ab589_0_107"/>
          <p:cNvSpPr/>
          <p:nvPr/>
        </p:nvSpPr>
        <p:spPr>
          <a:xfrm>
            <a:off x="1950974" y="3706368"/>
            <a:ext cx="9267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Calibri"/>
              <a:buNone/>
            </a:pPr>
            <a:r>
              <a:rPr b="1" i="0" lang="en-US" sz="37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Sonrası Yapılanlar</a:t>
            </a:r>
            <a:endParaRPr b="0" i="0" sz="3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81" name="Google Shape;781;g3c7653ab589_0_107"/>
          <p:cNvSpPr/>
          <p:nvPr/>
        </p:nvSpPr>
        <p:spPr>
          <a:xfrm>
            <a:off x="1950974" y="4754880"/>
            <a:ext cx="9267000" cy="75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Migration checklist üzerinden SEO maddelerinin kontrolü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Redirect problemlerinin tespiti ve hızlı müdahale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Yönlendirilen sayfaların crawl alınması ve doğrulanması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Eksik meta tag'lerin tespit edilip yenilerinin hazırlanması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GSC'den eski sitemap'lerin kaldırılması, yenilerinin submit edilmesi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Geçiş sonrası eksiklerin dökümante edilmesi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4A5A"/>
              </a:buClr>
              <a:buSzPts val="2900"/>
              <a:buFont typeface="Outfit"/>
              <a:buChar char="➔"/>
            </a:pPr>
            <a:r>
              <a:rPr b="0" i="0" lang="en-US" sz="29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Raporlama sisteminin yeni yapıya göre güncellenmesi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82" name="Google Shape;782;g3c7653ab589_0_107"/>
          <p:cNvSpPr/>
          <p:nvPr/>
        </p:nvSpPr>
        <p:spPr>
          <a:xfrm>
            <a:off x="12681331" y="3413760"/>
            <a:ext cx="104865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3c7653ab589_0_107"/>
          <p:cNvSpPr/>
          <p:nvPr/>
        </p:nvSpPr>
        <p:spPr>
          <a:xfrm>
            <a:off x="13412946" y="3779520"/>
            <a:ext cx="92670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02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E8602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İyi Yaptığımız Şeyler</a:t>
            </a:r>
            <a:endParaRPr b="0" i="0" sz="40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descr="preencoded.png" id="784" name="Google Shape;784;g3c7653ab589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12946" y="5169408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g3c7653ab589_0_107"/>
          <p:cNvSpPr/>
          <p:nvPr/>
        </p:nvSpPr>
        <p:spPr>
          <a:xfrm>
            <a:off x="14266497" y="5071872"/>
            <a:ext cx="82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Her kategori için manuel meta title &amp; description hazırlanması</a:t>
            </a:r>
            <a:endParaRPr b="0" i="0" sz="29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descr="preencoded.png" id="786" name="Google Shape;786;g3c7653ab589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12946" y="6388608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g3c7653ab589_0_107"/>
          <p:cNvSpPr/>
          <p:nvPr/>
        </p:nvSpPr>
        <p:spPr>
          <a:xfrm>
            <a:off x="14266497" y="6291072"/>
            <a:ext cx="82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Kapsamlı yönlendirme mapping'i ile SEO değer koruması</a:t>
            </a:r>
            <a:endParaRPr b="0" i="0" sz="29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descr="preencoded.png" id="788" name="Google Shape;788;g3c7653ab589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12946" y="7607808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g3c7653ab589_0_107"/>
          <p:cNvSpPr/>
          <p:nvPr/>
        </p:nvSpPr>
        <p:spPr>
          <a:xfrm>
            <a:off x="14266497" y="7510272"/>
            <a:ext cx="82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Yeni URL yapısına uygun özgün kategori içerikleri üretilmesi</a:t>
            </a: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preencoded.png" id="790" name="Google Shape;790;g3c7653ab589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12946" y="8827008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g3c7653ab589_0_107"/>
          <p:cNvSpPr/>
          <p:nvPr/>
        </p:nvSpPr>
        <p:spPr>
          <a:xfrm>
            <a:off x="14266497" y="8729472"/>
            <a:ext cx="82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Detaylı teknik SEO kural setleri ve dokümantasyon</a:t>
            </a:r>
            <a:endParaRPr b="0" i="0" sz="29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descr="preencoded.png" id="792" name="Google Shape;792;g3c7653ab589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12946" y="9948683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g3c7653ab589_0_107"/>
          <p:cNvSpPr/>
          <p:nvPr/>
        </p:nvSpPr>
        <p:spPr>
          <a:xfrm>
            <a:off x="14266497" y="9948672"/>
            <a:ext cx="82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öncesi tüm varlıkların yedeklenmesi</a:t>
            </a:r>
            <a:endParaRPr b="0" i="0" sz="29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pic>
        <p:nvPicPr>
          <p:cNvPr descr="preencoded.png" id="794" name="Google Shape;794;g3c7653ab589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12946" y="11167883"/>
            <a:ext cx="536448" cy="536448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g3c7653ab589_0_107"/>
          <p:cNvSpPr/>
          <p:nvPr/>
        </p:nvSpPr>
        <p:spPr>
          <a:xfrm>
            <a:off x="14266497" y="11167872"/>
            <a:ext cx="8291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sonrası hızlı kontrol ve müdahale süreci</a:t>
            </a:r>
            <a:endParaRPr b="0" i="0" sz="29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01" name="Google Shape;801;g3c7653ab589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02" name="Google Shape;802;g3c7653ab589_0_2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03" name="Google Shape;803;g3c7653ab589_0_2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g3c7653ab589_0_242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c7653ab589_0_242"/>
          <p:cNvSpPr/>
          <p:nvPr/>
        </p:nvSpPr>
        <p:spPr>
          <a:xfrm>
            <a:off x="406450" y="1219200"/>
            <a:ext cx="2078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Özeti - GSC Genel Bakış &amp; Anahtar Metrikler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806" name="Google Shape;806;g3c7653ab589_0_242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Geçiş Özeti 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07" name="Google Shape;807;g3c7653ab589_0_242"/>
          <p:cNvSpPr/>
          <p:nvPr/>
        </p:nvSpPr>
        <p:spPr>
          <a:xfrm>
            <a:off x="802187" y="2549115"/>
            <a:ext cx="5121300" cy="22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3c7653ab589_0_242"/>
          <p:cNvSpPr/>
          <p:nvPr/>
        </p:nvSpPr>
        <p:spPr>
          <a:xfrm>
            <a:off x="802187" y="2549115"/>
            <a:ext cx="146400" cy="22434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c7653ab589_0_242"/>
          <p:cNvSpPr/>
          <p:nvPr/>
        </p:nvSpPr>
        <p:spPr>
          <a:xfrm>
            <a:off x="1289931" y="2744187"/>
            <a:ext cx="4389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5900"/>
              <a:buFont typeface="Arial"/>
              <a:buNone/>
            </a:pPr>
            <a:r>
              <a:rPr b="1" i="0" lang="en-US" sz="5900" u="none" cap="none" strike="noStrike">
                <a:solidFill>
                  <a:srgbClr val="10332F"/>
                </a:solidFill>
                <a:latin typeface="Arial"/>
                <a:ea typeface="Arial"/>
                <a:cs typeface="Arial"/>
                <a:sym typeface="Arial"/>
              </a:rPr>
              <a:t>382.6K</a:t>
            </a:r>
            <a:endParaRPr b="0" i="0" sz="5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c7653ab589_0_242"/>
          <p:cNvSpPr/>
          <p:nvPr/>
        </p:nvSpPr>
        <p:spPr>
          <a:xfrm>
            <a:off x="1289931" y="364639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Toplam Click (Geçiş Sonrası)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c7653ab589_0_242"/>
          <p:cNvSpPr/>
          <p:nvPr/>
        </p:nvSpPr>
        <p:spPr>
          <a:xfrm>
            <a:off x="1289931" y="413407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-%2.6 YoY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c7653ab589_0_242"/>
          <p:cNvSpPr/>
          <p:nvPr/>
        </p:nvSpPr>
        <p:spPr>
          <a:xfrm>
            <a:off x="6411237" y="2549115"/>
            <a:ext cx="5121300" cy="22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3c7653ab589_0_242"/>
          <p:cNvSpPr/>
          <p:nvPr/>
        </p:nvSpPr>
        <p:spPr>
          <a:xfrm>
            <a:off x="6411237" y="2549115"/>
            <a:ext cx="146400" cy="22434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g3c7653ab589_0_242"/>
          <p:cNvSpPr/>
          <p:nvPr/>
        </p:nvSpPr>
        <p:spPr>
          <a:xfrm>
            <a:off x="6898981" y="2744187"/>
            <a:ext cx="4389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5900"/>
              <a:buFont typeface="Arial"/>
              <a:buNone/>
            </a:pPr>
            <a:r>
              <a:rPr b="1" i="0" lang="en-US" sz="5900" u="none" cap="none" strike="noStrike">
                <a:solidFill>
                  <a:srgbClr val="10332F"/>
                </a:solidFill>
                <a:latin typeface="Arial"/>
                <a:ea typeface="Arial"/>
                <a:cs typeface="Arial"/>
                <a:sym typeface="Arial"/>
              </a:rPr>
              <a:t>8.25M</a:t>
            </a:r>
            <a:endParaRPr b="0" i="0" sz="5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c7653ab589_0_242"/>
          <p:cNvSpPr/>
          <p:nvPr/>
        </p:nvSpPr>
        <p:spPr>
          <a:xfrm>
            <a:off x="6898981" y="364639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Toplam Impression (Geçiş Sonrası)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c7653ab589_0_242"/>
          <p:cNvSpPr/>
          <p:nvPr/>
        </p:nvSpPr>
        <p:spPr>
          <a:xfrm>
            <a:off x="6898981" y="413407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-%0.9 YoY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g3c7653ab589_0_242"/>
          <p:cNvSpPr/>
          <p:nvPr/>
        </p:nvSpPr>
        <p:spPr>
          <a:xfrm>
            <a:off x="12020288" y="2549115"/>
            <a:ext cx="5121300" cy="22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c7653ab589_0_242"/>
          <p:cNvSpPr/>
          <p:nvPr/>
        </p:nvSpPr>
        <p:spPr>
          <a:xfrm>
            <a:off x="12020288" y="2549115"/>
            <a:ext cx="146400" cy="22434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c7653ab589_0_242"/>
          <p:cNvSpPr/>
          <p:nvPr/>
        </p:nvSpPr>
        <p:spPr>
          <a:xfrm>
            <a:off x="12508031" y="2744187"/>
            <a:ext cx="4389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5900"/>
              <a:buFont typeface="Arial"/>
              <a:buNone/>
            </a:pPr>
            <a:r>
              <a:rPr b="1" i="0" lang="en-US" sz="5900" u="none" cap="none" strike="noStrike">
                <a:solidFill>
                  <a:srgbClr val="10332F"/>
                </a:solidFill>
                <a:latin typeface="Arial"/>
                <a:ea typeface="Arial"/>
                <a:cs typeface="Arial"/>
                <a:sym typeface="Arial"/>
              </a:rPr>
              <a:t>4.64%</a:t>
            </a:r>
            <a:endParaRPr b="0" i="0" sz="5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c7653ab589_0_242"/>
          <p:cNvSpPr/>
          <p:nvPr/>
        </p:nvSpPr>
        <p:spPr>
          <a:xfrm>
            <a:off x="12508031" y="364639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Ortalama CTR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3c7653ab589_0_242"/>
          <p:cNvSpPr/>
          <p:nvPr/>
        </p:nvSpPr>
        <p:spPr>
          <a:xfrm>
            <a:off x="12508031" y="413407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-%0.08 YoY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c7653ab589_0_242"/>
          <p:cNvSpPr/>
          <p:nvPr/>
        </p:nvSpPr>
        <p:spPr>
          <a:xfrm>
            <a:off x="17629338" y="2549115"/>
            <a:ext cx="5121300" cy="224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c7653ab589_0_242"/>
          <p:cNvSpPr/>
          <p:nvPr/>
        </p:nvSpPr>
        <p:spPr>
          <a:xfrm>
            <a:off x="17629338" y="2549115"/>
            <a:ext cx="146400" cy="22434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c7653ab589_0_242"/>
          <p:cNvSpPr/>
          <p:nvPr/>
        </p:nvSpPr>
        <p:spPr>
          <a:xfrm>
            <a:off x="18117081" y="2744187"/>
            <a:ext cx="4389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5900"/>
              <a:buFont typeface="Arial"/>
              <a:buNone/>
            </a:pPr>
            <a:r>
              <a:rPr b="1" i="0" lang="en-US" sz="5900" u="none" cap="none" strike="noStrike">
                <a:solidFill>
                  <a:srgbClr val="10332F"/>
                </a:solidFill>
                <a:latin typeface="Arial"/>
                <a:ea typeface="Arial"/>
                <a:cs typeface="Arial"/>
                <a:sym typeface="Arial"/>
              </a:rPr>
              <a:t>7.3</a:t>
            </a:r>
            <a:endParaRPr b="0" i="0" sz="5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g3c7653ab589_0_242"/>
          <p:cNvSpPr/>
          <p:nvPr/>
        </p:nvSpPr>
        <p:spPr>
          <a:xfrm>
            <a:off x="18117081" y="364639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Ort. Pozisyon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g3c7653ab589_0_242"/>
          <p:cNvSpPr/>
          <p:nvPr/>
        </p:nvSpPr>
        <p:spPr>
          <a:xfrm>
            <a:off x="18117081" y="4134075"/>
            <a:ext cx="4389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4A853"/>
                </a:solidFill>
                <a:latin typeface="Arial"/>
                <a:ea typeface="Arial"/>
                <a:cs typeface="Arial"/>
                <a:sym typeface="Arial"/>
              </a:rPr>
              <a:t>+1.8 iyileşme ↑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7" name="Google Shape;827;g3c7653ab589_0_242"/>
          <p:cNvGraphicFramePr/>
          <p:nvPr/>
        </p:nvGraphicFramePr>
        <p:xfrm>
          <a:off x="997325" y="6846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170325"/>
                <a:gridCol w="2682600"/>
                <a:gridCol w="2682600"/>
                <a:gridCol w="243870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Ara 24 - Oca 25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Ara 25 - Oca 26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Değişim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65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Toplam Click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r>
                        <a:rPr lang="en-US" sz="2300" u="none" cap="none" strike="noStrike"/>
                        <a:t>3K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382,6</a:t>
                      </a:r>
                      <a:r>
                        <a:rPr lang="en-US" sz="2300" u="none" cap="none" strike="noStrike"/>
                        <a:t>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-%2.6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Toplam Impression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8,3</a:t>
                      </a:r>
                      <a:r>
                        <a:rPr lang="en-US" sz="2300" u="none" cap="none" strike="noStrike"/>
                        <a:t>M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8,2</a:t>
                      </a:r>
                      <a:r>
                        <a:rPr lang="en-US" sz="2300" u="none" cap="none" strike="noStrike"/>
                        <a:t>M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-%0.9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65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Non-Brand Click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r>
                        <a:rPr lang="en-US" sz="2300" u="none" cap="none" strike="noStrike"/>
                        <a:t>2.6K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133</a:t>
                      </a:r>
                      <a:r>
                        <a:rPr lang="en-US" sz="2300" u="none" cap="none" strike="noStrike"/>
                        <a:t>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+%8.1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 Click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r>
                        <a:rPr lang="en-US" sz="2300" u="none" cap="none" strike="noStrike"/>
                        <a:t>1K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70,6</a:t>
                      </a:r>
                      <a:r>
                        <a:rPr lang="en-US" sz="2300" u="none" cap="none" strike="noStrike"/>
                        <a:t>K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-%36.4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65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Desktop Pozisyon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13.65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9.95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+3.7 ↑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Pozisyon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6.67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5.94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+0.7 ↑</a:t>
                      </a:r>
                      <a:endParaRPr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</a:tbl>
          </a:graphicData>
        </a:graphic>
      </p:graphicFrame>
      <p:sp>
        <p:nvSpPr>
          <p:cNvPr id="828" name="Google Shape;828;g3c7653ab589_0_242"/>
          <p:cNvSpPr/>
          <p:nvPr/>
        </p:nvSpPr>
        <p:spPr>
          <a:xfrm>
            <a:off x="12995775" y="5719023"/>
            <a:ext cx="9754800" cy="7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825" spcFirstLastPara="1" rIns="24382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2700"/>
              <a:buFont typeface="Arial"/>
              <a:buNone/>
            </a:pPr>
            <a:r>
              <a:rPr b="1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Geçiş Değerlendirmesi</a:t>
            </a:r>
            <a:br>
              <a:rPr b="1" i="0" lang="en-US" sz="29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Toplam tıklamada</a:t>
            </a:r>
            <a:r>
              <a:rPr b="0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5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yalnızca -%2.6'lık düşüş</a:t>
            </a:r>
            <a:r>
              <a:rPr b="0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yaşanmıştır. Domain birleştirme süreçlerinde beklenen %10-30 kayıp seviyesinin çok altında kalan bu oran, geçişin başarılı yönetildiğini göstermektedir.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Non-brand tıklamalar </a:t>
            </a:r>
            <a:r>
              <a:rPr b="1" i="0" lang="en-US" sz="25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%8.1 artış</a:t>
            </a:r>
            <a:r>
              <a:rPr b="0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göstermiştir. Organik arama performansının güçlendiğini doğrulamaktadır.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Brand tıklamalardaki</a:t>
            </a:r>
            <a:r>
              <a:rPr b="1" i="0" lang="en-US" sz="2500" u="none" cap="none" strike="noStrike">
                <a:solidFill>
                  <a:srgbClr val="FF0000"/>
                </a:solidFill>
                <a:latin typeface="Outfit"/>
                <a:ea typeface="Outfit"/>
                <a:cs typeface="Outfit"/>
                <a:sym typeface="Outfit"/>
              </a:rPr>
              <a:t> -%36 düşüş</a:t>
            </a:r>
            <a:r>
              <a:rPr b="0" i="0" lang="en-US" sz="2500" u="none" cap="none" strike="noStrike">
                <a:solidFill>
                  <a:srgbClr val="313131"/>
                </a:solidFill>
                <a:latin typeface="Outfit"/>
                <a:ea typeface="Outfit"/>
                <a:cs typeface="Outfit"/>
                <a:sym typeface="Outfit"/>
              </a:rPr>
              <a:t>  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'vitra online' gibi subdomain-spesifik aramaların yeniden yapılandırılmasından kaynaklı olabilir, paid yatırımların etkisi de değerlendirilmelidir.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34A853"/>
                </a:solidFill>
                <a:latin typeface="Outfit"/>
                <a:ea typeface="Outfit"/>
                <a:cs typeface="Outfit"/>
                <a:sym typeface="Outfit"/>
              </a:rPr>
              <a:t>Pozisyon tarafında belirgin iyileşme 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dikkat çekmektedir. </a:t>
            </a:r>
            <a:r>
              <a:rPr b="1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Desktop'ta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13.6 → 9.9, </a:t>
            </a:r>
            <a:r>
              <a:rPr b="1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mobilde</a:t>
            </a:r>
            <a:r>
              <a:rPr b="0" i="0" lang="en-US" sz="2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6.6 → 5.9 seviyesine artmıştır. Domain otoritesinin birleşmesi sıralamalara olumlu yansımıştır.</a:t>
            </a:r>
            <a:endParaRPr b="0" i="0" sz="2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29" name="Google Shape;829;g3c7653ab589_0_242"/>
          <p:cNvSpPr txBox="1"/>
          <p:nvPr/>
        </p:nvSpPr>
        <p:spPr>
          <a:xfrm>
            <a:off x="802175" y="4986375"/>
            <a:ext cx="20355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*** Yukarıdaki metrikler </a:t>
            </a:r>
            <a:r>
              <a:rPr b="1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‘25</a:t>
            </a: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Aralık ve ‘26 Ocak</a:t>
            </a:r>
            <a:r>
              <a:rPr b="0" i="0" lang="en-US" sz="2300" u="none" cap="none" strike="noStrike">
                <a:solidFill>
                  <a:srgbClr val="10332F"/>
                </a:solidFill>
                <a:latin typeface="Outfit"/>
                <a:ea typeface="Outfit"/>
                <a:cs typeface="Outfit"/>
                <a:sym typeface="Outfit"/>
              </a:rPr>
              <a:t> toplam clickleridir, karşılaştırmalar önceki yıl aynı dönemle yapılmıştır.</a:t>
            </a:r>
            <a:endParaRPr b="0" i="0" sz="2300" u="none" cap="none" strike="noStrike">
              <a:solidFill>
                <a:srgbClr val="10332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35" name="Google Shape;835;g3c7653ab589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6" name="Google Shape;836;g3c7653ab589_0_2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7" name="Google Shape;837;g3c7653ab589_0_2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g3c7653ab589_0_294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c7653ab589_0_294"/>
          <p:cNvSpPr/>
          <p:nvPr/>
        </p:nvSpPr>
        <p:spPr>
          <a:xfrm>
            <a:off x="406450" y="1219200"/>
            <a:ext cx="2078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Geçiş Özeti - GSC Anahtar Kelime &amp; Brand/Non-Brand Analizi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840" name="Google Shape;840;g3c7653ab589_0_294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Geçiş Özeti 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41" name="Google Shape;841;g3c7653ab589_0_294"/>
          <p:cNvSpPr/>
          <p:nvPr/>
        </p:nvSpPr>
        <p:spPr>
          <a:xfrm>
            <a:off x="1371800" y="2518874"/>
            <a:ext cx="10486500" cy="219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c7653ab589_0_294"/>
          <p:cNvSpPr/>
          <p:nvPr/>
        </p:nvSpPr>
        <p:spPr>
          <a:xfrm>
            <a:off x="1371800" y="2518874"/>
            <a:ext cx="146400" cy="2194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c7653ab589_0_294"/>
          <p:cNvSpPr/>
          <p:nvPr/>
        </p:nvSpPr>
        <p:spPr>
          <a:xfrm>
            <a:off x="1981491" y="2640790"/>
            <a:ext cx="48774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Non-Brand Click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c7653ab589_0_294"/>
          <p:cNvSpPr/>
          <p:nvPr/>
        </p:nvSpPr>
        <p:spPr>
          <a:xfrm>
            <a:off x="1981491" y="3128470"/>
            <a:ext cx="487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0332F"/>
                </a:solidFill>
                <a:latin typeface="Arial"/>
                <a:ea typeface="Arial"/>
                <a:cs typeface="Arial"/>
                <a:sym typeface="Arial"/>
              </a:rPr>
              <a:t>123K → 133K</a:t>
            </a:r>
            <a:endParaRPr b="0" i="0" sz="4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g3c7653ab589_0_294"/>
          <p:cNvSpPr/>
          <p:nvPr/>
        </p:nvSpPr>
        <p:spPr>
          <a:xfrm>
            <a:off x="1981491" y="3859990"/>
            <a:ext cx="48774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34A853"/>
                </a:solidFill>
                <a:latin typeface="Arial"/>
                <a:ea typeface="Arial"/>
                <a:cs typeface="Arial"/>
                <a:sym typeface="Arial"/>
              </a:rPr>
              <a:t>+%8.1  Artış ↑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c7653ab589_0_294"/>
          <p:cNvSpPr/>
          <p:nvPr/>
        </p:nvSpPr>
        <p:spPr>
          <a:xfrm>
            <a:off x="6980862" y="3128470"/>
            <a:ext cx="4633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Organik arama performansı güçlenmiştir.</a:t>
            </a:r>
            <a:endParaRPr b="0" i="0" sz="2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47" name="Google Shape;847;g3c7653ab589_0_294"/>
          <p:cNvSpPr/>
          <p:nvPr/>
        </p:nvSpPr>
        <p:spPr>
          <a:xfrm>
            <a:off x="13077650" y="2518874"/>
            <a:ext cx="10730400" cy="219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c7653ab589_0_294"/>
          <p:cNvSpPr/>
          <p:nvPr/>
        </p:nvSpPr>
        <p:spPr>
          <a:xfrm>
            <a:off x="13077650" y="2518874"/>
            <a:ext cx="146400" cy="2194500"/>
          </a:xfrm>
          <a:prstGeom prst="rect">
            <a:avLst/>
          </a:prstGeom>
          <a:solidFill>
            <a:srgbClr val="FF7B52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c7653ab589_0_294"/>
          <p:cNvSpPr/>
          <p:nvPr/>
        </p:nvSpPr>
        <p:spPr>
          <a:xfrm>
            <a:off x="13687335" y="2640790"/>
            <a:ext cx="48774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Brand Click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c7653ab589_0_294"/>
          <p:cNvSpPr/>
          <p:nvPr/>
        </p:nvSpPr>
        <p:spPr>
          <a:xfrm>
            <a:off x="13687335" y="3128470"/>
            <a:ext cx="487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10332F"/>
                </a:solidFill>
                <a:latin typeface="Arial"/>
                <a:ea typeface="Arial"/>
                <a:cs typeface="Arial"/>
                <a:sym typeface="Arial"/>
              </a:rPr>
              <a:t>111K → 70.6K</a:t>
            </a:r>
            <a:endParaRPr b="0" i="0" sz="4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g3c7653ab589_0_294"/>
          <p:cNvSpPr/>
          <p:nvPr/>
        </p:nvSpPr>
        <p:spPr>
          <a:xfrm>
            <a:off x="13687335" y="3859990"/>
            <a:ext cx="48774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-%36.4  Geçiş Etkisi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3c7653ab589_0_294"/>
          <p:cNvSpPr/>
          <p:nvPr/>
        </p:nvSpPr>
        <p:spPr>
          <a:xfrm>
            <a:off x="18686706" y="3128470"/>
            <a:ext cx="4877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Domainlerin teke düşmesi brand arama sonrası iki siteyi de ziyaret edenlerin sayısını azaltmıştır.</a:t>
            </a:r>
            <a:endParaRPr b="0" i="0" sz="23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53" name="Google Shape;853;g3c7653ab589_0_294"/>
          <p:cNvSpPr/>
          <p:nvPr/>
        </p:nvSpPr>
        <p:spPr>
          <a:xfrm>
            <a:off x="1371787" y="4918015"/>
            <a:ext cx="1048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Non-Brand Click Artışları (vitra içermeyen)</a:t>
            </a:r>
            <a:endParaRPr b="0" i="0" sz="2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854" name="Google Shape;854;g3c7653ab589_0_294"/>
          <p:cNvGraphicFramePr/>
          <p:nvPr/>
        </p:nvGraphicFramePr>
        <p:xfrm>
          <a:off x="1371787" y="5649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658075"/>
                <a:gridCol w="1950975"/>
                <a:gridCol w="1950975"/>
                <a:gridCol w="2926425"/>
              </a:tblGrid>
              <a:tr h="58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Anahtar Kelime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Önceki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Sonrası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Fark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duşakabin fiyatları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597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+477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fayans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454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+367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banyo dolabı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3,801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4,141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+340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duş başlığı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755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+254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lavabo bataryası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710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+179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mutfak bataryası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958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1,115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+157</a:t>
                      </a:r>
                      <a:endParaRPr b="1" sz="2000" u="none" cap="none" strike="noStrike">
                        <a:solidFill>
                          <a:srgbClr val="34A85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banyo lavabosu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405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548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+143</a:t>
                      </a:r>
                      <a:endParaRPr b="1" sz="2000" u="none" cap="none" strike="noStrike">
                        <a:solidFill>
                          <a:srgbClr val="34A85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evye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189</a:t>
                      </a:r>
                      <a:endParaRPr sz="2000" u="none" cap="none" strike="noStrike">
                        <a:solidFill>
                          <a:srgbClr val="31313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+142</a:t>
                      </a:r>
                      <a:endParaRPr b="1" sz="2000" u="none" cap="none" strike="noStrike">
                        <a:solidFill>
                          <a:srgbClr val="34A85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5" name="Google Shape;855;g3c7653ab589_0_294"/>
          <p:cNvSpPr/>
          <p:nvPr/>
        </p:nvSpPr>
        <p:spPr>
          <a:xfrm>
            <a:off x="13077631" y="4918015"/>
            <a:ext cx="1073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Brand Click Düşüşleri (vitra içeren)</a:t>
            </a:r>
            <a:endParaRPr b="0" i="0" sz="27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856" name="Google Shape;856;g3c7653ab589_0_294"/>
          <p:cNvGraphicFramePr/>
          <p:nvPr/>
        </p:nvGraphicFramePr>
        <p:xfrm>
          <a:off x="13077656" y="5527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901950"/>
                <a:gridCol w="1950975"/>
                <a:gridCol w="1950975"/>
                <a:gridCol w="2926425"/>
              </a:tblGrid>
              <a:tr h="58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Anahtar Kelime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Önceki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Sonrası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Fark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37,843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14,970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-22,873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online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2,231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228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-2,003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klozet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4,464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2,671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-1,793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banyo dolabı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2,761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1,283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-1,478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lavabo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2,056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1,001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-1,055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7" name="Google Shape;857;g3c7653ab589_0_294"/>
          <p:cNvSpPr/>
          <p:nvPr/>
        </p:nvSpPr>
        <p:spPr>
          <a:xfrm>
            <a:off x="13077656" y="8941395"/>
            <a:ext cx="107304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4A85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Brand Click Artışları</a:t>
            </a:r>
            <a:endParaRPr b="0" i="0" sz="24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aphicFrame>
        <p:nvGraphicFramePr>
          <p:cNvPr id="858" name="Google Shape;858;g3c7653ab589_0_294"/>
          <p:cNvGraphicFramePr/>
          <p:nvPr/>
        </p:nvGraphicFramePr>
        <p:xfrm>
          <a:off x="13077656" y="94778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{E8DDE367-2ECE-465A-87B5-53738C60F581}</a:tableStyleId>
              </a:tblPr>
              <a:tblGrid>
                <a:gridCol w="3901950"/>
                <a:gridCol w="1950975"/>
                <a:gridCol w="1950975"/>
                <a:gridCol w="2926425"/>
              </a:tblGrid>
              <a:tr h="5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Anahtar Kelime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Önceki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Sonrası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Fark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nuvola beyaz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178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+161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duşakabin modelleri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221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+121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6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vitra duşakabin fiyatları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13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31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177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34A8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+119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1925" marB="121925" marR="243900" marL="2439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9" name="Google Shape;859;g3c7653ab589_0_294"/>
          <p:cNvSpPr/>
          <p:nvPr/>
        </p:nvSpPr>
        <p:spPr>
          <a:xfrm>
            <a:off x="1981500" y="11953178"/>
            <a:ext cx="214608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825" spcFirstLastPara="1" rIns="243825" wrap="square" tIns="121875">
            <a:no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➔"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Non-brand sorgularda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(vitra içermeyen) toplam click </a:t>
            </a:r>
            <a:r>
              <a:rPr b="1" i="0" lang="en-US" sz="2300" u="none" cap="none" strike="noStrike">
                <a:solidFill>
                  <a:srgbClr val="34A853"/>
                </a:solidFill>
                <a:latin typeface="Arial"/>
                <a:ea typeface="Arial"/>
                <a:cs typeface="Arial"/>
                <a:sym typeface="Arial"/>
              </a:rPr>
              <a:t>%8.1 artış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göstererek organik performansın güçlendiğini göstermektedir.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➔"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Brand sorgulardaki 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(vitra içeren) </a:t>
            </a:r>
            <a:r>
              <a:rPr b="0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-%36.4'lük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düşüş</a:t>
            </a: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subdomain geçişi ve iki sitenin tek çatı altında olmasından kaynaklanabilir. Paid yatırımlar da brand clickleri ve bilinirliği etkilemektedir.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65" name="Google Shape;865;g3b8b6cbb570_0_5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g3b8b6cbb570_0_525"/>
          <p:cNvSpPr/>
          <p:nvPr/>
        </p:nvSpPr>
        <p:spPr>
          <a:xfrm>
            <a:off x="11787073" y="5537200"/>
            <a:ext cx="813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67" name="Google Shape;867;g3b8b6cbb570_0_5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55372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g3b8b6cbb570_0_525"/>
          <p:cNvSpPr/>
          <p:nvPr/>
        </p:nvSpPr>
        <p:spPr>
          <a:xfrm>
            <a:off x="11787073" y="7264400"/>
            <a:ext cx="81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69" name="Google Shape;869;g3b8b6cbb570_0_5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7073" y="7975600"/>
            <a:ext cx="812902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g3b8b6cbb570_0_525"/>
          <p:cNvSpPr/>
          <p:nvPr/>
        </p:nvSpPr>
        <p:spPr>
          <a:xfrm>
            <a:off x="-1864725" y="4889850"/>
            <a:ext cx="10063800" cy="3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t/>
            </a:r>
            <a:endParaRPr b="1" i="0" sz="40000" u="none" cap="none" strike="noStrike">
              <a:solidFill>
                <a:srgbClr val="254E49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  <a:p>
            <a:pPr indent="0" lvl="0" marL="0" marR="0" rtl="0" algn="ctr">
              <a:lnSpc>
                <a:spcPct val="32000"/>
              </a:lnSpc>
              <a:spcBef>
                <a:spcPts val="0"/>
              </a:spcBef>
              <a:spcAft>
                <a:spcPts val="0"/>
              </a:spcAft>
              <a:buClr>
                <a:srgbClr val="FEFEF7"/>
              </a:buClr>
              <a:buSzPts val="40000"/>
              <a:buFont typeface="Bricolage Grotesque ExtraBold"/>
              <a:buNone/>
            </a:pPr>
            <a:r>
              <a:rPr b="1" i="0" lang="en-US" sz="40000" u="none" cap="none" strike="noStrike">
                <a:solidFill>
                  <a:srgbClr val="254E49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09</a:t>
            </a:r>
            <a:endParaRPr b="0" i="0" sz="40000" u="none" cap="none" strike="noStrike">
              <a:solidFill>
                <a:srgbClr val="254E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g3b8b6cbb570_0_525"/>
          <p:cNvSpPr/>
          <p:nvPr/>
        </p:nvSpPr>
        <p:spPr>
          <a:xfrm>
            <a:off x="1682188" y="6193350"/>
            <a:ext cx="21022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1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7400" u="none" cap="none" strike="noStrike">
                <a:solidFill>
                  <a:srgbClr val="FEFEF7"/>
                </a:solidFill>
                <a:latin typeface="Bricolage Grotesque ExtraBold"/>
                <a:ea typeface="Bricolage Grotesque ExtraBold"/>
                <a:cs typeface="Bricolage Grotesque ExtraBold"/>
                <a:sym typeface="Bricolage Grotesque ExtraBold"/>
              </a:rPr>
              <a:t>2026 Planları</a:t>
            </a:r>
            <a:endParaRPr b="1" i="0" sz="7400" u="none" cap="none" strike="noStrike">
              <a:solidFill>
                <a:srgbClr val="FEFEF7"/>
              </a:solidFill>
              <a:latin typeface="Bricolage Grotesque ExtraBold"/>
              <a:ea typeface="Bricolage Grotesque ExtraBold"/>
              <a:cs typeface="Bricolage Grotesque ExtraBold"/>
              <a:sym typeface="Bricolage Grotesque ExtraBol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77" name="Google Shape;877;g3b8b6cbb570_0_6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78" name="Google Shape;878;g3b8b6cbb570_0_6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51" y="12242800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79" name="Google Shape;879;g3b8b6cbb570_0_6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081" y="12381347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b8b6cbb570_0_65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b8b6cbb570_0_657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2026 Planları - Ülke Geçişleri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t/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882" name="Google Shape;882;g3b8b6cbb570_0_657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Ülke Geçişleri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3" name="Google Shape;883;g3b8b6cbb570_0_6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750" y="3147325"/>
            <a:ext cx="12773350" cy="89037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884" name="Google Shape;884;g3b8b6cbb570_0_657"/>
          <p:cNvSpPr/>
          <p:nvPr/>
        </p:nvSpPr>
        <p:spPr>
          <a:xfrm>
            <a:off x="13757682" y="2888220"/>
            <a:ext cx="8779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02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E8602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Ülke Bazlı Geçiş Planlaması</a:t>
            </a:r>
            <a:endParaRPr b="0" i="0" sz="40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885" name="Google Shape;885;g3b8b6cbb570_0_657"/>
          <p:cNvSpPr/>
          <p:nvPr/>
        </p:nvSpPr>
        <p:spPr>
          <a:xfrm>
            <a:off x="13757682" y="3863580"/>
            <a:ext cx="87795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TR merge tamamlandı. Sıradaki ülke geçişleri:</a:t>
            </a:r>
            <a:endParaRPr b="0" i="0" sz="2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86" name="Google Shape;886;g3b8b6cbb570_0_657"/>
          <p:cNvSpPr/>
          <p:nvPr/>
        </p:nvSpPr>
        <p:spPr>
          <a:xfrm>
            <a:off x="13757682" y="5082780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g3b8b6cbb570_0_657"/>
          <p:cNvSpPr/>
          <p:nvPr/>
        </p:nvSpPr>
        <p:spPr>
          <a:xfrm>
            <a:off x="13903280" y="5302993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b8b6cbb570_0_657"/>
          <p:cNvSpPr/>
          <p:nvPr/>
        </p:nvSpPr>
        <p:spPr>
          <a:xfrm>
            <a:off x="13903280" y="5302993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b8b6cbb570_0_657"/>
          <p:cNvSpPr/>
          <p:nvPr/>
        </p:nvSpPr>
        <p:spPr>
          <a:xfrm>
            <a:off x="14733169" y="5082780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Almanya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b8b6cbb570_0_657"/>
          <p:cNvSpPr/>
          <p:nvPr/>
        </p:nvSpPr>
        <p:spPr>
          <a:xfrm>
            <a:off x="18265606" y="5132305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3b8b6cbb570_0_657"/>
          <p:cNvSpPr/>
          <p:nvPr/>
        </p:nvSpPr>
        <p:spPr>
          <a:xfrm>
            <a:off x="18460704" y="5302993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b8b6cbb570_0_657"/>
          <p:cNvSpPr/>
          <p:nvPr/>
        </p:nvSpPr>
        <p:spPr>
          <a:xfrm>
            <a:off x="18460704" y="5302993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UK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b8b6cbb570_0_657"/>
          <p:cNvSpPr/>
          <p:nvPr/>
        </p:nvSpPr>
        <p:spPr>
          <a:xfrm>
            <a:off x="19241093" y="5132305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İngiltere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b8b6cbb570_0_657"/>
          <p:cNvSpPr/>
          <p:nvPr/>
        </p:nvSpPr>
        <p:spPr>
          <a:xfrm>
            <a:off x="13757682" y="6350748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b8b6cbb570_0_657"/>
          <p:cNvSpPr/>
          <p:nvPr/>
        </p:nvSpPr>
        <p:spPr>
          <a:xfrm>
            <a:off x="13903280" y="6570961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3b8b6cbb570_0_657"/>
          <p:cNvSpPr/>
          <p:nvPr/>
        </p:nvSpPr>
        <p:spPr>
          <a:xfrm>
            <a:off x="13903280" y="6570961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b8b6cbb570_0_657"/>
          <p:cNvSpPr/>
          <p:nvPr/>
        </p:nvSpPr>
        <p:spPr>
          <a:xfrm>
            <a:off x="14733169" y="6350748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İtalya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b8b6cbb570_0_657"/>
          <p:cNvSpPr/>
          <p:nvPr/>
        </p:nvSpPr>
        <p:spPr>
          <a:xfrm>
            <a:off x="18265606" y="6400273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b8b6cbb570_0_657"/>
          <p:cNvSpPr/>
          <p:nvPr/>
        </p:nvSpPr>
        <p:spPr>
          <a:xfrm>
            <a:off x="18460704" y="6570961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b8b6cbb570_0_657"/>
          <p:cNvSpPr/>
          <p:nvPr/>
        </p:nvSpPr>
        <p:spPr>
          <a:xfrm>
            <a:off x="18460704" y="6570961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b8b6cbb570_0_657"/>
          <p:cNvSpPr/>
          <p:nvPr/>
        </p:nvSpPr>
        <p:spPr>
          <a:xfrm>
            <a:off x="19241093" y="6400273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Fransa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3b8b6cbb570_0_657"/>
          <p:cNvSpPr/>
          <p:nvPr/>
        </p:nvSpPr>
        <p:spPr>
          <a:xfrm>
            <a:off x="13757682" y="7618716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b8b6cbb570_0_657"/>
          <p:cNvSpPr/>
          <p:nvPr/>
        </p:nvSpPr>
        <p:spPr>
          <a:xfrm>
            <a:off x="13903280" y="7838929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b8b6cbb570_0_657"/>
          <p:cNvSpPr/>
          <p:nvPr/>
        </p:nvSpPr>
        <p:spPr>
          <a:xfrm>
            <a:off x="13903280" y="7838929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b8b6cbb570_0_657"/>
          <p:cNvSpPr/>
          <p:nvPr/>
        </p:nvSpPr>
        <p:spPr>
          <a:xfrm>
            <a:off x="14733169" y="7618716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Hindistan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g3b8b6cbb570_0_657"/>
          <p:cNvSpPr/>
          <p:nvPr/>
        </p:nvSpPr>
        <p:spPr>
          <a:xfrm>
            <a:off x="18265606" y="7668241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b8b6cbb570_0_657"/>
          <p:cNvSpPr/>
          <p:nvPr/>
        </p:nvSpPr>
        <p:spPr>
          <a:xfrm>
            <a:off x="18460704" y="7838929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b8b6cbb570_0_657"/>
          <p:cNvSpPr/>
          <p:nvPr/>
        </p:nvSpPr>
        <p:spPr>
          <a:xfrm>
            <a:off x="18460704" y="7838929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b8b6cbb570_0_657"/>
          <p:cNvSpPr/>
          <p:nvPr/>
        </p:nvSpPr>
        <p:spPr>
          <a:xfrm>
            <a:off x="19241093" y="7668241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Rusya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b8b6cbb570_0_657"/>
          <p:cNvSpPr/>
          <p:nvPr/>
        </p:nvSpPr>
        <p:spPr>
          <a:xfrm>
            <a:off x="13757682" y="8886684"/>
            <a:ext cx="4145700" cy="975300"/>
          </a:xfrm>
          <a:prstGeom prst="rect">
            <a:avLst/>
          </a:prstGeom>
          <a:solidFill>
            <a:srgbClr val="2A2A40"/>
          </a:solidFill>
          <a:ln cap="flat" cmpd="sng" w="9525">
            <a:solidFill>
              <a:srgbClr val="3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b8b6cbb570_0_657"/>
          <p:cNvSpPr/>
          <p:nvPr/>
        </p:nvSpPr>
        <p:spPr>
          <a:xfrm>
            <a:off x="13903280" y="9106897"/>
            <a:ext cx="634200" cy="6339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b8b6cbb570_0_657"/>
          <p:cNvSpPr/>
          <p:nvPr/>
        </p:nvSpPr>
        <p:spPr>
          <a:xfrm>
            <a:off x="13903280" y="9106897"/>
            <a:ext cx="634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b8b6cbb570_0_657"/>
          <p:cNvSpPr/>
          <p:nvPr/>
        </p:nvSpPr>
        <p:spPr>
          <a:xfrm>
            <a:off x="14733169" y="8886684"/>
            <a:ext cx="29265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900"/>
              <a:buFont typeface="Calibri"/>
              <a:buNone/>
            </a:pPr>
            <a:r>
              <a:rPr b="0" i="0" lang="en-US" sz="2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b8b6cbb570_0_657"/>
          <p:cNvSpPr/>
          <p:nvPr/>
        </p:nvSpPr>
        <p:spPr>
          <a:xfrm>
            <a:off x="13757675" y="10203428"/>
            <a:ext cx="87795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Outfit"/>
              <a:buChar char="➔"/>
            </a:pPr>
            <a:r>
              <a:rPr b="0" i="0" lang="en-US" sz="2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Her ülke geçişi için TR merge sürecinde oluşturulan</a:t>
            </a:r>
            <a:r>
              <a:rPr b="0" i="0" lang="en-US" sz="2700" u="none" cap="none" strike="noStrike">
                <a:solidFill>
                  <a:srgbClr val="88888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i="0" lang="en-US" sz="27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SEO kural setleri ve dokümantasyon</a:t>
            </a:r>
            <a:r>
              <a:rPr b="0" i="0" lang="en-US" sz="2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temel alınacaktır.</a:t>
            </a:r>
            <a:br>
              <a:rPr b="0" i="0" lang="en-US" sz="2700" u="none" cap="none" strike="noStrike">
                <a:solidFill>
                  <a:srgbClr val="888888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2700" u="none" cap="none" strike="noStrike">
              <a:solidFill>
                <a:srgbClr val="888888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utfit"/>
              <a:buChar char="➔"/>
            </a:pPr>
            <a:r>
              <a:rPr b="0" i="0" lang="en-US" sz="2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Yönlendirme ve yeni içerik yazımı gibi sürece özgü stratejiler tekrarlı olarak her ülke için yapılacaktır.</a:t>
            </a:r>
            <a:endParaRPr b="0" i="0" sz="2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A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20" name="Google Shape;920;g3c7653ab589_0_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0150" y="1724375"/>
            <a:ext cx="4520649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1" name="Google Shape;921;g3c7653ab589_0_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976" y="12465625"/>
            <a:ext cx="965321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2" name="Google Shape;922;g3c7653ab589_0_1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606" y="12604172"/>
            <a:ext cx="702048" cy="7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3c7653ab589_0_167"/>
          <p:cNvSpPr/>
          <p:nvPr/>
        </p:nvSpPr>
        <p:spPr>
          <a:xfrm>
            <a:off x="0" y="0"/>
            <a:ext cx="6554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c7653ab589_0_167"/>
          <p:cNvSpPr/>
          <p:nvPr/>
        </p:nvSpPr>
        <p:spPr>
          <a:xfrm>
            <a:off x="406450" y="1219200"/>
            <a:ext cx="16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332F"/>
              </a:buClr>
              <a:buSzPts val="7400"/>
              <a:buFont typeface="Bricolage Grotesque ExtraBold"/>
              <a:buNone/>
            </a:pPr>
            <a:r>
              <a:rPr b="1" i="0" lang="en-US" sz="5500" u="none" cap="none" strike="noStrike">
                <a:solidFill>
                  <a:srgbClr val="31313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2026 Planları - Öncelikli Projeler</a:t>
            </a:r>
            <a:endParaRPr b="1" i="0" sz="5500" u="none" cap="none" strike="noStrike">
              <a:solidFill>
                <a:srgbClr val="31313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25" name="Google Shape;925;g3c7653ab589_0_167"/>
          <p:cNvSpPr/>
          <p:nvPr/>
        </p:nvSpPr>
        <p:spPr>
          <a:xfrm>
            <a:off x="406449" y="406400"/>
            <a:ext cx="949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vitra.com.tr | Geçiş Harici Kritik SEO Projeleri</a:t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7B52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c7653ab589_0_167"/>
          <p:cNvSpPr/>
          <p:nvPr/>
        </p:nvSpPr>
        <p:spPr>
          <a:xfrm>
            <a:off x="1219296" y="2658320"/>
            <a:ext cx="21948600" cy="243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c7653ab589_0_167"/>
          <p:cNvSpPr/>
          <p:nvPr/>
        </p:nvSpPr>
        <p:spPr>
          <a:xfrm>
            <a:off x="1755814" y="2950928"/>
            <a:ext cx="926700" cy="9267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c7653ab589_0_167"/>
          <p:cNvSpPr/>
          <p:nvPr/>
        </p:nvSpPr>
        <p:spPr>
          <a:xfrm>
            <a:off x="1755814" y="2950928"/>
            <a:ext cx="9267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4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c7653ab589_0_167"/>
          <p:cNvSpPr/>
          <p:nvPr/>
        </p:nvSpPr>
        <p:spPr>
          <a:xfrm>
            <a:off x="3048334" y="2829008"/>
            <a:ext cx="14144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Site Hızı Optimizasyonu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30" name="Google Shape;930;g3c7653ab589_0_167"/>
          <p:cNvSpPr/>
          <p:nvPr/>
        </p:nvSpPr>
        <p:spPr>
          <a:xfrm>
            <a:off x="19021934" y="2902160"/>
            <a:ext cx="3658200" cy="63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3c7653ab589_0_167"/>
          <p:cNvSpPr/>
          <p:nvPr/>
        </p:nvSpPr>
        <p:spPr>
          <a:xfrm>
            <a:off x="19021934" y="2902160"/>
            <a:ext cx="3658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Devam Ediyor</a:t>
            </a:r>
            <a:endParaRPr b="0" i="0" sz="23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32" name="Google Shape;932;g3c7653ab589_0_167"/>
          <p:cNvSpPr/>
          <p:nvPr/>
        </p:nvSpPr>
        <p:spPr>
          <a:xfrm>
            <a:off x="3048334" y="3584912"/>
            <a:ext cx="19509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02C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Sayfa tipi bazlı Core Web Vitals analizi ve aksiyon planı</a:t>
            </a:r>
            <a:endParaRPr b="1" i="0" sz="2500" u="none" cap="none" strike="noStrike">
              <a:solidFill>
                <a:srgbClr val="E8602C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Görsel boyutlandırma ve format optimizasyonu (WebP/AVIF)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CLS, LCP ve FCP metriklerinin iyileştirilmesi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33" name="Google Shape;933;g3c7653ab589_0_167"/>
          <p:cNvSpPr/>
          <p:nvPr/>
        </p:nvSpPr>
        <p:spPr>
          <a:xfrm>
            <a:off x="1219296" y="5291792"/>
            <a:ext cx="21948600" cy="243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3c7653ab589_0_167"/>
          <p:cNvSpPr/>
          <p:nvPr/>
        </p:nvSpPr>
        <p:spPr>
          <a:xfrm>
            <a:off x="1755814" y="5584400"/>
            <a:ext cx="926700" cy="9267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3c7653ab589_0_167"/>
          <p:cNvSpPr/>
          <p:nvPr/>
        </p:nvSpPr>
        <p:spPr>
          <a:xfrm>
            <a:off x="1755814" y="5584400"/>
            <a:ext cx="9267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4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c7653ab589_0_167"/>
          <p:cNvSpPr/>
          <p:nvPr/>
        </p:nvSpPr>
        <p:spPr>
          <a:xfrm>
            <a:off x="3048334" y="5462480"/>
            <a:ext cx="14144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Cannibalization &amp; Internal Link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37" name="Google Shape;937;g3c7653ab589_0_167"/>
          <p:cNvSpPr/>
          <p:nvPr/>
        </p:nvSpPr>
        <p:spPr>
          <a:xfrm>
            <a:off x="19021934" y="5535632"/>
            <a:ext cx="3658200" cy="63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c7653ab589_0_167"/>
          <p:cNvSpPr/>
          <p:nvPr/>
        </p:nvSpPr>
        <p:spPr>
          <a:xfrm>
            <a:off x="19021934" y="5535632"/>
            <a:ext cx="3658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Devam Ediyor</a:t>
            </a:r>
            <a:endParaRPr b="0" i="0" sz="23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39" name="Google Shape;939;g3c7653ab589_0_167"/>
          <p:cNvSpPr/>
          <p:nvPr/>
        </p:nvSpPr>
        <p:spPr>
          <a:xfrm>
            <a:off x="3048334" y="6218384"/>
            <a:ext cx="19509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02C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Cannibalization tespiti yapılıyor, aksiyon planı çıkarılıyor.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8602C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Meta tag önerileri oluşturuluyor.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İç link ekleme ve yönlendirme önerileri veriliyor, içerikler buna göre güncelleniyor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40" name="Google Shape;940;g3c7653ab589_0_167"/>
          <p:cNvSpPr/>
          <p:nvPr/>
        </p:nvSpPr>
        <p:spPr>
          <a:xfrm>
            <a:off x="1219296" y="7925264"/>
            <a:ext cx="21948600" cy="243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c7653ab589_0_167"/>
          <p:cNvSpPr/>
          <p:nvPr/>
        </p:nvSpPr>
        <p:spPr>
          <a:xfrm>
            <a:off x="1755814" y="8217872"/>
            <a:ext cx="926700" cy="9267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c7653ab589_0_167"/>
          <p:cNvSpPr/>
          <p:nvPr/>
        </p:nvSpPr>
        <p:spPr>
          <a:xfrm>
            <a:off x="1755814" y="8217872"/>
            <a:ext cx="9267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4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c7653ab589_0_167"/>
          <p:cNvSpPr/>
          <p:nvPr/>
        </p:nvSpPr>
        <p:spPr>
          <a:xfrm>
            <a:off x="3048334" y="8095952"/>
            <a:ext cx="14144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Blog &amp; İçerik Üretimi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44" name="Google Shape;944;g3c7653ab589_0_167"/>
          <p:cNvSpPr/>
          <p:nvPr/>
        </p:nvSpPr>
        <p:spPr>
          <a:xfrm>
            <a:off x="19021934" y="8169104"/>
            <a:ext cx="3658200" cy="633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c7653ab589_0_167"/>
          <p:cNvSpPr/>
          <p:nvPr/>
        </p:nvSpPr>
        <p:spPr>
          <a:xfrm>
            <a:off x="19021934" y="8169104"/>
            <a:ext cx="3658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Hazırlık Aşaması</a:t>
            </a:r>
            <a:endParaRPr b="0" i="0" sz="23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46" name="Google Shape;946;g3c7653ab589_0_167"/>
          <p:cNvSpPr/>
          <p:nvPr/>
        </p:nvSpPr>
        <p:spPr>
          <a:xfrm>
            <a:off x="3048334" y="8851856"/>
            <a:ext cx="19509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02C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Blog başlıkları hazırlanıyor, içerik üretim sürecine geçilecek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AI ile blog içerik üretimini destekleyici brief hazırlanması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Informational keyword'ler için People Also Ask &amp; SERP incelemeleri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47" name="Google Shape;947;g3c7653ab589_0_167"/>
          <p:cNvSpPr/>
          <p:nvPr/>
        </p:nvSpPr>
        <p:spPr>
          <a:xfrm>
            <a:off x="1219296" y="10558736"/>
            <a:ext cx="21948600" cy="243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c7653ab589_0_167"/>
          <p:cNvSpPr/>
          <p:nvPr/>
        </p:nvSpPr>
        <p:spPr>
          <a:xfrm>
            <a:off x="1755814" y="10851344"/>
            <a:ext cx="926700" cy="926700"/>
          </a:xfrm>
          <a:prstGeom prst="ellipse">
            <a:avLst/>
          </a:prstGeom>
          <a:solidFill>
            <a:srgbClr val="E8602C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c7653ab589_0_167"/>
          <p:cNvSpPr/>
          <p:nvPr/>
        </p:nvSpPr>
        <p:spPr>
          <a:xfrm>
            <a:off x="1755814" y="10851344"/>
            <a:ext cx="9267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Trebuchet MS"/>
              <a:buNone/>
            </a:pPr>
            <a:r>
              <a:rPr b="1" i="0" lang="en-US" sz="4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4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c7653ab589_0_167"/>
          <p:cNvSpPr/>
          <p:nvPr/>
        </p:nvSpPr>
        <p:spPr>
          <a:xfrm>
            <a:off x="3048334" y="10729424"/>
            <a:ext cx="14144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1A1A2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Backlink Stratejisi &amp; Uygulama</a:t>
            </a:r>
            <a:endParaRPr b="0" i="0" sz="35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51" name="Google Shape;951;g3c7653ab589_0_167"/>
          <p:cNvSpPr/>
          <p:nvPr/>
        </p:nvSpPr>
        <p:spPr>
          <a:xfrm>
            <a:off x="19021934" y="10802576"/>
            <a:ext cx="3658200" cy="63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243825" lIns="243825" spcFirstLastPara="1" rIns="243825" wrap="square" tIns="243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c7653ab589_0_167"/>
          <p:cNvSpPr/>
          <p:nvPr/>
        </p:nvSpPr>
        <p:spPr>
          <a:xfrm>
            <a:off x="19021934" y="10802576"/>
            <a:ext cx="36582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Devam Ediyor</a:t>
            </a:r>
            <a:endParaRPr b="0" i="0" sz="2300" u="none" cap="none" strike="noStrike">
              <a:solidFill>
                <a:srgbClr val="00000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953" name="Google Shape;953;g3c7653ab589_0_167"/>
          <p:cNvSpPr/>
          <p:nvPr/>
        </p:nvSpPr>
        <p:spPr>
          <a:xfrm>
            <a:off x="3048334" y="11485328"/>
            <a:ext cx="19509600" cy="14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908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02C"/>
              </a:buClr>
              <a:buSzPts val="2500"/>
              <a:buFont typeface="Outfit"/>
              <a:buChar char="➔"/>
            </a:pPr>
            <a:r>
              <a:rPr b="1" i="0" lang="en-US" sz="2500" u="none" cap="none" strike="noStrike">
                <a:solidFill>
                  <a:srgbClr val="E8602C"/>
                </a:solidFill>
                <a:latin typeface="Outfit"/>
                <a:ea typeface="Outfit"/>
                <a:cs typeface="Outfit"/>
                <a:sym typeface="Outfit"/>
              </a:rPr>
              <a:t>Backlink araştırması ve strateji oluşturma çalışmaları devam ediyor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Q4’te yapıldığı gibi içerik üretimi ile otoriter sitelerde yazı yayınlanarak VitrA’ya link inşası yapılmaktadır.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908050" lvl="0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A"/>
              </a:buClr>
              <a:buSzPts val="2500"/>
              <a:buFont typeface="Outfit"/>
              <a:buChar char="➔"/>
            </a:pPr>
            <a:r>
              <a:rPr b="0" i="0" lang="en-US" sz="2500" u="none" cap="none" strike="noStrike">
                <a:solidFill>
                  <a:srgbClr val="4A4A5A"/>
                </a:solidFill>
                <a:latin typeface="Outfit"/>
                <a:ea typeface="Outfit"/>
                <a:cs typeface="Outfit"/>
                <a:sym typeface="Outfit"/>
              </a:rPr>
              <a:t>Ocak ve şubat için planlamalar sürüyor.</a:t>
            </a:r>
            <a:endParaRPr b="0" i="0" sz="25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59" name="Google Shape;95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9003" y="0"/>
            <a:ext cx="9958045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0" name="Google Shape;96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08462" y="0"/>
            <a:ext cx="727858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44"/>
          <p:cNvSpPr/>
          <p:nvPr/>
        </p:nvSpPr>
        <p:spPr>
          <a:xfrm>
            <a:off x="7862283" y="5676900"/>
            <a:ext cx="8675184" cy="30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62" name="Google Shape;96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3424" y="5676900"/>
            <a:ext cx="812902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44"/>
          <p:cNvSpPr/>
          <p:nvPr/>
        </p:nvSpPr>
        <p:spPr>
          <a:xfrm>
            <a:off x="7659057" y="6210300"/>
            <a:ext cx="9081635" cy="2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Bricolage Grotesque SemiBold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Teşekkürler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964" name="Google Shape;96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93424" y="8750300"/>
            <a:ext cx="812902" cy="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2025-01-28T13:27:20Z</dcterms:created>
  <dc:creator>PptxGenJS</dc:creator>
</cp:coreProperties>
</file>