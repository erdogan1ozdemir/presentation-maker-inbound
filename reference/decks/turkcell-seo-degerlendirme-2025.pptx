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13716000" cx="24387175"/>
  <p:notesSz cx="13716000" cy="24387175"/>
  <p:embeddedFontLst>
    <p:embeddedFont>
      <p:font typeface="Bricolage Grotesque SemiBold"/>
      <p:regular r:id="rId58"/>
      <p:bold r:id="rId59"/>
    </p:embeddedFont>
    <p:embeddedFont>
      <p:font typeface="Outfit"/>
      <p:regular r:id="rId60"/>
      <p:bold r:id="rId61"/>
    </p:embeddedFont>
    <p:embeddedFont>
      <p:font typeface="Bricolage Grotesque ExtraBold"/>
      <p:bold r:id="rId62"/>
    </p:embeddedFont>
    <p:embeddedFont>
      <p:font typeface="Bricolage Grotesque"/>
      <p:regular r:id="rId63"/>
      <p:bold r:id="rId64"/>
    </p:embeddedFont>
    <p:embeddedFont>
      <p:font typeface="Inter Medium"/>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9" roundtripDataSignature="AMtx7mgL3a3t7gmMHHh2pkDJ2Uw4iRMX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1C18E8-B15E-492C-9B3D-6656E5B88652}">
  <a:tblStyle styleId="{941C18E8-B15E-492C-9B3D-6656E5B8865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BricolageGrotesqueExtraBold-bold.fntdata"/><Relationship Id="rId61" Type="http://schemas.openxmlformats.org/officeDocument/2006/relationships/font" Target="fonts/Outfit-bold.fntdata"/><Relationship Id="rId20" Type="http://schemas.openxmlformats.org/officeDocument/2006/relationships/slide" Target="slides/slide15.xml"/><Relationship Id="rId64" Type="http://schemas.openxmlformats.org/officeDocument/2006/relationships/font" Target="fonts/BricolageGrotesque-bold.fntdata"/><Relationship Id="rId63" Type="http://schemas.openxmlformats.org/officeDocument/2006/relationships/font" Target="fonts/BricolageGrotesque-regular.fntdata"/><Relationship Id="rId22" Type="http://schemas.openxmlformats.org/officeDocument/2006/relationships/slide" Target="slides/slide17.xml"/><Relationship Id="rId66" Type="http://schemas.openxmlformats.org/officeDocument/2006/relationships/font" Target="fonts/InterMedium-bold.fntdata"/><Relationship Id="rId21" Type="http://schemas.openxmlformats.org/officeDocument/2006/relationships/slide" Target="slides/slide16.xml"/><Relationship Id="rId65" Type="http://schemas.openxmlformats.org/officeDocument/2006/relationships/font" Target="fonts/InterMedium-regular.fntdata"/><Relationship Id="rId24" Type="http://schemas.openxmlformats.org/officeDocument/2006/relationships/slide" Target="slides/slide19.xml"/><Relationship Id="rId68" Type="http://schemas.openxmlformats.org/officeDocument/2006/relationships/font" Target="fonts/InterMedium-boldItalic.fntdata"/><Relationship Id="rId23" Type="http://schemas.openxmlformats.org/officeDocument/2006/relationships/slide" Target="slides/slide18.xml"/><Relationship Id="rId67" Type="http://schemas.openxmlformats.org/officeDocument/2006/relationships/font" Target="fonts/InterMedium-italic.fntdata"/><Relationship Id="rId60" Type="http://schemas.openxmlformats.org/officeDocument/2006/relationships/font" Target="fonts/Outfit-regular.fntdata"/><Relationship Id="rId26" Type="http://schemas.openxmlformats.org/officeDocument/2006/relationships/slide" Target="slides/slide21.xml"/><Relationship Id="rId25" Type="http://schemas.openxmlformats.org/officeDocument/2006/relationships/slide" Target="slides/slide20.xml"/><Relationship Id="rId69"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BricolageGrotesqueSemiBold-bold.fntdata"/><Relationship Id="rId14" Type="http://schemas.openxmlformats.org/officeDocument/2006/relationships/slide" Target="slides/slide9.xml"/><Relationship Id="rId58" Type="http://schemas.openxmlformats.org/officeDocument/2006/relationships/font" Target="fonts/BricolageGrotesqueSemiBold-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2e3c0731b0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g2e3c0731b07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 name="Google Shape;40;g2e3c0731b07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c881079c58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g3c881079c58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 name="Google Shape;52;g3c881079c58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881079c58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g3c881079c58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 name="Google Shape;64;g3c881079c58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881079c58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c881079c58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g3c881079c58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881079c58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g3c881079c58_0_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3c881079c58_0_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881079c58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g3c881079c58_0_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3c881079c58_0_1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881079c58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c881079c58_0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g3c881079c58_0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881079c58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c881079c58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g3c881079c58_0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881079c58_0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c881079c58_0_1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g3c881079c58_0_1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881079c58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c881079c58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c881079c58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881079c58_0_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c881079c58_0_2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c881079c58_0_2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881079c58_0_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c881079c58_0_2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3c881079c58_0_2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881079c58_0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c881079c58_0_2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3c881079c58_0_2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33024ce86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c33024ce86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Telekom (Branded): -%5 ila -%12 daralma</a:t>
            </a:r>
            <a:br>
              <a:rPr b="1" lang="en-US" sz="1100">
                <a:latin typeface="Arial"/>
                <a:ea typeface="Arial"/>
                <a:cs typeface="Arial"/>
                <a:sym typeface="Arial"/>
              </a:rPr>
            </a:br>
            <a:endParaRPr b="1"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Telekom (Servis / Non-Brand): +%8 ila +%15 büyüme</a:t>
            </a:r>
            <a:br>
              <a:rPr b="1" lang="en-US" sz="1100">
                <a:latin typeface="Arial"/>
                <a:ea typeface="Arial"/>
                <a:cs typeface="Arial"/>
                <a:sym typeface="Arial"/>
              </a:rPr>
            </a:br>
            <a:endParaRPr b="1"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E-Ticaret (Generic Kategori): +%12 ila +%20 büyüme</a:t>
            </a:r>
            <a:br>
              <a:rPr b="1" lang="en-US" sz="1100">
                <a:latin typeface="Arial"/>
                <a:ea typeface="Arial"/>
                <a:cs typeface="Arial"/>
                <a:sym typeface="Arial"/>
              </a:rPr>
            </a:br>
            <a:endParaRPr b="1" sz="1100">
              <a:latin typeface="Arial"/>
              <a:ea typeface="Arial"/>
              <a:cs typeface="Arial"/>
              <a:sym typeface="Arial"/>
            </a:endParaRPr>
          </a:p>
          <a:p>
            <a:pPr indent="0" lvl="0" marL="0" rtl="0" algn="l">
              <a:spcBef>
                <a:spcPts val="0"/>
              </a:spcBef>
              <a:spcAft>
                <a:spcPts val="0"/>
              </a:spcAft>
              <a:buSzPts val="1100"/>
              <a:buNone/>
            </a:pPr>
            <a:r>
              <a:rPr b="1" lang="en-US" sz="1100">
                <a:latin typeface="Arial"/>
                <a:ea typeface="Arial"/>
                <a:cs typeface="Arial"/>
                <a:sym typeface="Arial"/>
              </a:rPr>
              <a:t>E-Ticaret (Transaction Intent): +%15+ büyüme</a:t>
            </a:r>
            <a:endParaRPr/>
          </a:p>
        </p:txBody>
      </p:sp>
      <p:sp>
        <p:nvSpPr>
          <p:cNvPr id="251" name="Google Shape;251;g3c33024ce86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33024ce86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c33024ce86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3c33024ce86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e3c0731b07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g2e3c0731b07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g2e3c0731b07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33024ce8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c33024ce8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3c33024ce8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49378d72a7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49378d72a7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49378d72a7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33024ce86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c33024ce86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g3c33024ce86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c33024ce86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c33024ce86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g3c33024ce86_0_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33024ce86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c33024ce86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g3c33024ce86_0_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c33024ce86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c33024ce86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3c33024ce86_0_1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33024ce86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3c33024ce86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c33024ce86_0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c33024ce86_0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3c33024ce86_0_1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g3c33024ce86_0_1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c33024ce86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c33024ce86_0_1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g3c33024ce86_0_1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c33024ce86_0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c33024ce86_0_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2" name="Google Shape;442;g3c33024ce86_0_2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e3c0731b07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g2e3c0731b07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g2e3c0731b07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c33024ce86_0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c33024ce86_0_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c33024ce86_0_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c33024ce86_0_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g3c33024ce86_0_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g3c33024ce86_0_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c33024ce86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c33024ce86_0_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g3c33024ce86_0_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c33024ce86_0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c33024ce86_0_2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c33024ce86_0_2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c881079c58_0_3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c881079c58_0_3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7" name="Google Shape;537;g3c881079c58_0_3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c33024ce86_0_2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c33024ce86_0_2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3" name="Google Shape;553;g3c33024ce86_0_2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c33024ce86_0_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g3c33024ce86_0_2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g3c33024ce86_0_2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c33024ce86_0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c33024ce86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g3c33024ce86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c33024ce86_0_3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c33024ce86_0_3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3" name="Google Shape;593;g3c33024ce86_0_3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c33024ce86_0_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g3c33024ce86_0_3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g3c33024ce86_0_3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3d7f9d02ad_1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g33d7f9d02ad_1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g33d7f9d02ad_1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c33024ce86_0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g3c33024ce86_0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g3c33024ce86_0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c33024ce86_0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3c33024ce86_0_3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c33024ce86_0_3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c33024ce86_0_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g3c33024ce86_0_3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c33024ce86_0_3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c33024ce86_0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c33024ce86_0_3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c33024ce86_0_3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c33024ce86_0_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g3c33024ce86_0_3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c33024ce86_0_3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c33024ce86_0_3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g3c33024ce86_0_3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0" name="Google Shape;710;g3c33024ce86_0_3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c33024ce86_0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g3c33024ce86_0_3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2" name="Google Shape;722;g3c33024ce86_0_3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c33024ce86_0_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c33024ce86_0_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g3c33024ce86_0_3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c33024ce86_0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c33024ce86_0_4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8" name="Google Shape;748;g3c33024ce86_0_4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c881079c58_0_3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c881079c58_0_3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g3c881079c58_0_3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hyperlink" Target="https://www.similarweb.com/top-websites/turkey/computers-electronics-and-technology/telecommunication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5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3.png"/><Relationship Id="rId10" Type="http://schemas.openxmlformats.org/officeDocument/2006/relationships/image" Target="../media/image69.png"/><Relationship Id="rId9" Type="http://schemas.openxmlformats.org/officeDocument/2006/relationships/hyperlink" Target="https://unsplash.com/photos/woman-using-macbook-pro-HL3EOgFiy0k?utm_source=unsplash&amp;utm_medium=referral&amp;utm_content=creditCopyText" TargetMode="External"/><Relationship Id="rId5" Type="http://schemas.openxmlformats.org/officeDocument/2006/relationships/image" Target="../media/image7.png"/><Relationship Id="rId6" Type="http://schemas.openxmlformats.org/officeDocument/2006/relationships/hyperlink" Target="https://unsplash.com/@sincerelymedia?utm_source=unsplash&amp;utm_medium=referral&amp;utm_content=creditCopyText" TargetMode="External"/><Relationship Id="rId7" Type="http://schemas.openxmlformats.org/officeDocument/2006/relationships/hyperlink" Target="https://unsplash.com/@sincerelymedia?utm_source=unsplash&amp;utm_medium=referral&amp;utm_content=creditCopyText" TargetMode="External"/><Relationship Id="rId8" Type="http://schemas.openxmlformats.org/officeDocument/2006/relationships/hyperlink" Target="https://unsplash.com/photos/woman-using-macbook-pro-HL3EOgFiy0k?utm_source=unsplash&amp;utm_medium=referral&amp;utm_content=creditCopyTex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13.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png"/><Relationship Id="rId10" Type="http://schemas.openxmlformats.org/officeDocument/2006/relationships/image" Target="../media/image68.jpg"/><Relationship Id="rId9" Type="http://schemas.openxmlformats.org/officeDocument/2006/relationships/hyperlink" Target="https://unsplash.com/photos/person-using-macbook-pro-npxXWgQ33ZQ?utm_source=unsplash&amp;utm_medium=referral&amp;utm_content=creditCopyText" TargetMode="External"/><Relationship Id="rId5" Type="http://schemas.openxmlformats.org/officeDocument/2006/relationships/image" Target="../media/image7.png"/><Relationship Id="rId6" Type="http://schemas.openxmlformats.org/officeDocument/2006/relationships/hyperlink" Target="https://unsplash.com/@glenncarstenspeters?utm_source=unsplash&amp;utm_medium=referral&amp;utm_content=creditCopyText" TargetMode="External"/><Relationship Id="rId7" Type="http://schemas.openxmlformats.org/officeDocument/2006/relationships/hyperlink" Target="https://unsplash.com/@glenncarstenspeters?utm_source=unsplash&amp;utm_medium=referral&amp;utm_content=creditCopyText" TargetMode="External"/><Relationship Id="rId8" Type="http://schemas.openxmlformats.org/officeDocument/2006/relationships/hyperlink" Target="https://unsplash.com/photos/person-using-macbook-pro-npxXWgQ33ZQ?utm_source=unsplash&amp;utm_medium=referral&amp;utm_content=creditCopyTex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26.png"/><Relationship Id="rId7" Type="http://schemas.openxmlformats.org/officeDocument/2006/relationships/image" Target="../media/image29.png"/><Relationship Id="rId8"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30.png"/><Relationship Id="rId7" Type="http://schemas.openxmlformats.org/officeDocument/2006/relationships/image" Target="../media/image41.png"/><Relationship Id="rId8"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3.png"/><Relationship Id="rId10" Type="http://schemas.openxmlformats.org/officeDocument/2006/relationships/image" Target="../media/image65.png"/><Relationship Id="rId9" Type="http://schemas.openxmlformats.org/officeDocument/2006/relationships/image" Target="../media/image33.png"/><Relationship Id="rId5" Type="http://schemas.openxmlformats.org/officeDocument/2006/relationships/image" Target="../media/image7.png"/><Relationship Id="rId6" Type="http://schemas.openxmlformats.org/officeDocument/2006/relationships/image" Target="../media/image66.png"/><Relationship Id="rId7" Type="http://schemas.openxmlformats.org/officeDocument/2006/relationships/image" Target="../media/image40.png"/><Relationship Id="rId8"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27.xml.rels><?xml version="1.0" encoding="UTF-8" standalone="yes"?><Relationships xmlns="http://schemas.openxmlformats.org/package/2006/relationships"><Relationship Id="rId11" Type="http://schemas.openxmlformats.org/officeDocument/2006/relationships/image" Target="../media/image61.png"/><Relationship Id="rId10" Type="http://schemas.openxmlformats.org/officeDocument/2006/relationships/image" Target="../media/image42.png"/><Relationship Id="rId13" Type="http://schemas.openxmlformats.org/officeDocument/2006/relationships/image" Target="../media/image39.png"/><Relationship Id="rId12"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38.png"/><Relationship Id="rId14" Type="http://schemas.openxmlformats.org/officeDocument/2006/relationships/image" Target="../media/image44.png"/><Relationship Id="rId5" Type="http://schemas.openxmlformats.org/officeDocument/2006/relationships/image" Target="../media/image7.png"/><Relationship Id="rId6" Type="http://schemas.openxmlformats.org/officeDocument/2006/relationships/image" Target="../media/image43.png"/><Relationship Id="rId7" Type="http://schemas.openxmlformats.org/officeDocument/2006/relationships/image" Target="../media/image32.png"/><Relationship Id="rId8" Type="http://schemas.openxmlformats.org/officeDocument/2006/relationships/image" Target="../media/image6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5.png"/><Relationship Id="rId7" Type="http://schemas.openxmlformats.org/officeDocument/2006/relationships/image" Target="../media/image48.png"/><Relationship Id="rId8"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6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png"/><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50.png"/><Relationship Id="rId7" Type="http://schemas.openxmlformats.org/officeDocument/2006/relationships/image" Target="../media/image54.png"/><Relationship Id="rId8"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2.png"/><Relationship Id="rId4" Type="http://schemas.openxmlformats.org/officeDocument/2006/relationships/image" Target="../media/image59.png"/><Relationship Id="rId5"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7B52"/>
        </a:solidFill>
      </p:bgPr>
    </p:bg>
    <p:spTree>
      <p:nvGrpSpPr>
        <p:cNvPr id="15" name="Shape 15"/>
        <p:cNvGrpSpPr/>
        <p:nvPr/>
      </p:nvGrpSpPr>
      <p:grpSpPr>
        <a:xfrm>
          <a:off x="0" y="0"/>
          <a:ext cx="0" cy="0"/>
          <a:chOff x="0" y="0"/>
          <a:chExt cx="0" cy="0"/>
        </a:xfrm>
      </p:grpSpPr>
      <p:sp>
        <p:nvSpPr>
          <p:cNvPr id="16" name="Google Shape;16;p1"/>
          <p:cNvSpPr/>
          <p:nvPr/>
        </p:nvSpPr>
        <p:spPr>
          <a:xfrm>
            <a:off x="4382048" y="5232400"/>
            <a:ext cx="15622953" cy="3251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402074" y="5232400"/>
            <a:ext cx="25191300" cy="2133600"/>
          </a:xfrm>
          <a:prstGeom prst="rect">
            <a:avLst/>
          </a:prstGeom>
          <a:noFill/>
          <a:ln>
            <a:noFill/>
          </a:ln>
        </p:spPr>
        <p:txBody>
          <a:bodyPr anchorCtr="0" anchor="t" bIns="0" lIns="0" spcFirstLastPara="1" rIns="0" wrap="square" tIns="0">
            <a:noAutofit/>
          </a:bodyPr>
          <a:lstStyle/>
          <a:p>
            <a:pPr indent="0" lvl="0" marL="0" marR="0" rtl="0" algn="ctr">
              <a:lnSpc>
                <a:spcPct val="106666"/>
              </a:lnSpc>
              <a:spcBef>
                <a:spcPts val="0"/>
              </a:spcBef>
              <a:spcAft>
                <a:spcPts val="0"/>
              </a:spcAft>
              <a:buClr>
                <a:srgbClr val="FEFEF7"/>
              </a:buClr>
              <a:buSzPts val="12000"/>
              <a:buFont typeface="Bricolage Grotesque SemiBold"/>
              <a:buNone/>
            </a:pPr>
            <a:r>
              <a:rPr lang="en-US" sz="9500">
                <a:solidFill>
                  <a:srgbClr val="FEFEF7"/>
                </a:solidFill>
                <a:latin typeface="Bricolage Grotesque SemiBold"/>
                <a:ea typeface="Bricolage Grotesque SemiBold"/>
                <a:cs typeface="Bricolage Grotesque SemiBold"/>
                <a:sym typeface="Bricolage Grotesque SemiBold"/>
              </a:rPr>
              <a:t>Turkcell Digital Channels</a:t>
            </a:r>
            <a:endParaRPr b="0" i="0" sz="9500" u="none" cap="none" strike="noStrike">
              <a:solidFill>
                <a:schemeClr val="dk1"/>
              </a:solidFill>
              <a:latin typeface="Calibri"/>
              <a:ea typeface="Calibri"/>
              <a:cs typeface="Calibri"/>
              <a:sym typeface="Calibri"/>
            </a:endParaRPr>
          </a:p>
        </p:txBody>
      </p:sp>
      <p:sp>
        <p:nvSpPr>
          <p:cNvPr id="18" name="Google Shape;18;p1"/>
          <p:cNvSpPr/>
          <p:nvPr/>
        </p:nvSpPr>
        <p:spPr>
          <a:xfrm>
            <a:off x="4199992" y="7366000"/>
            <a:ext cx="15987065" cy="1481667"/>
          </a:xfrm>
          <a:prstGeom prst="rect">
            <a:avLst/>
          </a:prstGeom>
          <a:noFill/>
          <a:ln>
            <a:noFill/>
          </a:ln>
        </p:spPr>
        <p:txBody>
          <a:bodyPr anchorCtr="0" anchor="t" bIns="0" lIns="0" spcFirstLastPara="1" rIns="0" wrap="square" tIns="0">
            <a:noAutofit/>
          </a:bodyPr>
          <a:lstStyle/>
          <a:p>
            <a:pPr indent="0" lvl="0" marL="0" marR="0" rtl="0" algn="ctr">
              <a:lnSpc>
                <a:spcPct val="102325"/>
              </a:lnSpc>
              <a:spcBef>
                <a:spcPts val="0"/>
              </a:spcBef>
              <a:spcAft>
                <a:spcPts val="0"/>
              </a:spcAft>
              <a:buClr>
                <a:srgbClr val="FEFEF7"/>
              </a:buClr>
              <a:buSzPts val="8600"/>
              <a:buFont typeface="Bricolage Grotesque SemiBold"/>
              <a:buNone/>
            </a:pPr>
            <a:r>
              <a:rPr lang="en-US" sz="6200">
                <a:solidFill>
                  <a:srgbClr val="FEFEF7"/>
                </a:solidFill>
                <a:latin typeface="Bricolage Grotesque SemiBold"/>
                <a:ea typeface="Bricolage Grotesque SemiBold"/>
                <a:cs typeface="Bricolage Grotesque SemiBold"/>
                <a:sym typeface="Bricolage Grotesque SemiBold"/>
              </a:rPr>
              <a:t>2025 SEO Değerlendirme Sunumu</a:t>
            </a:r>
            <a:endParaRPr b="0" i="0" sz="6200" u="none" cap="none" strike="noStrike">
              <a:solidFill>
                <a:schemeClr val="dk1"/>
              </a:solidFill>
              <a:latin typeface="Calibri"/>
              <a:ea typeface="Calibri"/>
              <a:cs typeface="Calibri"/>
              <a:sym typeface="Calibri"/>
            </a:endParaRPr>
          </a:p>
        </p:txBody>
      </p:sp>
      <p:sp>
        <p:nvSpPr>
          <p:cNvPr id="19" name="Google Shape;19;p1"/>
          <p:cNvSpPr/>
          <p:nvPr/>
        </p:nvSpPr>
        <p:spPr>
          <a:xfrm>
            <a:off x="10732841" y="12090400"/>
            <a:ext cx="2912897"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10732841" y="12090400"/>
            <a:ext cx="2912897" cy="609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21" name="Google Shape;21;p1"/>
          <p:cNvPicPr preferRelativeResize="0"/>
          <p:nvPr/>
        </p:nvPicPr>
        <p:blipFill rotWithShape="1">
          <a:blip r:embed="rId3">
            <a:alphaModFix/>
          </a:blip>
          <a:srcRect b="0" l="0" r="0" t="0"/>
          <a:stretch/>
        </p:blipFill>
        <p:spPr>
          <a:xfrm>
            <a:off x="10732841" y="12090400"/>
            <a:ext cx="2912896" cy="609600"/>
          </a:xfrm>
          <a:prstGeom prst="rect">
            <a:avLst/>
          </a:prstGeom>
          <a:noFill/>
          <a:ln>
            <a:noFill/>
          </a:ln>
        </p:spPr>
      </p:pic>
      <p:pic>
        <p:nvPicPr>
          <p:cNvPr descr=" " id="22" name="Google Shape;22;p1"/>
          <p:cNvPicPr preferRelativeResize="0"/>
          <p:nvPr/>
        </p:nvPicPr>
        <p:blipFill rotWithShape="1">
          <a:blip r:embed="rId4">
            <a:alphaModFix/>
          </a:blip>
          <a:srcRect b="0" l="0" r="0" t="0"/>
          <a:stretch/>
        </p:blipFill>
        <p:spPr>
          <a:xfrm>
            <a:off x="0" y="0"/>
            <a:ext cx="10351794" cy="13716000"/>
          </a:xfrm>
          <a:prstGeom prst="rect">
            <a:avLst/>
          </a:prstGeom>
          <a:noFill/>
          <a:ln>
            <a:noFill/>
          </a:ln>
        </p:spPr>
      </p:pic>
      <p:pic>
        <p:nvPicPr>
          <p:cNvPr descr=" " id="23" name="Google Shape;23;p1"/>
          <p:cNvPicPr preferRelativeResize="0"/>
          <p:nvPr/>
        </p:nvPicPr>
        <p:blipFill rotWithShape="1">
          <a:blip r:embed="rId5">
            <a:alphaModFix/>
          </a:blip>
          <a:srcRect b="0" l="0" r="0" t="0"/>
          <a:stretch/>
        </p:blipFill>
        <p:spPr>
          <a:xfrm>
            <a:off x="0" y="0"/>
            <a:ext cx="7672335" cy="1371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8" name="Shape 28"/>
        <p:cNvGrpSpPr/>
        <p:nvPr/>
      </p:nvGrpSpPr>
      <p:grpSpPr>
        <a:xfrm>
          <a:off x="0" y="0"/>
          <a:ext cx="0" cy="0"/>
          <a:chOff x="0" y="0"/>
          <a:chExt cx="0" cy="0"/>
        </a:xfrm>
      </p:grpSpPr>
      <p:sp>
        <p:nvSpPr>
          <p:cNvPr id="29" name="Google Shape;29;p2"/>
          <p:cNvSpPr/>
          <p:nvPr/>
        </p:nvSpPr>
        <p:spPr>
          <a:xfrm>
            <a:off x="13164925" y="1821300"/>
            <a:ext cx="9890700" cy="100734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chemeClr val="dk1"/>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01</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chemeClr val="dk1"/>
              </a:buClr>
              <a:buSzPts val="4000"/>
              <a:buFont typeface="Bricolage Grotesque"/>
              <a:buNone/>
            </a:pPr>
            <a:r>
              <a:rPr b="1" lang="en-US" sz="4000">
                <a:solidFill>
                  <a:srgbClr val="10332F"/>
                </a:solidFill>
                <a:latin typeface="Bricolage Grotesque"/>
                <a:ea typeface="Bricolage Grotesque"/>
                <a:cs typeface="Bricolage Grotesque"/>
                <a:sym typeface="Bricolage Grotesque"/>
              </a:rPr>
              <a:t>2026 Dijital Trendler</a:t>
            </a:r>
            <a:endParaRPr b="0" i="0" sz="4000" u="none" cap="none" strike="noStrike">
              <a:solidFill>
                <a:srgbClr val="10332F"/>
              </a:solidFill>
              <a:latin typeface="Bricolage Grotesque"/>
              <a:ea typeface="Bricolage Grotesque"/>
              <a:cs typeface="Bricolage Grotesque"/>
              <a:sym typeface="Bricolage Grotesque"/>
            </a:endParaRPr>
          </a:p>
          <a:p>
            <a:pPr indent="0" lvl="0" marL="0" marR="0" rtl="0" algn="l">
              <a:lnSpc>
                <a:spcPct val="95000"/>
              </a:lnSpc>
              <a:spcBef>
                <a:spcPts val="0"/>
              </a:spcBef>
              <a:spcAft>
                <a:spcPts val="0"/>
              </a:spcAft>
              <a:buClr>
                <a:srgbClr val="000000"/>
              </a:buClr>
              <a:buSzPts val="4000"/>
              <a:buFont typeface="Bricolage Grotesque"/>
              <a:buNone/>
            </a:pPr>
            <a:r>
              <a:t/>
            </a:r>
            <a:endParaRPr b="0" i="0" sz="4000" u="none" cap="none" strike="noStrike">
              <a:solidFill>
                <a:srgbClr val="10332F"/>
              </a:solidFill>
              <a:latin typeface="Bricolage Grotesque"/>
              <a:ea typeface="Bricolage Grotesque"/>
              <a:cs typeface="Bricolage Grotesque"/>
              <a:sym typeface="Bricolage Grotesque"/>
            </a:endParaRPr>
          </a:p>
          <a:p>
            <a:pPr indent="0" lvl="0" marL="0" marR="0" rtl="0" algn="l">
              <a:lnSpc>
                <a:spcPct val="95000"/>
              </a:lnSpc>
              <a:spcBef>
                <a:spcPts val="0"/>
              </a:spcBef>
              <a:spcAft>
                <a:spcPts val="0"/>
              </a:spcAft>
              <a:buClr>
                <a:srgbClr val="000000"/>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02</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rgbClr val="000000"/>
              </a:buClr>
              <a:buSzPts val="4000"/>
              <a:buFont typeface="Bricolage Grotesque"/>
              <a:buNone/>
            </a:pPr>
            <a:r>
              <a:rPr b="1" lang="en-US" sz="4000">
                <a:solidFill>
                  <a:srgbClr val="10332F"/>
                </a:solidFill>
                <a:latin typeface="Bricolage Grotesque"/>
                <a:ea typeface="Bricolage Grotesque"/>
                <a:cs typeface="Bricolage Grotesque"/>
                <a:sym typeface="Bricolage Grotesque"/>
              </a:rPr>
              <a:t>com.tr Genel Performans</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rgbClr val="000000"/>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 </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rgbClr val="000000"/>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03</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rgbClr val="000000"/>
              </a:buClr>
              <a:buSzPts val="4000"/>
              <a:buFont typeface="Bricolage Grotesque"/>
              <a:buNone/>
            </a:pPr>
            <a:r>
              <a:rPr b="1" lang="en-US" sz="4000">
                <a:solidFill>
                  <a:srgbClr val="10332F"/>
                </a:solidFill>
                <a:latin typeface="Bricolage Grotesque"/>
                <a:ea typeface="Bricolage Grotesque"/>
                <a:cs typeface="Bricolage Grotesque"/>
                <a:sym typeface="Bricolage Grotesque"/>
              </a:rPr>
              <a:t>Telco Genel Performans</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rgbClr val="000000"/>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 </a:t>
            </a:r>
            <a:endParaRPr b="0" i="0" sz="4000" u="none" cap="none" strike="noStrike">
              <a:solidFill>
                <a:srgbClr val="10332F"/>
              </a:solidFill>
              <a:latin typeface="Bricolage Grotesque"/>
              <a:ea typeface="Bricolage Grotesque"/>
              <a:cs typeface="Bricolage Grotesque"/>
              <a:sym typeface="Bricolage Grotesque"/>
            </a:endParaRPr>
          </a:p>
          <a:p>
            <a:pPr indent="0" lvl="0" marL="0" marR="0" rtl="0" algn="l">
              <a:lnSpc>
                <a:spcPct val="95000"/>
              </a:lnSpc>
              <a:spcBef>
                <a:spcPts val="0"/>
              </a:spcBef>
              <a:spcAft>
                <a:spcPts val="0"/>
              </a:spcAft>
              <a:buClr>
                <a:schemeClr val="dk1"/>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04</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chemeClr val="dk1"/>
              </a:buClr>
              <a:buSzPts val="4000"/>
              <a:buFont typeface="Bricolage Grotesque"/>
              <a:buNone/>
            </a:pPr>
            <a:r>
              <a:rPr b="1" lang="en-US" sz="4000">
                <a:solidFill>
                  <a:srgbClr val="10332F"/>
                </a:solidFill>
                <a:latin typeface="Bricolage Grotesque"/>
                <a:ea typeface="Bricolage Grotesque"/>
                <a:cs typeface="Bricolage Grotesque"/>
                <a:sym typeface="Bricolage Grotesque"/>
              </a:rPr>
              <a:t>Pasaj Genel Performans</a:t>
            </a:r>
            <a:endParaRPr b="1" i="0" sz="4000" u="none" cap="none" strike="noStrike">
              <a:solidFill>
                <a:srgbClr val="10332F"/>
              </a:solidFill>
              <a:latin typeface="Bricolage Grotesque"/>
              <a:ea typeface="Bricolage Grotesque"/>
              <a:cs typeface="Bricolage Grotesque"/>
              <a:sym typeface="Bricolage Grotesque"/>
            </a:endParaRPr>
          </a:p>
          <a:p>
            <a:pPr indent="0" lvl="0" marL="0" marR="0" rtl="0" algn="l">
              <a:lnSpc>
                <a:spcPct val="95000"/>
              </a:lnSpc>
              <a:spcBef>
                <a:spcPts val="0"/>
              </a:spcBef>
              <a:spcAft>
                <a:spcPts val="0"/>
              </a:spcAft>
              <a:buClr>
                <a:schemeClr val="dk1"/>
              </a:buClr>
              <a:buSzPts val="4000"/>
              <a:buFont typeface="Bricolage Grotesque"/>
              <a:buNone/>
            </a:pPr>
            <a:r>
              <a:t/>
            </a:r>
            <a:endParaRPr b="1" i="0" sz="4000" u="none" cap="none" strike="noStrike">
              <a:solidFill>
                <a:srgbClr val="10332F"/>
              </a:solidFill>
              <a:latin typeface="Bricolage Grotesque"/>
              <a:ea typeface="Bricolage Grotesque"/>
              <a:cs typeface="Bricolage Grotesque"/>
              <a:sym typeface="Bricolage Grotesque"/>
            </a:endParaRPr>
          </a:p>
          <a:p>
            <a:pPr indent="0" lvl="0" marL="0" marR="0" rtl="0" algn="l">
              <a:lnSpc>
                <a:spcPct val="95000"/>
              </a:lnSpc>
              <a:spcBef>
                <a:spcPts val="0"/>
              </a:spcBef>
              <a:spcAft>
                <a:spcPts val="0"/>
              </a:spcAft>
              <a:buClr>
                <a:srgbClr val="000000"/>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05</a:t>
            </a:r>
            <a:endParaRPr b="0" i="0" sz="4000" u="none" cap="none" strike="noStrike">
              <a:solidFill>
                <a:srgbClr val="10332F"/>
              </a:solidFill>
              <a:latin typeface="Calibri"/>
              <a:ea typeface="Calibri"/>
              <a:cs typeface="Calibri"/>
              <a:sym typeface="Calibri"/>
            </a:endParaRPr>
          </a:p>
          <a:p>
            <a:pPr indent="0" lvl="0" marL="0" rtl="0" algn="l">
              <a:lnSpc>
                <a:spcPct val="95000"/>
              </a:lnSpc>
              <a:spcBef>
                <a:spcPts val="0"/>
              </a:spcBef>
              <a:spcAft>
                <a:spcPts val="0"/>
              </a:spcAft>
              <a:buClr>
                <a:schemeClr val="dk1"/>
              </a:buClr>
              <a:buSzPts val="4000"/>
              <a:buFont typeface="Bricolage Grotesque"/>
              <a:buNone/>
            </a:pPr>
            <a:r>
              <a:rPr b="1" lang="en-US" sz="4000">
                <a:solidFill>
                  <a:srgbClr val="10332F"/>
                </a:solidFill>
                <a:latin typeface="Bricolage Grotesque"/>
                <a:ea typeface="Bricolage Grotesque"/>
                <a:cs typeface="Bricolage Grotesque"/>
                <a:sym typeface="Bricolage Grotesque"/>
              </a:rPr>
              <a:t>Superonline</a:t>
            </a:r>
            <a:r>
              <a:rPr b="1" lang="en-US" sz="4000">
                <a:solidFill>
                  <a:srgbClr val="10332F"/>
                </a:solidFill>
                <a:latin typeface="Bricolage Grotesque"/>
                <a:ea typeface="Bricolage Grotesque"/>
                <a:cs typeface="Bricolage Grotesque"/>
                <a:sym typeface="Bricolage Grotesque"/>
              </a:rPr>
              <a:t> Genel Performans</a:t>
            </a:r>
            <a:endParaRPr b="0" i="0" sz="4000" u="none" cap="none" strike="noStrike">
              <a:solidFill>
                <a:srgbClr val="10332F"/>
              </a:solidFill>
              <a:latin typeface="Calibri"/>
              <a:ea typeface="Calibri"/>
              <a:cs typeface="Calibri"/>
              <a:sym typeface="Calibri"/>
            </a:endParaRPr>
          </a:p>
          <a:p>
            <a:pPr indent="0" lvl="0" marL="0" marR="0" rtl="0" algn="l">
              <a:lnSpc>
                <a:spcPct val="95000"/>
              </a:lnSpc>
              <a:spcBef>
                <a:spcPts val="0"/>
              </a:spcBef>
              <a:spcAft>
                <a:spcPts val="0"/>
              </a:spcAft>
              <a:buClr>
                <a:srgbClr val="000000"/>
              </a:buClr>
              <a:buSzPts val="4000"/>
              <a:buFont typeface="Bricolage Grotesque"/>
              <a:buNone/>
            </a:pPr>
            <a:r>
              <a:rPr b="0" i="0" lang="en-US" sz="4000" u="none" cap="none" strike="noStrike">
                <a:solidFill>
                  <a:srgbClr val="10332F"/>
                </a:solidFill>
                <a:latin typeface="Bricolage Grotesque"/>
                <a:ea typeface="Bricolage Grotesque"/>
                <a:cs typeface="Bricolage Grotesque"/>
                <a:sym typeface="Bricolage Grotesque"/>
              </a:rPr>
              <a:t> </a:t>
            </a:r>
            <a:endParaRPr b="0" i="0" sz="4000" u="none" cap="none" strike="noStrike">
              <a:solidFill>
                <a:srgbClr val="10332F"/>
              </a:solidFill>
              <a:latin typeface="Calibri"/>
              <a:ea typeface="Calibri"/>
              <a:cs typeface="Calibri"/>
              <a:sym typeface="Calibri"/>
            </a:endParaRPr>
          </a:p>
        </p:txBody>
      </p:sp>
      <p:sp>
        <p:nvSpPr>
          <p:cNvPr id="30" name="Google Shape;30;p2"/>
          <p:cNvSpPr/>
          <p:nvPr/>
        </p:nvSpPr>
        <p:spPr>
          <a:xfrm>
            <a:off x="508063" y="381000"/>
            <a:ext cx="2282052" cy="38946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EFEF7"/>
              </a:buClr>
              <a:buSzPts val="2000"/>
              <a:buFont typeface="Inter Medium"/>
              <a:buNone/>
            </a:pPr>
            <a:r>
              <a:rPr b="0" i="0" lang="en-US" sz="2000" u="none" cap="none" strike="noStrike">
                <a:solidFill>
                  <a:srgbClr val="FEFEF7"/>
                </a:solidFill>
                <a:latin typeface="Inter Medium"/>
                <a:ea typeface="Inter Medium"/>
                <a:cs typeface="Inter Medium"/>
                <a:sym typeface="Inter Medium"/>
              </a:rPr>
              <a:t>SECTION TITLE</a:t>
            </a:r>
            <a:endParaRPr b="0" i="0" sz="2000" u="none" cap="none" strike="noStrike">
              <a:solidFill>
                <a:schemeClr val="dk1"/>
              </a:solidFill>
              <a:latin typeface="Calibri"/>
              <a:ea typeface="Calibri"/>
              <a:cs typeface="Calibri"/>
              <a:sym typeface="Calibri"/>
            </a:endParaRPr>
          </a:p>
        </p:txBody>
      </p:sp>
      <p:pic>
        <p:nvPicPr>
          <p:cNvPr descr=" " id="31" name="Google Shape;31;p2"/>
          <p:cNvPicPr preferRelativeResize="0"/>
          <p:nvPr/>
        </p:nvPicPr>
        <p:blipFill rotWithShape="1">
          <a:blip r:embed="rId3">
            <a:alphaModFix/>
          </a:blip>
          <a:srcRect b="0" l="0" r="0" t="0"/>
          <a:stretch/>
        </p:blipFill>
        <p:spPr>
          <a:xfrm>
            <a:off x="-152419" y="0"/>
            <a:ext cx="12193524" cy="13716000"/>
          </a:xfrm>
          <a:prstGeom prst="rect">
            <a:avLst/>
          </a:prstGeom>
          <a:noFill/>
          <a:ln>
            <a:noFill/>
          </a:ln>
        </p:spPr>
      </p:pic>
      <p:sp>
        <p:nvSpPr>
          <p:cNvPr id="32" name="Google Shape;32;p2"/>
          <p:cNvSpPr/>
          <p:nvPr/>
        </p:nvSpPr>
        <p:spPr>
          <a:xfrm>
            <a:off x="-63508" y="5969000"/>
            <a:ext cx="12307838" cy="1803400"/>
          </a:xfrm>
          <a:prstGeom prst="rect">
            <a:avLst/>
          </a:prstGeom>
          <a:noFill/>
          <a:ln>
            <a:noFill/>
          </a:ln>
        </p:spPr>
        <p:txBody>
          <a:bodyPr anchorCtr="0" anchor="t" bIns="0" lIns="0" spcFirstLastPara="1" rIns="0" wrap="square" tIns="0">
            <a:noAutofit/>
          </a:bodyPr>
          <a:lstStyle/>
          <a:p>
            <a:pPr indent="0" lvl="0" marL="0" marR="0" rtl="0" algn="ctr">
              <a:lnSpc>
                <a:spcPct val="114583"/>
              </a:lnSpc>
              <a:spcBef>
                <a:spcPts val="0"/>
              </a:spcBef>
              <a:spcAft>
                <a:spcPts val="0"/>
              </a:spcAft>
              <a:buClr>
                <a:srgbClr val="FEFEF7"/>
              </a:buClr>
              <a:buSzPts val="9600"/>
              <a:buFont typeface="Bricolage Grotesque"/>
              <a:buNone/>
            </a:pPr>
            <a:r>
              <a:rPr b="0" i="0" lang="en-US" sz="9600" u="none" cap="none" strike="noStrike">
                <a:solidFill>
                  <a:srgbClr val="FEFEF7"/>
                </a:solidFill>
                <a:latin typeface="Bricolage Grotesque"/>
                <a:ea typeface="Bricolage Grotesque"/>
                <a:cs typeface="Bricolage Grotesque"/>
                <a:sym typeface="Bricolage Grotesque"/>
              </a:rPr>
              <a:t>SUNUM AKIŞI</a:t>
            </a:r>
            <a:endParaRPr b="0" i="0" sz="9600" u="none" cap="none" strike="noStrike">
              <a:solidFill>
                <a:schemeClr val="dk1"/>
              </a:solidFill>
              <a:latin typeface="Calibri"/>
              <a:ea typeface="Calibri"/>
              <a:cs typeface="Calibri"/>
              <a:sym typeface="Calibri"/>
            </a:endParaRPr>
          </a:p>
        </p:txBody>
      </p:sp>
      <p:pic>
        <p:nvPicPr>
          <p:cNvPr descr=" " id="33" name="Google Shape;33;p2"/>
          <p:cNvPicPr preferRelativeResize="0"/>
          <p:nvPr/>
        </p:nvPicPr>
        <p:blipFill rotWithShape="1">
          <a:blip r:embed="rId4">
            <a:alphaModFix/>
          </a:blip>
          <a:srcRect b="0" l="0" r="0" t="0"/>
          <a:stretch/>
        </p:blipFill>
        <p:spPr>
          <a:xfrm>
            <a:off x="406451" y="11861800"/>
            <a:ext cx="1359070" cy="1346200"/>
          </a:xfrm>
          <a:prstGeom prst="rect">
            <a:avLst/>
          </a:prstGeom>
          <a:noFill/>
          <a:ln>
            <a:noFill/>
          </a:ln>
        </p:spPr>
      </p:pic>
      <p:pic>
        <p:nvPicPr>
          <p:cNvPr descr=" " id="34" name="Google Shape;34;p2"/>
          <p:cNvPicPr preferRelativeResize="0"/>
          <p:nvPr/>
        </p:nvPicPr>
        <p:blipFill rotWithShape="1">
          <a:blip r:embed="rId5">
            <a:alphaModFix/>
          </a:blip>
          <a:srcRect b="0" l="0" r="0" t="0"/>
          <a:stretch/>
        </p:blipFill>
        <p:spPr>
          <a:xfrm>
            <a:off x="591777" y="12045373"/>
            <a:ext cx="988414" cy="979054"/>
          </a:xfrm>
          <a:prstGeom prst="rect">
            <a:avLst/>
          </a:prstGeom>
          <a:noFill/>
          <a:ln>
            <a:noFill/>
          </a:ln>
        </p:spPr>
      </p:pic>
      <p:pic>
        <p:nvPicPr>
          <p:cNvPr descr=" " id="35" name="Google Shape;35;p2"/>
          <p:cNvPicPr preferRelativeResize="0"/>
          <p:nvPr/>
        </p:nvPicPr>
        <p:blipFill rotWithShape="1">
          <a:blip r:embed="rId6">
            <a:alphaModFix/>
          </a:blip>
          <a:srcRect b="0" l="0" r="0" t="0"/>
          <a:stretch/>
        </p:blipFill>
        <p:spPr>
          <a:xfrm>
            <a:off x="0" y="0"/>
            <a:ext cx="8865708" cy="13716000"/>
          </a:xfrm>
          <a:prstGeom prst="rect">
            <a:avLst/>
          </a:prstGeom>
          <a:noFill/>
          <a:ln>
            <a:noFill/>
          </a:ln>
        </p:spPr>
      </p:pic>
      <p:pic>
        <p:nvPicPr>
          <p:cNvPr descr=" " id="36" name="Google Shape;36;p2"/>
          <p:cNvPicPr preferRelativeResize="0"/>
          <p:nvPr/>
        </p:nvPicPr>
        <p:blipFill rotWithShape="1">
          <a:blip r:embed="rId7">
            <a:alphaModFix/>
          </a:blip>
          <a:srcRect b="0" l="0" r="0" t="0"/>
          <a:stretch/>
        </p:blipFill>
        <p:spPr>
          <a:xfrm>
            <a:off x="0" y="0"/>
            <a:ext cx="6186250" cy="13716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pic>
        <p:nvPicPr>
          <p:cNvPr descr=" " id="42" name="Google Shape;42;g2e3c0731b07_0_58"/>
          <p:cNvPicPr preferRelativeResize="0"/>
          <p:nvPr/>
        </p:nvPicPr>
        <p:blipFill rotWithShape="1">
          <a:blip r:embed="rId3">
            <a:alphaModFix/>
          </a:blip>
          <a:srcRect b="0" l="0" r="0" t="0"/>
          <a:stretch/>
        </p:blipFill>
        <p:spPr>
          <a:xfrm>
            <a:off x="0" y="0"/>
            <a:ext cx="24387048" cy="13716000"/>
          </a:xfrm>
          <a:prstGeom prst="rect">
            <a:avLst/>
          </a:prstGeom>
          <a:noFill/>
          <a:ln>
            <a:noFill/>
          </a:ln>
        </p:spPr>
      </p:pic>
      <p:sp>
        <p:nvSpPr>
          <p:cNvPr id="43" name="Google Shape;43;g2e3c0731b07_0_58"/>
          <p:cNvSpPr/>
          <p:nvPr/>
        </p:nvSpPr>
        <p:spPr>
          <a:xfrm>
            <a:off x="11787073" y="5537200"/>
            <a:ext cx="813000" cy="711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44" name="Google Shape;44;g2e3c0731b07_0_58"/>
          <p:cNvPicPr preferRelativeResize="0"/>
          <p:nvPr/>
        </p:nvPicPr>
        <p:blipFill rotWithShape="1">
          <a:blip r:embed="rId4">
            <a:alphaModFix/>
          </a:blip>
          <a:srcRect b="0" l="0" r="0" t="0"/>
          <a:stretch/>
        </p:blipFill>
        <p:spPr>
          <a:xfrm>
            <a:off x="11787073" y="5537200"/>
            <a:ext cx="812902" cy="203200"/>
          </a:xfrm>
          <a:prstGeom prst="rect">
            <a:avLst/>
          </a:prstGeom>
          <a:noFill/>
          <a:ln>
            <a:noFill/>
          </a:ln>
        </p:spPr>
      </p:pic>
      <p:sp>
        <p:nvSpPr>
          <p:cNvPr id="45" name="Google Shape;45;g2e3c0731b07_0_58"/>
          <p:cNvSpPr/>
          <p:nvPr/>
        </p:nvSpPr>
        <p:spPr>
          <a:xfrm>
            <a:off x="6264000" y="6248400"/>
            <a:ext cx="14496300" cy="1329300"/>
          </a:xfrm>
          <a:prstGeom prst="rect">
            <a:avLst/>
          </a:prstGeom>
          <a:noFill/>
          <a:ln>
            <a:noFill/>
          </a:ln>
        </p:spPr>
        <p:txBody>
          <a:bodyPr anchorCtr="0" anchor="t" bIns="0" lIns="0" spcFirstLastPara="1" rIns="0" wrap="square" tIns="0">
            <a:noAutofit/>
          </a:bodyPr>
          <a:lstStyle/>
          <a:p>
            <a:pPr indent="0" lvl="0" marL="0" marR="0" rtl="0" algn="ctr">
              <a:lnSpc>
                <a:spcPct val="108108"/>
              </a:lnSpc>
              <a:spcBef>
                <a:spcPts val="0"/>
              </a:spcBef>
              <a:spcAft>
                <a:spcPts val="0"/>
              </a:spcAft>
              <a:buClr>
                <a:srgbClr val="FEFEF7"/>
              </a:buClr>
              <a:buSzPts val="7400"/>
              <a:buFont typeface="Bricolage Grotesque ExtraBold"/>
              <a:buNone/>
            </a:pPr>
            <a:r>
              <a:rPr lang="en-US" sz="7400">
                <a:solidFill>
                  <a:srgbClr val="FEFEF7"/>
                </a:solidFill>
                <a:latin typeface="Bricolage Grotesque ExtraBold"/>
                <a:ea typeface="Bricolage Grotesque ExtraBold"/>
                <a:cs typeface="Bricolage Grotesque ExtraBold"/>
                <a:sym typeface="Bricolage Grotesque ExtraBold"/>
              </a:rPr>
              <a:t>2026 Dijital Trendler</a:t>
            </a:r>
            <a:endParaRPr sz="7400">
              <a:solidFill>
                <a:srgbClr val="FEFEF7"/>
              </a:solidFill>
              <a:latin typeface="Bricolage Grotesque ExtraBold"/>
              <a:ea typeface="Bricolage Grotesque ExtraBold"/>
              <a:cs typeface="Bricolage Grotesque ExtraBold"/>
              <a:sym typeface="Bricolage Grotesque ExtraBold"/>
            </a:endParaRPr>
          </a:p>
        </p:txBody>
      </p:sp>
      <p:sp>
        <p:nvSpPr>
          <p:cNvPr id="46" name="Google Shape;46;g2e3c0731b07_0_58"/>
          <p:cNvSpPr/>
          <p:nvPr/>
        </p:nvSpPr>
        <p:spPr>
          <a:xfrm>
            <a:off x="11787073" y="7264400"/>
            <a:ext cx="813000" cy="914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47" name="Google Shape;47;g2e3c0731b07_0_58"/>
          <p:cNvPicPr preferRelativeResize="0"/>
          <p:nvPr/>
        </p:nvPicPr>
        <p:blipFill rotWithShape="1">
          <a:blip r:embed="rId4">
            <a:alphaModFix/>
          </a:blip>
          <a:srcRect b="0" l="0" r="0" t="0"/>
          <a:stretch/>
        </p:blipFill>
        <p:spPr>
          <a:xfrm>
            <a:off x="11787073" y="7975600"/>
            <a:ext cx="812902" cy="203200"/>
          </a:xfrm>
          <a:prstGeom prst="rect">
            <a:avLst/>
          </a:prstGeom>
          <a:noFill/>
          <a:ln>
            <a:noFill/>
          </a:ln>
        </p:spPr>
      </p:pic>
      <p:sp>
        <p:nvSpPr>
          <p:cNvPr id="48" name="Google Shape;48;g2e3c0731b07_0_58"/>
          <p:cNvSpPr/>
          <p:nvPr/>
        </p:nvSpPr>
        <p:spPr>
          <a:xfrm>
            <a:off x="-2254125" y="4889850"/>
            <a:ext cx="10063800" cy="3936300"/>
          </a:xfrm>
          <a:prstGeom prst="rect">
            <a:avLst/>
          </a:prstGeom>
          <a:noFill/>
          <a:ln>
            <a:noFill/>
          </a:ln>
        </p:spPr>
        <p:txBody>
          <a:bodyPr anchorCtr="0" anchor="t" bIns="0" lIns="0" spcFirstLastPara="1" rIns="0" wrap="square" tIns="0">
            <a:noAutofit/>
          </a:bodyPr>
          <a:lstStyle/>
          <a:p>
            <a:pPr indent="0" lvl="0" marL="0" marR="0" rtl="0" algn="l">
              <a:lnSpc>
                <a:spcPct val="32000"/>
              </a:lnSpc>
              <a:spcBef>
                <a:spcPts val="0"/>
              </a:spcBef>
              <a:spcAft>
                <a:spcPts val="0"/>
              </a:spcAft>
              <a:buClr>
                <a:srgbClr val="FEFEF7"/>
              </a:buClr>
              <a:buSzPts val="40000"/>
              <a:buFont typeface="Bricolage Grotesque ExtraBold"/>
              <a:buNone/>
            </a:pPr>
            <a:r>
              <a:t/>
            </a:r>
            <a:endParaRPr b="0" i="0" sz="40000" u="none" cap="none" strike="noStrike">
              <a:solidFill>
                <a:srgbClr val="254E49"/>
              </a:solidFill>
              <a:latin typeface="Bricolage Grotesque ExtraBold"/>
              <a:ea typeface="Bricolage Grotesque ExtraBold"/>
              <a:cs typeface="Bricolage Grotesque ExtraBold"/>
              <a:sym typeface="Bricolage Grotesque ExtraBold"/>
            </a:endParaRPr>
          </a:p>
          <a:p>
            <a:pPr indent="0" lvl="0" marL="0" marR="0" rtl="0" algn="ctr">
              <a:lnSpc>
                <a:spcPct val="32000"/>
              </a:lnSpc>
              <a:spcBef>
                <a:spcPts val="0"/>
              </a:spcBef>
              <a:spcAft>
                <a:spcPts val="0"/>
              </a:spcAft>
              <a:buClr>
                <a:srgbClr val="FEFEF7"/>
              </a:buClr>
              <a:buSzPts val="40000"/>
              <a:buFont typeface="Bricolage Grotesque ExtraBold"/>
              <a:buNone/>
            </a:pPr>
            <a:r>
              <a:rPr b="0" i="0" lang="en-US" sz="40000" u="none" cap="none" strike="noStrike">
                <a:solidFill>
                  <a:srgbClr val="254E49"/>
                </a:solidFill>
                <a:latin typeface="Bricolage Grotesque ExtraBold"/>
                <a:ea typeface="Bricolage Grotesque ExtraBold"/>
                <a:cs typeface="Bricolage Grotesque ExtraBold"/>
                <a:sym typeface="Bricolage Grotesque ExtraBold"/>
              </a:rPr>
              <a:t>0</a:t>
            </a:r>
            <a:r>
              <a:rPr lang="en-US" sz="40000">
                <a:solidFill>
                  <a:srgbClr val="254E49"/>
                </a:solidFill>
                <a:latin typeface="Bricolage Grotesque ExtraBold"/>
                <a:ea typeface="Bricolage Grotesque ExtraBold"/>
                <a:cs typeface="Bricolage Grotesque ExtraBold"/>
                <a:sym typeface="Bricolage Grotesque ExtraBold"/>
              </a:rPr>
              <a:t>1</a:t>
            </a:r>
            <a:endParaRPr b="0" i="0" sz="40000" u="none" cap="none" strike="noStrike">
              <a:solidFill>
                <a:srgbClr val="254E4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3" name="Shape 53"/>
        <p:cNvGrpSpPr/>
        <p:nvPr/>
      </p:nvGrpSpPr>
      <p:grpSpPr>
        <a:xfrm>
          <a:off x="0" y="0"/>
          <a:ext cx="0" cy="0"/>
          <a:chOff x="0" y="0"/>
          <a:chExt cx="0" cy="0"/>
        </a:xfrm>
      </p:grpSpPr>
      <p:pic>
        <p:nvPicPr>
          <p:cNvPr descr=" " id="54" name="Google Shape;54;g3c881079c58_0_10"/>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5" name="Google Shape;55;g3c881079c58_0_10"/>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6" name="Google Shape;56;g3c881079c58_0_10"/>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7" name="Google Shape;57;g3c881079c58_0_10"/>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c881079c58_0_10"/>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59" name="Google Shape;59;g3c881079c58_0_10"/>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2025 SEO İstatistikleri</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60" name="Google Shape;60;g3c881079c58_0_10"/>
          <p:cNvSpPr txBox="1"/>
          <p:nvPr/>
        </p:nvSpPr>
        <p:spPr>
          <a:xfrm>
            <a:off x="1020675" y="3142875"/>
            <a:ext cx="22162800" cy="58491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50000"/>
              </a:lnSpc>
              <a:spcBef>
                <a:spcPts val="120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Türkiye’de arama pazarının %54’ü Google, %43’ü Yandex’e aittir.</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Web trafiğinin %53’ten fazlası organik aramadan gelmektedir.</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Google aramalarının %58–60’ı sıfır tıklama ile sonuçlanmaktadır.</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Kullanıcıların %60’ı araştırmasını siteye tıklamadan tamamlamaktadır.</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AI Overview çıktığında 1. sıranın CTR’ı %34 düşmektedir.</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Uzun ve soru odaklı aramalar, AI özetlerini tetikleme açısından çok daha olasıdır:</a:t>
            </a:r>
            <a:endParaRPr sz="2300">
              <a:solidFill>
                <a:srgbClr val="10332F"/>
              </a:solidFill>
              <a:latin typeface="Bricolage Grotesque"/>
              <a:ea typeface="Bricolage Grotesque"/>
              <a:cs typeface="Bricolage Grotesque"/>
              <a:sym typeface="Bricolage Grotesque"/>
            </a:endParaRPr>
          </a:p>
          <a:p>
            <a:pPr indent="-374650" lvl="0" marL="914400" marR="0" rtl="0" algn="l">
              <a:lnSpc>
                <a:spcPct val="150000"/>
              </a:lnSpc>
              <a:spcBef>
                <a:spcPts val="0"/>
              </a:spcBef>
              <a:spcAft>
                <a:spcPts val="0"/>
              </a:spcAft>
              <a:buClr>
                <a:srgbClr val="10332F"/>
              </a:buClr>
              <a:buSzPts val="2300"/>
              <a:buFont typeface="Bricolage Grotesque"/>
              <a:buChar char="●"/>
            </a:pPr>
            <a:r>
              <a:rPr lang="en-US" sz="2300">
                <a:solidFill>
                  <a:srgbClr val="10332F"/>
                </a:solidFill>
                <a:latin typeface="Bricolage Grotesque"/>
                <a:ea typeface="Bricolage Grotesque"/>
                <a:cs typeface="Bricolage Grotesque"/>
                <a:sym typeface="Bricolage Grotesque"/>
              </a:rPr>
              <a:t>Soru kelimesiyle başlayan sorgular: %60</a:t>
            </a:r>
            <a:endParaRPr sz="2300">
              <a:solidFill>
                <a:srgbClr val="10332F"/>
              </a:solidFill>
              <a:latin typeface="Bricolage Grotesque"/>
              <a:ea typeface="Bricolage Grotesque"/>
              <a:cs typeface="Bricolage Grotesque"/>
              <a:sym typeface="Bricolage Grotesque"/>
            </a:endParaRPr>
          </a:p>
          <a:p>
            <a:pPr indent="-374650" lvl="0" marL="914400" marR="0" rtl="0" algn="l">
              <a:lnSpc>
                <a:spcPct val="150000"/>
              </a:lnSpc>
              <a:spcBef>
                <a:spcPts val="0"/>
              </a:spcBef>
              <a:spcAft>
                <a:spcPts val="0"/>
              </a:spcAft>
              <a:buClr>
                <a:srgbClr val="10332F"/>
              </a:buClr>
              <a:buSzPts val="2300"/>
              <a:buFont typeface="Bricolage Grotesque"/>
              <a:buChar char="●"/>
            </a:pPr>
            <a:r>
              <a:rPr lang="en-US" sz="2300">
                <a:solidFill>
                  <a:srgbClr val="10332F"/>
                </a:solidFill>
                <a:latin typeface="Bricolage Grotesque"/>
                <a:ea typeface="Bricolage Grotesque"/>
                <a:cs typeface="Bricolage Grotesque"/>
                <a:sym typeface="Bricolage Grotesque"/>
              </a:rPr>
              <a:t>10+ kelimeli aramalar: %53</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Tüketicilerin %72’si marka sitesine gitmeden önce AI ile karşılaştırma yapmaktadır.</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Kullanıcıların %68’i tıklamadan önce kısa video izlemektedir.</a:t>
            </a:r>
            <a:endParaRPr sz="2300">
              <a:solidFill>
                <a:srgbClr val="10332F"/>
              </a:solidFill>
              <a:latin typeface="Bricolage Grotesque"/>
              <a:ea typeface="Bricolage Grotesque"/>
              <a:cs typeface="Bricolage Grotesque"/>
              <a:sym typeface="Bricolage Grotesque"/>
            </a:endParaRPr>
          </a:p>
          <a:p>
            <a:pPr indent="-374650" lvl="0" marL="457200" marR="0" rtl="0" algn="l">
              <a:lnSpc>
                <a:spcPct val="150000"/>
              </a:lnSpc>
              <a:spcBef>
                <a:spcPts val="0"/>
              </a:spcBef>
              <a:spcAft>
                <a:spcPts val="0"/>
              </a:spcAft>
              <a:buClr>
                <a:srgbClr val="10332F"/>
              </a:buClr>
              <a:buSzPts val="2300"/>
              <a:buFont typeface="Bricolage Grotesque"/>
              <a:buAutoNum type="arabicPeriod"/>
            </a:pPr>
            <a:r>
              <a:rPr lang="en-US" sz="2300">
                <a:solidFill>
                  <a:srgbClr val="10332F"/>
                </a:solidFill>
                <a:latin typeface="Bricolage Grotesque"/>
                <a:ea typeface="Bricolage Grotesque"/>
                <a:cs typeface="Bricolage Grotesque"/>
                <a:sym typeface="Bricolage Grotesque"/>
              </a:rPr>
              <a:t>2025’te yeni içeriklerin %70’ten fazlası AI desteğiyle üretilmektedir.</a:t>
            </a:r>
            <a:endParaRPr sz="2300">
              <a:solidFill>
                <a:srgbClr val="10332F"/>
              </a:solidFill>
              <a:latin typeface="Bricolage Grotesque"/>
              <a:ea typeface="Bricolage Grotesque"/>
              <a:cs typeface="Bricolage Grotesque"/>
              <a:sym typeface="Bricolage Grotesq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65" name="Shape 65"/>
        <p:cNvGrpSpPr/>
        <p:nvPr/>
      </p:nvGrpSpPr>
      <p:grpSpPr>
        <a:xfrm>
          <a:off x="0" y="0"/>
          <a:ext cx="0" cy="0"/>
          <a:chOff x="0" y="0"/>
          <a:chExt cx="0" cy="0"/>
        </a:xfrm>
      </p:grpSpPr>
      <p:pic>
        <p:nvPicPr>
          <p:cNvPr descr=" " id="66" name="Google Shape;66;g3c881079c58_0_70"/>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67" name="Google Shape;67;g3c881079c58_0_70"/>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68" name="Google Shape;68;g3c881079c58_0_70"/>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69" name="Google Shape;69;g3c881079c58_0_70"/>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c881079c58_0_70"/>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71" name="Google Shape;71;g3c881079c58_0_70"/>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Telekom Sektöründe En Çok Ziyaret Edilen Web Siteleri, Aralık’25</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72" name="Google Shape;72;g3c881079c58_0_70"/>
          <p:cNvSpPr txBox="1"/>
          <p:nvPr/>
        </p:nvSpPr>
        <p:spPr>
          <a:xfrm>
            <a:off x="12188150" y="3899300"/>
            <a:ext cx="11722800" cy="410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300">
                <a:solidFill>
                  <a:srgbClr val="000000"/>
                </a:solidFill>
                <a:latin typeface="Bricolage Grotesque"/>
                <a:ea typeface="Bricolage Grotesque"/>
                <a:cs typeface="Bricolage Grotesque"/>
                <a:sym typeface="Bricolage Grotesque"/>
              </a:rPr>
              <a:t>Aralık 2025 verilerine göre Türkiye telekom kategorisinde dijital trafik büyük ölçüde ana operatörler tarafından domine edilmektedir. Türk Telekom, Vodafone ve Turkcell toplam trafiğin önemli kısmını oluştururken, servis platformları (TV+, Superonline vb.) ve alternatif ISP’ler ikincil trafik kümelerini oluşturmaktadır.</a:t>
            </a:r>
            <a:endParaRPr sz="2300">
              <a:solidFill>
                <a:srgbClr val="000000"/>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300">
                <a:solidFill>
                  <a:srgbClr val="000000"/>
                </a:solidFill>
                <a:latin typeface="Bricolage Grotesque"/>
                <a:ea typeface="Bricolage Grotesque"/>
                <a:cs typeface="Bricolage Grotesque"/>
                <a:sym typeface="Bricolage Grotesque"/>
              </a:rPr>
              <a:t>Operatör sitelerindeki yüksek ziyaret hacmi yalnızca yeni müşteri kazanımından değil; fatura ödeme, paket değişikliği, cihaz inceleme ve self-servis işlemlerinden kaynaklanmaktadır.</a:t>
            </a:r>
            <a:endParaRPr sz="2300">
              <a:solidFill>
                <a:srgbClr val="000000"/>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solidFill>
                  <a:srgbClr val="000000"/>
                </a:solidFill>
                <a:latin typeface="Bricolage Grotesque"/>
                <a:ea typeface="Bricolage Grotesque"/>
                <a:cs typeface="Bricolage Grotesque"/>
                <a:sym typeface="Bricolage Grotesque"/>
              </a:rPr>
              <a:t>Kategori genelinde trafik yoğunluğu yüksek olsa da, kullanıcı yolculuğu çok aşamalı ilerlemekte ve karşılaştırma niyetli aramalar artış göstermektedir.</a:t>
            </a:r>
            <a:endParaRPr sz="2300">
              <a:solidFill>
                <a:srgbClr val="000000"/>
              </a:solidFill>
              <a:latin typeface="Bricolage Grotesque"/>
              <a:ea typeface="Bricolage Grotesque"/>
              <a:cs typeface="Bricolage Grotesque"/>
              <a:sym typeface="Bricolage Grotesque"/>
            </a:endParaRPr>
          </a:p>
        </p:txBody>
      </p:sp>
      <p:sp>
        <p:nvSpPr>
          <p:cNvPr id="73" name="Google Shape;73;g3c881079c58_0_70"/>
          <p:cNvSpPr txBox="1"/>
          <p:nvPr/>
        </p:nvSpPr>
        <p:spPr>
          <a:xfrm>
            <a:off x="10459375" y="8937775"/>
            <a:ext cx="882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700" u="sng">
                <a:solidFill>
                  <a:srgbClr val="0563C1"/>
                </a:solidFill>
                <a:latin typeface="Bricolage Grotesque"/>
                <a:ea typeface="Bricolage Grotesque"/>
                <a:cs typeface="Bricolage Grotesque"/>
                <a:sym typeface="Bricolage Grotesque"/>
                <a:hlinkClick r:id="rId6">
                  <a:extLst>
                    <a:ext uri="{A12FA001-AC4F-418D-AE19-62706E023703}">
                      <ahyp:hlinkClr val="tx"/>
                    </a:ext>
                  </a:extLst>
                </a:hlinkClick>
              </a:rPr>
              <a:t>source</a:t>
            </a:r>
            <a:endParaRPr/>
          </a:p>
        </p:txBody>
      </p:sp>
      <p:graphicFrame>
        <p:nvGraphicFramePr>
          <p:cNvPr id="74" name="Google Shape;74;g3c881079c58_0_70"/>
          <p:cNvGraphicFramePr/>
          <p:nvPr/>
        </p:nvGraphicFramePr>
        <p:xfrm>
          <a:off x="538075" y="3103425"/>
          <a:ext cx="3000000" cy="3000000"/>
        </p:xfrm>
        <a:graphic>
          <a:graphicData uri="http://schemas.openxmlformats.org/drawingml/2006/table">
            <a:tbl>
              <a:tblPr>
                <a:noFill/>
                <a:tableStyleId>{941C18E8-B15E-492C-9B3D-6656E5B88652}</a:tableStyleId>
              </a:tblPr>
              <a:tblGrid>
                <a:gridCol w="1073525"/>
                <a:gridCol w="2700825"/>
                <a:gridCol w="3470700"/>
                <a:gridCol w="3558250"/>
              </a:tblGrid>
              <a:tr h="200025">
                <a:tc>
                  <a:txBody>
                    <a:bodyPr/>
                    <a:lstStyle/>
                    <a:p>
                      <a:pPr indent="0" lvl="0" marL="0" rtl="0" algn="ctr">
                        <a:lnSpc>
                          <a:spcPct val="115000"/>
                        </a:lnSpc>
                        <a:spcBef>
                          <a:spcPts val="0"/>
                        </a:spcBef>
                        <a:spcAft>
                          <a:spcPts val="0"/>
                        </a:spcAft>
                        <a:buNone/>
                      </a:pPr>
                      <a:r>
                        <a:rPr b="1" lang="en-US" sz="2100">
                          <a:latin typeface="Bricolage Grotesque"/>
                          <a:ea typeface="Bricolage Grotesque"/>
                          <a:cs typeface="Bricolage Grotesque"/>
                          <a:sym typeface="Bricolage Grotesque"/>
                        </a:rPr>
                        <a:t>Rank</a:t>
                      </a:r>
                      <a:endParaRPr b="1"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100">
                          <a:latin typeface="Bricolage Grotesque"/>
                          <a:ea typeface="Bricolage Grotesque"/>
                          <a:cs typeface="Bricolage Grotesque"/>
                          <a:sym typeface="Bricolage Grotesque"/>
                        </a:rPr>
                        <a:t>Website</a:t>
                      </a:r>
                      <a:endParaRPr b="1"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100">
                          <a:latin typeface="Bricolage Grotesque"/>
                          <a:ea typeface="Bricolage Grotesque"/>
                          <a:cs typeface="Bricolage Grotesque"/>
                          <a:sym typeface="Bricolage Grotesque"/>
                        </a:rPr>
                        <a:t>Monthly Visits (Approx.)</a:t>
                      </a:r>
                      <a:endParaRPr b="1"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100">
                          <a:latin typeface="Bricolage Grotesque"/>
                          <a:ea typeface="Bricolage Grotesque"/>
                          <a:cs typeface="Bricolage Grotesque"/>
                          <a:sym typeface="Bricolage Grotesque"/>
                        </a:rPr>
                        <a:t>Category</a:t>
                      </a:r>
                      <a:endParaRPr b="1"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1</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turktelekom.com.tr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~34–36M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Mobile &amp; Fixed Operator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2</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vodafone.com.tr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~20–22M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Mobile Operator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3</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turkcell.com.tr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~18–20M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Mobile Operator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4</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tvplus.com.tr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~9–11M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Digital TV Platform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5</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turk.net</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~6–8M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Fiber / ISP</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6</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superonline.net</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~5–7M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Fiber ISP</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7</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turksatkablo.com.tr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~4–6M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Cable &amp; Broadband</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8</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netgsm.com.tr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~2–3M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Alternative Operator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9</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millenicom.com.tr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~1.5–2.5M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ISP</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10</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btk.gov.tr</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~1–2M</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100">
                          <a:latin typeface="Bricolage Grotesque"/>
                          <a:ea typeface="Bricolage Grotesque"/>
                          <a:cs typeface="Bricolage Grotesque"/>
                          <a:sym typeface="Bricolage Grotesque"/>
                        </a:rPr>
                        <a:t>Regulatory / IMEI</a:t>
                      </a:r>
                      <a:endParaRPr sz="2100">
                        <a:latin typeface="Bricolage Grotesque"/>
                        <a:ea typeface="Bricolage Grotesque"/>
                        <a:cs typeface="Bricolage Grotesque"/>
                        <a:sym typeface="Bricolage Grotesque"/>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79" name="Shape 79"/>
        <p:cNvGrpSpPr/>
        <p:nvPr/>
      </p:nvGrpSpPr>
      <p:grpSpPr>
        <a:xfrm>
          <a:off x="0" y="0"/>
          <a:ext cx="0" cy="0"/>
          <a:chOff x="0" y="0"/>
          <a:chExt cx="0" cy="0"/>
        </a:xfrm>
      </p:grpSpPr>
      <p:pic>
        <p:nvPicPr>
          <p:cNvPr descr=" " id="80" name="Google Shape;80;g3c881079c58_0_107"/>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81" name="Google Shape;81;g3c881079c58_0_107"/>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82" name="Google Shape;82;g3c881079c58_0_107"/>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83" name="Google Shape;83;g3c881079c58_0_107"/>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3c881079c58_0_107"/>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85" name="Google Shape;85;g3c881079c58_0_107"/>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2026’da SEO Neden Önemli?</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86" name="Google Shape;86;g3c881079c58_0_107"/>
          <p:cNvSpPr txBox="1"/>
          <p:nvPr/>
        </p:nvSpPr>
        <p:spPr>
          <a:xfrm>
            <a:off x="4304125" y="3500188"/>
            <a:ext cx="14777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Bricolage Grotesque"/>
                <a:ea typeface="Bricolage Grotesque"/>
                <a:cs typeface="Bricolage Grotesque"/>
                <a:sym typeface="Bricolage Grotesque"/>
              </a:rPr>
              <a:t>Tüketiciler artık sadece “arama” yapmıyor. </a:t>
            </a:r>
            <a:r>
              <a:rPr b="1" lang="en-US" sz="3200">
                <a:solidFill>
                  <a:schemeClr val="dk1"/>
                </a:solidFill>
                <a:latin typeface="Bricolage Grotesque"/>
                <a:ea typeface="Bricolage Grotesque"/>
                <a:cs typeface="Bricolage Grotesque"/>
                <a:sym typeface="Bricolage Grotesque"/>
              </a:rPr>
              <a:t>Anında yanıt</a:t>
            </a:r>
            <a:r>
              <a:rPr lang="en-US" sz="3200">
                <a:solidFill>
                  <a:schemeClr val="dk1"/>
                </a:solidFill>
                <a:latin typeface="Bricolage Grotesque"/>
                <a:ea typeface="Bricolage Grotesque"/>
                <a:cs typeface="Bricolage Grotesque"/>
                <a:sym typeface="Bricolage Grotesque"/>
              </a:rPr>
              <a:t> ve </a:t>
            </a:r>
            <a:r>
              <a:rPr b="1" lang="en-US" sz="3200">
                <a:solidFill>
                  <a:schemeClr val="dk1"/>
                </a:solidFill>
                <a:latin typeface="Bricolage Grotesque"/>
                <a:ea typeface="Bricolage Grotesque"/>
                <a:cs typeface="Bricolage Grotesque"/>
                <a:sym typeface="Bricolage Grotesque"/>
              </a:rPr>
              <a:t>ilham</a:t>
            </a:r>
            <a:r>
              <a:rPr lang="en-US" sz="3200">
                <a:solidFill>
                  <a:schemeClr val="dk1"/>
                </a:solidFill>
                <a:latin typeface="Bricolage Grotesque"/>
                <a:ea typeface="Bricolage Grotesque"/>
                <a:cs typeface="Bricolage Grotesque"/>
                <a:sym typeface="Bricolage Grotesque"/>
              </a:rPr>
              <a:t> bekliyorlar.</a:t>
            </a:r>
            <a:endParaRPr sz="3500">
              <a:latin typeface="Bricolage Grotesque"/>
              <a:ea typeface="Bricolage Grotesque"/>
              <a:cs typeface="Bricolage Grotesque"/>
              <a:sym typeface="Bricolage Grotesque"/>
            </a:endParaRPr>
          </a:p>
        </p:txBody>
      </p:sp>
      <p:cxnSp>
        <p:nvCxnSpPr>
          <p:cNvPr id="87" name="Google Shape;87;g3c881079c58_0_107"/>
          <p:cNvCxnSpPr/>
          <p:nvPr/>
        </p:nvCxnSpPr>
        <p:spPr>
          <a:xfrm>
            <a:off x="4304125" y="3311150"/>
            <a:ext cx="14539500" cy="0"/>
          </a:xfrm>
          <a:prstGeom prst="straightConnector1">
            <a:avLst/>
          </a:prstGeom>
          <a:noFill/>
          <a:ln cap="flat" cmpd="sng" w="9525">
            <a:solidFill>
              <a:schemeClr val="dk2"/>
            </a:solidFill>
            <a:prstDash val="solid"/>
            <a:round/>
            <a:headEnd len="med" w="med" type="none"/>
            <a:tailEnd len="med" w="med" type="none"/>
          </a:ln>
        </p:spPr>
      </p:cxnSp>
      <p:cxnSp>
        <p:nvCxnSpPr>
          <p:cNvPr id="88" name="Google Shape;88;g3c881079c58_0_107"/>
          <p:cNvCxnSpPr/>
          <p:nvPr/>
        </p:nvCxnSpPr>
        <p:spPr>
          <a:xfrm>
            <a:off x="4304125" y="4366325"/>
            <a:ext cx="14539500" cy="0"/>
          </a:xfrm>
          <a:prstGeom prst="straightConnector1">
            <a:avLst/>
          </a:prstGeom>
          <a:noFill/>
          <a:ln cap="flat" cmpd="sng" w="9525">
            <a:solidFill>
              <a:schemeClr val="dk2"/>
            </a:solidFill>
            <a:prstDash val="solid"/>
            <a:round/>
            <a:headEnd len="med" w="med" type="none"/>
            <a:tailEnd len="med" w="med" type="none"/>
          </a:ln>
        </p:spPr>
      </p:cxnSp>
      <p:sp>
        <p:nvSpPr>
          <p:cNvPr id="89" name="Google Shape;89;g3c881079c58_0_107"/>
          <p:cNvSpPr txBox="1"/>
          <p:nvPr/>
        </p:nvSpPr>
        <p:spPr>
          <a:xfrm>
            <a:off x="1371775" y="5768550"/>
            <a:ext cx="16822500" cy="52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200">
                <a:solidFill>
                  <a:schemeClr val="dk1"/>
                </a:solidFill>
                <a:latin typeface="Bricolage Grotesque"/>
                <a:ea typeface="Bricolage Grotesque"/>
                <a:cs typeface="Bricolage Grotesque"/>
                <a:sym typeface="Bricolage Grotesque"/>
              </a:rPr>
              <a:t>Kullanıcılar daha spesifik ve niyet odaklı sorular soruyor</a:t>
            </a:r>
            <a:br>
              <a:rPr b="1" lang="en-US" sz="2200">
                <a:solidFill>
                  <a:schemeClr val="dk1"/>
                </a:solidFill>
                <a:latin typeface="Bricolage Grotesque"/>
                <a:ea typeface="Bricolage Grotesque"/>
                <a:cs typeface="Bricolage Grotesque"/>
                <a:sym typeface="Bricolage Grotesque"/>
              </a:rPr>
            </a:br>
            <a:r>
              <a:rPr lang="en-US" sz="2200">
                <a:solidFill>
                  <a:schemeClr val="dk1"/>
                </a:solidFill>
                <a:latin typeface="Bricolage Grotesque"/>
                <a:ea typeface="Bricolage Grotesque"/>
                <a:cs typeface="Bricolage Grotesque"/>
                <a:sym typeface="Bricolage Grotesque"/>
              </a:rPr>
              <a:t>Aramalar daha uzun ve detaylı hale geliyor; genel ürün terimleri yerine kullanım senaryolarına, ihtiyaçlara ve bağlama odaklanıyor.</a:t>
            </a:r>
            <a:endParaRPr sz="22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b="1" lang="en-US" sz="2200">
                <a:solidFill>
                  <a:schemeClr val="dk1"/>
                </a:solidFill>
                <a:latin typeface="Bricolage Grotesque"/>
                <a:ea typeface="Bricolage Grotesque"/>
                <a:cs typeface="Bricolage Grotesque"/>
                <a:sym typeface="Bricolage Grotesque"/>
              </a:rPr>
              <a:t>Kategori bazlı keşif, ürün odaklı aramanın yerini alıyor</a:t>
            </a:r>
            <a:br>
              <a:rPr b="1" lang="en-US" sz="2200">
                <a:solidFill>
                  <a:schemeClr val="dk1"/>
                </a:solidFill>
                <a:latin typeface="Bricolage Grotesque"/>
                <a:ea typeface="Bricolage Grotesque"/>
                <a:cs typeface="Bricolage Grotesque"/>
                <a:sym typeface="Bricolage Grotesque"/>
              </a:rPr>
            </a:br>
            <a:r>
              <a:rPr lang="en-US" sz="2200">
                <a:solidFill>
                  <a:schemeClr val="dk1"/>
                </a:solidFill>
                <a:latin typeface="Bricolage Grotesque"/>
                <a:ea typeface="Bricolage Grotesque"/>
                <a:cs typeface="Bricolage Grotesque"/>
                <a:sym typeface="Bricolage Grotesque"/>
              </a:rPr>
              <a:t>Kullanıcılar yolculuklarına kategori ve ilham sayfalarından başlayarak seçenekleri karşılaştırıyor, koleksiyonları inceliyor ve tercihlerini daraltıyor.</a:t>
            </a:r>
            <a:endParaRPr sz="22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b="1" lang="en-US" sz="2200">
                <a:solidFill>
                  <a:schemeClr val="dk1"/>
                </a:solidFill>
                <a:latin typeface="Bricolage Grotesque"/>
                <a:ea typeface="Bricolage Grotesque"/>
                <a:cs typeface="Bricolage Grotesque"/>
                <a:sym typeface="Bricolage Grotesque"/>
              </a:rPr>
              <a:t>Güvenilir ve faydalı kaynaklara talep artıyor</a:t>
            </a:r>
            <a:br>
              <a:rPr b="1" lang="en-US" sz="2200">
                <a:solidFill>
                  <a:schemeClr val="dk1"/>
                </a:solidFill>
                <a:latin typeface="Bricolage Grotesque"/>
                <a:ea typeface="Bricolage Grotesque"/>
                <a:cs typeface="Bricolage Grotesque"/>
                <a:sym typeface="Bricolage Grotesque"/>
              </a:rPr>
            </a:br>
            <a:r>
              <a:rPr lang="en-US" sz="2200">
                <a:solidFill>
                  <a:schemeClr val="dk1"/>
                </a:solidFill>
                <a:latin typeface="Bricolage Grotesque"/>
                <a:ea typeface="Bricolage Grotesque"/>
                <a:cs typeface="Bricolage Grotesque"/>
                <a:sym typeface="Bricolage Grotesque"/>
              </a:rPr>
              <a:t>Tüketiciler yalnızca fiyatı değil; ürün açıklamalarını, beden/ölçü bilgilerini, kullanım detaylarını ve değeri net şekilde anlatan güvenilir markalara yöneliyor.</a:t>
            </a:r>
            <a:endParaRPr sz="22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b="1" lang="en-US" sz="2200">
                <a:solidFill>
                  <a:schemeClr val="dk1"/>
                </a:solidFill>
                <a:latin typeface="Bricolage Grotesque"/>
                <a:ea typeface="Bricolage Grotesque"/>
                <a:cs typeface="Bricolage Grotesque"/>
                <a:sym typeface="Bricolage Grotesque"/>
              </a:rPr>
              <a:t>Görsel ve video odaklı davranış hızlanıyor</a:t>
            </a:r>
            <a:br>
              <a:rPr b="1" lang="en-US" sz="2200">
                <a:solidFill>
                  <a:schemeClr val="dk1"/>
                </a:solidFill>
                <a:latin typeface="Bricolage Grotesque"/>
                <a:ea typeface="Bricolage Grotesque"/>
                <a:cs typeface="Bricolage Grotesque"/>
                <a:sym typeface="Bricolage Grotesque"/>
              </a:rPr>
            </a:br>
            <a:r>
              <a:rPr lang="en-US" sz="2200">
                <a:solidFill>
                  <a:schemeClr val="dk1"/>
                </a:solidFill>
                <a:latin typeface="Bricolage Grotesque"/>
                <a:ea typeface="Bricolage Grotesque"/>
                <a:cs typeface="Bricolage Grotesque"/>
                <a:sym typeface="Bricolage Grotesque"/>
              </a:rPr>
              <a:t>Görseller, videolar, rehber içerikler ve zengin medya formatları; tüm kategorilerde ürün keşfi ve karar verme sürecinde daha belirleyici hale geliyor.</a:t>
            </a:r>
            <a:endParaRPr sz="2200">
              <a:solidFill>
                <a:schemeClr val="dk1"/>
              </a:solidFill>
              <a:latin typeface="Bricolage Grotesque"/>
              <a:ea typeface="Bricolage Grotesque"/>
              <a:cs typeface="Bricolage Grotesque"/>
              <a:sym typeface="Bricolage Grotesque"/>
            </a:endParaRPr>
          </a:p>
        </p:txBody>
      </p:sp>
      <p:pic>
        <p:nvPicPr>
          <p:cNvPr id="90" name="Google Shape;90;g3c881079c58_0_107" title="Screenshot_2026-02-01_at_01.59.58-removebg-preview.png"/>
          <p:cNvPicPr preferRelativeResize="0"/>
          <p:nvPr/>
        </p:nvPicPr>
        <p:blipFill>
          <a:blip r:embed="rId6">
            <a:alphaModFix/>
          </a:blip>
          <a:stretch>
            <a:fillRect/>
          </a:stretch>
        </p:blipFill>
        <p:spPr>
          <a:xfrm>
            <a:off x="18588975" y="7539800"/>
            <a:ext cx="5466675" cy="617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95" name="Shape 95"/>
        <p:cNvGrpSpPr/>
        <p:nvPr/>
      </p:nvGrpSpPr>
      <p:grpSpPr>
        <a:xfrm>
          <a:off x="0" y="0"/>
          <a:ext cx="0" cy="0"/>
          <a:chOff x="0" y="0"/>
          <a:chExt cx="0" cy="0"/>
        </a:xfrm>
      </p:grpSpPr>
      <p:pic>
        <p:nvPicPr>
          <p:cNvPr descr=" " id="96" name="Google Shape;96;g3c881079c58_0_86"/>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97" name="Google Shape;97;g3c881079c58_0_86"/>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98" name="Google Shape;98;g3c881079c58_0_86"/>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99" name="Google Shape;99;g3c881079c58_0_86"/>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3c881079c58_0_86"/>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101" name="Google Shape;101;g3c881079c58_0_86"/>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Google Hala Baskın, Ancak Arama Deneyimi Bölündü</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cxnSp>
        <p:nvCxnSpPr>
          <p:cNvPr id="102" name="Google Shape;102;g3c881079c58_0_86"/>
          <p:cNvCxnSpPr/>
          <p:nvPr/>
        </p:nvCxnSpPr>
        <p:spPr>
          <a:xfrm rot="10800000">
            <a:off x="11255200" y="3316350"/>
            <a:ext cx="0" cy="8911200"/>
          </a:xfrm>
          <a:prstGeom prst="straightConnector1">
            <a:avLst/>
          </a:prstGeom>
          <a:noFill/>
          <a:ln cap="flat" cmpd="sng" w="19050">
            <a:solidFill>
              <a:srgbClr val="ED7D31"/>
            </a:solidFill>
            <a:prstDash val="solid"/>
            <a:round/>
            <a:headEnd len="med" w="med" type="none"/>
            <a:tailEnd len="med" w="med" type="none"/>
          </a:ln>
        </p:spPr>
      </p:cxnSp>
      <p:sp>
        <p:nvSpPr>
          <p:cNvPr id="103" name="Google Shape;103;g3c881079c58_0_86"/>
          <p:cNvSpPr txBox="1"/>
          <p:nvPr/>
        </p:nvSpPr>
        <p:spPr>
          <a:xfrm>
            <a:off x="4869006" y="2963200"/>
            <a:ext cx="2308800" cy="821700"/>
          </a:xfrm>
          <a:prstGeom prst="rect">
            <a:avLst/>
          </a:prstGeom>
          <a:noFill/>
          <a:ln>
            <a:noFill/>
          </a:ln>
        </p:spPr>
        <p:txBody>
          <a:bodyPr anchorCtr="0" anchor="t" bIns="145675" lIns="145675" spcFirstLastPara="1" rIns="145675" wrap="square" tIns="145675">
            <a:spAutoFit/>
          </a:bodyPr>
          <a:lstStyle/>
          <a:p>
            <a:pPr indent="0" lvl="0" marL="0" rtl="0" algn="l">
              <a:spcBef>
                <a:spcPts val="0"/>
              </a:spcBef>
              <a:spcAft>
                <a:spcPts val="0"/>
              </a:spcAft>
              <a:buNone/>
            </a:pPr>
            <a:r>
              <a:rPr b="1" lang="en-US" sz="3427">
                <a:solidFill>
                  <a:srgbClr val="000000"/>
                </a:solidFill>
                <a:highlight>
                  <a:srgbClr val="FCE5CD"/>
                </a:highlight>
                <a:latin typeface="Bricolage Grotesque"/>
                <a:ea typeface="Bricolage Grotesque"/>
                <a:cs typeface="Bricolage Grotesque"/>
                <a:sym typeface="Bricolage Grotesque"/>
              </a:rPr>
              <a:t>Google</a:t>
            </a:r>
            <a:endParaRPr b="1" sz="3267">
              <a:solidFill>
                <a:srgbClr val="000000"/>
              </a:solidFill>
              <a:highlight>
                <a:srgbClr val="FCE5CD"/>
              </a:highlight>
              <a:latin typeface="Bricolage Grotesque"/>
              <a:ea typeface="Bricolage Grotesque"/>
              <a:cs typeface="Bricolage Grotesque"/>
              <a:sym typeface="Bricolage Grotesque"/>
            </a:endParaRPr>
          </a:p>
        </p:txBody>
      </p:sp>
      <p:sp>
        <p:nvSpPr>
          <p:cNvPr id="104" name="Google Shape;104;g3c881079c58_0_86"/>
          <p:cNvSpPr txBox="1"/>
          <p:nvPr/>
        </p:nvSpPr>
        <p:spPr>
          <a:xfrm>
            <a:off x="12074650" y="2963200"/>
            <a:ext cx="4381800" cy="821700"/>
          </a:xfrm>
          <a:prstGeom prst="rect">
            <a:avLst/>
          </a:prstGeom>
          <a:noFill/>
          <a:ln>
            <a:noFill/>
          </a:ln>
        </p:spPr>
        <p:txBody>
          <a:bodyPr anchorCtr="0" anchor="t" bIns="145675" lIns="145675" spcFirstLastPara="1" rIns="145675" wrap="square" tIns="145675">
            <a:spAutoFit/>
          </a:bodyPr>
          <a:lstStyle/>
          <a:p>
            <a:pPr indent="0" lvl="0" marL="0" rtl="0" algn="l">
              <a:spcBef>
                <a:spcPts val="0"/>
              </a:spcBef>
              <a:spcAft>
                <a:spcPts val="0"/>
              </a:spcAft>
              <a:buNone/>
            </a:pPr>
            <a:r>
              <a:rPr b="1" lang="en-US" sz="3427">
                <a:highlight>
                  <a:srgbClr val="FCE5CD"/>
                </a:highlight>
                <a:latin typeface="Bricolage Grotesque"/>
                <a:ea typeface="Bricolage Grotesque"/>
                <a:cs typeface="Bricolage Grotesque"/>
                <a:sym typeface="Bricolage Grotesque"/>
              </a:rPr>
              <a:t>AI Answer Engines</a:t>
            </a:r>
            <a:endParaRPr b="1" sz="3267">
              <a:solidFill>
                <a:srgbClr val="000000"/>
              </a:solidFill>
              <a:latin typeface="Bricolage Grotesque"/>
              <a:ea typeface="Bricolage Grotesque"/>
              <a:cs typeface="Bricolage Grotesque"/>
              <a:sym typeface="Bricolage Grotesque"/>
            </a:endParaRPr>
          </a:p>
        </p:txBody>
      </p:sp>
      <p:sp>
        <p:nvSpPr>
          <p:cNvPr id="105" name="Google Shape;105;g3c881079c58_0_86"/>
          <p:cNvSpPr txBox="1"/>
          <p:nvPr/>
        </p:nvSpPr>
        <p:spPr>
          <a:xfrm>
            <a:off x="2240675" y="4154300"/>
            <a:ext cx="7994400" cy="5588400"/>
          </a:xfrm>
          <a:prstGeom prst="rect">
            <a:avLst/>
          </a:prstGeom>
          <a:noFill/>
          <a:ln>
            <a:noFill/>
          </a:ln>
        </p:spPr>
        <p:txBody>
          <a:bodyPr anchorCtr="0" anchor="t" bIns="145675" lIns="145675" spcFirstLastPara="1" rIns="145675" wrap="square" tIns="145675">
            <a:spAutoFit/>
          </a:bodyPr>
          <a:lstStyle/>
          <a:p>
            <a:pPr indent="0" lvl="0" marL="0" rtl="0" algn="l">
              <a:lnSpc>
                <a:spcPct val="115000"/>
              </a:lnSpc>
              <a:spcBef>
                <a:spcPts val="1200"/>
              </a:spcBef>
              <a:spcAft>
                <a:spcPts val="0"/>
              </a:spcAft>
              <a:buClr>
                <a:schemeClr val="dk1"/>
              </a:buClr>
              <a:buSzPts val="1100"/>
              <a:buFont typeface="Arial"/>
              <a:buNone/>
            </a:pPr>
            <a:r>
              <a:rPr lang="en-US" sz="2300">
                <a:solidFill>
                  <a:schemeClr val="dk1"/>
                </a:solidFill>
                <a:latin typeface="Bricolage Grotesque"/>
                <a:ea typeface="Bricolage Grotesque"/>
                <a:cs typeface="Bricolage Grotesque"/>
                <a:sym typeface="Bricolage Grotesque"/>
              </a:rPr>
              <a:t>…alışveriş yolculuklarının hâlâ birincil başlangıç noktası</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Küresel pazar payı ~%75–85</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Google, ürün ve kategori keşfinde en baskın giriş noktası olmaya devam ediyor.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Ürün, kategori ve karşılaştırma aramalarında güçlü bağımlılık</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 kategoriler, kullanım senaryoları, kampanyalar, beden bilgileri ve ilham aramaları yapıyor.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Yüksek marka ve niyet güveni</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Satın alma ve değerlendirme aşamasına yakın kullanıcılar için Google sonuçları hâlâ güvenilir kabul ediliyor.</a:t>
            </a:r>
            <a:endParaRPr sz="2300">
              <a:solidFill>
                <a:srgbClr val="000000"/>
              </a:solidFill>
              <a:latin typeface="Bricolage Grotesque"/>
              <a:ea typeface="Bricolage Grotesque"/>
              <a:cs typeface="Bricolage Grotesque"/>
              <a:sym typeface="Bricolage Grotesque"/>
            </a:endParaRPr>
          </a:p>
        </p:txBody>
      </p:sp>
      <p:sp>
        <p:nvSpPr>
          <p:cNvPr id="106" name="Google Shape;106;g3c881079c58_0_86"/>
          <p:cNvSpPr txBox="1"/>
          <p:nvPr/>
        </p:nvSpPr>
        <p:spPr>
          <a:xfrm>
            <a:off x="12074650" y="4154300"/>
            <a:ext cx="9616500" cy="6149400"/>
          </a:xfrm>
          <a:prstGeom prst="rect">
            <a:avLst/>
          </a:prstGeom>
          <a:noFill/>
          <a:ln>
            <a:noFill/>
          </a:ln>
        </p:spPr>
        <p:txBody>
          <a:bodyPr anchorCtr="0" anchor="t" bIns="145675" lIns="145675" spcFirstLastPara="1" rIns="145675" wrap="square" tIns="145675">
            <a:spAutoFit/>
          </a:bodyPr>
          <a:lstStyle/>
          <a:p>
            <a:pPr indent="0" lvl="0" marL="0" rtl="0" algn="l">
              <a:lnSpc>
                <a:spcPct val="115000"/>
              </a:lnSpc>
              <a:spcBef>
                <a:spcPts val="1200"/>
              </a:spcBef>
              <a:spcAft>
                <a:spcPts val="0"/>
              </a:spcAft>
              <a:buClr>
                <a:schemeClr val="dk1"/>
              </a:buClr>
              <a:buSzPts val="1100"/>
              <a:buFont typeface="Arial"/>
              <a:buNone/>
            </a:pPr>
            <a:r>
              <a:rPr lang="en-US" sz="2300">
                <a:solidFill>
                  <a:schemeClr val="dk1"/>
                </a:solidFill>
                <a:latin typeface="Bricolage Grotesque"/>
                <a:ea typeface="Bricolage Grotesque"/>
                <a:cs typeface="Bricolage Grotesque"/>
                <a:sym typeface="Bricolage Grotesque"/>
              </a:rPr>
              <a:t>…keşif ve karar verme süreçlerini yeniden şekillendiriyor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ChatGPT, Gemini, Perplexity, Copilot</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Yapay zekâ araçları alışverişle ilgili sorularda günlük keşif asistanı haline geliyor.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AI kullanımı küresel internet kullanıcılarının ~%35–45’ine ulaştı</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Kullanıcıların giderek artan bir kısmı geleneksel aramadan önce veya onunla birlikte AI’a danışıyor.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Anlık yanıtlar ve özetlerle hızlı adaptasyon</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 hızlı karşılaştırmalar, küratörlü öneriler ve sadeleştirilmiş karar desteğini tercih ediyor.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İlham ve karmaşık ihtiyaçlarda ilk temas noktası oluyor</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Kategori keşfi, hediye fikirleri, beden önerileri ve “ne almalıyım?” gibi sorularda AI motorları başlangıç noktası haline geliyor.</a:t>
            </a:r>
            <a:endParaRPr sz="2300">
              <a:solidFill>
                <a:srgbClr val="000000"/>
              </a:solidFill>
              <a:latin typeface="Bricolage Grotesque"/>
              <a:ea typeface="Bricolage Grotesque"/>
              <a:cs typeface="Bricolage Grotesque"/>
              <a:sym typeface="Bricolage Grotesq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11" name="Shape 111"/>
        <p:cNvGrpSpPr/>
        <p:nvPr/>
      </p:nvGrpSpPr>
      <p:grpSpPr>
        <a:xfrm>
          <a:off x="0" y="0"/>
          <a:ext cx="0" cy="0"/>
          <a:chOff x="0" y="0"/>
          <a:chExt cx="0" cy="0"/>
        </a:xfrm>
      </p:grpSpPr>
      <p:pic>
        <p:nvPicPr>
          <p:cNvPr descr=" " id="112" name="Google Shape;112;g3c881079c58_0_129"/>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113" name="Google Shape;113;g3c881079c58_0_129"/>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114" name="Google Shape;114;g3c881079c58_0_129"/>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115" name="Google Shape;115;g3c881079c58_0_129"/>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c881079c58_0_129"/>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117" name="Google Shape;117;g3c881079c58_0_129"/>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Search Today = Results + Answers + Multimodal</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118" name="Google Shape;118;g3c881079c58_0_129" title="Screenshot_2026-02-01_at_02.08.15-removebg-preview.png"/>
          <p:cNvPicPr preferRelativeResize="0"/>
          <p:nvPr/>
        </p:nvPicPr>
        <p:blipFill rotWithShape="1">
          <a:blip r:embed="rId6">
            <a:alphaModFix/>
          </a:blip>
          <a:srcRect b="0" l="0" r="0" t="15909"/>
          <a:stretch/>
        </p:blipFill>
        <p:spPr>
          <a:xfrm>
            <a:off x="5484175" y="2963225"/>
            <a:ext cx="13958100" cy="6272450"/>
          </a:xfrm>
          <a:prstGeom prst="rect">
            <a:avLst/>
          </a:prstGeom>
          <a:noFill/>
          <a:ln>
            <a:noFill/>
          </a:ln>
        </p:spPr>
      </p:pic>
      <p:sp>
        <p:nvSpPr>
          <p:cNvPr id="119" name="Google Shape;119;g3c881079c58_0_129"/>
          <p:cNvSpPr txBox="1"/>
          <p:nvPr/>
        </p:nvSpPr>
        <p:spPr>
          <a:xfrm>
            <a:off x="6145000" y="10045750"/>
            <a:ext cx="12540300" cy="196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11">
                <a:solidFill>
                  <a:schemeClr val="dk1"/>
                </a:solidFill>
                <a:latin typeface="Bricolage Grotesque"/>
                <a:ea typeface="Bricolage Grotesque"/>
                <a:cs typeface="Bricolage Grotesque"/>
                <a:sym typeface="Bricolage Grotesque"/>
              </a:rPr>
              <a:t>Bugünün arama deneyimi artık sadece bir link listesi değil.</a:t>
            </a:r>
            <a:endParaRPr b="1" sz="2311">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t/>
            </a:r>
            <a:endParaRPr b="1" sz="2311">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311">
                <a:solidFill>
                  <a:schemeClr val="dk1"/>
                </a:solidFill>
                <a:latin typeface="Bricolage Grotesque"/>
                <a:ea typeface="Bricolage Grotesque"/>
                <a:cs typeface="Bricolage Grotesque"/>
                <a:sym typeface="Bricolage Grotesque"/>
              </a:rPr>
              <a:t>Geleneksel sonuçları, yapay zekâ tarafından oluşturulan yanıtları ve multimodal (metin, görsel, video) deneyimleri bir araya getirerek kullanıcıların hız, netlik ve ilham beklentilerini karşılıyor.</a:t>
            </a:r>
            <a:endParaRPr sz="2311">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24" name="Shape 124"/>
        <p:cNvGrpSpPr/>
        <p:nvPr/>
      </p:nvGrpSpPr>
      <p:grpSpPr>
        <a:xfrm>
          <a:off x="0" y="0"/>
          <a:ext cx="0" cy="0"/>
          <a:chOff x="0" y="0"/>
          <a:chExt cx="0" cy="0"/>
        </a:xfrm>
      </p:grpSpPr>
      <p:pic>
        <p:nvPicPr>
          <p:cNvPr descr=" " id="125" name="Google Shape;125;g3c881079c58_0_147"/>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126" name="Google Shape;126;g3c881079c58_0_147"/>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127" name="Google Shape;127;g3c881079c58_0_147"/>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128" name="Google Shape;128;g3c881079c58_0_147"/>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3c881079c58_0_147"/>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130" name="Google Shape;130;g3c881079c58_0_147"/>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Arama Niyetini Anlamak</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131" name="Google Shape;131;g3c881079c58_0_147"/>
          <p:cNvSpPr txBox="1"/>
          <p:nvPr/>
        </p:nvSpPr>
        <p:spPr>
          <a:xfrm>
            <a:off x="20547875" y="88435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000">
                <a:solidFill>
                  <a:srgbClr val="000000"/>
                </a:solidFill>
                <a:latin typeface="Bricolage Grotesque"/>
                <a:ea typeface="Bricolage Grotesque"/>
                <a:cs typeface="Bricolage Grotesque"/>
                <a:sym typeface="Bricolage Grotesque"/>
              </a:rPr>
              <a:t>Photo by</a:t>
            </a:r>
            <a:r>
              <a:rPr i="1" lang="en-US" sz="1000">
                <a:solidFill>
                  <a:srgbClr val="000000"/>
                </a:solidFill>
                <a:uFill>
                  <a:noFill/>
                </a:uFill>
                <a:latin typeface="Bricolage Grotesque"/>
                <a:ea typeface="Bricolage Grotesque"/>
                <a:cs typeface="Bricolage Grotesque"/>
                <a:sym typeface="Bricolage Grotesque"/>
                <a:hlinkClick r:id="rId6">
                  <a:extLst>
                    <a:ext uri="{A12FA001-AC4F-418D-AE19-62706E023703}">
                      <ahyp:hlinkClr val="tx"/>
                    </a:ext>
                  </a:extLst>
                </a:hlinkClick>
              </a:rPr>
              <a:t> </a:t>
            </a:r>
            <a:r>
              <a:rPr i="1" lang="en-US" sz="1000" u="sng">
                <a:solidFill>
                  <a:srgbClr val="0563C1"/>
                </a:solidFill>
                <a:latin typeface="Bricolage Grotesque"/>
                <a:ea typeface="Bricolage Grotesque"/>
                <a:cs typeface="Bricolage Grotesque"/>
                <a:sym typeface="Bricolage Grotesque"/>
                <a:hlinkClick r:id="rId7">
                  <a:extLst>
                    <a:ext uri="{A12FA001-AC4F-418D-AE19-62706E023703}">
                      <ahyp:hlinkClr val="tx"/>
                    </a:ext>
                  </a:extLst>
                </a:hlinkClick>
              </a:rPr>
              <a:t>Sincerely Media</a:t>
            </a:r>
            <a:r>
              <a:rPr i="1" lang="en-US" sz="1000">
                <a:solidFill>
                  <a:srgbClr val="000000"/>
                </a:solidFill>
                <a:latin typeface="Bricolage Grotesque"/>
                <a:ea typeface="Bricolage Grotesque"/>
                <a:cs typeface="Bricolage Grotesque"/>
                <a:sym typeface="Bricolage Grotesque"/>
              </a:rPr>
              <a:t> on</a:t>
            </a:r>
            <a:r>
              <a:rPr i="1" lang="en-US" sz="1000">
                <a:solidFill>
                  <a:srgbClr val="000000"/>
                </a:solidFill>
                <a:uFill>
                  <a:noFill/>
                </a:uFill>
                <a:latin typeface="Bricolage Grotesque"/>
                <a:ea typeface="Bricolage Grotesque"/>
                <a:cs typeface="Bricolage Grotesque"/>
                <a:sym typeface="Bricolage Grotesque"/>
                <a:hlinkClick r:id="rId8">
                  <a:extLst>
                    <a:ext uri="{A12FA001-AC4F-418D-AE19-62706E023703}">
                      <ahyp:hlinkClr val="tx"/>
                    </a:ext>
                  </a:extLst>
                </a:hlinkClick>
              </a:rPr>
              <a:t> </a:t>
            </a:r>
            <a:r>
              <a:rPr i="1" lang="en-US" sz="1000" u="sng">
                <a:solidFill>
                  <a:srgbClr val="0563C1"/>
                </a:solidFill>
                <a:latin typeface="Bricolage Grotesque"/>
                <a:ea typeface="Bricolage Grotesque"/>
                <a:cs typeface="Bricolage Grotesque"/>
                <a:sym typeface="Bricolage Grotesque"/>
                <a:hlinkClick r:id="rId9">
                  <a:extLst>
                    <a:ext uri="{A12FA001-AC4F-418D-AE19-62706E023703}">
                      <ahyp:hlinkClr val="tx"/>
                    </a:ext>
                  </a:extLst>
                </a:hlinkClick>
              </a:rPr>
              <a:t>Unsplash</a:t>
            </a:r>
            <a:endParaRPr i="1" sz="1300">
              <a:latin typeface="Bricolage Grotesque"/>
              <a:ea typeface="Bricolage Grotesque"/>
              <a:cs typeface="Bricolage Grotesque"/>
              <a:sym typeface="Bricolage Grotesque"/>
            </a:endParaRPr>
          </a:p>
        </p:txBody>
      </p:sp>
      <p:pic>
        <p:nvPicPr>
          <p:cNvPr id="132" name="Google Shape;132;g3c881079c58_0_147" title="sincerely-media-HL3EOgFiy0k-unsplash.jpg"/>
          <p:cNvPicPr preferRelativeResize="0"/>
          <p:nvPr/>
        </p:nvPicPr>
        <p:blipFill>
          <a:blip r:embed="rId10">
            <a:alphaModFix amt="92000"/>
          </a:blip>
          <a:stretch>
            <a:fillRect/>
          </a:stretch>
        </p:blipFill>
        <p:spPr>
          <a:xfrm>
            <a:off x="17611225" y="2238125"/>
            <a:ext cx="5373175" cy="6492201"/>
          </a:xfrm>
          <a:prstGeom prst="rect">
            <a:avLst/>
          </a:prstGeom>
          <a:noFill/>
          <a:ln>
            <a:noFill/>
          </a:ln>
        </p:spPr>
      </p:pic>
      <p:sp>
        <p:nvSpPr>
          <p:cNvPr id="133" name="Google Shape;133;g3c881079c58_0_147"/>
          <p:cNvSpPr txBox="1"/>
          <p:nvPr/>
        </p:nvSpPr>
        <p:spPr>
          <a:xfrm>
            <a:off x="1031950" y="2730125"/>
            <a:ext cx="14807100" cy="453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US" sz="2300">
                <a:latin typeface="Bricolage Grotesque"/>
                <a:ea typeface="Bricolage Grotesque"/>
                <a:cs typeface="Bricolage Grotesque"/>
                <a:sym typeface="Bricolage Grotesque"/>
              </a:rPr>
              <a:t>Google, sorguları niyet kategorilerine göre eşleştirir:</a:t>
            </a:r>
            <a:endParaRPr sz="2300">
              <a:solidFill>
                <a:srgbClr val="000000"/>
              </a:solidFill>
              <a:latin typeface="Bricolage Grotesque"/>
              <a:ea typeface="Bricolage Grotesque"/>
              <a:cs typeface="Bricolage Grotesque"/>
              <a:sym typeface="Bricolage Grotesque"/>
            </a:endParaRPr>
          </a:p>
          <a:p>
            <a:pPr indent="0" lvl="0" marL="0" rtl="0" algn="l">
              <a:lnSpc>
                <a:spcPct val="115000"/>
              </a:lnSpc>
              <a:spcBef>
                <a:spcPts val="1400"/>
              </a:spcBef>
              <a:spcAft>
                <a:spcPts val="0"/>
              </a:spcAft>
              <a:buNone/>
            </a:pPr>
            <a:r>
              <a:t/>
            </a:r>
            <a:endParaRPr b="1" sz="2300">
              <a:solidFill>
                <a:srgbClr val="000000"/>
              </a:solidFill>
              <a:latin typeface="Bricolage Grotesque"/>
              <a:ea typeface="Bricolage Grotesque"/>
              <a:cs typeface="Bricolage Grotesque"/>
              <a:sym typeface="Bricolage Grotesque"/>
            </a:endParaRPr>
          </a:p>
          <a:p>
            <a:pPr indent="-374650" lvl="0" marL="457200" rtl="0" algn="l">
              <a:lnSpc>
                <a:spcPct val="115000"/>
              </a:lnSpc>
              <a:spcBef>
                <a:spcPts val="1200"/>
              </a:spcBef>
              <a:spcAft>
                <a:spcPts val="0"/>
              </a:spcAft>
              <a:buClr>
                <a:srgbClr val="000000"/>
              </a:buClr>
              <a:buSzPts val="2300"/>
              <a:buChar char="●"/>
            </a:pPr>
            <a:r>
              <a:rPr b="1" lang="en-US" sz="2300">
                <a:solidFill>
                  <a:schemeClr val="dk1"/>
                </a:solidFill>
                <a:latin typeface="Bricolage Grotesque"/>
                <a:ea typeface="Bricolage Grotesque"/>
                <a:cs typeface="Bricolage Grotesque"/>
                <a:sym typeface="Bricolage Grotesque"/>
              </a:rPr>
              <a:t>Bilgilendirici (Informational)</a:t>
            </a:r>
            <a:r>
              <a:rPr lang="en-US" sz="2300">
                <a:solidFill>
                  <a:schemeClr val="dk1"/>
                </a:solidFill>
                <a:latin typeface="Bricolage Grotesque"/>
                <a:ea typeface="Bricolage Grotesque"/>
                <a:cs typeface="Bricolage Grotesque"/>
                <a:sym typeface="Bricolage Grotesque"/>
              </a:rPr>
              <a:t> – “En iyi 5G telefonu hangisi?” / “Fiber internet nedir?”</a:t>
            </a:r>
            <a:br>
              <a:rPr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 rehberlik, bilgi veya ilham arıyor)</a:t>
            </a:r>
            <a:endParaRPr sz="2300">
              <a:solidFill>
                <a:schemeClr val="dk1"/>
              </a:solidFill>
              <a:latin typeface="Bricolage Grotesque"/>
              <a:ea typeface="Bricolage Grotesque"/>
              <a:cs typeface="Bricolage Grotesque"/>
              <a:sym typeface="Bricolage Grotesque"/>
            </a:endParaRPr>
          </a:p>
          <a:p>
            <a:pPr indent="-374650" lvl="0" marL="457200" rtl="0" algn="l">
              <a:lnSpc>
                <a:spcPct val="115000"/>
              </a:lnSpc>
              <a:spcBef>
                <a:spcPts val="0"/>
              </a:spcBef>
              <a:spcAft>
                <a:spcPts val="0"/>
              </a:spcAft>
              <a:buClr>
                <a:srgbClr val="000000"/>
              </a:buClr>
              <a:buSzPts val="2300"/>
              <a:buChar char="●"/>
            </a:pPr>
            <a:r>
              <a:rPr b="1" lang="en-US" sz="2300">
                <a:solidFill>
                  <a:schemeClr val="dk1"/>
                </a:solidFill>
                <a:latin typeface="Bricolage Grotesque"/>
                <a:ea typeface="Bricolage Grotesque"/>
                <a:cs typeface="Bricolage Grotesque"/>
                <a:sym typeface="Bricolage Grotesque"/>
              </a:rPr>
              <a:t>Problem Çözme (Problem-Solving)</a:t>
            </a:r>
            <a:r>
              <a:rPr lang="en-US" sz="2300">
                <a:solidFill>
                  <a:schemeClr val="dk1"/>
                </a:solidFill>
                <a:latin typeface="Bricolage Grotesque"/>
                <a:ea typeface="Bricolage Grotesque"/>
                <a:cs typeface="Bricolage Grotesque"/>
                <a:sym typeface="Bricolage Grotesque"/>
              </a:rPr>
              <a:t> – “Turkcell internet yavaş” / “SIM kart çalışmıyor ne yapmalıyım?”</a:t>
            </a:r>
            <a:br>
              <a:rPr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 belirli bir sorunu çözmeye çalışıyor)</a:t>
            </a:r>
            <a:endParaRPr sz="2300">
              <a:solidFill>
                <a:schemeClr val="dk1"/>
              </a:solidFill>
              <a:latin typeface="Bricolage Grotesque"/>
              <a:ea typeface="Bricolage Grotesque"/>
              <a:cs typeface="Bricolage Grotesque"/>
              <a:sym typeface="Bricolage Grotesque"/>
            </a:endParaRPr>
          </a:p>
          <a:p>
            <a:pPr indent="-374650" lvl="0" marL="457200" rtl="0" algn="l">
              <a:lnSpc>
                <a:spcPct val="115000"/>
              </a:lnSpc>
              <a:spcBef>
                <a:spcPts val="0"/>
              </a:spcBef>
              <a:spcAft>
                <a:spcPts val="0"/>
              </a:spcAft>
              <a:buClr>
                <a:srgbClr val="000000"/>
              </a:buClr>
              <a:buSzPts val="2300"/>
              <a:buChar char="●"/>
            </a:pPr>
            <a:r>
              <a:rPr b="1" lang="en-US" sz="2300">
                <a:solidFill>
                  <a:schemeClr val="dk1"/>
                </a:solidFill>
                <a:latin typeface="Bricolage Grotesque"/>
                <a:ea typeface="Bricolage Grotesque"/>
                <a:cs typeface="Bricolage Grotesque"/>
                <a:sym typeface="Bricolage Grotesque"/>
              </a:rPr>
              <a:t>Karşılaştırma (Comparison)</a:t>
            </a:r>
            <a:r>
              <a:rPr lang="en-US" sz="2300">
                <a:solidFill>
                  <a:schemeClr val="dk1"/>
                </a:solidFill>
                <a:latin typeface="Bricolage Grotesque"/>
                <a:ea typeface="Bricolage Grotesque"/>
                <a:cs typeface="Bricolage Grotesque"/>
                <a:sym typeface="Bricolage Grotesque"/>
              </a:rPr>
              <a:t> – “Turkcell vs Vodafone paket karşılaştırma” / “En uygun 20 GB mobil tarife”</a:t>
            </a:r>
            <a:br>
              <a:rPr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 satın alma öncesi seçenekleri değerlendiriyor)</a:t>
            </a:r>
            <a:endParaRPr sz="2300">
              <a:solidFill>
                <a:schemeClr val="dk1"/>
              </a:solidFill>
              <a:latin typeface="Bricolage Grotesque"/>
              <a:ea typeface="Bricolage Grotesque"/>
              <a:cs typeface="Bricolage Grotesque"/>
              <a:sym typeface="Bricolage Grotesque"/>
            </a:endParaRPr>
          </a:p>
          <a:p>
            <a:pPr indent="-374650" lvl="0" marL="457200" rtl="0" algn="l">
              <a:lnSpc>
                <a:spcPct val="115000"/>
              </a:lnSpc>
              <a:spcBef>
                <a:spcPts val="0"/>
              </a:spcBef>
              <a:spcAft>
                <a:spcPts val="0"/>
              </a:spcAft>
              <a:buClr>
                <a:srgbClr val="000000"/>
              </a:buClr>
              <a:buSzPts val="2300"/>
              <a:buChar char="●"/>
            </a:pPr>
            <a:r>
              <a:rPr b="1" lang="en-US" sz="2300">
                <a:solidFill>
                  <a:schemeClr val="dk1"/>
                </a:solidFill>
                <a:latin typeface="Bricolage Grotesque"/>
                <a:ea typeface="Bricolage Grotesque"/>
                <a:cs typeface="Bricolage Grotesque"/>
                <a:sym typeface="Bricolage Grotesque"/>
              </a:rPr>
              <a:t>İşlemsel / Satın Alma (Transactional)</a:t>
            </a:r>
            <a:r>
              <a:rPr lang="en-US" sz="2300">
                <a:solidFill>
                  <a:schemeClr val="dk1"/>
                </a:solidFill>
                <a:latin typeface="Bricolage Grotesque"/>
                <a:ea typeface="Bricolage Grotesque"/>
                <a:cs typeface="Bricolage Grotesque"/>
                <a:sym typeface="Bricolage Grotesque"/>
              </a:rPr>
              <a:t> – “Turkcell hat satın al” / “Numara taşıma başvurusu”</a:t>
            </a:r>
            <a:br>
              <a:rPr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 satın almaya hazır veya dönüşüme çok yakın)</a:t>
            </a:r>
            <a:endParaRPr b="1" sz="2300">
              <a:latin typeface="Bricolage Grotesque"/>
              <a:ea typeface="Bricolage Grotesque"/>
              <a:cs typeface="Bricolage Grotesque"/>
              <a:sym typeface="Bricolage Grotesque"/>
            </a:endParaRPr>
          </a:p>
        </p:txBody>
      </p:sp>
      <p:sp>
        <p:nvSpPr>
          <p:cNvPr id="134" name="Google Shape;134;g3c881079c58_0_147"/>
          <p:cNvSpPr txBox="1"/>
          <p:nvPr/>
        </p:nvSpPr>
        <p:spPr>
          <a:xfrm>
            <a:off x="4476883" y="10162819"/>
            <a:ext cx="15434700" cy="1019100"/>
          </a:xfrm>
          <a:prstGeom prst="rect">
            <a:avLst/>
          </a:prstGeom>
          <a:noFill/>
          <a:ln>
            <a:noFill/>
          </a:ln>
        </p:spPr>
        <p:txBody>
          <a:bodyPr anchorCtr="0" anchor="t" bIns="278525" lIns="278525" spcFirstLastPara="1" rIns="278525" wrap="square" tIns="278525">
            <a:spAutoFit/>
          </a:bodyPr>
          <a:lstStyle/>
          <a:p>
            <a:pPr indent="0" lvl="0" marL="0" rtl="0" algn="ctr">
              <a:spcBef>
                <a:spcPts val="0"/>
              </a:spcBef>
              <a:spcAft>
                <a:spcPts val="0"/>
              </a:spcAft>
              <a:buNone/>
            </a:pPr>
            <a:r>
              <a:rPr lang="en-US" sz="2965">
                <a:latin typeface="Bricolage Grotesque"/>
                <a:ea typeface="Bricolage Grotesque"/>
                <a:cs typeface="Bricolage Grotesque"/>
                <a:sym typeface="Bricolage Grotesque"/>
              </a:rPr>
              <a:t>Doğru niyet eşleşmesi = daha yüksek sıralama + daha güçlü dönüşüm performansı</a:t>
            </a:r>
            <a:endParaRPr b="1" sz="2965">
              <a:solidFill>
                <a:srgbClr val="000000"/>
              </a:solidFill>
              <a:latin typeface="Bricolage Grotesque"/>
              <a:ea typeface="Bricolage Grotesque"/>
              <a:cs typeface="Bricolage Grotesque"/>
              <a:sym typeface="Bricolage Grotesque"/>
            </a:endParaRPr>
          </a:p>
        </p:txBody>
      </p:sp>
      <p:cxnSp>
        <p:nvCxnSpPr>
          <p:cNvPr id="135" name="Google Shape;135;g3c881079c58_0_147"/>
          <p:cNvCxnSpPr/>
          <p:nvPr/>
        </p:nvCxnSpPr>
        <p:spPr>
          <a:xfrm>
            <a:off x="4331438" y="10119861"/>
            <a:ext cx="15722700" cy="0"/>
          </a:xfrm>
          <a:prstGeom prst="straightConnector1">
            <a:avLst/>
          </a:prstGeom>
          <a:noFill/>
          <a:ln cap="flat" cmpd="sng" w="29000">
            <a:solidFill>
              <a:srgbClr val="C9C9C9"/>
            </a:solidFill>
            <a:prstDash val="solid"/>
            <a:round/>
            <a:headEnd len="med" w="med" type="none"/>
            <a:tailEnd len="med" w="med" type="none"/>
          </a:ln>
        </p:spPr>
      </p:cxnSp>
      <p:cxnSp>
        <p:nvCxnSpPr>
          <p:cNvPr id="136" name="Google Shape;136;g3c881079c58_0_147"/>
          <p:cNvCxnSpPr/>
          <p:nvPr/>
        </p:nvCxnSpPr>
        <p:spPr>
          <a:xfrm>
            <a:off x="4332885" y="11224856"/>
            <a:ext cx="15722700" cy="0"/>
          </a:xfrm>
          <a:prstGeom prst="straightConnector1">
            <a:avLst/>
          </a:prstGeom>
          <a:noFill/>
          <a:ln cap="flat" cmpd="sng" w="29000">
            <a:solidFill>
              <a:srgbClr val="C9C9C9"/>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41" name="Shape 141"/>
        <p:cNvGrpSpPr/>
        <p:nvPr/>
      </p:nvGrpSpPr>
      <p:grpSpPr>
        <a:xfrm>
          <a:off x="0" y="0"/>
          <a:ext cx="0" cy="0"/>
          <a:chOff x="0" y="0"/>
          <a:chExt cx="0" cy="0"/>
        </a:xfrm>
      </p:grpSpPr>
      <p:pic>
        <p:nvPicPr>
          <p:cNvPr descr=" " id="142" name="Google Shape;142;g3c881079c58_0_167"/>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143" name="Google Shape;143;g3c881079c58_0_167"/>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144" name="Google Shape;144;g3c881079c58_0_167"/>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145" name="Google Shape;145;g3c881079c58_0_167"/>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c881079c58_0_167"/>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147" name="Google Shape;147;g3c881079c58_0_167"/>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Arama Günümüzde Nasıl Çalışıyor: Google + AI Search</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148" name="Google Shape;148;g3c881079c58_0_167"/>
          <p:cNvSpPr txBox="1"/>
          <p:nvPr/>
        </p:nvSpPr>
        <p:spPr>
          <a:xfrm>
            <a:off x="1031950" y="2730125"/>
            <a:ext cx="14807100" cy="109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300">
                <a:latin typeface="Bricolage Grotesque"/>
                <a:ea typeface="Bricolage Grotesque"/>
                <a:cs typeface="Bricolage Grotesque"/>
                <a:sym typeface="Bricolage Grotesque"/>
              </a:rPr>
              <a:t>LLM tabanlı yanıt motorları artık kullanıcı yolculuklarının temel bir parçası.</a:t>
            </a:r>
            <a:endParaRPr sz="2300">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b="1" lang="en-US" sz="2300">
                <a:latin typeface="Bricolage Grotesque"/>
                <a:ea typeface="Bricolage Grotesque"/>
                <a:cs typeface="Bricolage Grotesque"/>
                <a:sym typeface="Bricolage Grotesque"/>
              </a:rPr>
              <a:t>Öne çıkan oyuncular: </a:t>
            </a:r>
            <a:r>
              <a:rPr lang="en-US" sz="2300">
                <a:latin typeface="Bricolage Grotesque"/>
                <a:ea typeface="Bricolage Grotesque"/>
                <a:cs typeface="Bricolage Grotesque"/>
                <a:sym typeface="Bricolage Grotesque"/>
              </a:rPr>
              <a:t>Gemini, Perplexity, ChatGPT, Copilot</a:t>
            </a:r>
            <a:endParaRPr sz="2300">
              <a:latin typeface="Bricolage Grotesque"/>
              <a:ea typeface="Bricolage Grotesque"/>
              <a:cs typeface="Bricolage Grotesque"/>
              <a:sym typeface="Bricolage Grotesque"/>
            </a:endParaRPr>
          </a:p>
        </p:txBody>
      </p:sp>
      <p:sp>
        <p:nvSpPr>
          <p:cNvPr id="149" name="Google Shape;149;g3c881079c58_0_167"/>
          <p:cNvSpPr txBox="1"/>
          <p:nvPr/>
        </p:nvSpPr>
        <p:spPr>
          <a:xfrm>
            <a:off x="4476883" y="10162819"/>
            <a:ext cx="15434700" cy="1019100"/>
          </a:xfrm>
          <a:prstGeom prst="rect">
            <a:avLst/>
          </a:prstGeom>
          <a:noFill/>
          <a:ln>
            <a:noFill/>
          </a:ln>
        </p:spPr>
        <p:txBody>
          <a:bodyPr anchorCtr="0" anchor="t" bIns="278525" lIns="278525" spcFirstLastPara="1" rIns="278525" wrap="square" tIns="278525">
            <a:spAutoFit/>
          </a:bodyPr>
          <a:lstStyle/>
          <a:p>
            <a:pPr indent="0" lvl="0" marL="0" rtl="0" algn="ctr">
              <a:spcBef>
                <a:spcPts val="0"/>
              </a:spcBef>
              <a:spcAft>
                <a:spcPts val="0"/>
              </a:spcAft>
              <a:buNone/>
            </a:pPr>
            <a:r>
              <a:rPr lang="en-US" sz="2965">
                <a:latin typeface="Bricolage Grotesque"/>
                <a:ea typeface="Bricolage Grotesque"/>
                <a:cs typeface="Bricolage Grotesque"/>
                <a:sym typeface="Bricolage Grotesque"/>
              </a:rPr>
              <a:t>Kullanıcılar giderek daha fazla sorularla başlıyor → anlık ve özlü yanıtlar bekliyorlar.</a:t>
            </a:r>
            <a:endParaRPr b="1" sz="2965">
              <a:solidFill>
                <a:srgbClr val="000000"/>
              </a:solidFill>
              <a:latin typeface="Bricolage Grotesque"/>
              <a:ea typeface="Bricolage Grotesque"/>
              <a:cs typeface="Bricolage Grotesque"/>
              <a:sym typeface="Bricolage Grotesque"/>
            </a:endParaRPr>
          </a:p>
        </p:txBody>
      </p:sp>
      <p:cxnSp>
        <p:nvCxnSpPr>
          <p:cNvPr id="150" name="Google Shape;150;g3c881079c58_0_167"/>
          <p:cNvCxnSpPr/>
          <p:nvPr/>
        </p:nvCxnSpPr>
        <p:spPr>
          <a:xfrm>
            <a:off x="4331438" y="10119861"/>
            <a:ext cx="15722700" cy="0"/>
          </a:xfrm>
          <a:prstGeom prst="straightConnector1">
            <a:avLst/>
          </a:prstGeom>
          <a:noFill/>
          <a:ln cap="flat" cmpd="sng" w="29000">
            <a:solidFill>
              <a:srgbClr val="C9C9C9"/>
            </a:solidFill>
            <a:prstDash val="solid"/>
            <a:round/>
            <a:headEnd len="med" w="med" type="none"/>
            <a:tailEnd len="med" w="med" type="none"/>
          </a:ln>
        </p:spPr>
      </p:cxnSp>
      <p:cxnSp>
        <p:nvCxnSpPr>
          <p:cNvPr id="151" name="Google Shape;151;g3c881079c58_0_167"/>
          <p:cNvCxnSpPr/>
          <p:nvPr/>
        </p:nvCxnSpPr>
        <p:spPr>
          <a:xfrm>
            <a:off x="4332885" y="11224856"/>
            <a:ext cx="15722700" cy="0"/>
          </a:xfrm>
          <a:prstGeom prst="straightConnector1">
            <a:avLst/>
          </a:prstGeom>
          <a:noFill/>
          <a:ln cap="flat" cmpd="sng" w="29000">
            <a:solidFill>
              <a:srgbClr val="C9C9C9"/>
            </a:solidFill>
            <a:prstDash val="solid"/>
            <a:round/>
            <a:headEnd len="med" w="med" type="none"/>
            <a:tailEnd len="med" w="med" type="none"/>
          </a:ln>
        </p:spPr>
      </p:cxnSp>
      <p:graphicFrame>
        <p:nvGraphicFramePr>
          <p:cNvPr id="152" name="Google Shape;152;g3c881079c58_0_167"/>
          <p:cNvGraphicFramePr/>
          <p:nvPr/>
        </p:nvGraphicFramePr>
        <p:xfrm>
          <a:off x="5860950" y="4823200"/>
          <a:ext cx="3000000" cy="3000000"/>
        </p:xfrm>
        <a:graphic>
          <a:graphicData uri="http://schemas.openxmlformats.org/drawingml/2006/table">
            <a:tbl>
              <a:tblPr>
                <a:noFill/>
                <a:tableStyleId>{941C18E8-B15E-492C-9B3D-6656E5B88652}</a:tableStyleId>
              </a:tblPr>
              <a:tblGrid>
                <a:gridCol w="5382275"/>
                <a:gridCol w="7282825"/>
              </a:tblGrid>
              <a:tr h="896000">
                <a:tc>
                  <a:txBody>
                    <a:bodyPr/>
                    <a:lstStyle/>
                    <a:p>
                      <a:pPr indent="0" lvl="0" marL="0" rtl="0" algn="ctr">
                        <a:lnSpc>
                          <a:spcPct val="115000"/>
                        </a:lnSpc>
                        <a:spcBef>
                          <a:spcPts val="0"/>
                        </a:spcBef>
                        <a:spcAft>
                          <a:spcPts val="0"/>
                        </a:spcAft>
                        <a:buNone/>
                      </a:pPr>
                      <a:r>
                        <a:rPr b="1" lang="en-US" sz="2300">
                          <a:latin typeface="Bricolage Grotesque"/>
                          <a:ea typeface="Bricolage Grotesque"/>
                          <a:cs typeface="Bricolage Grotesque"/>
                          <a:sym typeface="Bricolage Grotesque"/>
                        </a:rPr>
                        <a:t>Tool</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300">
                          <a:latin typeface="Bricolage Grotesque"/>
                          <a:ea typeface="Bricolage Grotesque"/>
                          <a:cs typeface="Bricolage Grotesque"/>
                          <a:sym typeface="Bricolage Grotesque"/>
                        </a:rPr>
                        <a:t>Haftalık / Aylık Aktif Kullanıcı</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r>
              <a:tr h="821750">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ChatGPT</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800 </a:t>
                      </a:r>
                      <a:r>
                        <a:rPr lang="en-US" sz="2300">
                          <a:latin typeface="Bricolage Grotesque"/>
                          <a:ea typeface="Bricolage Grotesque"/>
                          <a:cs typeface="Bricolage Grotesque"/>
                          <a:sym typeface="Bricolage Grotesque"/>
                        </a:rPr>
                        <a:t>milyon haftalık aktif kullanıcı</a:t>
                      </a:r>
                      <a:endParaRPr sz="2300">
                        <a:latin typeface="Bricolage Grotesque"/>
                        <a:ea typeface="Bricolage Grotesque"/>
                        <a:cs typeface="Bricolage Grotesque"/>
                        <a:sym typeface="Bricolage Grotesque"/>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r>
              <a:tr h="821750">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Google Gemini</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650 </a:t>
                      </a:r>
                      <a:r>
                        <a:rPr lang="en-US" sz="2300">
                          <a:latin typeface="Bricolage Grotesque"/>
                          <a:ea typeface="Bricolage Grotesque"/>
                          <a:cs typeface="Bricolage Grotesque"/>
                          <a:sym typeface="Bricolage Grotesque"/>
                        </a:rPr>
                        <a:t>milyon aylık aktif kullanıcı</a:t>
                      </a:r>
                      <a:endParaRPr sz="2300">
                        <a:latin typeface="Bricolage Grotesque"/>
                        <a:ea typeface="Bricolage Grotesque"/>
                        <a:cs typeface="Bricolage Grotesque"/>
                        <a:sym typeface="Bricolage Grotesque"/>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r>
              <a:tr h="821750">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Perplexity AI</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30 </a:t>
                      </a:r>
                      <a:r>
                        <a:rPr lang="en-US" sz="2300">
                          <a:latin typeface="Bricolage Grotesque"/>
                          <a:ea typeface="Bricolage Grotesque"/>
                          <a:cs typeface="Bricolage Grotesque"/>
                          <a:sym typeface="Bricolage Grotesque"/>
                        </a:rPr>
                        <a:t>milyon aylık aktif kullanıcı</a:t>
                      </a:r>
                      <a:endParaRPr sz="2300">
                        <a:latin typeface="Bricolage Grotesque"/>
                        <a:ea typeface="Bricolage Grotesque"/>
                        <a:cs typeface="Bricolage Grotesque"/>
                        <a:sym typeface="Bricolage Grotesque"/>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r>
              <a:tr h="821750">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Microsoft 365 Copilot</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 85 </a:t>
                      </a:r>
                      <a:r>
                        <a:rPr lang="en-US" sz="2300">
                          <a:latin typeface="Bricolage Grotesque"/>
                          <a:ea typeface="Bricolage Grotesque"/>
                          <a:cs typeface="Bricolage Grotesque"/>
                          <a:sym typeface="Bricolage Grotesque"/>
                        </a:rPr>
                        <a:t>milyon aylık kullanıcı etkileşimi</a:t>
                      </a:r>
                      <a:endParaRPr sz="2300">
                        <a:latin typeface="Bricolage Grotesque"/>
                        <a:ea typeface="Bricolage Grotesque"/>
                        <a:cs typeface="Bricolage Grotesque"/>
                        <a:sym typeface="Bricolage Grotesque"/>
                      </a:endParaRPr>
                    </a:p>
                  </a:txBody>
                  <a:tcPr marT="91425" marB="91425" marR="91425" marL="91425">
                    <a:lnL cap="flat" cmpd="sng" w="9525">
                      <a:solidFill>
                        <a:srgbClr val="7F7F7F"/>
                      </a:solidFill>
                      <a:prstDash val="solid"/>
                      <a:round/>
                      <a:headEnd len="sm" w="sm" type="none"/>
                      <a:tailEnd len="sm" w="sm" type="none"/>
                    </a:lnL>
                    <a:lnR cap="flat" cmpd="sng" w="9525">
                      <a:solidFill>
                        <a:srgbClr val="7F7F7F"/>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tcPr>
                </a:tc>
              </a:tr>
            </a:tbl>
          </a:graphicData>
        </a:graphic>
      </p:graphicFrame>
      <p:pic>
        <p:nvPicPr>
          <p:cNvPr id="153" name="Google Shape;153;g3c881079c58_0_167"/>
          <p:cNvPicPr preferRelativeResize="0"/>
          <p:nvPr/>
        </p:nvPicPr>
        <p:blipFill rotWithShape="1">
          <a:blip r:embed="rId6">
            <a:alphaModFix/>
          </a:blip>
          <a:srcRect b="0" l="26892" r="25458" t="0"/>
          <a:stretch/>
        </p:blipFill>
        <p:spPr>
          <a:xfrm>
            <a:off x="5937375" y="5779550"/>
            <a:ext cx="574776" cy="678551"/>
          </a:xfrm>
          <a:prstGeom prst="rect">
            <a:avLst/>
          </a:prstGeom>
          <a:noFill/>
          <a:ln>
            <a:noFill/>
          </a:ln>
        </p:spPr>
      </p:pic>
      <p:pic>
        <p:nvPicPr>
          <p:cNvPr id="154" name="Google Shape;154;g3c881079c58_0_167"/>
          <p:cNvPicPr preferRelativeResize="0"/>
          <p:nvPr/>
        </p:nvPicPr>
        <p:blipFill>
          <a:blip r:embed="rId7">
            <a:alphaModFix/>
          </a:blip>
          <a:stretch>
            <a:fillRect/>
          </a:stretch>
        </p:blipFill>
        <p:spPr>
          <a:xfrm>
            <a:off x="5937372" y="6705975"/>
            <a:ext cx="574774" cy="574774"/>
          </a:xfrm>
          <a:prstGeom prst="rect">
            <a:avLst/>
          </a:prstGeom>
          <a:noFill/>
          <a:ln>
            <a:noFill/>
          </a:ln>
        </p:spPr>
      </p:pic>
      <p:pic>
        <p:nvPicPr>
          <p:cNvPr id="155" name="Google Shape;155;g3c881079c58_0_167"/>
          <p:cNvPicPr preferRelativeResize="0"/>
          <p:nvPr/>
        </p:nvPicPr>
        <p:blipFill>
          <a:blip r:embed="rId8">
            <a:alphaModFix/>
          </a:blip>
          <a:stretch>
            <a:fillRect/>
          </a:stretch>
        </p:blipFill>
        <p:spPr>
          <a:xfrm>
            <a:off x="5937375" y="7459000"/>
            <a:ext cx="574774" cy="574774"/>
          </a:xfrm>
          <a:prstGeom prst="rect">
            <a:avLst/>
          </a:prstGeom>
          <a:noFill/>
          <a:ln>
            <a:noFill/>
          </a:ln>
        </p:spPr>
      </p:pic>
      <p:pic>
        <p:nvPicPr>
          <p:cNvPr id="156" name="Google Shape;156;g3c881079c58_0_167"/>
          <p:cNvPicPr preferRelativeResize="0"/>
          <p:nvPr/>
        </p:nvPicPr>
        <p:blipFill>
          <a:blip r:embed="rId9">
            <a:alphaModFix/>
          </a:blip>
          <a:stretch>
            <a:fillRect/>
          </a:stretch>
        </p:blipFill>
        <p:spPr>
          <a:xfrm>
            <a:off x="5937375" y="8281850"/>
            <a:ext cx="574775" cy="574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61" name="Shape 161"/>
        <p:cNvGrpSpPr/>
        <p:nvPr/>
      </p:nvGrpSpPr>
      <p:grpSpPr>
        <a:xfrm>
          <a:off x="0" y="0"/>
          <a:ext cx="0" cy="0"/>
          <a:chOff x="0" y="0"/>
          <a:chExt cx="0" cy="0"/>
        </a:xfrm>
      </p:grpSpPr>
      <p:pic>
        <p:nvPicPr>
          <p:cNvPr descr=" " id="162" name="Google Shape;162;g3c881079c58_0_193"/>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163" name="Google Shape;163;g3c881079c58_0_193"/>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164" name="Google Shape;164;g3c881079c58_0_193"/>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165" name="Google Shape;165;g3c881079c58_0_193"/>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c881079c58_0_193"/>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167" name="Google Shape;167;g3c881079c58_0_193"/>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AI Sistemleri İçeriği Nasıl Seçer ve Kaynak Gösterir?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168" name="Google Shape;168;g3c881079c58_0_193"/>
          <p:cNvSpPr txBox="1"/>
          <p:nvPr/>
        </p:nvSpPr>
        <p:spPr>
          <a:xfrm>
            <a:off x="706925" y="2608675"/>
            <a:ext cx="22555800" cy="166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2300">
                <a:latin typeface="Bricolage Grotesque"/>
                <a:ea typeface="Bricolage Grotesque"/>
                <a:cs typeface="Bricolage Grotesque"/>
                <a:sym typeface="Bricolage Grotesque"/>
              </a:rPr>
              <a:t>❖ AI yanıtları; netlik, yapılandırılmış içerik ve ürünle ilgili yüksek alaka düzeyini önceliklendirir.</a:t>
            </a:r>
            <a:endParaRPr sz="2300">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lang="en-US" sz="2300">
                <a:latin typeface="Bricolage Grotesque"/>
                <a:ea typeface="Bricolage Grotesque"/>
                <a:cs typeface="Bricolage Grotesque"/>
                <a:sym typeface="Bricolage Grotesque"/>
              </a:rPr>
              <a:t>❖ Motorlar şunları tercih eder: kısa ve öz açıklamalar, taranabilir formatlar, net kategori kurgusu ve güçlü marka güven sinyalleri.</a:t>
            </a:r>
            <a:endParaRPr sz="2300">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latin typeface="Bricolage Grotesque"/>
                <a:ea typeface="Bricolage Grotesque"/>
                <a:cs typeface="Bricolage Grotesque"/>
                <a:sym typeface="Bricolage Grotesque"/>
              </a:rPr>
              <a:t>❖ AI, iyi yapılandırılmış perakende markalarını öne çıkarma eğilimindedir; güçlü kategori yapısı, rehber içerikler ve editoryal içerik sunan siteler avantaj sağlar.</a:t>
            </a:r>
            <a:endParaRPr sz="2300">
              <a:latin typeface="Bricolage Grotesque"/>
              <a:ea typeface="Bricolage Grotesque"/>
              <a:cs typeface="Bricolage Grotesque"/>
              <a:sym typeface="Bricolage Grotesque"/>
            </a:endParaRPr>
          </a:p>
        </p:txBody>
      </p:sp>
      <p:graphicFrame>
        <p:nvGraphicFramePr>
          <p:cNvPr id="169" name="Google Shape;169;g3c881079c58_0_193"/>
          <p:cNvGraphicFramePr/>
          <p:nvPr/>
        </p:nvGraphicFramePr>
        <p:xfrm>
          <a:off x="851600" y="5288100"/>
          <a:ext cx="3000000" cy="3000000"/>
        </p:xfrm>
        <a:graphic>
          <a:graphicData uri="http://schemas.openxmlformats.org/drawingml/2006/table">
            <a:tbl>
              <a:tblPr>
                <a:noFill/>
                <a:tableStyleId>{941C18E8-B15E-492C-9B3D-6656E5B88652}</a:tableStyleId>
              </a:tblPr>
              <a:tblGrid>
                <a:gridCol w="3378300"/>
                <a:gridCol w="4592850"/>
                <a:gridCol w="9774600"/>
              </a:tblGrid>
              <a:tr h="200025">
                <a:tc>
                  <a:txBody>
                    <a:bodyPr/>
                    <a:lstStyle/>
                    <a:p>
                      <a:pPr indent="0" lvl="0" marL="0" rtl="0" algn="ctr">
                        <a:lnSpc>
                          <a:spcPct val="115000"/>
                        </a:lnSpc>
                        <a:spcBef>
                          <a:spcPts val="0"/>
                        </a:spcBef>
                        <a:spcAft>
                          <a:spcPts val="0"/>
                        </a:spcAft>
                        <a:buNone/>
                      </a:pPr>
                      <a:r>
                        <a:rPr b="1" lang="en-US" sz="2300">
                          <a:latin typeface="Bricolage Grotesque"/>
                          <a:ea typeface="Bricolage Grotesque"/>
                          <a:cs typeface="Bricolage Grotesque"/>
                          <a:sym typeface="Bricolage Grotesque"/>
                        </a:rPr>
                        <a:t>AI Engine</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300">
                          <a:latin typeface="Bricolage Grotesque"/>
                          <a:ea typeface="Bricolage Grotesque"/>
                          <a:cs typeface="Bricolage Grotesque"/>
                          <a:sym typeface="Bricolage Grotesque"/>
                        </a:rPr>
                        <a:t>Öncelik Ağırlığı </a:t>
                      </a:r>
                      <a:r>
                        <a:rPr b="1" lang="en-US" sz="2300">
                          <a:latin typeface="Bricolage Grotesque"/>
                          <a:ea typeface="Bricolage Grotesque"/>
                          <a:cs typeface="Bricolage Grotesque"/>
                          <a:sym typeface="Bricolage Grotesque"/>
                        </a:rPr>
                        <a:t>(Telekom)</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300">
                          <a:latin typeface="Bricolage Grotesque"/>
                          <a:ea typeface="Bricolage Grotesque"/>
                          <a:cs typeface="Bricolage Grotesque"/>
                          <a:sym typeface="Bricolage Grotesque"/>
                        </a:rPr>
                        <a:t>Temel Güçlü Yönler</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ChatGPT</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~45%</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Tarife karşılaştırmaları, “hangi paket bana uygun?”, kullanım senaryosu bazlı öneriler (öğrenci, gamer, yoğun data kullanımı), sade ve karar destekli açıklamalar</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Perplexity</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~30%</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Kaynak gösterimli operatör karşılaştırmaları, fiyat/GB analizleri, şeffaf tablo ve teknik özetler</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Gemini</a:t>
                      </a:r>
                      <a:endParaRPr b="1"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~25%</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Google ekosistem entegrasyonu, lokal arama (“yakınımdaki bayiler”), multimodal arama (harita + kampanya + görsel), kategori keşfi (fiber, 5G, eSIM)</a:t>
                      </a:r>
                      <a:endParaRPr sz="23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70" name="Google Shape;170;g3c881079c58_0_193"/>
          <p:cNvSpPr txBox="1"/>
          <p:nvPr/>
        </p:nvSpPr>
        <p:spPr>
          <a:xfrm>
            <a:off x="12182125" y="9000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Bricolage Grotesque"/>
              <a:ea typeface="Bricolage Grotesque"/>
              <a:cs typeface="Bricolage Grotesque"/>
              <a:sym typeface="Bricolage Grotesque"/>
            </a:endParaRPr>
          </a:p>
        </p:txBody>
      </p:sp>
      <p:sp>
        <p:nvSpPr>
          <p:cNvPr id="171" name="Google Shape;171;g3c881079c58_0_193"/>
          <p:cNvSpPr/>
          <p:nvPr/>
        </p:nvSpPr>
        <p:spPr>
          <a:xfrm>
            <a:off x="6332025" y="9649700"/>
            <a:ext cx="3198900" cy="1913100"/>
          </a:xfrm>
          <a:prstGeom prst="wedgeRectCallout">
            <a:avLst>
              <a:gd fmla="val -22274" name="adj1"/>
              <a:gd fmla="val -68374" name="adj2"/>
            </a:avLst>
          </a:prstGeom>
          <a:solidFill>
            <a:srgbClr val="ED7D31"/>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solidFill>
                  <a:srgbClr val="FFFFFF"/>
                </a:solidFill>
                <a:latin typeface="Bricolage Grotesque"/>
                <a:ea typeface="Bricolage Grotesque"/>
                <a:cs typeface="Bricolage Grotesque"/>
                <a:sym typeface="Bricolage Grotesque"/>
              </a:rPr>
              <a:t>Ağırlıklar; telekom kullanıcı yolculuğunda AI kullanım eğilimlerini ve organik görünürlük üzerindeki potansiyel etkisini yansıtır.</a:t>
            </a:r>
            <a:endParaRPr sz="1600">
              <a:solidFill>
                <a:srgbClr val="FFFFFF"/>
              </a:solidFill>
            </a:endParaRPr>
          </a:p>
        </p:txBody>
      </p:sp>
      <p:pic>
        <p:nvPicPr>
          <p:cNvPr id="172" name="Google Shape;172;g3c881079c58_0_193" title="Screenshot_2026-02-01_at_02.31.17-removebg-preview.png"/>
          <p:cNvPicPr preferRelativeResize="0"/>
          <p:nvPr/>
        </p:nvPicPr>
        <p:blipFill>
          <a:blip r:embed="rId6">
            <a:alphaModFix/>
          </a:blip>
          <a:stretch>
            <a:fillRect/>
          </a:stretch>
        </p:blipFill>
        <p:spPr>
          <a:xfrm>
            <a:off x="18477700" y="8148272"/>
            <a:ext cx="5519200" cy="4846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77" name="Shape 177"/>
        <p:cNvGrpSpPr/>
        <p:nvPr/>
      </p:nvGrpSpPr>
      <p:grpSpPr>
        <a:xfrm>
          <a:off x="0" y="0"/>
          <a:ext cx="0" cy="0"/>
          <a:chOff x="0" y="0"/>
          <a:chExt cx="0" cy="0"/>
        </a:xfrm>
      </p:grpSpPr>
      <p:pic>
        <p:nvPicPr>
          <p:cNvPr descr=" " id="178" name="Google Shape;178;g3c881079c58_0_21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179" name="Google Shape;179;g3c881079c58_0_21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180" name="Google Shape;180;g3c881079c58_0_21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181" name="Google Shape;181;g3c881079c58_0_21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c881079c58_0_21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183" name="Google Shape;183;g3c881079c58_0_21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Kullanıcı Davranışı Değişimi: Aramadan Sormaya</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184" name="Google Shape;184;g3c881079c58_0_218"/>
          <p:cNvSpPr txBox="1"/>
          <p:nvPr/>
        </p:nvSpPr>
        <p:spPr>
          <a:xfrm>
            <a:off x="722775" y="3430600"/>
            <a:ext cx="14161500" cy="507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Kullanıcılar artık “20 GB tarife” yerine tam sorular yazıyor.</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“Yoğun sosyal medya kullanıyorum, bana hangi paket uygun?” gibi doğal dil ve ihtiyaç odaklı sorgular artıyor.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Net, pratik ve karar destekli açıklamalar bekliyorlar.</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Kullanıcılar yalnızca paket listesi değil; fiyat/GB analizi, hız bilgisi, taahhüt süresi ve karşılaştırmalı öneri istiyor.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AI araçları operatör sitelerinde uzun gezinme ihtiyacını azaltıyor.</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Karşılaştırmalar, avantaj/dezavantaj özetleri ve öneriler tek ekranda sunuluyor.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AI kullanıcılarının %40–50’si dış siteye gitmeden karar verebiliyor.</a:t>
            </a:r>
            <a:br>
              <a:rPr b="1"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 Bu durum görünürlüğü tıklama odaklı olmaktan çıkarıp, AI tarafından referans gösterilmeye doğru kaydırıyor.</a:t>
            </a:r>
            <a:endParaRPr sz="2300">
              <a:solidFill>
                <a:schemeClr val="dk1"/>
              </a:solidFill>
              <a:latin typeface="Bricolage Grotesque"/>
              <a:ea typeface="Bricolage Grotesque"/>
              <a:cs typeface="Bricolage Grotesque"/>
              <a:sym typeface="Bricolage Grotesque"/>
            </a:endParaRPr>
          </a:p>
        </p:txBody>
      </p:sp>
      <p:sp>
        <p:nvSpPr>
          <p:cNvPr id="185" name="Google Shape;185;g3c881079c58_0_218"/>
          <p:cNvSpPr txBox="1"/>
          <p:nvPr/>
        </p:nvSpPr>
        <p:spPr>
          <a:xfrm>
            <a:off x="4879275" y="10502525"/>
            <a:ext cx="1515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latin typeface="Bricolage Grotesque"/>
                <a:ea typeface="Bricolage Grotesque"/>
                <a:cs typeface="Bricolage Grotesque"/>
                <a:sym typeface="Bricolage Grotesque"/>
              </a:rPr>
              <a:t>“Tarife aramak”tan → “Bana en uygun paketi sor” aşamasına geçiş yaşanıyor.</a:t>
            </a:r>
            <a:endParaRPr sz="3200">
              <a:latin typeface="Bricolage Grotesque"/>
              <a:ea typeface="Bricolage Grotesque"/>
              <a:cs typeface="Bricolage Grotesque"/>
              <a:sym typeface="Bricolage Grotesque"/>
            </a:endParaRPr>
          </a:p>
        </p:txBody>
      </p:sp>
      <p:sp>
        <p:nvSpPr>
          <p:cNvPr id="186" name="Google Shape;186;g3c881079c58_0_218"/>
          <p:cNvSpPr txBox="1"/>
          <p:nvPr/>
        </p:nvSpPr>
        <p:spPr>
          <a:xfrm>
            <a:off x="20587050" y="8860038"/>
            <a:ext cx="3520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100">
                <a:solidFill>
                  <a:srgbClr val="000000"/>
                </a:solidFill>
              </a:rPr>
              <a:t>Photo by</a:t>
            </a:r>
            <a:r>
              <a:rPr i="1" lang="en-US" sz="1100">
                <a:solidFill>
                  <a:srgbClr val="000000"/>
                </a:solidFill>
                <a:uFill>
                  <a:noFill/>
                </a:uFill>
                <a:hlinkClick r:id="rId6">
                  <a:extLst>
                    <a:ext uri="{A12FA001-AC4F-418D-AE19-62706E023703}">
                      <ahyp:hlinkClr val="tx"/>
                    </a:ext>
                  </a:extLst>
                </a:hlinkClick>
              </a:rPr>
              <a:t> </a:t>
            </a:r>
            <a:r>
              <a:rPr i="1" lang="en-US" sz="1100" u="sng">
                <a:solidFill>
                  <a:srgbClr val="0563C1"/>
                </a:solidFill>
                <a:hlinkClick r:id="rId7">
                  <a:extLst>
                    <a:ext uri="{A12FA001-AC4F-418D-AE19-62706E023703}">
                      <ahyp:hlinkClr val="tx"/>
                    </a:ext>
                  </a:extLst>
                </a:hlinkClick>
              </a:rPr>
              <a:t>Glenn Carstens-Peters</a:t>
            </a:r>
            <a:r>
              <a:rPr i="1" lang="en-US" sz="1100">
                <a:solidFill>
                  <a:srgbClr val="000000"/>
                </a:solidFill>
              </a:rPr>
              <a:t> on</a:t>
            </a:r>
            <a:r>
              <a:rPr i="1" lang="en-US" sz="1100">
                <a:solidFill>
                  <a:srgbClr val="000000"/>
                </a:solidFill>
                <a:uFill>
                  <a:noFill/>
                </a:uFill>
                <a:hlinkClick r:id="rId8">
                  <a:extLst>
                    <a:ext uri="{A12FA001-AC4F-418D-AE19-62706E023703}">
                      <ahyp:hlinkClr val="tx"/>
                    </a:ext>
                  </a:extLst>
                </a:hlinkClick>
              </a:rPr>
              <a:t> </a:t>
            </a:r>
            <a:r>
              <a:rPr i="1" lang="en-US" sz="1100" u="sng">
                <a:solidFill>
                  <a:srgbClr val="0563C1"/>
                </a:solidFill>
                <a:hlinkClick r:id="rId9">
                  <a:extLst>
                    <a:ext uri="{A12FA001-AC4F-418D-AE19-62706E023703}">
                      <ahyp:hlinkClr val="tx"/>
                    </a:ext>
                  </a:extLst>
                </a:hlinkClick>
              </a:rPr>
              <a:t>Unsplash</a:t>
            </a:r>
            <a:endParaRPr i="1"/>
          </a:p>
        </p:txBody>
      </p:sp>
      <p:pic>
        <p:nvPicPr>
          <p:cNvPr id="187" name="Google Shape;187;g3c881079c58_0_218" title="glenn-carstens-peters-npxXWgQ33ZQ-unsplash.jpg"/>
          <p:cNvPicPr preferRelativeResize="0"/>
          <p:nvPr/>
        </p:nvPicPr>
        <p:blipFill>
          <a:blip r:embed="rId10">
            <a:alphaModFix/>
          </a:blip>
          <a:stretch>
            <a:fillRect/>
          </a:stretch>
        </p:blipFill>
        <p:spPr>
          <a:xfrm>
            <a:off x="15484600" y="3246563"/>
            <a:ext cx="8282726" cy="55123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192" name="Shape 192"/>
        <p:cNvGrpSpPr/>
        <p:nvPr/>
      </p:nvGrpSpPr>
      <p:grpSpPr>
        <a:xfrm>
          <a:off x="0" y="0"/>
          <a:ext cx="0" cy="0"/>
          <a:chOff x="0" y="0"/>
          <a:chExt cx="0" cy="0"/>
        </a:xfrm>
      </p:grpSpPr>
      <p:pic>
        <p:nvPicPr>
          <p:cNvPr descr=" " id="193" name="Google Shape;193;g3c881079c58_0_240"/>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194" name="Google Shape;194;g3c881079c58_0_240"/>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195" name="Google Shape;195;g3c881079c58_0_240"/>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196" name="Google Shape;196;g3c881079c58_0_240"/>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c881079c58_0_240"/>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198" name="Google Shape;198;g3c881079c58_0_240"/>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Sınırlamalar &amp; Fırsatlar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199" name="Google Shape;199;g3c881079c58_0_240"/>
          <p:cNvSpPr txBox="1"/>
          <p:nvPr/>
        </p:nvSpPr>
        <p:spPr>
          <a:xfrm>
            <a:off x="5352261" y="3010463"/>
            <a:ext cx="2633400" cy="940200"/>
          </a:xfrm>
          <a:prstGeom prst="rect">
            <a:avLst/>
          </a:prstGeom>
          <a:noFill/>
          <a:ln>
            <a:noFill/>
          </a:ln>
        </p:spPr>
        <p:txBody>
          <a:bodyPr anchorCtr="0" anchor="t" bIns="214800" lIns="214800" spcFirstLastPara="1" rIns="214800" wrap="square" tIns="214800">
            <a:spAutoFit/>
          </a:bodyPr>
          <a:lstStyle/>
          <a:p>
            <a:pPr indent="0" lvl="0" marL="0" rtl="0" algn="l">
              <a:lnSpc>
                <a:spcPct val="115000"/>
              </a:lnSpc>
              <a:spcBef>
                <a:spcPts val="2819"/>
              </a:spcBef>
              <a:spcAft>
                <a:spcPts val="2819"/>
              </a:spcAft>
              <a:buNone/>
            </a:pPr>
            <a:r>
              <a:rPr b="1" lang="en-US" sz="3289">
                <a:solidFill>
                  <a:srgbClr val="003153"/>
                </a:solidFill>
                <a:latin typeface="Calibri"/>
                <a:ea typeface="Calibri"/>
                <a:cs typeface="Calibri"/>
                <a:sym typeface="Calibri"/>
              </a:rPr>
              <a:t>Sınırlamalar</a:t>
            </a:r>
            <a:endParaRPr sz="2584">
              <a:solidFill>
                <a:srgbClr val="003153"/>
              </a:solidFill>
              <a:latin typeface="Calibri"/>
              <a:ea typeface="Calibri"/>
              <a:cs typeface="Calibri"/>
              <a:sym typeface="Calibri"/>
            </a:endParaRPr>
          </a:p>
        </p:txBody>
      </p:sp>
      <p:sp>
        <p:nvSpPr>
          <p:cNvPr id="200" name="Google Shape;200;g3c881079c58_0_240"/>
          <p:cNvSpPr/>
          <p:nvPr/>
        </p:nvSpPr>
        <p:spPr>
          <a:xfrm>
            <a:off x="13483300" y="4155650"/>
            <a:ext cx="9261600" cy="6549900"/>
          </a:xfrm>
          <a:prstGeom prst="roundRect">
            <a:avLst>
              <a:gd fmla="val 16667" name="adj"/>
            </a:avLst>
          </a:prstGeom>
          <a:noFill/>
          <a:ln cap="flat" cmpd="sng" w="22375">
            <a:solidFill>
              <a:srgbClr val="7F7F7F"/>
            </a:solidFill>
            <a:prstDash val="solid"/>
            <a:round/>
            <a:headEnd len="sm" w="sm" type="none"/>
            <a:tailEnd len="sm" w="sm" type="none"/>
          </a:ln>
        </p:spPr>
        <p:txBody>
          <a:bodyPr anchorCtr="0" anchor="ctr" bIns="214800" lIns="214800" spcFirstLastPara="1" rIns="214800" wrap="square" tIns="214800">
            <a:noAutofit/>
          </a:bodyPr>
          <a:lstStyle/>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latin typeface="Bricolage Grotesque"/>
                <a:ea typeface="Bricolage Grotesque"/>
                <a:cs typeface="Bricolage Grotesque"/>
                <a:sym typeface="Bricolage Grotesque"/>
              </a:rPr>
              <a:t>Net ve iyi yapılandırılmış tarife ve kategori içerikleri daha görünür olur:</a:t>
            </a:r>
            <a:br>
              <a:rPr b="1" lang="en-US" sz="1900">
                <a:solidFill>
                  <a:schemeClr val="dk1"/>
                </a:solidFill>
                <a:latin typeface="Bricolage Grotesque"/>
                <a:ea typeface="Bricolage Grotesque"/>
                <a:cs typeface="Bricolage Grotesque"/>
                <a:sym typeface="Bricolage Grotesque"/>
              </a:rPr>
            </a:br>
            <a:r>
              <a:rPr lang="en-US" sz="1900">
                <a:solidFill>
                  <a:schemeClr val="dk1"/>
                </a:solidFill>
                <a:latin typeface="Bricolage Grotesque"/>
                <a:ea typeface="Bricolage Grotesque"/>
                <a:cs typeface="Bricolage Grotesque"/>
                <a:sym typeface="Bricolage Grotesque"/>
              </a:rPr>
              <a:t>AI sistemleri; paket farklarını, kullanım senaryolarını ve avantajları açık anlatan markaları tercih eder.</a:t>
            </a:r>
            <a:endParaRPr sz="19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latin typeface="Bricolage Grotesque"/>
                <a:ea typeface="Bricolage Grotesque"/>
                <a:cs typeface="Bricolage Grotesque"/>
                <a:sym typeface="Bricolage Grotesque"/>
              </a:rPr>
              <a:t>Güçlü marka güveni ve içerik kalitesi rekabet avantajı sağlar:</a:t>
            </a:r>
            <a:br>
              <a:rPr b="1" lang="en-US" sz="1900">
                <a:solidFill>
                  <a:schemeClr val="dk1"/>
                </a:solidFill>
                <a:latin typeface="Bricolage Grotesque"/>
                <a:ea typeface="Bricolage Grotesque"/>
                <a:cs typeface="Bricolage Grotesque"/>
                <a:sym typeface="Bricolage Grotesque"/>
              </a:rPr>
            </a:br>
            <a:r>
              <a:rPr lang="en-US" sz="1900">
                <a:solidFill>
                  <a:schemeClr val="dk1"/>
                </a:solidFill>
                <a:latin typeface="Bricolage Grotesque"/>
                <a:ea typeface="Bricolage Grotesque"/>
                <a:cs typeface="Bricolage Grotesque"/>
                <a:sym typeface="Bricolage Grotesque"/>
              </a:rPr>
              <a:t>Güvenilir operatör siteleri karşılaştırma ve öneri içeriklerinde daha sık referans gösterilir.</a:t>
            </a:r>
            <a:endParaRPr sz="19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Clr>
                <a:schemeClr val="dk1"/>
              </a:buClr>
              <a:buSzPts val="1100"/>
              <a:buFont typeface="Arial"/>
              <a:buNone/>
            </a:pPr>
            <a:r>
              <a:rPr b="1" lang="en-US" sz="1900">
                <a:solidFill>
                  <a:schemeClr val="dk1"/>
                </a:solidFill>
                <a:latin typeface="Bricolage Grotesque"/>
                <a:ea typeface="Bricolage Grotesque"/>
                <a:cs typeface="Bricolage Grotesque"/>
                <a:sym typeface="Bricolage Grotesque"/>
              </a:rPr>
              <a:t>AI’ın eksik bıraktığı ticari bağlamı markalar doldurabilir:</a:t>
            </a:r>
            <a:br>
              <a:rPr b="1" lang="en-US" sz="1900">
                <a:solidFill>
                  <a:schemeClr val="dk1"/>
                </a:solidFill>
                <a:latin typeface="Bricolage Grotesque"/>
                <a:ea typeface="Bricolage Grotesque"/>
                <a:cs typeface="Bricolage Grotesque"/>
                <a:sym typeface="Bricolage Grotesque"/>
              </a:rPr>
            </a:br>
            <a:r>
              <a:rPr lang="en-US" sz="1900">
                <a:solidFill>
                  <a:schemeClr val="dk1"/>
                </a:solidFill>
                <a:latin typeface="Bricolage Grotesque"/>
                <a:ea typeface="Bricolage Grotesque"/>
                <a:cs typeface="Bricolage Grotesque"/>
                <a:sym typeface="Bricolage Grotesque"/>
              </a:rPr>
              <a:t>Karşılaştırma rehberleri, “hangi paket bana uygun?” içerikleri, hız rehberleri ve altyapı açıklamaları görünürlüğü artırır.</a:t>
            </a:r>
            <a:endParaRPr b="1" sz="1900">
              <a:latin typeface="Bricolage Grotesque"/>
              <a:ea typeface="Bricolage Grotesque"/>
              <a:cs typeface="Bricolage Grotesque"/>
              <a:sym typeface="Bricolage Grotesque"/>
            </a:endParaRPr>
          </a:p>
        </p:txBody>
      </p:sp>
      <p:sp>
        <p:nvSpPr>
          <p:cNvPr id="201" name="Google Shape;201;g3c881079c58_0_240"/>
          <p:cNvSpPr/>
          <p:nvPr/>
        </p:nvSpPr>
        <p:spPr>
          <a:xfrm>
            <a:off x="2305900" y="4155650"/>
            <a:ext cx="9261600" cy="6549900"/>
          </a:xfrm>
          <a:prstGeom prst="roundRect">
            <a:avLst>
              <a:gd fmla="val 16667" name="adj"/>
            </a:avLst>
          </a:prstGeom>
          <a:noFill/>
          <a:ln cap="flat" cmpd="sng" w="22375">
            <a:solidFill>
              <a:srgbClr val="7F7F7F"/>
            </a:solidFill>
            <a:prstDash val="solid"/>
            <a:round/>
            <a:headEnd len="sm" w="sm" type="none"/>
            <a:tailEnd len="sm" w="sm" type="none"/>
          </a:ln>
        </p:spPr>
        <p:txBody>
          <a:bodyPr anchorCtr="0" anchor="ctr" bIns="214800" lIns="214800" spcFirstLastPara="1" rIns="214800" wrap="square" tIns="214800">
            <a:noAutofit/>
          </a:bodyPr>
          <a:lstStyle/>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latin typeface="Bricolage Grotesque"/>
                <a:ea typeface="Bricolage Grotesque"/>
                <a:cs typeface="Bricolage Grotesque"/>
                <a:sym typeface="Bricolage Grotesque"/>
              </a:rPr>
              <a:t>AI, hatalı veya aşırı basitleştirilmiş tarife bilgileri üretebilir:</a:t>
            </a:r>
            <a:br>
              <a:rPr b="1" lang="en-US" sz="1900">
                <a:solidFill>
                  <a:schemeClr val="dk1"/>
                </a:solidFill>
                <a:latin typeface="Bricolage Grotesque"/>
                <a:ea typeface="Bricolage Grotesque"/>
                <a:cs typeface="Bricolage Grotesque"/>
                <a:sym typeface="Bricolage Grotesque"/>
              </a:rPr>
            </a:br>
            <a:r>
              <a:rPr lang="en-US" sz="1900">
                <a:solidFill>
                  <a:schemeClr val="dk1"/>
                </a:solidFill>
                <a:latin typeface="Bricolage Grotesque"/>
                <a:ea typeface="Bricolage Grotesque"/>
                <a:cs typeface="Bricolage Grotesque"/>
                <a:sym typeface="Bricolage Grotesque"/>
              </a:rPr>
              <a:t>Özellikle paket detayları, hız limitleri, adil kullanım koşulları veya kampanya şartları net değilse.</a:t>
            </a:r>
            <a:endParaRPr sz="19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b="1" lang="en-US" sz="1900">
                <a:solidFill>
                  <a:schemeClr val="dk1"/>
                </a:solidFill>
                <a:latin typeface="Bricolage Grotesque"/>
                <a:ea typeface="Bricolage Grotesque"/>
                <a:cs typeface="Bricolage Grotesque"/>
                <a:sym typeface="Bricolage Grotesque"/>
              </a:rPr>
              <a:t>Ticari bağlama optimize edilmemiş modeller kullanıcı niyetini yanlış yorumlayabilir:</a:t>
            </a:r>
            <a:br>
              <a:rPr b="1" lang="en-US" sz="1900">
                <a:solidFill>
                  <a:schemeClr val="dk1"/>
                </a:solidFill>
                <a:latin typeface="Bricolage Grotesque"/>
                <a:ea typeface="Bricolage Grotesque"/>
                <a:cs typeface="Bricolage Grotesque"/>
                <a:sym typeface="Bricolage Grotesque"/>
              </a:rPr>
            </a:br>
            <a:r>
              <a:rPr lang="en-US" sz="1900">
                <a:solidFill>
                  <a:schemeClr val="dk1"/>
                </a:solidFill>
                <a:latin typeface="Bricolage Grotesque"/>
                <a:ea typeface="Bricolage Grotesque"/>
                <a:cs typeface="Bricolage Grotesque"/>
                <a:sym typeface="Bricolage Grotesque"/>
              </a:rPr>
              <a:t>Örneğin; kullanım yoğunluğu, cihaz uyumluluğu, eSIM gereksinimi veya fiber altyapı uygunluğu gibi durumlarda.</a:t>
            </a:r>
            <a:endParaRPr sz="19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b="1" lang="en-US" sz="1900">
                <a:solidFill>
                  <a:schemeClr val="dk1"/>
                </a:solidFill>
                <a:latin typeface="Bricolage Grotesque"/>
                <a:ea typeface="Bricolage Grotesque"/>
                <a:cs typeface="Bricolage Grotesque"/>
                <a:sym typeface="Bricolage Grotesque"/>
              </a:rPr>
              <a:t>Fiyat, stok (cihaz), kampanya ve bölgesel uygunluk bilgileri motorlar arasında farklılık gösterebilir:</a:t>
            </a:r>
            <a:br>
              <a:rPr b="1" lang="en-US" sz="1900">
                <a:solidFill>
                  <a:schemeClr val="dk1"/>
                </a:solidFill>
                <a:latin typeface="Bricolage Grotesque"/>
                <a:ea typeface="Bricolage Grotesque"/>
                <a:cs typeface="Bricolage Grotesque"/>
                <a:sym typeface="Bricolage Grotesque"/>
              </a:rPr>
            </a:br>
            <a:r>
              <a:rPr lang="en-US" sz="1900">
                <a:solidFill>
                  <a:schemeClr val="dk1"/>
                </a:solidFill>
                <a:latin typeface="Bricolage Grotesque"/>
                <a:ea typeface="Bricolage Grotesque"/>
                <a:cs typeface="Bricolage Grotesque"/>
                <a:sym typeface="Bricolage Grotesque"/>
              </a:rPr>
              <a:t>AI yanıtları her zaman güncel kampanya, kota veya bölgesel altyapı bilgisini yansıtmayabilir.</a:t>
            </a:r>
            <a:endParaRPr b="1" sz="1900">
              <a:latin typeface="Bricolage Grotesque"/>
              <a:ea typeface="Bricolage Grotesque"/>
              <a:cs typeface="Bricolage Grotesque"/>
              <a:sym typeface="Bricolage Grotesque"/>
            </a:endParaRPr>
          </a:p>
        </p:txBody>
      </p:sp>
      <p:sp>
        <p:nvSpPr>
          <p:cNvPr id="202" name="Google Shape;202;g3c881079c58_0_240"/>
          <p:cNvSpPr txBox="1"/>
          <p:nvPr/>
        </p:nvSpPr>
        <p:spPr>
          <a:xfrm>
            <a:off x="17152750" y="3010475"/>
            <a:ext cx="1922700" cy="940200"/>
          </a:xfrm>
          <a:prstGeom prst="rect">
            <a:avLst/>
          </a:prstGeom>
          <a:noFill/>
          <a:ln>
            <a:noFill/>
          </a:ln>
        </p:spPr>
        <p:txBody>
          <a:bodyPr anchorCtr="0" anchor="t" bIns="214800" lIns="214800" spcFirstLastPara="1" rIns="214800" wrap="square" tIns="214800">
            <a:spAutoFit/>
          </a:bodyPr>
          <a:lstStyle/>
          <a:p>
            <a:pPr indent="0" lvl="0" marL="0" rtl="0" algn="l">
              <a:lnSpc>
                <a:spcPct val="115000"/>
              </a:lnSpc>
              <a:spcBef>
                <a:spcPts val="2819"/>
              </a:spcBef>
              <a:spcAft>
                <a:spcPts val="2819"/>
              </a:spcAft>
              <a:buNone/>
            </a:pPr>
            <a:r>
              <a:rPr b="1" lang="en-US" sz="3289">
                <a:solidFill>
                  <a:srgbClr val="003153"/>
                </a:solidFill>
                <a:latin typeface="Calibri"/>
                <a:ea typeface="Calibri"/>
                <a:cs typeface="Calibri"/>
                <a:sym typeface="Calibri"/>
              </a:rPr>
              <a:t>Fırsatlar</a:t>
            </a:r>
            <a:endParaRPr sz="2584">
              <a:solidFill>
                <a:srgbClr val="003153"/>
              </a:solidFill>
              <a:latin typeface="Calibri"/>
              <a:ea typeface="Calibri"/>
              <a:cs typeface="Calibri"/>
              <a:sym typeface="Calibri"/>
            </a:endParaRPr>
          </a:p>
        </p:txBody>
      </p:sp>
      <p:sp>
        <p:nvSpPr>
          <p:cNvPr id="203" name="Google Shape;203;g3c881079c58_0_240"/>
          <p:cNvSpPr txBox="1"/>
          <p:nvPr/>
        </p:nvSpPr>
        <p:spPr>
          <a:xfrm>
            <a:off x="9039800" y="12174575"/>
            <a:ext cx="137964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2300">
                <a:latin typeface="Bricolage Grotesque"/>
                <a:ea typeface="Bricolage Grotesque"/>
                <a:cs typeface="Bricolage Grotesque"/>
                <a:sym typeface="Bricolage Grotesque"/>
              </a:rPr>
              <a:t>Telekomda görünürlük artık “kim daha çok paket listeliyor?”dan → “kim daha iyi açıklıyor?”a kayıyor.</a:t>
            </a:r>
            <a:endParaRPr i="1" sz="2300">
              <a:solidFill>
                <a:srgbClr val="000000"/>
              </a:solidFill>
              <a:latin typeface="Bricolage Grotesque"/>
              <a:ea typeface="Bricolage Grotesque"/>
              <a:cs typeface="Bricolage Grotesque"/>
              <a:sym typeface="Bricolage Grotesq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08" name="Shape 208"/>
        <p:cNvGrpSpPr/>
        <p:nvPr/>
      </p:nvGrpSpPr>
      <p:grpSpPr>
        <a:xfrm>
          <a:off x="0" y="0"/>
          <a:ext cx="0" cy="0"/>
          <a:chOff x="0" y="0"/>
          <a:chExt cx="0" cy="0"/>
        </a:xfrm>
      </p:grpSpPr>
      <p:pic>
        <p:nvPicPr>
          <p:cNvPr descr=" " id="209" name="Google Shape;209;g3c881079c58_0_261"/>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210" name="Google Shape;210;g3c881079c58_0_261"/>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211" name="Google Shape;211;g3c881079c58_0_261"/>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212" name="Google Shape;212;g3c881079c58_0_261"/>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c881079c58_0_261"/>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214" name="Google Shape;214;g3c881079c58_0_261"/>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Görünürlüğü Ne Belirliyor? / Neler Yapmalıyız?</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215" name="Google Shape;215;g3c881079c58_0_261"/>
          <p:cNvSpPr/>
          <p:nvPr/>
        </p:nvSpPr>
        <p:spPr>
          <a:xfrm>
            <a:off x="1052200" y="3686450"/>
            <a:ext cx="4576200" cy="7051800"/>
          </a:xfrm>
          <a:prstGeom prst="roundRect">
            <a:avLst>
              <a:gd fmla="val 16667" name="adj"/>
            </a:avLst>
          </a:prstGeom>
          <a:solidFill>
            <a:srgbClr val="003153"/>
          </a:solidFill>
          <a:ln cap="flat" cmpd="sng" w="24175">
            <a:solidFill>
              <a:srgbClr val="7F7F7F"/>
            </a:solidFill>
            <a:prstDash val="solid"/>
            <a:round/>
            <a:headEnd len="sm" w="sm" type="none"/>
            <a:tailEnd len="sm" w="sm" type="none"/>
          </a:ln>
        </p:spPr>
        <p:txBody>
          <a:bodyPr anchorCtr="0" anchor="t" bIns="232025" lIns="232025" spcFirstLastPara="1" rIns="232025" wrap="square" tIns="232025">
            <a:noAutofit/>
          </a:bodyPr>
          <a:lstStyle/>
          <a:p>
            <a:pPr indent="0" lvl="0" marL="0" rtl="0" algn="l">
              <a:lnSpc>
                <a:spcPct val="115000"/>
              </a:lnSpc>
              <a:spcBef>
                <a:spcPts val="3046"/>
              </a:spcBef>
              <a:spcAft>
                <a:spcPts val="0"/>
              </a:spcAft>
              <a:buNone/>
            </a:pPr>
            <a:r>
              <a:rPr b="1" lang="en-US" sz="2300">
                <a:solidFill>
                  <a:srgbClr val="FFFFFF"/>
                </a:solidFill>
                <a:latin typeface="Bricolage Grotesque"/>
                <a:ea typeface="Bricolage Grotesque"/>
                <a:cs typeface="Bricolage Grotesque"/>
                <a:sym typeface="Bricolage Grotesque"/>
              </a:rPr>
              <a:t>Güçlü İçerik &amp; Teknik Kalite</a:t>
            </a:r>
            <a:endParaRPr b="1"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t/>
            </a:r>
            <a:endParaRPr b="1"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Net, doğru ve güncel tarife ile kategori içerikleri</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Hızlı, stabil site altyapısı ve doğru yapılandırılmış veri (schema)</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3046"/>
              </a:spcAft>
              <a:buNone/>
            </a:pPr>
            <a:r>
              <a:rPr lang="en-US" sz="2000">
                <a:solidFill>
                  <a:srgbClr val="FFFFFF"/>
                </a:solidFill>
                <a:latin typeface="Bricolage Grotesque"/>
                <a:ea typeface="Bricolage Grotesque"/>
                <a:cs typeface="Bricolage Grotesque"/>
                <a:sym typeface="Bricolage Grotesque"/>
              </a:rPr>
              <a:t>Güçlü UX, filtreleme, güven sinyalleri (taahhüt şartları, kampanya detayları, müşteri yorumları)</a:t>
            </a:r>
            <a:endParaRPr sz="2000">
              <a:solidFill>
                <a:srgbClr val="FFFFFF"/>
              </a:solidFill>
              <a:latin typeface="Bricolage Grotesque"/>
              <a:ea typeface="Bricolage Grotesque"/>
              <a:cs typeface="Bricolage Grotesque"/>
              <a:sym typeface="Bricolage Grotesque"/>
            </a:endParaRPr>
          </a:p>
        </p:txBody>
      </p:sp>
      <p:sp>
        <p:nvSpPr>
          <p:cNvPr id="216" name="Google Shape;216;g3c881079c58_0_261"/>
          <p:cNvSpPr/>
          <p:nvPr/>
        </p:nvSpPr>
        <p:spPr>
          <a:xfrm>
            <a:off x="12761024" y="3684550"/>
            <a:ext cx="4576200" cy="7051800"/>
          </a:xfrm>
          <a:prstGeom prst="roundRect">
            <a:avLst>
              <a:gd fmla="val 16667" name="adj"/>
            </a:avLst>
          </a:prstGeom>
          <a:solidFill>
            <a:srgbClr val="003153"/>
          </a:solidFill>
          <a:ln cap="flat" cmpd="sng" w="24175">
            <a:solidFill>
              <a:srgbClr val="7F7F7F"/>
            </a:solidFill>
            <a:prstDash val="solid"/>
            <a:round/>
            <a:headEnd len="sm" w="sm" type="none"/>
            <a:tailEnd len="sm" w="sm" type="none"/>
          </a:ln>
        </p:spPr>
        <p:txBody>
          <a:bodyPr anchorCtr="0" anchor="t" bIns="232025" lIns="232025" spcFirstLastPara="1" rIns="232025" wrap="square" tIns="232025">
            <a:noAutofit/>
          </a:bodyPr>
          <a:lstStyle/>
          <a:p>
            <a:pPr indent="0" lvl="0" marL="0" rtl="0" algn="l">
              <a:lnSpc>
                <a:spcPct val="115000"/>
              </a:lnSpc>
              <a:spcBef>
                <a:spcPts val="3046"/>
              </a:spcBef>
              <a:spcAft>
                <a:spcPts val="0"/>
              </a:spcAft>
              <a:buNone/>
            </a:pPr>
            <a:r>
              <a:rPr b="1" lang="en-US" sz="2300">
                <a:solidFill>
                  <a:srgbClr val="FFFFFF"/>
                </a:solidFill>
                <a:latin typeface="Bricolage Grotesque"/>
                <a:ea typeface="Bricolage Grotesque"/>
                <a:cs typeface="Bricolage Grotesque"/>
                <a:sym typeface="Bricolage Grotesque"/>
              </a:rPr>
              <a:t>AI Sıralama Dinamikleri</a:t>
            </a:r>
            <a:endParaRPr b="1" sz="23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t/>
            </a:r>
            <a:endParaRPr b="1"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Kısa, referans verilebilir ve net tarife açıklamaları</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Açık ilişki yapısı (kategori → kullanım senaryosu → paket → varyant)</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3046"/>
              </a:spcAft>
              <a:buNone/>
            </a:pPr>
            <a:r>
              <a:rPr lang="en-US" sz="2000">
                <a:solidFill>
                  <a:srgbClr val="FFFFFF"/>
                </a:solidFill>
                <a:latin typeface="Bricolage Grotesque"/>
                <a:ea typeface="Bricolage Grotesque"/>
                <a:cs typeface="Bricolage Grotesque"/>
                <a:sym typeface="Bricolage Grotesque"/>
              </a:rPr>
              <a:t>Çoklu format desteği: tablolar, karşılaştırma içerikleri, görseller, hız test rehberleri</a:t>
            </a:r>
            <a:endParaRPr sz="2000">
              <a:solidFill>
                <a:srgbClr val="FFFFFF"/>
              </a:solidFill>
              <a:latin typeface="Bricolage Grotesque"/>
              <a:ea typeface="Bricolage Grotesque"/>
              <a:cs typeface="Bricolage Grotesque"/>
              <a:sym typeface="Bricolage Grotesque"/>
            </a:endParaRPr>
          </a:p>
        </p:txBody>
      </p:sp>
      <p:sp>
        <p:nvSpPr>
          <p:cNvPr id="217" name="Google Shape;217;g3c881079c58_0_261"/>
          <p:cNvSpPr/>
          <p:nvPr/>
        </p:nvSpPr>
        <p:spPr>
          <a:xfrm>
            <a:off x="6763426" y="3686450"/>
            <a:ext cx="4576200" cy="7051800"/>
          </a:xfrm>
          <a:prstGeom prst="roundRect">
            <a:avLst>
              <a:gd fmla="val 16667" name="adj"/>
            </a:avLst>
          </a:prstGeom>
          <a:solidFill>
            <a:srgbClr val="003153"/>
          </a:solidFill>
          <a:ln cap="flat" cmpd="sng" w="24175">
            <a:solidFill>
              <a:srgbClr val="7F7F7F"/>
            </a:solidFill>
            <a:prstDash val="solid"/>
            <a:round/>
            <a:headEnd len="sm" w="sm" type="none"/>
            <a:tailEnd len="sm" w="sm" type="none"/>
          </a:ln>
        </p:spPr>
        <p:txBody>
          <a:bodyPr anchorCtr="0" anchor="t" bIns="232025" lIns="232025" spcFirstLastPara="1" rIns="232025" wrap="square" tIns="232025">
            <a:noAutofit/>
          </a:bodyPr>
          <a:lstStyle/>
          <a:p>
            <a:pPr indent="0" lvl="0" marL="0" rtl="0" algn="l">
              <a:lnSpc>
                <a:spcPct val="115000"/>
              </a:lnSpc>
              <a:spcBef>
                <a:spcPts val="3046"/>
              </a:spcBef>
              <a:spcAft>
                <a:spcPts val="0"/>
              </a:spcAft>
              <a:buNone/>
            </a:pPr>
            <a:r>
              <a:rPr b="1" lang="en-US" sz="2300">
                <a:solidFill>
                  <a:srgbClr val="FFFFFF"/>
                </a:solidFill>
                <a:latin typeface="Bricolage Grotesque"/>
                <a:ea typeface="Bricolage Grotesque"/>
                <a:cs typeface="Bricolage Grotesque"/>
                <a:sym typeface="Bricolage Grotesque"/>
              </a:rPr>
              <a:t>Otorite &amp; Kategori Derinliği</a:t>
            </a:r>
            <a:endParaRPr b="1" sz="23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t/>
            </a:r>
            <a:endParaRPr b="1"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Mobil, fiber, 5G, eSIM, cihaz &amp; paket kategorilerinde sahiplenilmiş içerik otoritesi</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Derin kategori kümeleri (karşılaştırmalar, rehberler, sıkça sorulan sorular)</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3046"/>
              </a:spcAft>
              <a:buNone/>
            </a:pPr>
            <a:r>
              <a:rPr lang="en-US" sz="2000">
                <a:solidFill>
                  <a:srgbClr val="FFFFFF"/>
                </a:solidFill>
                <a:latin typeface="Bricolage Grotesque"/>
                <a:ea typeface="Bricolage Grotesque"/>
                <a:cs typeface="Bricolage Grotesque"/>
                <a:sym typeface="Bricolage Grotesque"/>
              </a:rPr>
              <a:t>Mobil internet, ev interneti, cihaz kampanyaları gibi alanlarda tutarlı uzmanlık</a:t>
            </a:r>
            <a:endParaRPr sz="2000">
              <a:solidFill>
                <a:srgbClr val="FFFFFF"/>
              </a:solidFill>
              <a:latin typeface="Bricolage Grotesque"/>
              <a:ea typeface="Bricolage Grotesque"/>
              <a:cs typeface="Bricolage Grotesque"/>
              <a:sym typeface="Bricolage Grotesque"/>
            </a:endParaRPr>
          </a:p>
        </p:txBody>
      </p:sp>
      <p:sp>
        <p:nvSpPr>
          <p:cNvPr id="218" name="Google Shape;218;g3c881079c58_0_261"/>
          <p:cNvSpPr/>
          <p:nvPr/>
        </p:nvSpPr>
        <p:spPr>
          <a:xfrm>
            <a:off x="18758625" y="3718700"/>
            <a:ext cx="4576200" cy="6987300"/>
          </a:xfrm>
          <a:prstGeom prst="roundRect">
            <a:avLst>
              <a:gd fmla="val 16667" name="adj"/>
            </a:avLst>
          </a:prstGeom>
          <a:solidFill>
            <a:srgbClr val="003153"/>
          </a:solidFill>
          <a:ln cap="flat" cmpd="sng" w="24175">
            <a:solidFill>
              <a:srgbClr val="7F7F7F"/>
            </a:solidFill>
            <a:prstDash val="solid"/>
            <a:round/>
            <a:headEnd len="sm" w="sm" type="none"/>
            <a:tailEnd len="sm" w="sm" type="none"/>
          </a:ln>
        </p:spPr>
        <p:txBody>
          <a:bodyPr anchorCtr="0" anchor="t" bIns="232025" lIns="232025" spcFirstLastPara="1" rIns="232025" wrap="square" tIns="232025">
            <a:noAutofit/>
          </a:bodyPr>
          <a:lstStyle/>
          <a:p>
            <a:pPr indent="0" lvl="0" marL="0" rtl="0" algn="l">
              <a:lnSpc>
                <a:spcPct val="115000"/>
              </a:lnSpc>
              <a:spcBef>
                <a:spcPts val="3046"/>
              </a:spcBef>
              <a:spcAft>
                <a:spcPts val="0"/>
              </a:spcAft>
              <a:buNone/>
            </a:pPr>
            <a:r>
              <a:rPr b="1" lang="en-US" sz="2300">
                <a:solidFill>
                  <a:srgbClr val="FFFFFF"/>
                </a:solidFill>
                <a:latin typeface="Bricolage Grotesque"/>
                <a:ea typeface="Bricolage Grotesque"/>
                <a:cs typeface="Bricolage Grotesque"/>
                <a:sym typeface="Bricolage Grotesque"/>
              </a:rPr>
              <a:t>Gerçek Kullanım Senaryoları Önemli</a:t>
            </a:r>
            <a:endParaRPr b="1" sz="23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Öğrenci paketi, gamer paketi, yoğun sosyal medya kullanımı, evden çalışma gibi senaryolar</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0"/>
              </a:spcAft>
              <a:buNone/>
            </a:pPr>
            <a:r>
              <a:rPr lang="en-US" sz="2000">
                <a:solidFill>
                  <a:srgbClr val="FFFFFF"/>
                </a:solidFill>
                <a:latin typeface="Bricolage Grotesque"/>
                <a:ea typeface="Bricolage Grotesque"/>
                <a:cs typeface="Bricolage Grotesque"/>
                <a:sym typeface="Bricolage Grotesque"/>
              </a:rPr>
              <a:t>Kapsama alanı, hız ihtiyacı, kota yönetimi, cihaz uyumluluğu gibi bağlamsal içerikler</a:t>
            </a:r>
            <a:endParaRPr sz="2000">
              <a:solidFill>
                <a:srgbClr val="FFFFFF"/>
              </a:solidFill>
              <a:latin typeface="Bricolage Grotesque"/>
              <a:ea typeface="Bricolage Grotesque"/>
              <a:cs typeface="Bricolage Grotesque"/>
              <a:sym typeface="Bricolage Grotesque"/>
            </a:endParaRPr>
          </a:p>
          <a:p>
            <a:pPr indent="0" lvl="0" marL="0" rtl="0" algn="l">
              <a:lnSpc>
                <a:spcPct val="115000"/>
              </a:lnSpc>
              <a:spcBef>
                <a:spcPts val="3046"/>
              </a:spcBef>
              <a:spcAft>
                <a:spcPts val="3046"/>
              </a:spcAft>
              <a:buNone/>
            </a:pPr>
            <a:r>
              <a:rPr lang="en-US" sz="2000">
                <a:solidFill>
                  <a:srgbClr val="FFFFFF"/>
                </a:solidFill>
                <a:latin typeface="Bricolage Grotesque"/>
                <a:ea typeface="Bricolage Grotesque"/>
                <a:cs typeface="Bricolage Grotesque"/>
                <a:sym typeface="Bricolage Grotesque"/>
              </a:rPr>
              <a:t>“Bu paket bana uygun mu?” sorusuna net yanıt veren içerikler AI tarafından önceliklendirilir</a:t>
            </a:r>
            <a:endParaRPr sz="2000">
              <a:solidFill>
                <a:srgbClr val="FFFFFF"/>
              </a:solidFill>
              <a:latin typeface="Bricolage Grotesque"/>
              <a:ea typeface="Bricolage Grotesque"/>
              <a:cs typeface="Bricolage Grotesque"/>
              <a:sym typeface="Bricolage Grotesque"/>
            </a:endParaRPr>
          </a:p>
        </p:txBody>
      </p:sp>
      <p:sp>
        <p:nvSpPr>
          <p:cNvPr id="219" name="Google Shape;219;g3c881079c58_0_261"/>
          <p:cNvSpPr txBox="1"/>
          <p:nvPr/>
        </p:nvSpPr>
        <p:spPr>
          <a:xfrm>
            <a:off x="11084150" y="12057025"/>
            <a:ext cx="126843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2300">
                <a:latin typeface="Bricolage Grotesque"/>
                <a:ea typeface="Bricolage Grotesque"/>
                <a:cs typeface="Bricolage Grotesque"/>
                <a:sym typeface="Bricolage Grotesque"/>
              </a:rPr>
              <a:t>Telekomda görünürlük; sadece paket listeleyen değil, açıklayan, rehberlik eden ve karar kolaylaştıran markalar tarafından kazanılır.</a:t>
            </a:r>
            <a:endParaRPr i="1" sz="2300">
              <a:latin typeface="Bricolage Grotesque"/>
              <a:ea typeface="Bricolage Grotesque"/>
              <a:cs typeface="Bricolage Grotesque"/>
              <a:sym typeface="Bricolage Grotesq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24" name="Shape 224"/>
        <p:cNvGrpSpPr/>
        <p:nvPr/>
      </p:nvGrpSpPr>
      <p:grpSpPr>
        <a:xfrm>
          <a:off x="0" y="0"/>
          <a:ext cx="0" cy="0"/>
          <a:chOff x="0" y="0"/>
          <a:chExt cx="0" cy="0"/>
        </a:xfrm>
      </p:grpSpPr>
      <p:pic>
        <p:nvPicPr>
          <p:cNvPr descr=" " id="225" name="Google Shape;225;g3c881079c58_0_28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226" name="Google Shape;226;g3c881079c58_0_28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227" name="Google Shape;227;g3c881079c58_0_28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228" name="Google Shape;228;g3c881079c58_0_28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3c881079c58_0_28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Dijital Trendler</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sz="2400">
              <a:solidFill>
                <a:srgbClr val="FF7B52"/>
              </a:solidFill>
              <a:latin typeface="Outfit"/>
              <a:ea typeface="Outfit"/>
              <a:cs typeface="Outfit"/>
              <a:sym typeface="Outfit"/>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230" name="Google Shape;230;g3c881079c58_0_28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AI Çağında Tüketici Yolculuğunu Kazanmak İçin Gerekenler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231" name="Google Shape;231;g3c881079c58_0_288"/>
          <p:cNvSpPr/>
          <p:nvPr/>
        </p:nvSpPr>
        <p:spPr>
          <a:xfrm>
            <a:off x="-8" y="6104840"/>
            <a:ext cx="4098000" cy="1908000"/>
          </a:xfrm>
          <a:prstGeom prst="homePlate">
            <a:avLst>
              <a:gd fmla="val 50000" name="adj"/>
            </a:avLst>
          </a:prstGeom>
          <a:solidFill>
            <a:srgbClr val="ED7D31"/>
          </a:solidFill>
          <a:ln>
            <a:noFill/>
          </a:ln>
        </p:spPr>
        <p:txBody>
          <a:bodyPr anchorCtr="0" anchor="ctr" bIns="113075" lIns="226225" spcFirstLastPara="1" rIns="226225" wrap="square" tIns="113075">
            <a:noAutofit/>
          </a:bodyPr>
          <a:lstStyle/>
          <a:p>
            <a:pPr indent="0" lvl="0" marL="0" marR="0" rtl="0" algn="l">
              <a:lnSpc>
                <a:spcPct val="100000"/>
              </a:lnSpc>
              <a:spcBef>
                <a:spcPts val="0"/>
              </a:spcBef>
              <a:spcAft>
                <a:spcPts val="0"/>
              </a:spcAft>
              <a:buNone/>
            </a:pPr>
            <a:r>
              <a:rPr lang="en-US" sz="2516">
                <a:solidFill>
                  <a:srgbClr val="FFFFFF"/>
                </a:solidFill>
              </a:rPr>
              <a:t>Daha fazla dijital görünürlük</a:t>
            </a:r>
            <a:endParaRPr b="0" i="0" sz="2516" u="none" cap="none" strike="noStrike">
              <a:solidFill>
                <a:srgbClr val="FFFFFF"/>
              </a:solidFill>
              <a:latin typeface="Arial"/>
              <a:ea typeface="Arial"/>
              <a:cs typeface="Arial"/>
              <a:sym typeface="Arial"/>
            </a:endParaRPr>
          </a:p>
        </p:txBody>
      </p:sp>
      <p:sp>
        <p:nvSpPr>
          <p:cNvPr id="232" name="Google Shape;232;g3c881079c58_0_288"/>
          <p:cNvSpPr/>
          <p:nvPr/>
        </p:nvSpPr>
        <p:spPr>
          <a:xfrm>
            <a:off x="4541607" y="6082322"/>
            <a:ext cx="4098000" cy="1908000"/>
          </a:xfrm>
          <a:prstGeom prst="homePlate">
            <a:avLst>
              <a:gd fmla="val 50000" name="adj"/>
            </a:avLst>
          </a:prstGeom>
          <a:solidFill>
            <a:srgbClr val="ED7D31"/>
          </a:solidFill>
          <a:ln>
            <a:noFill/>
          </a:ln>
        </p:spPr>
        <p:txBody>
          <a:bodyPr anchorCtr="0" anchor="ctr" bIns="113075" lIns="226225" spcFirstLastPara="1" rIns="226225" wrap="square" tIns="113075">
            <a:noAutofit/>
          </a:bodyPr>
          <a:lstStyle/>
          <a:p>
            <a:pPr indent="0" lvl="0" marL="0" marR="0" rtl="0" algn="l">
              <a:lnSpc>
                <a:spcPct val="100000"/>
              </a:lnSpc>
              <a:spcBef>
                <a:spcPts val="0"/>
              </a:spcBef>
              <a:spcAft>
                <a:spcPts val="0"/>
              </a:spcAft>
              <a:buNone/>
            </a:pPr>
            <a:r>
              <a:rPr lang="en-US" sz="2516">
                <a:solidFill>
                  <a:srgbClr val="FFFFFF"/>
                </a:solidFill>
              </a:rPr>
              <a:t>Daha güçlü uzmanlık ve kategori otoritesi</a:t>
            </a:r>
            <a:endParaRPr sz="2516">
              <a:solidFill>
                <a:srgbClr val="FFFFFF"/>
              </a:solidFill>
            </a:endParaRPr>
          </a:p>
        </p:txBody>
      </p:sp>
      <p:sp>
        <p:nvSpPr>
          <p:cNvPr id="233" name="Google Shape;233;g3c881079c58_0_288"/>
          <p:cNvSpPr/>
          <p:nvPr/>
        </p:nvSpPr>
        <p:spPr>
          <a:xfrm>
            <a:off x="9083222" y="6082322"/>
            <a:ext cx="4098000" cy="1908000"/>
          </a:xfrm>
          <a:prstGeom prst="homePlate">
            <a:avLst>
              <a:gd fmla="val 50000" name="adj"/>
            </a:avLst>
          </a:prstGeom>
          <a:solidFill>
            <a:srgbClr val="ED7D31"/>
          </a:solidFill>
          <a:ln>
            <a:noFill/>
          </a:ln>
        </p:spPr>
        <p:txBody>
          <a:bodyPr anchorCtr="0" anchor="ctr" bIns="113075" lIns="226225" spcFirstLastPara="1" rIns="226225" wrap="square" tIns="113075">
            <a:noAutofit/>
          </a:bodyPr>
          <a:lstStyle/>
          <a:p>
            <a:pPr indent="0" lvl="0" marL="0" marR="0" rtl="0" algn="l">
              <a:lnSpc>
                <a:spcPct val="100000"/>
              </a:lnSpc>
              <a:spcBef>
                <a:spcPts val="0"/>
              </a:spcBef>
              <a:spcAft>
                <a:spcPts val="0"/>
              </a:spcAft>
              <a:buNone/>
            </a:pPr>
            <a:r>
              <a:rPr lang="en-US" sz="2516">
                <a:solidFill>
                  <a:srgbClr val="FFFFFF"/>
                </a:solidFill>
              </a:rPr>
              <a:t>Daha kapsamlı tarife ve kullanım senaryosu kapsaması</a:t>
            </a:r>
            <a:endParaRPr b="0" i="0" sz="2516" u="none" cap="none" strike="noStrike">
              <a:solidFill>
                <a:srgbClr val="FFFFFF"/>
              </a:solidFill>
              <a:latin typeface="Arial"/>
              <a:ea typeface="Arial"/>
              <a:cs typeface="Arial"/>
              <a:sym typeface="Arial"/>
            </a:endParaRPr>
          </a:p>
        </p:txBody>
      </p:sp>
      <p:sp>
        <p:nvSpPr>
          <p:cNvPr id="234" name="Google Shape;234;g3c881079c58_0_288"/>
          <p:cNvSpPr/>
          <p:nvPr/>
        </p:nvSpPr>
        <p:spPr>
          <a:xfrm>
            <a:off x="13679773" y="6082322"/>
            <a:ext cx="4098000" cy="1908000"/>
          </a:xfrm>
          <a:prstGeom prst="homePlate">
            <a:avLst>
              <a:gd fmla="val 50000" name="adj"/>
            </a:avLst>
          </a:prstGeom>
          <a:solidFill>
            <a:srgbClr val="ED7D31"/>
          </a:solidFill>
          <a:ln>
            <a:noFill/>
          </a:ln>
        </p:spPr>
        <p:txBody>
          <a:bodyPr anchorCtr="0" anchor="ctr" bIns="113075" lIns="226225" spcFirstLastPara="1" rIns="226225" wrap="square" tIns="113075">
            <a:noAutofit/>
          </a:bodyPr>
          <a:lstStyle/>
          <a:p>
            <a:pPr indent="0" lvl="0" marL="0" marR="0" rtl="0" algn="l">
              <a:lnSpc>
                <a:spcPct val="100000"/>
              </a:lnSpc>
              <a:spcBef>
                <a:spcPts val="0"/>
              </a:spcBef>
              <a:spcAft>
                <a:spcPts val="0"/>
              </a:spcAft>
              <a:buNone/>
            </a:pPr>
            <a:r>
              <a:rPr lang="en-US" sz="2516">
                <a:solidFill>
                  <a:srgbClr val="FFFFFF"/>
                </a:solidFill>
              </a:rPr>
              <a:t>Daha yüksek kullanıcı güveni</a:t>
            </a:r>
            <a:endParaRPr b="0" i="0" sz="2516" u="none" cap="none" strike="noStrike">
              <a:solidFill>
                <a:srgbClr val="FFFFFF"/>
              </a:solidFill>
              <a:latin typeface="Arial"/>
              <a:ea typeface="Arial"/>
              <a:cs typeface="Arial"/>
              <a:sym typeface="Arial"/>
            </a:endParaRPr>
          </a:p>
        </p:txBody>
      </p:sp>
      <p:sp>
        <p:nvSpPr>
          <p:cNvPr id="235" name="Google Shape;235;g3c881079c58_0_288"/>
          <p:cNvSpPr/>
          <p:nvPr/>
        </p:nvSpPr>
        <p:spPr>
          <a:xfrm>
            <a:off x="18276327" y="6082325"/>
            <a:ext cx="4098000" cy="1908000"/>
          </a:xfrm>
          <a:prstGeom prst="homePlate">
            <a:avLst>
              <a:gd fmla="val 50000" name="adj"/>
            </a:avLst>
          </a:prstGeom>
          <a:solidFill>
            <a:srgbClr val="ED7D31"/>
          </a:solidFill>
          <a:ln>
            <a:noFill/>
          </a:ln>
        </p:spPr>
        <p:txBody>
          <a:bodyPr anchorCtr="0" anchor="ctr" bIns="113075" lIns="226225" spcFirstLastPara="1" rIns="226225" wrap="square" tIns="113075">
            <a:noAutofit/>
          </a:bodyPr>
          <a:lstStyle/>
          <a:p>
            <a:pPr indent="0" lvl="0" marL="0" marR="0" rtl="0" algn="l">
              <a:lnSpc>
                <a:spcPct val="100000"/>
              </a:lnSpc>
              <a:spcBef>
                <a:spcPts val="0"/>
              </a:spcBef>
              <a:spcAft>
                <a:spcPts val="0"/>
              </a:spcAft>
              <a:buNone/>
            </a:pPr>
            <a:r>
              <a:rPr lang="en-US" sz="2516">
                <a:solidFill>
                  <a:srgbClr val="FFFFFF"/>
                </a:solidFill>
              </a:rPr>
              <a:t>Daha yüksek abone kazanımı ve satış hacmi</a:t>
            </a:r>
            <a:endParaRPr sz="2516">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pic>
        <p:nvPicPr>
          <p:cNvPr descr=" " id="241" name="Google Shape;241;p3"/>
          <p:cNvPicPr preferRelativeResize="0"/>
          <p:nvPr/>
        </p:nvPicPr>
        <p:blipFill rotWithShape="1">
          <a:blip r:embed="rId3">
            <a:alphaModFix/>
          </a:blip>
          <a:srcRect b="0" l="0" r="0" t="0"/>
          <a:stretch/>
        </p:blipFill>
        <p:spPr>
          <a:xfrm>
            <a:off x="0" y="0"/>
            <a:ext cx="24387048" cy="13716000"/>
          </a:xfrm>
          <a:prstGeom prst="rect">
            <a:avLst/>
          </a:prstGeom>
          <a:noFill/>
          <a:ln>
            <a:noFill/>
          </a:ln>
        </p:spPr>
      </p:pic>
      <p:sp>
        <p:nvSpPr>
          <p:cNvPr id="242" name="Google Shape;242;p3"/>
          <p:cNvSpPr/>
          <p:nvPr/>
        </p:nvSpPr>
        <p:spPr>
          <a:xfrm>
            <a:off x="11787073" y="5537200"/>
            <a:ext cx="812902" cy="711200"/>
          </a:xfrm>
          <a:prstGeom prst="roundRect">
            <a:avLst>
              <a:gd fmla="val 14143" name="adj"/>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243" name="Google Shape;243;p3"/>
          <p:cNvPicPr preferRelativeResize="0"/>
          <p:nvPr/>
        </p:nvPicPr>
        <p:blipFill rotWithShape="1">
          <a:blip r:embed="rId4">
            <a:alphaModFix/>
          </a:blip>
          <a:srcRect b="0" l="0" r="0" t="0"/>
          <a:stretch/>
        </p:blipFill>
        <p:spPr>
          <a:xfrm>
            <a:off x="11787073" y="5537200"/>
            <a:ext cx="812902" cy="203200"/>
          </a:xfrm>
          <a:prstGeom prst="rect">
            <a:avLst/>
          </a:prstGeom>
          <a:noFill/>
          <a:ln>
            <a:noFill/>
          </a:ln>
        </p:spPr>
      </p:pic>
      <p:sp>
        <p:nvSpPr>
          <p:cNvPr id="244" name="Google Shape;244;p3"/>
          <p:cNvSpPr/>
          <p:nvPr/>
        </p:nvSpPr>
        <p:spPr>
          <a:xfrm>
            <a:off x="6264000" y="6248400"/>
            <a:ext cx="11859049" cy="1329267"/>
          </a:xfrm>
          <a:prstGeom prst="rect">
            <a:avLst/>
          </a:prstGeom>
          <a:noFill/>
          <a:ln>
            <a:noFill/>
          </a:ln>
        </p:spPr>
        <p:txBody>
          <a:bodyPr anchorCtr="0" anchor="t" bIns="0" lIns="0" spcFirstLastPara="1" rIns="0" wrap="square" tIns="0">
            <a:noAutofit/>
          </a:bodyPr>
          <a:lstStyle/>
          <a:p>
            <a:pPr indent="0" lvl="0" marL="0" marR="0" rtl="0" algn="ctr">
              <a:lnSpc>
                <a:spcPct val="108108"/>
              </a:lnSpc>
              <a:spcBef>
                <a:spcPts val="0"/>
              </a:spcBef>
              <a:spcAft>
                <a:spcPts val="0"/>
              </a:spcAft>
              <a:buClr>
                <a:srgbClr val="FEFEF7"/>
              </a:buClr>
              <a:buSzPts val="7400"/>
              <a:buFont typeface="Bricolage Grotesque ExtraBold"/>
              <a:buNone/>
            </a:pPr>
            <a:r>
              <a:rPr lang="en-US" sz="7400">
                <a:solidFill>
                  <a:srgbClr val="FEFEF7"/>
                </a:solidFill>
                <a:latin typeface="Bricolage Grotesque ExtraBold"/>
                <a:ea typeface="Bricolage Grotesque ExtraBold"/>
                <a:cs typeface="Bricolage Grotesque ExtraBold"/>
                <a:sym typeface="Bricolage Grotesque ExtraBold"/>
              </a:rPr>
              <a:t>com.tr</a:t>
            </a:r>
            <a:endParaRPr b="0" i="0" sz="7400" u="none" cap="none" strike="noStrike">
              <a:solidFill>
                <a:schemeClr val="dk1"/>
              </a:solidFill>
              <a:latin typeface="Calibri"/>
              <a:ea typeface="Calibri"/>
              <a:cs typeface="Calibri"/>
              <a:sym typeface="Calibri"/>
            </a:endParaRPr>
          </a:p>
        </p:txBody>
      </p:sp>
      <p:sp>
        <p:nvSpPr>
          <p:cNvPr id="245" name="Google Shape;245;p3"/>
          <p:cNvSpPr/>
          <p:nvPr/>
        </p:nvSpPr>
        <p:spPr>
          <a:xfrm>
            <a:off x="11787073" y="7264400"/>
            <a:ext cx="812902" cy="914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246" name="Google Shape;246;p3"/>
          <p:cNvPicPr preferRelativeResize="0"/>
          <p:nvPr/>
        </p:nvPicPr>
        <p:blipFill rotWithShape="1">
          <a:blip r:embed="rId4">
            <a:alphaModFix/>
          </a:blip>
          <a:srcRect b="0" l="0" r="0" t="0"/>
          <a:stretch/>
        </p:blipFill>
        <p:spPr>
          <a:xfrm>
            <a:off x="11787073" y="7975600"/>
            <a:ext cx="812902" cy="203200"/>
          </a:xfrm>
          <a:prstGeom prst="rect">
            <a:avLst/>
          </a:prstGeom>
          <a:noFill/>
          <a:ln>
            <a:noFill/>
          </a:ln>
        </p:spPr>
      </p:pic>
      <p:sp>
        <p:nvSpPr>
          <p:cNvPr id="247" name="Google Shape;247;p3"/>
          <p:cNvSpPr/>
          <p:nvPr/>
        </p:nvSpPr>
        <p:spPr>
          <a:xfrm>
            <a:off x="-2794875" y="4889850"/>
            <a:ext cx="10063800" cy="3936300"/>
          </a:xfrm>
          <a:prstGeom prst="rect">
            <a:avLst/>
          </a:prstGeom>
          <a:noFill/>
          <a:ln>
            <a:noFill/>
          </a:ln>
        </p:spPr>
        <p:txBody>
          <a:bodyPr anchorCtr="0" anchor="t" bIns="0" lIns="0" spcFirstLastPara="1" rIns="0" wrap="square" tIns="0">
            <a:noAutofit/>
          </a:bodyPr>
          <a:lstStyle/>
          <a:p>
            <a:pPr indent="0" lvl="0" marL="0" marR="0" rtl="0" algn="ctr">
              <a:lnSpc>
                <a:spcPct val="32000"/>
              </a:lnSpc>
              <a:spcBef>
                <a:spcPts val="0"/>
              </a:spcBef>
              <a:spcAft>
                <a:spcPts val="0"/>
              </a:spcAft>
              <a:buClr>
                <a:srgbClr val="FEFEF7"/>
              </a:buClr>
              <a:buSzPts val="40000"/>
              <a:buFont typeface="Bricolage Grotesque ExtraBold"/>
              <a:buNone/>
            </a:pPr>
            <a:r>
              <a:t/>
            </a:r>
            <a:endParaRPr b="0" i="0" sz="40000" u="none" cap="none" strike="noStrike">
              <a:solidFill>
                <a:srgbClr val="254E49"/>
              </a:solidFill>
              <a:latin typeface="Bricolage Grotesque ExtraBold"/>
              <a:ea typeface="Bricolage Grotesque ExtraBold"/>
              <a:cs typeface="Bricolage Grotesque ExtraBold"/>
              <a:sym typeface="Bricolage Grotesque ExtraBold"/>
            </a:endParaRPr>
          </a:p>
          <a:p>
            <a:pPr indent="0" lvl="0" marL="0" marR="0" rtl="0" algn="ctr">
              <a:lnSpc>
                <a:spcPct val="32000"/>
              </a:lnSpc>
              <a:spcBef>
                <a:spcPts val="0"/>
              </a:spcBef>
              <a:spcAft>
                <a:spcPts val="0"/>
              </a:spcAft>
              <a:buClr>
                <a:srgbClr val="FEFEF7"/>
              </a:buClr>
              <a:buSzPts val="40000"/>
              <a:buFont typeface="Bricolage Grotesque ExtraBold"/>
              <a:buNone/>
            </a:pPr>
            <a:r>
              <a:rPr b="0" i="0" lang="en-US" sz="40000" u="none" cap="none" strike="noStrike">
                <a:solidFill>
                  <a:srgbClr val="254E49"/>
                </a:solidFill>
                <a:latin typeface="Bricolage Grotesque ExtraBold"/>
                <a:ea typeface="Bricolage Grotesque ExtraBold"/>
                <a:cs typeface="Bricolage Grotesque ExtraBold"/>
                <a:sym typeface="Bricolage Grotesque ExtraBold"/>
              </a:rPr>
              <a:t>0</a:t>
            </a:r>
            <a:r>
              <a:rPr lang="en-US" sz="40000">
                <a:solidFill>
                  <a:srgbClr val="254E49"/>
                </a:solidFill>
                <a:latin typeface="Bricolage Grotesque ExtraBold"/>
                <a:ea typeface="Bricolage Grotesque ExtraBold"/>
                <a:cs typeface="Bricolage Grotesque ExtraBold"/>
                <a:sym typeface="Bricolage Grotesque ExtraBold"/>
              </a:rPr>
              <a:t>2</a:t>
            </a:r>
            <a:endParaRPr b="0" i="0" sz="40000" u="none" cap="none" strike="noStrike">
              <a:solidFill>
                <a:srgbClr val="254E49"/>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52" name="Shape 252"/>
        <p:cNvGrpSpPr/>
        <p:nvPr/>
      </p:nvGrpSpPr>
      <p:grpSpPr>
        <a:xfrm>
          <a:off x="0" y="0"/>
          <a:ext cx="0" cy="0"/>
          <a:chOff x="0" y="0"/>
          <a:chExt cx="0" cy="0"/>
        </a:xfrm>
      </p:grpSpPr>
      <p:pic>
        <p:nvPicPr>
          <p:cNvPr descr=" " id="253" name="Google Shape;253;g3c33024ce86_0_10"/>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254" name="Google Shape;254;g3c33024ce86_0_10"/>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255" name="Google Shape;255;g3c33024ce86_0_10"/>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256" name="Google Shape;256;g3c33024ce86_0_10"/>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3c33024ce86_0_10"/>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com.tr</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258" name="Google Shape;258;g3c33024ce86_0_10"/>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Genel Performans Metrikleri</a:t>
            </a:r>
            <a:endParaRPr b="1" i="0" sz="5500" u="none" cap="none" strike="noStrike">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259" name="Google Shape;259;g3c33024ce86_0_10"/>
          <p:cNvSpPr txBox="1"/>
          <p:nvPr/>
        </p:nvSpPr>
        <p:spPr>
          <a:xfrm>
            <a:off x="1730150" y="9222050"/>
            <a:ext cx="12928800" cy="4203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000"/>
              <a:buFont typeface="Arial"/>
              <a:buNone/>
            </a:pPr>
            <a:r>
              <a:rPr lang="en-US" sz="2300">
                <a:solidFill>
                  <a:srgbClr val="10332F"/>
                </a:solidFill>
                <a:latin typeface="Bricolage Grotesque"/>
                <a:ea typeface="Bricolage Grotesque"/>
                <a:cs typeface="Bricolage Grotesque"/>
                <a:sym typeface="Bricolage Grotesque"/>
              </a:rPr>
              <a:t>Yıl boyunca ana sayfa, hız testi, paket seçimi ve fatura sorgulama gibi yüksek niyetli sayfalar sayesinde organik trafiği koruduk. H2’de impression’larda artış görülürken, click tarafında landing page geçişleri (/trc) kaynaklı dönemsel dalgalanmalar yaşanmıştır.</a:t>
            </a:r>
            <a:endParaRPr sz="2300">
              <a:solidFill>
                <a:srgbClr val="10332F"/>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000000"/>
              </a:buClr>
              <a:buSzPts val="3000"/>
              <a:buFont typeface="Arial"/>
              <a:buNone/>
            </a:pPr>
            <a:r>
              <a:t/>
            </a:r>
            <a:endParaRPr sz="2300">
              <a:solidFill>
                <a:srgbClr val="10332F"/>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000000"/>
              </a:buClr>
              <a:buSzPts val="3000"/>
              <a:buFont typeface="Arial"/>
              <a:buNone/>
            </a:pPr>
            <a:r>
              <a:rPr lang="en-US" sz="2300">
                <a:solidFill>
                  <a:srgbClr val="10332F"/>
                </a:solidFill>
                <a:latin typeface="Bricolage Grotesque"/>
                <a:ea typeface="Bricolage Grotesque"/>
                <a:cs typeface="Bricolage Grotesque"/>
                <a:sym typeface="Bricolage Grotesque"/>
              </a:rPr>
              <a:t>H2’deki büyümenin ana sürükleyicisi non-branded ve servis odaklı sorgulardaki güçlü performans olmuştur. Buna karşın, branded kelimelerdeki hacim daralması, generic sorgulardaki artışın toplam click büyümesini sınırlamıştır.</a:t>
            </a:r>
            <a:endParaRPr sz="2300">
              <a:solidFill>
                <a:srgbClr val="10332F"/>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000000"/>
              </a:buClr>
              <a:buSzPts val="3000"/>
              <a:buFont typeface="Arial"/>
              <a:buNone/>
            </a:pPr>
            <a:r>
              <a:t/>
            </a:r>
            <a:endParaRPr sz="2300">
              <a:solidFill>
                <a:srgbClr val="10332F"/>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000000"/>
              </a:buClr>
              <a:buSzPts val="3000"/>
              <a:buFont typeface="Arial"/>
              <a:buNone/>
            </a:pPr>
            <a:r>
              <a:rPr lang="en-US" sz="2300">
                <a:solidFill>
                  <a:srgbClr val="10332F"/>
                </a:solidFill>
                <a:latin typeface="Bricolage Grotesque"/>
                <a:ea typeface="Bricolage Grotesque"/>
                <a:cs typeface="Bricolage Grotesque"/>
                <a:sym typeface="Bricolage Grotesque"/>
              </a:rPr>
              <a:t>Genel olarak 2025 performansı, branded bağımlılığının azaldığı ve işlem &amp; ihtiyaç bazlı SEO büyümesinin öne çıktığı bir yapıyı net biçimde ortaya koymaktadır.</a:t>
            </a:r>
            <a:endParaRPr i="0" sz="2300" u="none" cap="none" strike="noStrike">
              <a:solidFill>
                <a:srgbClr val="10332F"/>
              </a:solidFill>
              <a:latin typeface="Bricolage Grotesque"/>
              <a:ea typeface="Bricolage Grotesque"/>
              <a:cs typeface="Bricolage Grotesque"/>
              <a:sym typeface="Bricolage Grotesque"/>
            </a:endParaRPr>
          </a:p>
        </p:txBody>
      </p:sp>
      <p:pic>
        <p:nvPicPr>
          <p:cNvPr id="260" name="Google Shape;260;g3c33024ce86_0_10" title="Chart"/>
          <p:cNvPicPr preferRelativeResize="0"/>
          <p:nvPr/>
        </p:nvPicPr>
        <p:blipFill>
          <a:blip r:embed="rId6">
            <a:alphaModFix/>
          </a:blip>
          <a:stretch>
            <a:fillRect/>
          </a:stretch>
        </p:blipFill>
        <p:spPr>
          <a:xfrm>
            <a:off x="3155575" y="2401800"/>
            <a:ext cx="17514225" cy="6642775"/>
          </a:xfrm>
          <a:prstGeom prst="rect">
            <a:avLst/>
          </a:prstGeom>
          <a:noFill/>
          <a:ln>
            <a:noFill/>
          </a:ln>
        </p:spPr>
      </p:pic>
      <p:sp>
        <p:nvSpPr>
          <p:cNvPr id="261" name="Google Shape;261;g3c33024ce86_0_10"/>
          <p:cNvSpPr txBox="1"/>
          <p:nvPr/>
        </p:nvSpPr>
        <p:spPr>
          <a:xfrm>
            <a:off x="20841525" y="7586025"/>
            <a:ext cx="2046000" cy="61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800">
                <a:solidFill>
                  <a:srgbClr val="10332F"/>
                </a:solidFill>
                <a:latin typeface="Bricolage Grotesque"/>
                <a:ea typeface="Bricolage Grotesque"/>
                <a:cs typeface="Bricolage Grotesque"/>
                <a:sym typeface="Bricolage Grotesque"/>
              </a:rPr>
              <a:t>Hedef: </a:t>
            </a:r>
            <a:r>
              <a:rPr lang="en-US" sz="2800">
                <a:solidFill>
                  <a:srgbClr val="10332F"/>
                </a:solidFill>
                <a:latin typeface="Bricolage Grotesque"/>
                <a:ea typeface="Bricolage Grotesque"/>
                <a:cs typeface="Bricolage Grotesque"/>
                <a:sym typeface="Bricolage Grotesque"/>
              </a:rPr>
              <a:t>5M</a:t>
            </a:r>
            <a:endParaRPr sz="1900"/>
          </a:p>
        </p:txBody>
      </p:sp>
      <p:sp>
        <p:nvSpPr>
          <p:cNvPr id="262" name="Google Shape;262;g3c33024ce86_0_10"/>
          <p:cNvSpPr txBox="1"/>
          <p:nvPr/>
        </p:nvSpPr>
        <p:spPr>
          <a:xfrm>
            <a:off x="16224250" y="9890125"/>
            <a:ext cx="6139800" cy="127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3300">
                <a:solidFill>
                  <a:srgbClr val="10332F"/>
                </a:solidFill>
                <a:latin typeface="Bricolage Grotesque"/>
                <a:ea typeface="Bricolage Grotesque"/>
                <a:cs typeface="Bricolage Grotesque"/>
                <a:sym typeface="Bricolage Grotesque"/>
              </a:rPr>
              <a:t>Telekom sektörü: </a:t>
            </a:r>
            <a:r>
              <a:rPr b="1" lang="en-US" sz="3300">
                <a:solidFill>
                  <a:srgbClr val="FF0000"/>
                </a:solidFill>
                <a:latin typeface="Bricolage Grotesque"/>
                <a:ea typeface="Bricolage Grotesque"/>
                <a:cs typeface="Bricolage Grotesque"/>
                <a:sym typeface="Bricolage Grotesque"/>
              </a:rPr>
              <a:t>-%5 - %12</a:t>
            </a:r>
            <a:endParaRPr b="1" sz="3300">
              <a:solidFill>
                <a:srgbClr val="FF0000"/>
              </a:solidFill>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rPr lang="en-US" sz="3300">
                <a:solidFill>
                  <a:srgbClr val="10332F"/>
                </a:solidFill>
                <a:latin typeface="Bricolage Grotesque"/>
                <a:ea typeface="Bricolage Grotesque"/>
                <a:cs typeface="Bricolage Grotesque"/>
                <a:sym typeface="Bricolage Grotesque"/>
              </a:rPr>
              <a:t>E-ticaret sektörü: </a:t>
            </a:r>
            <a:r>
              <a:rPr b="1" lang="en-US" sz="3300">
                <a:solidFill>
                  <a:schemeClr val="accent6"/>
                </a:solidFill>
                <a:latin typeface="Bricolage Grotesque"/>
                <a:ea typeface="Bricolage Grotesque"/>
                <a:cs typeface="Bricolage Grotesque"/>
                <a:sym typeface="Bricolage Grotesque"/>
              </a:rPr>
              <a:t>+%12 - %20</a:t>
            </a:r>
            <a:endParaRPr b="1" sz="3300">
              <a:solidFill>
                <a:schemeClr val="accent6"/>
              </a:solidFill>
              <a:latin typeface="Bricolage Grotesque"/>
              <a:ea typeface="Bricolage Grotesque"/>
              <a:cs typeface="Bricolage Grotesque"/>
              <a:sym typeface="Bricolage Grotesque"/>
            </a:endParaRPr>
          </a:p>
        </p:txBody>
      </p:sp>
      <p:sp>
        <p:nvSpPr>
          <p:cNvPr id="263" name="Google Shape;263;g3c33024ce86_0_10"/>
          <p:cNvSpPr/>
          <p:nvPr/>
        </p:nvSpPr>
        <p:spPr>
          <a:xfrm>
            <a:off x="15889375" y="9441100"/>
            <a:ext cx="6656400" cy="2198700"/>
          </a:xfrm>
          <a:prstGeom prst="wedgeRectCallout">
            <a:avLst>
              <a:gd fmla="val -20833" name="adj1"/>
              <a:gd fmla="val 625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268" name="Shape 268"/>
        <p:cNvGrpSpPr/>
        <p:nvPr/>
      </p:nvGrpSpPr>
      <p:grpSpPr>
        <a:xfrm>
          <a:off x="0" y="0"/>
          <a:ext cx="0" cy="0"/>
          <a:chOff x="0" y="0"/>
          <a:chExt cx="0" cy="0"/>
        </a:xfrm>
      </p:grpSpPr>
      <p:sp>
        <p:nvSpPr>
          <p:cNvPr id="269" name="Google Shape;269;g3c33024ce86_0_56"/>
          <p:cNvSpPr/>
          <p:nvPr/>
        </p:nvSpPr>
        <p:spPr>
          <a:xfrm>
            <a:off x="17050950" y="9193900"/>
            <a:ext cx="6656400" cy="2198700"/>
          </a:xfrm>
          <a:prstGeom prst="wedgeRectCallout">
            <a:avLst>
              <a:gd fmla="val -20833" name="adj1"/>
              <a:gd fmla="val 625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3400">
                <a:latin typeface="Bricolage Grotesque"/>
                <a:ea typeface="Bricolage Grotesque"/>
                <a:cs typeface="Bricolage Grotesque"/>
                <a:sym typeface="Bricolage Grotesque"/>
              </a:rPr>
              <a:t>  </a:t>
            </a:r>
            <a:r>
              <a:rPr b="1" lang="en-US" sz="3400">
                <a:latin typeface="Bricolage Grotesque"/>
                <a:ea typeface="Bricolage Grotesque"/>
                <a:cs typeface="Bricolage Grotesque"/>
                <a:sym typeface="Bricolage Grotesque"/>
              </a:rPr>
              <a:t>Toplam</a:t>
            </a:r>
            <a:r>
              <a:rPr lang="en-US" sz="3400">
                <a:latin typeface="Bricolage Grotesque"/>
                <a:ea typeface="Bricolage Grotesque"/>
                <a:cs typeface="Bricolage Grotesque"/>
                <a:sym typeface="Bricolage Grotesque"/>
              </a:rPr>
              <a:t> kelime sayısı </a:t>
            </a:r>
            <a:r>
              <a:rPr b="1" lang="en-US" sz="3400">
                <a:solidFill>
                  <a:schemeClr val="accent6"/>
                </a:solidFill>
                <a:latin typeface="Bricolage Grotesque"/>
                <a:ea typeface="Bricolage Grotesque"/>
                <a:cs typeface="Bricolage Grotesque"/>
                <a:sym typeface="Bricolage Grotesque"/>
              </a:rPr>
              <a:t>%12</a:t>
            </a:r>
            <a:endParaRPr b="1" sz="3400">
              <a:solidFill>
                <a:schemeClr val="accent6"/>
              </a:solidFill>
              <a:latin typeface="Bricolage Grotesque"/>
              <a:ea typeface="Bricolage Grotesque"/>
              <a:cs typeface="Bricolage Grotesque"/>
              <a:sym typeface="Bricolage Grotesque"/>
            </a:endParaRPr>
          </a:p>
          <a:p>
            <a:pPr indent="0" lvl="0" marL="0" rtl="0" algn="l">
              <a:spcBef>
                <a:spcPts val="0"/>
              </a:spcBef>
              <a:spcAft>
                <a:spcPts val="0"/>
              </a:spcAft>
              <a:buNone/>
            </a:pPr>
            <a:r>
              <a:rPr b="1" lang="en-US" sz="3400">
                <a:latin typeface="Bricolage Grotesque"/>
                <a:ea typeface="Bricolage Grotesque"/>
                <a:cs typeface="Bricolage Grotesque"/>
                <a:sym typeface="Bricolage Grotesque"/>
              </a:rPr>
              <a:t>  </a:t>
            </a:r>
            <a:r>
              <a:rPr b="1" lang="en-US" sz="3400">
                <a:latin typeface="Bricolage Grotesque"/>
                <a:ea typeface="Bricolage Grotesque"/>
                <a:cs typeface="Bricolage Grotesque"/>
                <a:sym typeface="Bricolage Grotesque"/>
              </a:rPr>
              <a:t>Top10 </a:t>
            </a:r>
            <a:r>
              <a:rPr lang="en-US" sz="3400">
                <a:latin typeface="Bricolage Grotesque"/>
                <a:ea typeface="Bricolage Grotesque"/>
                <a:cs typeface="Bricolage Grotesque"/>
                <a:sym typeface="Bricolage Grotesque"/>
              </a:rPr>
              <a:t>kelime sayısı </a:t>
            </a:r>
            <a:r>
              <a:rPr b="1" lang="en-US" sz="3400">
                <a:solidFill>
                  <a:schemeClr val="accent6"/>
                </a:solidFill>
                <a:latin typeface="Bricolage Grotesque"/>
                <a:ea typeface="Bricolage Grotesque"/>
                <a:cs typeface="Bricolage Grotesque"/>
                <a:sym typeface="Bricolage Grotesque"/>
              </a:rPr>
              <a:t>%10.6</a:t>
            </a:r>
            <a:endParaRPr b="1" sz="3400">
              <a:solidFill>
                <a:schemeClr val="accent6"/>
              </a:solidFill>
              <a:latin typeface="Bricolage Grotesque"/>
              <a:ea typeface="Bricolage Grotesque"/>
              <a:cs typeface="Bricolage Grotesque"/>
              <a:sym typeface="Bricolage Grotesque"/>
            </a:endParaRPr>
          </a:p>
          <a:p>
            <a:pPr indent="0" lvl="0" marL="0" rtl="0" algn="ctr">
              <a:spcBef>
                <a:spcPts val="0"/>
              </a:spcBef>
              <a:spcAft>
                <a:spcPts val="0"/>
              </a:spcAft>
              <a:buNone/>
            </a:pPr>
            <a:r>
              <a:t/>
            </a:r>
            <a:endParaRPr/>
          </a:p>
        </p:txBody>
      </p:sp>
      <p:pic>
        <p:nvPicPr>
          <p:cNvPr descr=" " id="270" name="Google Shape;270;g3c33024ce86_0_56"/>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271" name="Google Shape;271;g3c33024ce86_0_56"/>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272" name="Google Shape;272;g3c33024ce86_0_56"/>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273" name="Google Shape;273;g3c33024ce86_0_56"/>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c33024ce86_0_56"/>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com.tr</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275" name="Google Shape;275;g3c33024ce86_0_56"/>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Pozisyon Aralığına Göre Kelime Sayısı Dağılımı</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276" name="Google Shape;276;g3c33024ce86_0_56"/>
          <p:cNvSpPr txBox="1"/>
          <p:nvPr/>
        </p:nvSpPr>
        <p:spPr>
          <a:xfrm>
            <a:off x="1240125" y="8252700"/>
            <a:ext cx="15093000" cy="362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800">
                <a:solidFill>
                  <a:schemeClr val="dk1"/>
                </a:solidFill>
                <a:latin typeface="Bricolage Grotesque"/>
                <a:ea typeface="Bricolage Grotesque"/>
                <a:cs typeface="Bricolage Grotesque"/>
                <a:sym typeface="Bricolage Grotesque"/>
              </a:rPr>
              <a:t>2025–2026 döneminde kampanya detay kelimeleri, Pasaj kapsamındaki critical KW varyasyonları, paket seçimi ve kamu tarifeleri gibi paket detay sayfalarından tetiklenen yeni sorgular, top10’u belirgin şekilde artırmıştır.</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1200"/>
              </a:spcBef>
              <a:spcAft>
                <a:spcPts val="0"/>
              </a:spcAft>
              <a:buClr>
                <a:schemeClr val="dk1"/>
              </a:buClr>
              <a:buSzPts val="1800"/>
              <a:buFont typeface="Bricolage Grotesque"/>
              <a:buChar char="●"/>
            </a:pPr>
            <a:r>
              <a:rPr lang="en-US" sz="1800">
                <a:solidFill>
                  <a:schemeClr val="dk1"/>
                </a:solidFill>
                <a:latin typeface="Bricolage Grotesque"/>
                <a:ea typeface="Bricolage Grotesque"/>
                <a:cs typeface="Bricolage Grotesque"/>
                <a:sym typeface="Bricolage Grotesque"/>
              </a:rPr>
              <a:t>Top 10 kelime sayısı (Top 3 + 4–10), kampanya ve paket detay sayfalarının devreye alınmasıyla anlamlı şekilde büyümüştür.</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0"/>
              </a:spcBef>
              <a:spcAft>
                <a:spcPts val="0"/>
              </a:spcAft>
              <a:buClr>
                <a:schemeClr val="dk1"/>
              </a:buClr>
              <a:buSzPts val="1800"/>
              <a:buFont typeface="Bricolage Grotesque"/>
              <a:buChar char="●"/>
            </a:pPr>
            <a:r>
              <a:rPr lang="en-US" sz="1800">
                <a:solidFill>
                  <a:schemeClr val="dk1"/>
                </a:solidFill>
                <a:latin typeface="Bricolage Grotesque"/>
                <a:ea typeface="Bricolage Grotesque"/>
                <a:cs typeface="Bricolage Grotesque"/>
                <a:sym typeface="Bricolage Grotesque"/>
              </a:rPr>
              <a:t>Bu artış, özellikle niyet bazlı ve varyasyonlu sorguların ilk sayfaya taşındığını göstermektedir.</a:t>
            </a:r>
            <a:endParaRPr sz="18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1800">
                <a:solidFill>
                  <a:schemeClr val="dk1"/>
                </a:solidFill>
                <a:latin typeface="Bricolage Grotesque"/>
                <a:ea typeface="Bricolage Grotesque"/>
                <a:cs typeface="Bricolage Grotesque"/>
                <a:sym typeface="Bricolage Grotesque"/>
              </a:rPr>
              <a:t>Buna paralel olarak:</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1200"/>
              </a:spcBef>
              <a:spcAft>
                <a:spcPts val="0"/>
              </a:spcAft>
              <a:buClr>
                <a:schemeClr val="dk1"/>
              </a:buClr>
              <a:buSzPts val="1800"/>
              <a:buFont typeface="Bricolage Grotesque"/>
              <a:buChar char="●"/>
            </a:pPr>
            <a:r>
              <a:rPr lang="en-US" sz="1800">
                <a:solidFill>
                  <a:schemeClr val="dk1"/>
                </a:solidFill>
                <a:latin typeface="Bricolage Grotesque"/>
                <a:ea typeface="Bricolage Grotesque"/>
                <a:cs typeface="Bricolage Grotesque"/>
                <a:sym typeface="Bricolage Grotesque"/>
              </a:rPr>
              <a:t>Toplam sıralanan kelime sayısı 554.307 → 620.691 seviyesine yükselmiş,</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0"/>
              </a:spcBef>
              <a:spcAft>
                <a:spcPts val="0"/>
              </a:spcAft>
              <a:buClr>
                <a:schemeClr val="dk1"/>
              </a:buClr>
              <a:buSzPts val="1800"/>
              <a:buFont typeface="Bricolage Grotesque"/>
              <a:buChar char="●"/>
            </a:pPr>
            <a:r>
              <a:rPr lang="en-US" sz="1800">
                <a:solidFill>
                  <a:schemeClr val="dk1"/>
                </a:solidFill>
                <a:latin typeface="Bricolage Grotesque"/>
                <a:ea typeface="Bricolage Grotesque"/>
                <a:cs typeface="Bricolage Grotesque"/>
                <a:sym typeface="Bricolage Grotesque"/>
              </a:rPr>
              <a:t>SERP kapsamı, yeni paket ve kampanya içerikleriyle genişlemiştir.</a:t>
            </a:r>
            <a:endParaRPr sz="18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1800">
                <a:solidFill>
                  <a:schemeClr val="dk1"/>
                </a:solidFill>
                <a:latin typeface="Bricolage Grotesque"/>
                <a:ea typeface="Bricolage Grotesque"/>
                <a:cs typeface="Bricolage Grotesque"/>
                <a:sym typeface="Bricolage Grotesque"/>
              </a:rPr>
              <a:t>Genel tablo, ilk sayfa penetrasyonunun güçlendiğini ve Top 3’e taşınabilecek kelimeler için optimizasyon potansiyelinin arttığını göstermektedir. top3’teki düşüşün ise özellikle kampanya, trih içeren sorgular  &amp; en ucuz+ sorgularından kaynaklandığını görüyoruz.</a:t>
            </a:r>
            <a:endParaRPr sz="1800">
              <a:solidFill>
                <a:schemeClr val="dk1"/>
              </a:solidFill>
              <a:latin typeface="Bricolage Grotesque"/>
              <a:ea typeface="Bricolage Grotesque"/>
              <a:cs typeface="Bricolage Grotesque"/>
              <a:sym typeface="Bricolage Grotesque"/>
            </a:endParaRPr>
          </a:p>
        </p:txBody>
      </p:sp>
      <p:grpSp>
        <p:nvGrpSpPr>
          <p:cNvPr id="277" name="Google Shape;277;g3c33024ce86_0_56"/>
          <p:cNvGrpSpPr/>
          <p:nvPr/>
        </p:nvGrpSpPr>
        <p:grpSpPr>
          <a:xfrm>
            <a:off x="1371775" y="3419250"/>
            <a:ext cx="14567280" cy="4258075"/>
            <a:chOff x="1240125" y="3773650"/>
            <a:chExt cx="14567280" cy="4258075"/>
          </a:xfrm>
        </p:grpSpPr>
        <p:pic>
          <p:nvPicPr>
            <p:cNvPr id="278" name="Google Shape;278;g3c33024ce86_0_56"/>
            <p:cNvPicPr preferRelativeResize="0"/>
            <p:nvPr/>
          </p:nvPicPr>
          <p:blipFill rotWithShape="1">
            <a:blip r:embed="rId6">
              <a:alphaModFix/>
            </a:blip>
            <a:srcRect b="0" l="43820" r="0" t="0"/>
            <a:stretch/>
          </p:blipFill>
          <p:spPr>
            <a:xfrm>
              <a:off x="2494330" y="3773650"/>
              <a:ext cx="13313075" cy="4258075"/>
            </a:xfrm>
            <a:prstGeom prst="rect">
              <a:avLst/>
            </a:prstGeom>
            <a:noFill/>
            <a:ln>
              <a:noFill/>
            </a:ln>
          </p:spPr>
        </p:pic>
        <p:pic>
          <p:nvPicPr>
            <p:cNvPr id="279" name="Google Shape;279;g3c33024ce86_0_56"/>
            <p:cNvPicPr preferRelativeResize="0"/>
            <p:nvPr/>
          </p:nvPicPr>
          <p:blipFill rotWithShape="1">
            <a:blip r:embed="rId6">
              <a:alphaModFix/>
            </a:blip>
            <a:srcRect b="0" l="0" r="94646" t="0"/>
            <a:stretch/>
          </p:blipFill>
          <p:spPr>
            <a:xfrm>
              <a:off x="1240125" y="3773650"/>
              <a:ext cx="1268552" cy="4258075"/>
            </a:xfrm>
            <a:prstGeom prst="rect">
              <a:avLst/>
            </a:prstGeom>
            <a:noFill/>
            <a:ln>
              <a:noFill/>
            </a:ln>
          </p:spPr>
        </p:pic>
        <p:pic>
          <p:nvPicPr>
            <p:cNvPr id="280" name="Google Shape;280;g3c33024ce86_0_56"/>
            <p:cNvPicPr preferRelativeResize="0"/>
            <p:nvPr/>
          </p:nvPicPr>
          <p:blipFill rotWithShape="1">
            <a:blip r:embed="rId6">
              <a:alphaModFix/>
            </a:blip>
            <a:srcRect b="78006" l="0" r="65309" t="0"/>
            <a:stretch/>
          </p:blipFill>
          <p:spPr>
            <a:xfrm>
              <a:off x="1240125" y="3773650"/>
              <a:ext cx="7766825" cy="884775"/>
            </a:xfrm>
            <a:prstGeom prst="rect">
              <a:avLst/>
            </a:prstGeom>
            <a:noFill/>
            <a:ln>
              <a:noFill/>
            </a:ln>
          </p:spPr>
        </p:pic>
      </p:grpSp>
      <p:pic>
        <p:nvPicPr>
          <p:cNvPr id="281" name="Google Shape;281;g3c33024ce86_0_56"/>
          <p:cNvPicPr preferRelativeResize="0"/>
          <p:nvPr/>
        </p:nvPicPr>
        <p:blipFill>
          <a:blip r:embed="rId7">
            <a:alphaModFix/>
          </a:blip>
          <a:stretch>
            <a:fillRect/>
          </a:stretch>
        </p:blipFill>
        <p:spPr>
          <a:xfrm>
            <a:off x="17050949" y="4090675"/>
            <a:ext cx="2514375" cy="2730450"/>
          </a:xfrm>
          <a:prstGeom prst="rect">
            <a:avLst/>
          </a:prstGeom>
          <a:noFill/>
          <a:ln>
            <a:noFill/>
          </a:ln>
          <a:effectLst>
            <a:outerShdw blurRad="57150" rotWithShape="0" algn="bl" dir="5400000" dist="19050">
              <a:srgbClr val="000000">
                <a:alpha val="50000"/>
              </a:srgbClr>
            </a:outerShdw>
          </a:effectLst>
        </p:spPr>
      </p:pic>
      <p:sp>
        <p:nvSpPr>
          <p:cNvPr id="282" name="Google Shape;282;g3c33024ce86_0_56"/>
          <p:cNvSpPr/>
          <p:nvPr/>
        </p:nvSpPr>
        <p:spPr>
          <a:xfrm>
            <a:off x="1240125" y="3234400"/>
            <a:ext cx="14699100" cy="44430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3" name="Google Shape;283;g3c33024ce86_0_56"/>
          <p:cNvPicPr preferRelativeResize="0"/>
          <p:nvPr/>
        </p:nvPicPr>
        <p:blipFill>
          <a:blip r:embed="rId8">
            <a:alphaModFix/>
          </a:blip>
          <a:stretch>
            <a:fillRect/>
          </a:stretch>
        </p:blipFill>
        <p:spPr>
          <a:xfrm>
            <a:off x="20901825" y="4090688"/>
            <a:ext cx="2591925" cy="2730425"/>
          </a:xfrm>
          <a:prstGeom prst="rect">
            <a:avLst/>
          </a:prstGeom>
          <a:noFill/>
          <a:ln>
            <a:noFill/>
          </a:ln>
          <a:effectLst>
            <a:outerShdw blurRad="57150" rotWithShape="0" algn="bl" dir="5400000" dist="19050">
              <a:srgbClr val="000000">
                <a:alpha val="50000"/>
              </a:srgbClr>
            </a:outerShdw>
          </a:effectLst>
        </p:spPr>
      </p:pic>
      <p:sp>
        <p:nvSpPr>
          <p:cNvPr id="284" name="Google Shape;284;g3c33024ce86_0_56"/>
          <p:cNvSpPr/>
          <p:nvPr/>
        </p:nvSpPr>
        <p:spPr>
          <a:xfrm>
            <a:off x="19750875" y="5086450"/>
            <a:ext cx="965400" cy="738900"/>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g3c33024ce86_0_56"/>
          <p:cNvSpPr/>
          <p:nvPr/>
        </p:nvSpPr>
        <p:spPr>
          <a:xfrm rot="-5400000">
            <a:off x="22733700" y="9891450"/>
            <a:ext cx="725400" cy="6330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pic>
        <p:nvPicPr>
          <p:cNvPr descr=" " id="291" name="Google Shape;291;g2e3c0731b07_0_69"/>
          <p:cNvPicPr preferRelativeResize="0"/>
          <p:nvPr/>
        </p:nvPicPr>
        <p:blipFill rotWithShape="1">
          <a:blip r:embed="rId3">
            <a:alphaModFix/>
          </a:blip>
          <a:srcRect b="0" l="0" r="0" t="0"/>
          <a:stretch/>
        </p:blipFill>
        <p:spPr>
          <a:xfrm>
            <a:off x="0" y="0"/>
            <a:ext cx="24387048" cy="13716000"/>
          </a:xfrm>
          <a:prstGeom prst="rect">
            <a:avLst/>
          </a:prstGeom>
          <a:noFill/>
          <a:ln>
            <a:noFill/>
          </a:ln>
        </p:spPr>
      </p:pic>
      <p:sp>
        <p:nvSpPr>
          <p:cNvPr id="292" name="Google Shape;292;g2e3c0731b07_0_69"/>
          <p:cNvSpPr/>
          <p:nvPr/>
        </p:nvSpPr>
        <p:spPr>
          <a:xfrm>
            <a:off x="11787073" y="5537200"/>
            <a:ext cx="813000" cy="711300"/>
          </a:xfrm>
          <a:prstGeom prst="roundRect">
            <a:avLst>
              <a:gd fmla="val 14143" name="adj"/>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293" name="Google Shape;293;g2e3c0731b07_0_69"/>
          <p:cNvPicPr preferRelativeResize="0"/>
          <p:nvPr/>
        </p:nvPicPr>
        <p:blipFill rotWithShape="1">
          <a:blip r:embed="rId4">
            <a:alphaModFix/>
          </a:blip>
          <a:srcRect b="0" l="0" r="0" t="0"/>
          <a:stretch/>
        </p:blipFill>
        <p:spPr>
          <a:xfrm>
            <a:off x="11787073" y="5537200"/>
            <a:ext cx="812902" cy="203200"/>
          </a:xfrm>
          <a:prstGeom prst="rect">
            <a:avLst/>
          </a:prstGeom>
          <a:noFill/>
          <a:ln>
            <a:noFill/>
          </a:ln>
        </p:spPr>
      </p:pic>
      <p:sp>
        <p:nvSpPr>
          <p:cNvPr id="294" name="Google Shape;294;g2e3c0731b07_0_69"/>
          <p:cNvSpPr/>
          <p:nvPr/>
        </p:nvSpPr>
        <p:spPr>
          <a:xfrm>
            <a:off x="6264000" y="6248400"/>
            <a:ext cx="11859000" cy="1329300"/>
          </a:xfrm>
          <a:prstGeom prst="rect">
            <a:avLst/>
          </a:prstGeom>
          <a:noFill/>
          <a:ln>
            <a:noFill/>
          </a:ln>
        </p:spPr>
        <p:txBody>
          <a:bodyPr anchorCtr="0" anchor="t" bIns="0" lIns="0" spcFirstLastPara="1" rIns="0" wrap="square" tIns="0">
            <a:noAutofit/>
          </a:bodyPr>
          <a:lstStyle/>
          <a:p>
            <a:pPr indent="0" lvl="0" marL="0" marR="0" rtl="0" algn="ctr">
              <a:lnSpc>
                <a:spcPct val="108108"/>
              </a:lnSpc>
              <a:spcBef>
                <a:spcPts val="0"/>
              </a:spcBef>
              <a:spcAft>
                <a:spcPts val="0"/>
              </a:spcAft>
              <a:buClr>
                <a:srgbClr val="FEFEF7"/>
              </a:buClr>
              <a:buSzPts val="7400"/>
              <a:buFont typeface="Bricolage Grotesque ExtraBold"/>
              <a:buNone/>
            </a:pPr>
            <a:r>
              <a:rPr lang="en-US" sz="7400">
                <a:solidFill>
                  <a:srgbClr val="FEFEF7"/>
                </a:solidFill>
                <a:latin typeface="Bricolage Grotesque ExtraBold"/>
                <a:ea typeface="Bricolage Grotesque ExtraBold"/>
                <a:cs typeface="Bricolage Grotesque ExtraBold"/>
                <a:sym typeface="Bricolage Grotesque ExtraBold"/>
              </a:rPr>
              <a:t>Telco</a:t>
            </a:r>
            <a:endParaRPr b="0" i="0" sz="7400" u="none" cap="none" strike="noStrike">
              <a:solidFill>
                <a:schemeClr val="dk1"/>
              </a:solidFill>
              <a:latin typeface="Calibri"/>
              <a:ea typeface="Calibri"/>
              <a:cs typeface="Calibri"/>
              <a:sym typeface="Calibri"/>
            </a:endParaRPr>
          </a:p>
        </p:txBody>
      </p:sp>
      <p:sp>
        <p:nvSpPr>
          <p:cNvPr id="295" name="Google Shape;295;g2e3c0731b07_0_69"/>
          <p:cNvSpPr/>
          <p:nvPr/>
        </p:nvSpPr>
        <p:spPr>
          <a:xfrm>
            <a:off x="11787073" y="7264400"/>
            <a:ext cx="813000" cy="914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296" name="Google Shape;296;g2e3c0731b07_0_69"/>
          <p:cNvPicPr preferRelativeResize="0"/>
          <p:nvPr/>
        </p:nvPicPr>
        <p:blipFill rotWithShape="1">
          <a:blip r:embed="rId4">
            <a:alphaModFix/>
          </a:blip>
          <a:srcRect b="0" l="0" r="0" t="0"/>
          <a:stretch/>
        </p:blipFill>
        <p:spPr>
          <a:xfrm>
            <a:off x="11787073" y="7975600"/>
            <a:ext cx="812902" cy="203200"/>
          </a:xfrm>
          <a:prstGeom prst="rect">
            <a:avLst/>
          </a:prstGeom>
          <a:noFill/>
          <a:ln>
            <a:noFill/>
          </a:ln>
        </p:spPr>
      </p:pic>
      <p:sp>
        <p:nvSpPr>
          <p:cNvPr id="297" name="Google Shape;297;g2e3c0731b07_0_69"/>
          <p:cNvSpPr/>
          <p:nvPr/>
        </p:nvSpPr>
        <p:spPr>
          <a:xfrm>
            <a:off x="-2794875" y="4889850"/>
            <a:ext cx="10063800" cy="3936300"/>
          </a:xfrm>
          <a:prstGeom prst="rect">
            <a:avLst/>
          </a:prstGeom>
          <a:noFill/>
          <a:ln>
            <a:noFill/>
          </a:ln>
        </p:spPr>
        <p:txBody>
          <a:bodyPr anchorCtr="0" anchor="t" bIns="0" lIns="0" spcFirstLastPara="1" rIns="0" wrap="square" tIns="0">
            <a:noAutofit/>
          </a:bodyPr>
          <a:lstStyle/>
          <a:p>
            <a:pPr indent="0" lvl="0" marL="0" marR="0" rtl="0" algn="ctr">
              <a:lnSpc>
                <a:spcPct val="32000"/>
              </a:lnSpc>
              <a:spcBef>
                <a:spcPts val="0"/>
              </a:spcBef>
              <a:spcAft>
                <a:spcPts val="0"/>
              </a:spcAft>
              <a:buClr>
                <a:srgbClr val="FEFEF7"/>
              </a:buClr>
              <a:buSzPts val="40000"/>
              <a:buFont typeface="Bricolage Grotesque ExtraBold"/>
              <a:buNone/>
            </a:pPr>
            <a:r>
              <a:t/>
            </a:r>
            <a:endParaRPr b="0" i="0" sz="40000" u="none" cap="none" strike="noStrike">
              <a:solidFill>
                <a:srgbClr val="254E49"/>
              </a:solidFill>
              <a:latin typeface="Bricolage Grotesque ExtraBold"/>
              <a:ea typeface="Bricolage Grotesque ExtraBold"/>
              <a:cs typeface="Bricolage Grotesque ExtraBold"/>
              <a:sym typeface="Bricolage Grotesque ExtraBold"/>
            </a:endParaRPr>
          </a:p>
          <a:p>
            <a:pPr indent="0" lvl="0" marL="0" marR="0" rtl="0" algn="ctr">
              <a:lnSpc>
                <a:spcPct val="32000"/>
              </a:lnSpc>
              <a:spcBef>
                <a:spcPts val="0"/>
              </a:spcBef>
              <a:spcAft>
                <a:spcPts val="0"/>
              </a:spcAft>
              <a:buClr>
                <a:srgbClr val="FEFEF7"/>
              </a:buClr>
              <a:buSzPts val="40000"/>
              <a:buFont typeface="Bricolage Grotesque ExtraBold"/>
              <a:buNone/>
            </a:pPr>
            <a:r>
              <a:rPr b="0" i="0" lang="en-US" sz="40000" u="none" cap="none" strike="noStrike">
                <a:solidFill>
                  <a:srgbClr val="254E49"/>
                </a:solidFill>
                <a:latin typeface="Bricolage Grotesque ExtraBold"/>
                <a:ea typeface="Bricolage Grotesque ExtraBold"/>
                <a:cs typeface="Bricolage Grotesque ExtraBold"/>
                <a:sym typeface="Bricolage Grotesque ExtraBold"/>
              </a:rPr>
              <a:t>0</a:t>
            </a:r>
            <a:r>
              <a:rPr lang="en-US" sz="40000">
                <a:solidFill>
                  <a:srgbClr val="254E49"/>
                </a:solidFill>
                <a:latin typeface="Bricolage Grotesque ExtraBold"/>
                <a:ea typeface="Bricolage Grotesque ExtraBold"/>
                <a:cs typeface="Bricolage Grotesque ExtraBold"/>
                <a:sym typeface="Bricolage Grotesque ExtraBold"/>
              </a:rPr>
              <a:t>3</a:t>
            </a:r>
            <a:endParaRPr b="0" i="0" sz="40000" u="none" cap="none" strike="noStrike">
              <a:solidFill>
                <a:srgbClr val="254E49"/>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302" name="Shape 302"/>
        <p:cNvGrpSpPr/>
        <p:nvPr/>
      </p:nvGrpSpPr>
      <p:grpSpPr>
        <a:xfrm>
          <a:off x="0" y="0"/>
          <a:ext cx="0" cy="0"/>
          <a:chOff x="0" y="0"/>
          <a:chExt cx="0" cy="0"/>
        </a:xfrm>
      </p:grpSpPr>
      <p:sp>
        <p:nvSpPr>
          <p:cNvPr id="303" name="Google Shape;303;g3c33024ce86_0_0"/>
          <p:cNvSpPr/>
          <p:nvPr/>
        </p:nvSpPr>
        <p:spPr>
          <a:xfrm>
            <a:off x="2646900" y="1490100"/>
            <a:ext cx="4321200" cy="107358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FF7B52"/>
              </a:buClr>
              <a:buSzPts val="6400"/>
              <a:buFont typeface="Bricolage Grotesque"/>
              <a:buNone/>
            </a:pPr>
            <a:r>
              <a:rPr b="1" lang="en-US" sz="9000">
                <a:solidFill>
                  <a:srgbClr val="FF7B52"/>
                </a:solidFill>
                <a:latin typeface="Bricolage Grotesque"/>
                <a:ea typeface="Bricolage Grotesque"/>
                <a:cs typeface="Bricolage Grotesque"/>
                <a:sym typeface="Bricolage Grotesque"/>
              </a:rPr>
              <a:t>Ajanda</a:t>
            </a:r>
            <a:endParaRPr b="0" i="0" sz="9000" u="none" cap="none" strike="noStrike">
              <a:solidFill>
                <a:schemeClr val="dk1"/>
              </a:solidFill>
              <a:latin typeface="Calibri"/>
              <a:ea typeface="Calibri"/>
              <a:cs typeface="Calibri"/>
              <a:sym typeface="Calibri"/>
            </a:endParaRPr>
          </a:p>
        </p:txBody>
      </p:sp>
      <p:sp>
        <p:nvSpPr>
          <p:cNvPr id="304" name="Google Shape;304;g3c33024ce86_0_0"/>
          <p:cNvSpPr/>
          <p:nvPr/>
        </p:nvSpPr>
        <p:spPr>
          <a:xfrm>
            <a:off x="12960675" y="2861100"/>
            <a:ext cx="10432200" cy="7993800"/>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Genel Performans (Google &amp; AI)</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Nonbranded / Branded Kırılım</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Pozisyon Aralığına Göre Kelime Sayısı Dağılımı</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Anahtar Kelime Highlight’ları</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Neler Yaptık?</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Rakiplerle Kıyaslama / Rakiplerin Güç Kazandığı Yerler</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Market Analizi - Sektör İçgörüleri</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2026 Planı / Projeler / Fırsatlar</a:t>
            </a:r>
            <a:endParaRPr sz="3200">
              <a:solidFill>
                <a:srgbClr val="10332F"/>
              </a:solidFill>
              <a:latin typeface="Outfit"/>
              <a:ea typeface="Outfit"/>
              <a:cs typeface="Outfit"/>
              <a:sym typeface="Outfit"/>
            </a:endParaRPr>
          </a:p>
        </p:txBody>
      </p:sp>
      <p:pic>
        <p:nvPicPr>
          <p:cNvPr descr=" " id="305" name="Google Shape;305;g3c33024ce86_0_0"/>
          <p:cNvPicPr preferRelativeResize="0"/>
          <p:nvPr/>
        </p:nvPicPr>
        <p:blipFill rotWithShape="1">
          <a:blip r:embed="rId3">
            <a:alphaModFix/>
          </a:blip>
          <a:srcRect b="0" l="0" r="0" t="0"/>
          <a:stretch/>
        </p:blipFill>
        <p:spPr>
          <a:xfrm>
            <a:off x="406451" y="12242800"/>
            <a:ext cx="965321" cy="1016000"/>
          </a:xfrm>
          <a:prstGeom prst="rect">
            <a:avLst/>
          </a:prstGeom>
          <a:noFill/>
          <a:ln>
            <a:noFill/>
          </a:ln>
        </p:spPr>
      </p:pic>
      <p:pic>
        <p:nvPicPr>
          <p:cNvPr descr=" " id="306" name="Google Shape;306;g3c33024ce86_0_0"/>
          <p:cNvPicPr preferRelativeResize="0"/>
          <p:nvPr/>
        </p:nvPicPr>
        <p:blipFill rotWithShape="1">
          <a:blip r:embed="rId4">
            <a:alphaModFix/>
          </a:blip>
          <a:srcRect b="0" l="0" r="0" t="0"/>
          <a:stretch/>
        </p:blipFill>
        <p:spPr>
          <a:xfrm>
            <a:off x="538084" y="12381347"/>
            <a:ext cx="702051" cy="738907"/>
          </a:xfrm>
          <a:prstGeom prst="rect">
            <a:avLst/>
          </a:prstGeom>
          <a:noFill/>
          <a:ln>
            <a:noFill/>
          </a:ln>
        </p:spPr>
      </p:pic>
      <p:sp>
        <p:nvSpPr>
          <p:cNvPr id="307" name="Google Shape;307;g3c33024ce86_0_0"/>
          <p:cNvSpPr/>
          <p:nvPr/>
        </p:nvSpPr>
        <p:spPr>
          <a:xfrm>
            <a:off x="0" y="0"/>
            <a:ext cx="96150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312" name="Shape 312"/>
        <p:cNvGrpSpPr/>
        <p:nvPr/>
      </p:nvGrpSpPr>
      <p:grpSpPr>
        <a:xfrm>
          <a:off x="0" y="0"/>
          <a:ext cx="0" cy="0"/>
          <a:chOff x="0" y="0"/>
          <a:chExt cx="0" cy="0"/>
        </a:xfrm>
      </p:grpSpPr>
      <p:pic>
        <p:nvPicPr>
          <p:cNvPr descr=" " id="313" name="Google Shape;313;g349378d72a7_0_25"/>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314" name="Google Shape;314;g349378d72a7_0_25"/>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315" name="Google Shape;315;g349378d72a7_0_25"/>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316" name="Google Shape;316;g349378d72a7_0_25"/>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349378d72a7_0_25"/>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318" name="Google Shape;318;g349378d72a7_0_25"/>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Genel Performans Metrikleri</a:t>
            </a:r>
            <a:endParaRPr b="1" i="0" sz="5500" u="none" cap="none" strike="noStrike">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319" name="Google Shape;319;g349378d72a7_0_25" title="Chart"/>
          <p:cNvPicPr preferRelativeResize="0"/>
          <p:nvPr/>
        </p:nvPicPr>
        <p:blipFill>
          <a:blip r:embed="rId6">
            <a:alphaModFix/>
          </a:blip>
          <a:stretch>
            <a:fillRect/>
          </a:stretch>
        </p:blipFill>
        <p:spPr>
          <a:xfrm>
            <a:off x="4878385" y="2658325"/>
            <a:ext cx="14630400" cy="5879306"/>
          </a:xfrm>
          <a:prstGeom prst="rect">
            <a:avLst/>
          </a:prstGeom>
          <a:noFill/>
          <a:ln>
            <a:noFill/>
          </a:ln>
        </p:spPr>
      </p:pic>
      <p:sp>
        <p:nvSpPr>
          <p:cNvPr id="320" name="Google Shape;320;g349378d72a7_0_25"/>
          <p:cNvSpPr txBox="1"/>
          <p:nvPr/>
        </p:nvSpPr>
        <p:spPr>
          <a:xfrm>
            <a:off x="2132375" y="9042800"/>
            <a:ext cx="12385500" cy="363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000">
                <a:solidFill>
                  <a:schemeClr val="dk1"/>
                </a:solidFill>
                <a:latin typeface="Bricolage Grotesque"/>
                <a:ea typeface="Bricolage Grotesque"/>
                <a:cs typeface="Bricolage Grotesque"/>
                <a:sym typeface="Bricolage Grotesque"/>
              </a:rPr>
              <a:t>2025 boyunca SEO performansı, </a:t>
            </a:r>
            <a:r>
              <a:rPr b="1" lang="en-US" sz="2000">
                <a:solidFill>
                  <a:schemeClr val="dk1"/>
                </a:solidFill>
                <a:latin typeface="Bricolage Grotesque"/>
                <a:ea typeface="Bricolage Grotesque"/>
                <a:cs typeface="Bricolage Grotesque"/>
                <a:sym typeface="Bricolage Grotesque"/>
              </a:rPr>
              <a:t>tasarım dönüşümleri, URL/landing page değişimleri ve teknik problemler</a:t>
            </a:r>
            <a:r>
              <a:rPr lang="en-US" sz="2000">
                <a:solidFill>
                  <a:schemeClr val="dk1"/>
                </a:solidFill>
                <a:latin typeface="Bricolage Grotesque"/>
                <a:ea typeface="Bricolage Grotesque"/>
                <a:cs typeface="Bricolage Grotesque"/>
                <a:sym typeface="Bricolage Grotesque"/>
              </a:rPr>
              <a:t> nedeniyle dönemsel dalgalanmalar göstermiştir. </a:t>
            </a:r>
            <a:r>
              <a:rPr b="1" lang="en-US" sz="2000">
                <a:solidFill>
                  <a:schemeClr val="dk1"/>
                </a:solidFill>
                <a:latin typeface="Bricolage Grotesque"/>
                <a:ea typeface="Bricolage Grotesque"/>
                <a:cs typeface="Bricolage Grotesque"/>
                <a:sym typeface="Bricolage Grotesque"/>
              </a:rPr>
              <a:t>Yardım, servis, kampanya ve hakkımızda</a:t>
            </a:r>
            <a:r>
              <a:rPr lang="en-US" sz="2000">
                <a:solidFill>
                  <a:schemeClr val="dk1"/>
                </a:solidFill>
                <a:latin typeface="Bricolage Grotesque"/>
                <a:ea typeface="Bricolage Grotesque"/>
                <a:cs typeface="Bricolage Grotesque"/>
                <a:sym typeface="Bricolage Grotesque"/>
              </a:rPr>
              <a:t> gibi yüksek hacimli alanlarda yapılan </a:t>
            </a:r>
            <a:r>
              <a:rPr b="1" lang="en-US" sz="2000">
                <a:solidFill>
                  <a:schemeClr val="dk1"/>
                </a:solidFill>
                <a:latin typeface="Bricolage Grotesque"/>
                <a:ea typeface="Bricolage Grotesque"/>
                <a:cs typeface="Bricolage Grotesque"/>
                <a:sym typeface="Bricolage Grotesque"/>
              </a:rPr>
              <a:t>responsive dönüşümler ve URL değişiklikleri</a:t>
            </a:r>
            <a:r>
              <a:rPr lang="en-US" sz="2000">
                <a:solidFill>
                  <a:schemeClr val="dk1"/>
                </a:solidFill>
                <a:latin typeface="Bricolage Grotesque"/>
                <a:ea typeface="Bricolage Grotesque"/>
                <a:cs typeface="Bricolage Grotesque"/>
                <a:sym typeface="Bricolage Grotesque"/>
              </a:rPr>
              <a:t>, kısa vadede indexleme ve CTR üzerinde baskı yaratmıştır.</a:t>
            </a:r>
            <a:endParaRPr sz="20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t/>
            </a:r>
            <a:endParaRPr sz="20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000">
                <a:solidFill>
                  <a:schemeClr val="dk1"/>
                </a:solidFill>
                <a:latin typeface="Bricolage Grotesque"/>
                <a:ea typeface="Bricolage Grotesque"/>
                <a:cs typeface="Bricolage Grotesque"/>
                <a:sym typeface="Bricolage Grotesque"/>
              </a:rPr>
              <a:t>Özellikle </a:t>
            </a:r>
            <a:r>
              <a:rPr b="1" lang="en-US" sz="2000">
                <a:solidFill>
                  <a:schemeClr val="dk1"/>
                </a:solidFill>
                <a:latin typeface="Bricolage Grotesque"/>
                <a:ea typeface="Bricolage Grotesque"/>
                <a:cs typeface="Bricolage Grotesque"/>
                <a:sym typeface="Bricolage Grotesque"/>
              </a:rPr>
              <a:t>client-side application error</a:t>
            </a:r>
            <a:r>
              <a:rPr lang="en-US" sz="2000">
                <a:solidFill>
                  <a:schemeClr val="dk1"/>
                </a:solidFill>
                <a:latin typeface="Bricolage Grotesque"/>
                <a:ea typeface="Bricolage Grotesque"/>
                <a:cs typeface="Bricolage Grotesque"/>
                <a:sym typeface="Bricolage Grotesque"/>
              </a:rPr>
              <a:t> kaynaklı problemler, Mart–Nisan döneminde Googlebot erişimini sınırlayarak </a:t>
            </a:r>
            <a:r>
              <a:rPr b="1" lang="en-US" sz="2000">
                <a:solidFill>
                  <a:schemeClr val="dk1"/>
                </a:solidFill>
                <a:latin typeface="Bricolage Grotesque"/>
                <a:ea typeface="Bricolage Grotesque"/>
                <a:cs typeface="Bricolage Grotesque"/>
                <a:sym typeface="Bricolage Grotesque"/>
              </a:rPr>
              <a:t>çok trafik alan fatura, hız testi ve servis sorgularında görünürlük kaybına</a:t>
            </a:r>
            <a:r>
              <a:rPr lang="en-US" sz="2000">
                <a:solidFill>
                  <a:schemeClr val="dk1"/>
                </a:solidFill>
                <a:latin typeface="Bricolage Grotesque"/>
                <a:ea typeface="Bricolage Grotesque"/>
                <a:cs typeface="Bricolage Grotesque"/>
                <a:sym typeface="Bricolage Grotesque"/>
              </a:rPr>
              <a:t> neden olmuştur. Yaz aylarında </a:t>
            </a:r>
            <a:r>
              <a:rPr b="1" lang="en-US" sz="2000">
                <a:solidFill>
                  <a:schemeClr val="dk1"/>
                </a:solidFill>
                <a:latin typeface="Bricolage Grotesque"/>
                <a:ea typeface="Bricolage Grotesque"/>
                <a:cs typeface="Bricolage Grotesque"/>
                <a:sym typeface="Bricolage Grotesque"/>
              </a:rPr>
              <a:t>/trc geçişleri, yeni teaser ve kategori sadeleşmeleri</a:t>
            </a:r>
            <a:r>
              <a:rPr lang="en-US" sz="2000">
                <a:solidFill>
                  <a:schemeClr val="dk1"/>
                </a:solidFill>
                <a:latin typeface="Bricolage Grotesque"/>
                <a:ea typeface="Bricolage Grotesque"/>
                <a:cs typeface="Bricolage Grotesque"/>
                <a:sym typeface="Bricolage Grotesque"/>
              </a:rPr>
              <a:t>, click tarafında geçici düşüşler yaratsa da, orta vadede mimari sadeleşmeyi desteklemiştir.</a:t>
            </a:r>
            <a:endParaRPr sz="2000">
              <a:solidFill>
                <a:schemeClr val="dk1"/>
              </a:solidFill>
              <a:latin typeface="Bricolage Grotesque"/>
              <a:ea typeface="Bricolage Grotesque"/>
              <a:cs typeface="Bricolage Grotesque"/>
              <a:sym typeface="Bricolage Grotesque"/>
            </a:endParaRPr>
          </a:p>
        </p:txBody>
      </p:sp>
      <p:sp>
        <p:nvSpPr>
          <p:cNvPr id="321" name="Google Shape;321;g349378d72a7_0_25"/>
          <p:cNvSpPr/>
          <p:nvPr/>
        </p:nvSpPr>
        <p:spPr>
          <a:xfrm>
            <a:off x="17050950" y="9193900"/>
            <a:ext cx="6656400" cy="2198700"/>
          </a:xfrm>
          <a:prstGeom prst="wedgeRectCallout">
            <a:avLst>
              <a:gd fmla="val -20833" name="adj1"/>
              <a:gd fmla="val 625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3400">
                <a:solidFill>
                  <a:schemeClr val="accent6"/>
                </a:solidFill>
                <a:latin typeface="Bricolage Grotesque"/>
                <a:ea typeface="Bricolage Grotesque"/>
                <a:cs typeface="Bricolage Grotesque"/>
                <a:sym typeface="Bricolage Grotesque"/>
              </a:rPr>
              <a:t>%19 YoY</a:t>
            </a:r>
            <a:r>
              <a:rPr lang="en-US" sz="3400">
                <a:latin typeface="Bricolage Grotesque"/>
                <a:ea typeface="Bricolage Grotesque"/>
                <a:cs typeface="Bricolage Grotesque"/>
                <a:sym typeface="Bricolage Grotesque"/>
              </a:rPr>
              <a:t> hacim daralması</a:t>
            </a:r>
            <a:endParaRPr sz="3400">
              <a:latin typeface="Bricolage Grotesque"/>
              <a:ea typeface="Bricolage Grotesque"/>
              <a:cs typeface="Bricolage Grotesque"/>
              <a:sym typeface="Bricolage Grotesque"/>
            </a:endParaRPr>
          </a:p>
          <a:p>
            <a:pPr indent="0" lvl="0" marL="0" rtl="0" algn="l">
              <a:spcBef>
                <a:spcPts val="0"/>
              </a:spcBef>
              <a:spcAft>
                <a:spcPts val="0"/>
              </a:spcAft>
              <a:buNone/>
            </a:pPr>
            <a:r>
              <a:rPr b="1" lang="en-US" sz="3400">
                <a:solidFill>
                  <a:schemeClr val="accent6"/>
                </a:solidFill>
                <a:latin typeface="Bricolage Grotesque"/>
                <a:ea typeface="Bricolage Grotesque"/>
                <a:cs typeface="Bricolage Grotesque"/>
                <a:sym typeface="Bricolage Grotesque"/>
              </a:rPr>
              <a:t>H2 vs H1 Click:</a:t>
            </a:r>
            <a:r>
              <a:rPr lang="en-US" sz="3400">
                <a:latin typeface="Bricolage Grotesque"/>
                <a:ea typeface="Bricolage Grotesque"/>
                <a:cs typeface="Bricolage Grotesque"/>
                <a:sym typeface="Bricolage Grotesque"/>
              </a:rPr>
              <a:t> %-3,3 düşüş</a:t>
            </a:r>
            <a:endParaRPr sz="3400">
              <a:latin typeface="Bricolage Grotesque"/>
              <a:ea typeface="Bricolage Grotesque"/>
              <a:cs typeface="Bricolage Grotesque"/>
              <a:sym typeface="Bricolage Grotesque"/>
            </a:endParaRPr>
          </a:p>
          <a:p>
            <a:pPr indent="0" lvl="0" marL="0" rtl="0" algn="l">
              <a:spcBef>
                <a:spcPts val="0"/>
              </a:spcBef>
              <a:spcAft>
                <a:spcPts val="0"/>
              </a:spcAft>
              <a:buNone/>
            </a:pPr>
            <a:r>
              <a:rPr b="1" lang="en-US" sz="3400">
                <a:solidFill>
                  <a:schemeClr val="accent6"/>
                </a:solidFill>
                <a:latin typeface="Bricolage Grotesque"/>
                <a:ea typeface="Bricolage Grotesque"/>
                <a:cs typeface="Bricolage Grotesque"/>
                <a:sym typeface="Bricolage Grotesque"/>
              </a:rPr>
              <a:t>H2 vs H1 Impression:</a:t>
            </a:r>
            <a:r>
              <a:rPr lang="en-US" sz="3400">
                <a:latin typeface="Bricolage Grotesque"/>
                <a:ea typeface="Bricolage Grotesque"/>
                <a:cs typeface="Bricolage Grotesque"/>
                <a:sym typeface="Bricolage Grotesque"/>
              </a:rPr>
              <a:t> %+6 artış</a:t>
            </a:r>
            <a:endParaRPr sz="3400">
              <a:latin typeface="Bricolage Grotesque"/>
              <a:ea typeface="Bricolage Grotesque"/>
              <a:cs typeface="Bricolage Grotesque"/>
              <a:sym typeface="Bricolage Grotesq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326" name="Shape 326"/>
        <p:cNvGrpSpPr/>
        <p:nvPr/>
      </p:nvGrpSpPr>
      <p:grpSpPr>
        <a:xfrm>
          <a:off x="0" y="0"/>
          <a:ext cx="0" cy="0"/>
          <a:chOff x="0" y="0"/>
          <a:chExt cx="0" cy="0"/>
        </a:xfrm>
      </p:grpSpPr>
      <p:pic>
        <p:nvPicPr>
          <p:cNvPr descr=" " id="327" name="Google Shape;327;g3c33024ce86_0_40"/>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328" name="Google Shape;328;g3c33024ce86_0_40"/>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329" name="Google Shape;329;g3c33024ce86_0_40"/>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330" name="Google Shape;330;g3c33024ce86_0_40"/>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3c33024ce86_0_40"/>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332" name="Google Shape;332;g3c33024ce86_0_40"/>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Nonbranded / Branded Kırılım</a:t>
            </a:r>
            <a:endParaRPr b="1" i="0" sz="5500" u="none" cap="none" strike="noStrike">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333" name="Google Shape;333;g3c33024ce86_0_40"/>
          <p:cNvSpPr txBox="1"/>
          <p:nvPr/>
        </p:nvSpPr>
        <p:spPr>
          <a:xfrm>
            <a:off x="2494325" y="9371025"/>
            <a:ext cx="20014800" cy="300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800">
                <a:solidFill>
                  <a:schemeClr val="dk1"/>
                </a:solidFill>
                <a:latin typeface="Bricolage Grotesque"/>
                <a:ea typeface="Bricolage Grotesque"/>
                <a:cs typeface="Bricolage Grotesque"/>
                <a:sym typeface="Bricolage Grotesque"/>
              </a:rPr>
              <a:t>Buna ek olarak;</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1200"/>
              </a:spcBef>
              <a:spcAft>
                <a:spcPts val="0"/>
              </a:spcAft>
              <a:buClr>
                <a:schemeClr val="dk1"/>
              </a:buClr>
              <a:buSzPts val="1800"/>
              <a:buChar char="●"/>
            </a:pPr>
            <a:r>
              <a:rPr b="1" lang="en-US" sz="1800">
                <a:solidFill>
                  <a:schemeClr val="dk1"/>
                </a:solidFill>
                <a:latin typeface="Bricolage Grotesque"/>
                <a:ea typeface="Bricolage Grotesque"/>
                <a:cs typeface="Bricolage Grotesque"/>
                <a:sym typeface="Bricolage Grotesque"/>
              </a:rPr>
              <a:t>Knowledge Panel &amp; mobil SERP değişiklikleri</a:t>
            </a:r>
            <a:r>
              <a:rPr lang="en-US" sz="1800">
                <a:solidFill>
                  <a:schemeClr val="dk1"/>
                </a:solidFill>
                <a:latin typeface="Bricolage Grotesque"/>
                <a:ea typeface="Bricolage Grotesque"/>
                <a:cs typeface="Bricolage Grotesque"/>
                <a:sym typeface="Bricolage Grotesque"/>
              </a:rPr>
              <a:t> branded CTR’ları baskılamış,</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latin typeface="Bricolage Grotesque"/>
                <a:ea typeface="Bricolage Grotesque"/>
                <a:cs typeface="Bricolage Grotesque"/>
                <a:sym typeface="Bricolage Grotesque"/>
              </a:rPr>
              <a:t>Ani index düşüşleri ve canonical hataları</a:t>
            </a:r>
            <a:r>
              <a:rPr lang="en-US" sz="1800">
                <a:solidFill>
                  <a:schemeClr val="dk1"/>
                </a:solidFill>
                <a:latin typeface="Bricolage Grotesque"/>
                <a:ea typeface="Bricolage Grotesque"/>
                <a:cs typeface="Bricolage Grotesque"/>
                <a:sym typeface="Bricolage Grotesque"/>
              </a:rPr>
              <a:t> (Ağustos–Eylül) dalgalanmayı artırmıştır.</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Bricolage Grotesque"/>
                <a:ea typeface="Bricolage Grotesque"/>
                <a:cs typeface="Bricolage Grotesque"/>
                <a:sym typeface="Bricolage Grotesque"/>
              </a:rPr>
              <a:t>Bayramlar, erişim sorunları ve deprem gibi </a:t>
            </a:r>
            <a:r>
              <a:rPr b="1" lang="en-US" sz="1800">
                <a:solidFill>
                  <a:schemeClr val="dk1"/>
                </a:solidFill>
                <a:latin typeface="Bricolage Grotesque"/>
                <a:ea typeface="Bricolage Grotesque"/>
                <a:cs typeface="Bricolage Grotesque"/>
                <a:sym typeface="Bricolage Grotesque"/>
              </a:rPr>
              <a:t>dışsal faktörler</a:t>
            </a:r>
            <a:r>
              <a:rPr lang="en-US" sz="1800">
                <a:solidFill>
                  <a:schemeClr val="dk1"/>
                </a:solidFill>
                <a:latin typeface="Bricolage Grotesque"/>
                <a:ea typeface="Bricolage Grotesque"/>
                <a:cs typeface="Bricolage Grotesque"/>
                <a:sym typeface="Bricolage Grotesque"/>
              </a:rPr>
              <a:t>, özellikle servis ve destek sorgularında kısa süreli spike’lar yaratmıştır.</a:t>
            </a:r>
            <a:endParaRPr sz="1800">
              <a:solidFill>
                <a:schemeClr val="dk1"/>
              </a:solidFill>
              <a:latin typeface="Bricolage Grotesque"/>
              <a:ea typeface="Bricolage Grotesque"/>
              <a:cs typeface="Bricolage Grotesque"/>
              <a:sym typeface="Bricolage Grotesque"/>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latin typeface="Bricolage Grotesque"/>
                <a:ea typeface="Bricolage Grotesque"/>
                <a:cs typeface="Bricolage Grotesque"/>
                <a:sym typeface="Bricolage Grotesque"/>
              </a:rPr>
              <a:t>YoY bazda branded arama hacminde </a:t>
            </a:r>
            <a:r>
              <a:rPr b="1" lang="en-US" sz="1800">
                <a:solidFill>
                  <a:schemeClr val="dk1"/>
                </a:solidFill>
                <a:latin typeface="Bricolage Grotesque"/>
                <a:ea typeface="Bricolage Grotesque"/>
                <a:cs typeface="Bricolage Grotesque"/>
                <a:sym typeface="Bricolage Grotesque"/>
              </a:rPr>
              <a:t>%19’luk bir daralma</a:t>
            </a:r>
            <a:r>
              <a:rPr lang="en-US" sz="1800">
                <a:solidFill>
                  <a:schemeClr val="dk1"/>
                </a:solidFill>
                <a:latin typeface="Bricolage Grotesque"/>
                <a:ea typeface="Bricolage Grotesque"/>
                <a:cs typeface="Bricolage Grotesque"/>
                <a:sym typeface="Bricolage Grotesque"/>
              </a:rPr>
              <a:t> yaşanması, branded click’lerdeki baskıyı artırmış. Non-branded performans Q3’te baskılanmış, ancak teknik stabilizasyon sonrası Q4’te toparlanma sinyali vermiştir.</a:t>
            </a:r>
            <a:br>
              <a:rPr lang="en-US" sz="1800">
                <a:solidFill>
                  <a:schemeClr val="dk1"/>
                </a:solidFill>
                <a:latin typeface="Bricolage Grotesque"/>
                <a:ea typeface="Bricolage Grotesque"/>
                <a:cs typeface="Bricolage Grotesque"/>
                <a:sym typeface="Bricolage Grotesque"/>
              </a:rPr>
            </a:br>
            <a:endParaRPr sz="18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1800">
                <a:solidFill>
                  <a:schemeClr val="dk1"/>
                </a:solidFill>
                <a:latin typeface="Bricolage Grotesque"/>
                <a:ea typeface="Bricolage Grotesque"/>
                <a:cs typeface="Bricolage Grotesque"/>
                <a:sym typeface="Bricolage Grotesque"/>
              </a:rPr>
              <a:t>Genel olarak grafiklerde görülen ikinci yarı toparlanması, </a:t>
            </a:r>
            <a:r>
              <a:rPr b="1" lang="en-US" sz="1800">
                <a:solidFill>
                  <a:schemeClr val="dk1"/>
                </a:solidFill>
                <a:latin typeface="Bricolage Grotesque"/>
                <a:ea typeface="Bricolage Grotesque"/>
                <a:cs typeface="Bricolage Grotesque"/>
                <a:sym typeface="Bricolage Grotesque"/>
              </a:rPr>
              <a:t>teknik iyileştirmeler (canonical &amp; CDN güncellemeleri)</a:t>
            </a:r>
            <a:r>
              <a:rPr lang="en-US" sz="1800">
                <a:solidFill>
                  <a:schemeClr val="dk1"/>
                </a:solidFill>
                <a:latin typeface="Bricolage Grotesque"/>
                <a:ea typeface="Bricolage Grotesque"/>
                <a:cs typeface="Bricolage Grotesque"/>
                <a:sym typeface="Bricolage Grotesque"/>
              </a:rPr>
              <a:t> sonrası SEO performansının yeniden stabilize olduğunu göstermektedir.</a:t>
            </a:r>
            <a:endParaRPr sz="1800">
              <a:solidFill>
                <a:schemeClr val="dk1"/>
              </a:solidFill>
              <a:latin typeface="Bricolage Grotesque"/>
              <a:ea typeface="Bricolage Grotesque"/>
              <a:cs typeface="Bricolage Grotesque"/>
              <a:sym typeface="Bricolage Grotesque"/>
            </a:endParaRPr>
          </a:p>
        </p:txBody>
      </p:sp>
      <p:pic>
        <p:nvPicPr>
          <p:cNvPr id="334" name="Google Shape;334;g3c33024ce86_0_40" title="Chart"/>
          <p:cNvPicPr preferRelativeResize="0"/>
          <p:nvPr/>
        </p:nvPicPr>
        <p:blipFill>
          <a:blip r:embed="rId6">
            <a:alphaModFix/>
          </a:blip>
          <a:stretch>
            <a:fillRect/>
          </a:stretch>
        </p:blipFill>
        <p:spPr>
          <a:xfrm>
            <a:off x="3651350" y="2505550"/>
            <a:ext cx="17084477" cy="68654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339" name="Shape 339"/>
        <p:cNvGrpSpPr/>
        <p:nvPr/>
      </p:nvGrpSpPr>
      <p:grpSpPr>
        <a:xfrm>
          <a:off x="0" y="0"/>
          <a:ext cx="0" cy="0"/>
          <a:chOff x="0" y="0"/>
          <a:chExt cx="0" cy="0"/>
        </a:xfrm>
      </p:grpSpPr>
      <p:pic>
        <p:nvPicPr>
          <p:cNvPr descr=" " id="340" name="Google Shape;340;g3c33024ce86_0_76"/>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341" name="Google Shape;341;g3c33024ce86_0_76"/>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342" name="Google Shape;342;g3c33024ce86_0_76"/>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343" name="Google Shape;343;g3c33024ce86_0_76"/>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3c33024ce86_0_76"/>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345" name="Google Shape;345;g3c33024ce86_0_76"/>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Pozisyon Aralığına Göre Kelime Sayısı Dağılımı</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346" name="Google Shape;346;g3c33024ce86_0_76"/>
          <p:cNvSpPr txBox="1"/>
          <p:nvPr/>
        </p:nvSpPr>
        <p:spPr>
          <a:xfrm>
            <a:off x="1177975" y="8367825"/>
            <a:ext cx="14699100" cy="304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Toplamda 308K’lık kelime pozisyon artışının yaklaşık 233K’sı informational sorgulardan gelmiştir. Bu artış, özellikle kampanya, destek ve paket detay sayfalarının tetiklediği yüksek varyasyonlu sorgu havuzunun genişlemesiyle gerçekleşmiştir.</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Ağustos spam update’i geçici dalgalanmalara yol açmış; responsive dönüşüm ve URL güncellemelerinin tamamlanmasıyla birlikte teknik stabilizasyon sağlanmış ve Aralık itibarıyla görünürlük yeniden ivme kazanmıştır.</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100">
                <a:solidFill>
                  <a:schemeClr val="dk1"/>
                </a:solidFill>
                <a:latin typeface="Bricolage Grotesque"/>
                <a:ea typeface="Bricolage Grotesque"/>
                <a:cs typeface="Bricolage Grotesque"/>
                <a:sym typeface="Bricolage Grotesque"/>
              </a:rPr>
              <a:t>SERP’teki düşüşün temel nedeni kampanya ve kurumsal odaklı sayfalardaki gerileme olurken, Top 3 segmentinde ise özellikle destek odaklı kelimelerde yaşanan düşüş dikkat çekmektedir.</a:t>
            </a:r>
            <a:endParaRPr sz="2100">
              <a:solidFill>
                <a:schemeClr val="dk1"/>
              </a:solidFill>
              <a:latin typeface="Bricolage Grotesque"/>
              <a:ea typeface="Bricolage Grotesque"/>
              <a:cs typeface="Bricolage Grotesque"/>
              <a:sym typeface="Bricolage Grotesque"/>
            </a:endParaRPr>
          </a:p>
        </p:txBody>
      </p:sp>
      <p:sp>
        <p:nvSpPr>
          <p:cNvPr id="347" name="Google Shape;347;g3c33024ce86_0_76"/>
          <p:cNvSpPr/>
          <p:nvPr/>
        </p:nvSpPr>
        <p:spPr>
          <a:xfrm>
            <a:off x="19750875" y="5086450"/>
            <a:ext cx="965400" cy="738900"/>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48" name="Google Shape;348;g3c33024ce86_0_76"/>
          <p:cNvGrpSpPr/>
          <p:nvPr/>
        </p:nvGrpSpPr>
        <p:grpSpPr>
          <a:xfrm>
            <a:off x="1240125" y="3310563"/>
            <a:ext cx="14574802" cy="4290725"/>
            <a:chOff x="406450" y="3275875"/>
            <a:chExt cx="14574802" cy="4290725"/>
          </a:xfrm>
        </p:grpSpPr>
        <p:pic>
          <p:nvPicPr>
            <p:cNvPr id="349" name="Google Shape;349;g3c33024ce86_0_76"/>
            <p:cNvPicPr preferRelativeResize="0"/>
            <p:nvPr/>
          </p:nvPicPr>
          <p:blipFill rotWithShape="1">
            <a:blip r:embed="rId6">
              <a:alphaModFix/>
            </a:blip>
            <a:srcRect b="0" l="0" r="94906" t="0"/>
            <a:stretch/>
          </p:blipFill>
          <p:spPr>
            <a:xfrm>
              <a:off x="406450" y="3275875"/>
              <a:ext cx="1216225" cy="4290725"/>
            </a:xfrm>
            <a:prstGeom prst="rect">
              <a:avLst/>
            </a:prstGeom>
            <a:noFill/>
            <a:ln>
              <a:noFill/>
            </a:ln>
          </p:spPr>
        </p:pic>
        <p:pic>
          <p:nvPicPr>
            <p:cNvPr id="350" name="Google Shape;350;g3c33024ce86_0_76"/>
            <p:cNvPicPr preferRelativeResize="0"/>
            <p:nvPr/>
          </p:nvPicPr>
          <p:blipFill rotWithShape="1">
            <a:blip r:embed="rId6">
              <a:alphaModFix/>
            </a:blip>
            <a:srcRect b="0" l="44055" r="0" t="0"/>
            <a:stretch/>
          </p:blipFill>
          <p:spPr>
            <a:xfrm>
              <a:off x="1622676" y="3275875"/>
              <a:ext cx="13358577" cy="4290725"/>
            </a:xfrm>
            <a:prstGeom prst="rect">
              <a:avLst/>
            </a:prstGeom>
            <a:noFill/>
            <a:ln>
              <a:noFill/>
            </a:ln>
          </p:spPr>
        </p:pic>
        <p:pic>
          <p:nvPicPr>
            <p:cNvPr id="351" name="Google Shape;351;g3c33024ce86_0_76"/>
            <p:cNvPicPr preferRelativeResize="0"/>
            <p:nvPr/>
          </p:nvPicPr>
          <p:blipFill rotWithShape="1">
            <a:blip r:embed="rId6">
              <a:alphaModFix/>
            </a:blip>
            <a:srcRect b="80090" l="0" r="65466" t="0"/>
            <a:stretch/>
          </p:blipFill>
          <p:spPr>
            <a:xfrm>
              <a:off x="538075" y="3383325"/>
              <a:ext cx="8246349" cy="854275"/>
            </a:xfrm>
            <a:prstGeom prst="rect">
              <a:avLst/>
            </a:prstGeom>
            <a:noFill/>
            <a:ln>
              <a:noFill/>
            </a:ln>
          </p:spPr>
        </p:pic>
      </p:grpSp>
      <p:pic>
        <p:nvPicPr>
          <p:cNvPr id="352" name="Google Shape;352;g3c33024ce86_0_76"/>
          <p:cNvPicPr preferRelativeResize="0"/>
          <p:nvPr/>
        </p:nvPicPr>
        <p:blipFill>
          <a:blip r:embed="rId7">
            <a:alphaModFix/>
          </a:blip>
          <a:stretch>
            <a:fillRect/>
          </a:stretch>
        </p:blipFill>
        <p:spPr>
          <a:xfrm>
            <a:off x="16909827" y="4131938"/>
            <a:ext cx="2552700" cy="2647950"/>
          </a:xfrm>
          <a:prstGeom prst="rect">
            <a:avLst/>
          </a:prstGeom>
          <a:noFill/>
          <a:ln>
            <a:noFill/>
          </a:ln>
          <a:effectLst>
            <a:outerShdw blurRad="57150" rotWithShape="0" algn="bl" dir="5400000" dist="19050">
              <a:srgbClr val="000000">
                <a:alpha val="50000"/>
              </a:srgbClr>
            </a:outerShdw>
          </a:effectLst>
        </p:spPr>
      </p:pic>
      <p:pic>
        <p:nvPicPr>
          <p:cNvPr id="353" name="Google Shape;353;g3c33024ce86_0_76"/>
          <p:cNvPicPr preferRelativeResize="0"/>
          <p:nvPr/>
        </p:nvPicPr>
        <p:blipFill>
          <a:blip r:embed="rId8">
            <a:alphaModFix/>
          </a:blip>
          <a:stretch>
            <a:fillRect/>
          </a:stretch>
        </p:blipFill>
        <p:spPr>
          <a:xfrm>
            <a:off x="20885125" y="4140001"/>
            <a:ext cx="2552700" cy="2631853"/>
          </a:xfrm>
          <a:prstGeom prst="rect">
            <a:avLst/>
          </a:prstGeom>
          <a:noFill/>
          <a:ln>
            <a:noFill/>
          </a:ln>
          <a:effectLst>
            <a:outerShdw blurRad="57150" rotWithShape="0" algn="bl" dir="5400000" dist="19050">
              <a:srgbClr val="000000">
                <a:alpha val="50000"/>
              </a:srgbClr>
            </a:outerShdw>
          </a:effectLst>
        </p:spPr>
      </p:pic>
      <p:sp>
        <p:nvSpPr>
          <p:cNvPr id="354" name="Google Shape;354;g3c33024ce86_0_76"/>
          <p:cNvSpPr/>
          <p:nvPr/>
        </p:nvSpPr>
        <p:spPr>
          <a:xfrm>
            <a:off x="1240125" y="3234400"/>
            <a:ext cx="14699100" cy="44430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g3c33024ce86_0_76"/>
          <p:cNvSpPr/>
          <p:nvPr/>
        </p:nvSpPr>
        <p:spPr>
          <a:xfrm>
            <a:off x="17050950" y="9193900"/>
            <a:ext cx="6927000" cy="2198700"/>
          </a:xfrm>
          <a:prstGeom prst="wedgeRectCallout">
            <a:avLst>
              <a:gd fmla="val -20833" name="adj1"/>
              <a:gd fmla="val 625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100">
                <a:solidFill>
                  <a:schemeClr val="dk1"/>
                </a:solidFill>
                <a:latin typeface="Bricolage Grotesque"/>
                <a:ea typeface="Bricolage Grotesque"/>
                <a:cs typeface="Bricolage Grotesque"/>
                <a:sym typeface="Bricolage Grotesque"/>
              </a:rPr>
              <a:t>Kelime sayısında</a:t>
            </a:r>
            <a:r>
              <a:rPr b="1" lang="en-US" sz="3100">
                <a:solidFill>
                  <a:schemeClr val="accent6"/>
                </a:solidFill>
                <a:latin typeface="Bricolage Grotesque"/>
                <a:ea typeface="Bricolage Grotesque"/>
                <a:cs typeface="Bricolage Grotesque"/>
                <a:sym typeface="Bricolage Grotesque"/>
              </a:rPr>
              <a:t> %8.6 artış</a:t>
            </a:r>
            <a:endParaRPr b="1" sz="3100">
              <a:solidFill>
                <a:schemeClr val="accent6"/>
              </a:solidFill>
              <a:latin typeface="Bricolage Grotesque"/>
              <a:ea typeface="Bricolage Grotesque"/>
              <a:cs typeface="Bricolage Grotesque"/>
              <a:sym typeface="Bricolage Grotesque"/>
            </a:endParaRPr>
          </a:p>
          <a:p>
            <a:pPr indent="0" lvl="0" marL="0" rtl="0" algn="ctr">
              <a:spcBef>
                <a:spcPts val="0"/>
              </a:spcBef>
              <a:spcAft>
                <a:spcPts val="0"/>
              </a:spcAft>
              <a:buNone/>
            </a:pPr>
            <a:r>
              <a:rPr lang="en-US" sz="3100">
                <a:solidFill>
                  <a:schemeClr val="dk1"/>
                </a:solidFill>
                <a:latin typeface="Bricolage Grotesque"/>
                <a:ea typeface="Bricolage Grotesque"/>
                <a:cs typeface="Bricolage Grotesque"/>
                <a:sym typeface="Bricolage Grotesque"/>
              </a:rPr>
              <a:t>Artışın</a:t>
            </a:r>
            <a:r>
              <a:rPr b="1" lang="en-US" sz="3100">
                <a:solidFill>
                  <a:schemeClr val="accent6"/>
                </a:solidFill>
                <a:latin typeface="Bricolage Grotesque"/>
                <a:ea typeface="Bricolage Grotesque"/>
                <a:cs typeface="Bricolage Grotesque"/>
                <a:sym typeface="Bricolage Grotesque"/>
              </a:rPr>
              <a:t> %76’</a:t>
            </a:r>
            <a:r>
              <a:rPr lang="en-US" sz="3100">
                <a:solidFill>
                  <a:schemeClr val="dk1"/>
                </a:solidFill>
                <a:latin typeface="Bricolage Grotesque"/>
                <a:ea typeface="Bricolage Grotesque"/>
                <a:cs typeface="Bricolage Grotesque"/>
                <a:sym typeface="Bricolage Grotesque"/>
              </a:rPr>
              <a:t>sı informational sorgular</a:t>
            </a:r>
            <a:endParaRPr b="1" sz="3100">
              <a:solidFill>
                <a:schemeClr val="accent6"/>
              </a:solidFill>
              <a:latin typeface="Bricolage Grotesque"/>
              <a:ea typeface="Bricolage Grotesque"/>
              <a:cs typeface="Bricolage Grotesque"/>
              <a:sym typeface="Bricolage Grotesq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360" name="Shape 360"/>
        <p:cNvGrpSpPr/>
        <p:nvPr/>
      </p:nvGrpSpPr>
      <p:grpSpPr>
        <a:xfrm>
          <a:off x="0" y="0"/>
          <a:ext cx="0" cy="0"/>
          <a:chOff x="0" y="0"/>
          <a:chExt cx="0" cy="0"/>
        </a:xfrm>
      </p:grpSpPr>
      <p:pic>
        <p:nvPicPr>
          <p:cNvPr descr=" " id="361" name="Google Shape;361;g3c33024ce86_0_102"/>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362" name="Google Shape;362;g3c33024ce86_0_102"/>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363" name="Google Shape;363;g3c33024ce86_0_102"/>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364" name="Google Shape;364;g3c33024ce86_0_102"/>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3c33024ce86_0_102"/>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366" name="Google Shape;366;g3c33024ce86_0_102"/>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Anahtar Kelime Highlight’ları</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aphicFrame>
        <p:nvGraphicFramePr>
          <p:cNvPr id="367" name="Google Shape;367;g3c33024ce86_0_102"/>
          <p:cNvGraphicFramePr/>
          <p:nvPr/>
        </p:nvGraphicFramePr>
        <p:xfrm>
          <a:off x="941825" y="3215525"/>
          <a:ext cx="3000000" cy="3000000"/>
        </p:xfrm>
        <a:graphic>
          <a:graphicData uri="http://schemas.openxmlformats.org/drawingml/2006/table">
            <a:tbl>
              <a:tblPr>
                <a:noFill/>
                <a:tableStyleId>{941C18E8-B15E-492C-9B3D-6656E5B88652}</a:tableStyleId>
              </a:tblPr>
              <a:tblGrid>
                <a:gridCol w="4470200"/>
                <a:gridCol w="3244125"/>
                <a:gridCol w="1680275"/>
                <a:gridCol w="3088675"/>
                <a:gridCol w="1716600"/>
              </a:tblGrid>
              <a:tr h="200025">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Kelime</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Volume</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YoY</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Pozisyon</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Pozisyon Artışı</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numara taşıma sorgulama</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4.4K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hotspot nedir</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9.9K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-18%</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faturalı hat fiyatları</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9.9K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-18%</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telefon tarifeleri</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1.6K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taşınabilir wifi</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9.9K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-45%</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taşınabilir modem</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6.6K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-18%</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5</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+6</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internet kampanyaları</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4.4K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ev internet</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4.4K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en iyi ev interneti</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2.9K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-19%</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+8</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e-sim</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27.1K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e-sim nedir</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27.1K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5</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evde internet</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74K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ev internet kampanyaları</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22.2K</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368" name="Google Shape;368;g3c33024ce86_0_102"/>
          <p:cNvSpPr txBox="1"/>
          <p:nvPr/>
        </p:nvSpPr>
        <p:spPr>
          <a:xfrm>
            <a:off x="15799175" y="3174050"/>
            <a:ext cx="8256000" cy="744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100">
                <a:solidFill>
                  <a:schemeClr val="dk1"/>
                </a:solidFill>
                <a:latin typeface="Bricolage Grotesque"/>
                <a:ea typeface="Bricolage Grotesque"/>
                <a:cs typeface="Bricolage Grotesque"/>
                <a:sym typeface="Bricolage Grotesque"/>
              </a:rPr>
              <a:t>Hacim daralmasına rağmen</a:t>
            </a:r>
            <a:r>
              <a:rPr lang="en-US" sz="2100">
                <a:solidFill>
                  <a:schemeClr val="dk1"/>
                </a:solidFill>
                <a:latin typeface="Bricolage Grotesque"/>
                <a:ea typeface="Bricolage Grotesque"/>
                <a:cs typeface="Bricolage Grotesque"/>
                <a:sym typeface="Bricolage Grotesque"/>
              </a:rPr>
              <a:t>, ilgili ana sorguların tamamında </a:t>
            </a:r>
            <a:r>
              <a:rPr b="1" lang="en-US" sz="2100">
                <a:solidFill>
                  <a:schemeClr val="dk1"/>
                </a:solidFill>
                <a:latin typeface="Bricolage Grotesque"/>
                <a:ea typeface="Bricolage Grotesque"/>
                <a:cs typeface="Bricolage Grotesque"/>
                <a:sym typeface="Bricolage Grotesque"/>
              </a:rPr>
              <a:t>pozisyon iyileşmeleri</a:t>
            </a:r>
            <a:r>
              <a:rPr lang="en-US" sz="2100">
                <a:solidFill>
                  <a:schemeClr val="dk1"/>
                </a:solidFill>
                <a:latin typeface="Bricolage Grotesque"/>
                <a:ea typeface="Bricolage Grotesque"/>
                <a:cs typeface="Bricolage Grotesque"/>
                <a:sym typeface="Bricolage Grotesque"/>
              </a:rPr>
              <a:t> kaydedilmiştir. Bu sayede, yıl boyunca devam eden </a:t>
            </a:r>
            <a:r>
              <a:rPr b="1" lang="en-US" sz="2100">
                <a:solidFill>
                  <a:schemeClr val="dk1"/>
                </a:solidFill>
                <a:latin typeface="Bricolage Grotesque"/>
                <a:ea typeface="Bricolage Grotesque"/>
                <a:cs typeface="Bricolage Grotesque"/>
                <a:sym typeface="Bricolage Grotesque"/>
              </a:rPr>
              <a:t>teknik statü değişiklikleri ve site geçişlerine rağmen</a:t>
            </a:r>
            <a:r>
              <a:rPr lang="en-US" sz="2100">
                <a:solidFill>
                  <a:schemeClr val="dk1"/>
                </a:solidFill>
                <a:latin typeface="Bricolage Grotesque"/>
                <a:ea typeface="Bricolage Grotesque"/>
                <a:cs typeface="Bricolage Grotesque"/>
                <a:sym typeface="Bricolage Grotesque"/>
              </a:rPr>
              <a:t> organik trafik dengelenmiştir.</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Tabloda da görüldüğü üzere, yüksek hacimli ve stratejik kelimelerde:</a:t>
            </a:r>
            <a:endParaRPr sz="2100">
              <a:solidFill>
                <a:schemeClr val="dk1"/>
              </a:solidFill>
              <a:latin typeface="Bricolage Grotesque"/>
              <a:ea typeface="Bricolage Grotesque"/>
              <a:cs typeface="Bricolage Grotesque"/>
              <a:sym typeface="Bricolage Grotesque"/>
            </a:endParaRPr>
          </a:p>
          <a:p>
            <a:pPr indent="-361950" lvl="0" marL="457200" rtl="0" algn="l">
              <a:lnSpc>
                <a:spcPct val="115000"/>
              </a:lnSpc>
              <a:spcBef>
                <a:spcPts val="1200"/>
              </a:spcBef>
              <a:spcAft>
                <a:spcPts val="0"/>
              </a:spcAft>
              <a:buClr>
                <a:schemeClr val="dk1"/>
              </a:buClr>
              <a:buSzPts val="2100"/>
              <a:buChar char="●"/>
            </a:pPr>
            <a:r>
              <a:rPr b="1" lang="en-US" sz="2100">
                <a:solidFill>
                  <a:schemeClr val="dk1"/>
                </a:solidFill>
                <a:latin typeface="Bricolage Grotesque"/>
                <a:ea typeface="Bricolage Grotesque"/>
                <a:cs typeface="Bricolage Grotesque"/>
                <a:sym typeface="Bricolage Grotesque"/>
              </a:rPr>
              <a:t>Top 5 / Top 3 pozisyonlara yükselişler</a:t>
            </a:r>
            <a:r>
              <a:rPr lang="en-US" sz="2100">
                <a:solidFill>
                  <a:schemeClr val="dk1"/>
                </a:solidFill>
                <a:latin typeface="Bricolage Grotesque"/>
                <a:ea typeface="Bricolage Grotesque"/>
                <a:cs typeface="Bricolage Grotesque"/>
                <a:sym typeface="Bricolage Grotesque"/>
              </a:rPr>
              <a:t> sağlanmış,</a:t>
            </a:r>
            <a:endParaRPr sz="2100">
              <a:solidFill>
                <a:schemeClr val="dk1"/>
              </a:solidFill>
              <a:latin typeface="Bricolage Grotesque"/>
              <a:ea typeface="Bricolage Grotesque"/>
              <a:cs typeface="Bricolage Grotesque"/>
              <a:sym typeface="Bricolage Grotesque"/>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latin typeface="Bricolage Grotesque"/>
                <a:ea typeface="Bricolage Grotesque"/>
                <a:cs typeface="Bricolage Grotesque"/>
                <a:sym typeface="Bricolage Grotesque"/>
              </a:rPr>
              <a:t>Bazı kritik sorgularda </a:t>
            </a:r>
            <a:r>
              <a:rPr b="1" lang="en-US" sz="2100">
                <a:solidFill>
                  <a:schemeClr val="dk1"/>
                </a:solidFill>
                <a:latin typeface="Bricolage Grotesque"/>
                <a:ea typeface="Bricolage Grotesque"/>
                <a:cs typeface="Bricolage Grotesque"/>
                <a:sym typeface="Bricolage Grotesque"/>
              </a:rPr>
              <a:t>+6 ila +8 pozisyon artışı</a:t>
            </a:r>
            <a:r>
              <a:rPr lang="en-US" sz="2100">
                <a:solidFill>
                  <a:schemeClr val="dk1"/>
                </a:solidFill>
                <a:latin typeface="Bricolage Grotesque"/>
                <a:ea typeface="Bricolage Grotesque"/>
                <a:cs typeface="Bricolage Grotesque"/>
                <a:sym typeface="Bricolage Grotesque"/>
              </a:rPr>
              <a:t> elde edilmiştir.</a:t>
            </a:r>
            <a:br>
              <a:rPr lang="en-US" sz="2100">
                <a:solidFill>
                  <a:schemeClr val="dk1"/>
                </a:solidFill>
                <a:latin typeface="Bricolage Grotesque"/>
                <a:ea typeface="Bricolage Grotesque"/>
                <a:cs typeface="Bricolage Grotesque"/>
                <a:sym typeface="Bricolage Grotesque"/>
              </a:rPr>
            </a:b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Özellikle </a:t>
            </a:r>
            <a:r>
              <a:rPr b="1" lang="en-US" sz="2100">
                <a:solidFill>
                  <a:schemeClr val="dk1"/>
                </a:solidFill>
                <a:latin typeface="Bricolage Grotesque"/>
                <a:ea typeface="Bricolage Grotesque"/>
                <a:cs typeface="Bricolage Grotesque"/>
                <a:sym typeface="Bricolage Grotesque"/>
              </a:rPr>
              <a:t>Ağustos Spam Update</a:t>
            </a:r>
            <a:r>
              <a:rPr lang="en-US" sz="2100">
                <a:solidFill>
                  <a:schemeClr val="dk1"/>
                </a:solidFill>
                <a:latin typeface="Bricolage Grotesque"/>
                <a:ea typeface="Bricolage Grotesque"/>
                <a:cs typeface="Bricolage Grotesque"/>
                <a:sym typeface="Bricolage Grotesque"/>
              </a:rPr>
              <a:t> döneminde pozisyonlarda belirgin dalgalanmalar yaşanmış; ancak </a:t>
            </a:r>
            <a:r>
              <a:rPr b="1" lang="en-US" sz="2100">
                <a:solidFill>
                  <a:schemeClr val="dk1"/>
                </a:solidFill>
                <a:latin typeface="Bricolage Grotesque"/>
                <a:ea typeface="Bricolage Grotesque"/>
                <a:cs typeface="Bricolage Grotesque"/>
                <a:sym typeface="Bricolage Grotesque"/>
              </a:rPr>
              <a:t>son çeyrekte teknik geçişlerin büyük ölçüde tamamlanması</a:t>
            </a:r>
            <a:r>
              <a:rPr lang="en-US" sz="2100">
                <a:solidFill>
                  <a:schemeClr val="dk1"/>
                </a:solidFill>
                <a:latin typeface="Bricolage Grotesque"/>
                <a:ea typeface="Bricolage Grotesque"/>
                <a:cs typeface="Bricolage Grotesque"/>
                <a:sym typeface="Bricolage Grotesque"/>
              </a:rPr>
              <a:t> ile birlikte site </a:t>
            </a:r>
            <a:r>
              <a:rPr b="1" lang="en-US" sz="2100">
                <a:solidFill>
                  <a:schemeClr val="dk1"/>
                </a:solidFill>
                <a:latin typeface="Bricolage Grotesque"/>
                <a:ea typeface="Bricolage Grotesque"/>
                <a:cs typeface="Bricolage Grotesque"/>
                <a:sym typeface="Bricolage Grotesque"/>
              </a:rPr>
              <a:t>recovery fazına girmiş</a:t>
            </a:r>
            <a:r>
              <a:rPr lang="en-US" sz="2100">
                <a:solidFill>
                  <a:schemeClr val="dk1"/>
                </a:solidFill>
                <a:latin typeface="Bricolage Grotesque"/>
                <a:ea typeface="Bricolage Grotesque"/>
                <a:cs typeface="Bricolage Grotesque"/>
                <a:sym typeface="Bricolage Grotesque"/>
              </a:rPr>
              <a:t> ve sıralamalar yeniden stabilize olmuştur.</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100">
                <a:solidFill>
                  <a:schemeClr val="dk1"/>
                </a:solidFill>
                <a:latin typeface="Bricolage Grotesque"/>
                <a:ea typeface="Bricolage Grotesque"/>
                <a:cs typeface="Bricolage Grotesque"/>
                <a:sym typeface="Bricolage Grotesque"/>
              </a:rPr>
              <a:t>Genel tablo, </a:t>
            </a:r>
            <a:r>
              <a:rPr b="1" lang="en-US" sz="2100">
                <a:solidFill>
                  <a:schemeClr val="dk1"/>
                </a:solidFill>
                <a:latin typeface="Bricolage Grotesque"/>
                <a:ea typeface="Bricolage Grotesque"/>
                <a:cs typeface="Bricolage Grotesque"/>
                <a:sym typeface="Bricolage Grotesque"/>
              </a:rPr>
              <a:t>talep daralmasına rağmen sıralama kazanımlarıyla trafiğin korunduğunu</a:t>
            </a:r>
            <a:r>
              <a:rPr lang="en-US" sz="2100">
                <a:solidFill>
                  <a:schemeClr val="dk1"/>
                </a:solidFill>
                <a:latin typeface="Bricolage Grotesque"/>
                <a:ea typeface="Bricolage Grotesque"/>
                <a:cs typeface="Bricolage Grotesque"/>
                <a:sym typeface="Bricolage Grotesque"/>
              </a:rPr>
              <a:t> ve teknik iyileştirmelerin SEO performansına </a:t>
            </a:r>
            <a:r>
              <a:rPr b="1" lang="en-US" sz="2100">
                <a:solidFill>
                  <a:schemeClr val="dk1"/>
                </a:solidFill>
                <a:latin typeface="Bricolage Grotesque"/>
                <a:ea typeface="Bricolage Grotesque"/>
                <a:cs typeface="Bricolage Grotesque"/>
                <a:sym typeface="Bricolage Grotesque"/>
              </a:rPr>
              <a:t>pozitif yansımaya başladığını</a:t>
            </a:r>
            <a:r>
              <a:rPr lang="en-US" sz="2100">
                <a:solidFill>
                  <a:schemeClr val="dk1"/>
                </a:solidFill>
                <a:latin typeface="Bricolage Grotesque"/>
                <a:ea typeface="Bricolage Grotesque"/>
                <a:cs typeface="Bricolage Grotesque"/>
                <a:sym typeface="Bricolage Grotesque"/>
              </a:rPr>
              <a:t> net biçimde göstermektedir.</a:t>
            </a:r>
            <a:endParaRPr sz="2100">
              <a:solidFill>
                <a:schemeClr val="dk1"/>
              </a:solidFill>
              <a:latin typeface="Bricolage Grotesque"/>
              <a:ea typeface="Bricolage Grotesque"/>
              <a:cs typeface="Bricolage Grotesque"/>
              <a:sym typeface="Bricolage Grotesque"/>
            </a:endParaRPr>
          </a:p>
        </p:txBody>
      </p:sp>
      <p:sp>
        <p:nvSpPr>
          <p:cNvPr id="369" name="Google Shape;369;g3c33024ce86_0_102"/>
          <p:cNvSpPr/>
          <p:nvPr/>
        </p:nvSpPr>
        <p:spPr>
          <a:xfrm>
            <a:off x="16463675" y="489300"/>
            <a:ext cx="4791300" cy="2198700"/>
          </a:xfrm>
          <a:prstGeom prst="wedgeRectCallout">
            <a:avLst>
              <a:gd fmla="val -20833" name="adj1"/>
              <a:gd fmla="val 625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900">
                <a:solidFill>
                  <a:schemeClr val="dk1"/>
                </a:solidFill>
                <a:latin typeface="Bricolage Grotesque"/>
                <a:ea typeface="Bricolage Grotesque"/>
                <a:cs typeface="Bricolage Grotesque"/>
                <a:sym typeface="Bricolage Grotesque"/>
              </a:rPr>
              <a:t>HACİM</a:t>
            </a:r>
            <a:endParaRPr b="1" sz="2900">
              <a:solidFill>
                <a:schemeClr val="dk1"/>
              </a:solidFill>
              <a:latin typeface="Bricolage Grotesque"/>
              <a:ea typeface="Bricolage Grotesque"/>
              <a:cs typeface="Bricolage Grotesque"/>
              <a:sym typeface="Bricolage Grotesque"/>
            </a:endParaRPr>
          </a:p>
          <a:p>
            <a:pPr indent="0" lvl="0" marL="0" rtl="0" algn="ctr">
              <a:spcBef>
                <a:spcPts val="0"/>
              </a:spcBef>
              <a:spcAft>
                <a:spcPts val="0"/>
              </a:spcAft>
              <a:buNone/>
            </a:pPr>
            <a:r>
              <a:rPr lang="en-US" sz="2900">
                <a:solidFill>
                  <a:schemeClr val="dk1"/>
                </a:solidFill>
                <a:latin typeface="Bricolage Grotesque"/>
                <a:ea typeface="Bricolage Grotesque"/>
                <a:cs typeface="Bricolage Grotesque"/>
                <a:sym typeface="Bricolage Grotesque"/>
              </a:rPr>
              <a:t>Ev interneti: </a:t>
            </a:r>
            <a:r>
              <a:rPr b="1" lang="en-US" sz="2900">
                <a:solidFill>
                  <a:srgbClr val="FF0000"/>
                </a:solidFill>
                <a:latin typeface="Bricolage Grotesque"/>
                <a:ea typeface="Bricolage Grotesque"/>
                <a:cs typeface="Bricolage Grotesque"/>
                <a:sym typeface="Bricolage Grotesque"/>
              </a:rPr>
              <a:t>-%15</a:t>
            </a:r>
            <a:endParaRPr b="1" sz="2900">
              <a:solidFill>
                <a:srgbClr val="FF0000"/>
              </a:solidFill>
              <a:latin typeface="Bricolage Grotesque"/>
              <a:ea typeface="Bricolage Grotesque"/>
              <a:cs typeface="Bricolage Grotesque"/>
              <a:sym typeface="Bricolage Grotesque"/>
            </a:endParaRPr>
          </a:p>
          <a:p>
            <a:pPr indent="0" lvl="0" marL="0" rtl="0" algn="ctr">
              <a:spcBef>
                <a:spcPts val="0"/>
              </a:spcBef>
              <a:spcAft>
                <a:spcPts val="0"/>
              </a:spcAft>
              <a:buNone/>
            </a:pPr>
            <a:r>
              <a:rPr lang="en-US" sz="2900">
                <a:solidFill>
                  <a:schemeClr val="dk1"/>
                </a:solidFill>
                <a:latin typeface="Bricolage Grotesque"/>
                <a:ea typeface="Bricolage Grotesque"/>
                <a:cs typeface="Bricolage Grotesque"/>
                <a:sym typeface="Bricolage Grotesque"/>
              </a:rPr>
              <a:t>Kampanyalar: </a:t>
            </a:r>
            <a:r>
              <a:rPr b="1" lang="en-US" sz="2900">
                <a:solidFill>
                  <a:srgbClr val="FF0000"/>
                </a:solidFill>
                <a:latin typeface="Bricolage Grotesque"/>
                <a:ea typeface="Bricolage Grotesque"/>
                <a:cs typeface="Bricolage Grotesque"/>
                <a:sym typeface="Bricolage Grotesque"/>
              </a:rPr>
              <a:t>-%14</a:t>
            </a:r>
            <a:endParaRPr sz="2900">
              <a:solidFill>
                <a:schemeClr val="dk1"/>
              </a:solidFill>
              <a:latin typeface="Bricolage Grotesque"/>
              <a:ea typeface="Bricolage Grotesque"/>
              <a:cs typeface="Bricolage Grotesque"/>
              <a:sym typeface="Bricolage Grotesque"/>
            </a:endParaRPr>
          </a:p>
          <a:p>
            <a:pPr indent="0" lvl="0" marL="0" rtl="0" algn="ctr">
              <a:spcBef>
                <a:spcPts val="0"/>
              </a:spcBef>
              <a:spcAft>
                <a:spcPts val="0"/>
              </a:spcAft>
              <a:buNone/>
            </a:pPr>
            <a:r>
              <a:rPr lang="en-US" sz="2900">
                <a:solidFill>
                  <a:schemeClr val="dk1"/>
                </a:solidFill>
                <a:latin typeface="Bricolage Grotesque"/>
                <a:ea typeface="Bricolage Grotesque"/>
                <a:cs typeface="Bricolage Grotesque"/>
                <a:sym typeface="Bricolage Grotesque"/>
              </a:rPr>
              <a:t>Paket/Tarife: </a:t>
            </a:r>
            <a:r>
              <a:rPr b="1" lang="en-US" sz="2900">
                <a:solidFill>
                  <a:srgbClr val="FF0000"/>
                </a:solidFill>
                <a:latin typeface="Bricolage Grotesque"/>
                <a:ea typeface="Bricolage Grotesque"/>
                <a:cs typeface="Bricolage Grotesque"/>
                <a:sym typeface="Bricolage Grotesque"/>
              </a:rPr>
              <a:t>-%22</a:t>
            </a:r>
            <a:endParaRPr sz="2900">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374" name="Shape 374"/>
        <p:cNvGrpSpPr/>
        <p:nvPr/>
      </p:nvGrpSpPr>
      <p:grpSpPr>
        <a:xfrm>
          <a:off x="0" y="0"/>
          <a:ext cx="0" cy="0"/>
          <a:chOff x="0" y="0"/>
          <a:chExt cx="0" cy="0"/>
        </a:xfrm>
      </p:grpSpPr>
      <p:pic>
        <p:nvPicPr>
          <p:cNvPr descr=" " id="375" name="Google Shape;375;g3c33024ce86_0_130"/>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376" name="Google Shape;376;g3c33024ce86_0_130"/>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377" name="Google Shape;377;g3c33024ce86_0_130"/>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378" name="Google Shape;378;g3c33024ce86_0_130"/>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3c33024ce86_0_130"/>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380" name="Google Shape;380;g3c33024ce86_0_130"/>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5G Genel bakış</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381" name="Google Shape;381;g3c33024ce86_0_130"/>
          <p:cNvPicPr preferRelativeResize="0"/>
          <p:nvPr/>
        </p:nvPicPr>
        <p:blipFill>
          <a:blip r:embed="rId6">
            <a:alphaModFix/>
          </a:blip>
          <a:stretch>
            <a:fillRect/>
          </a:stretch>
        </p:blipFill>
        <p:spPr>
          <a:xfrm>
            <a:off x="973300" y="2990680"/>
            <a:ext cx="13947669" cy="4411269"/>
          </a:xfrm>
          <a:prstGeom prst="rect">
            <a:avLst/>
          </a:prstGeom>
          <a:noFill/>
          <a:ln>
            <a:noFill/>
          </a:ln>
          <a:effectLst>
            <a:outerShdw blurRad="58625" rotWithShape="0" algn="bl" dir="5400000" dist="19542">
              <a:srgbClr val="000000">
                <a:alpha val="50000"/>
              </a:srgbClr>
            </a:outerShdw>
          </a:effectLst>
        </p:spPr>
      </p:pic>
      <p:pic>
        <p:nvPicPr>
          <p:cNvPr id="382" name="Google Shape;382;g3c33024ce86_0_130"/>
          <p:cNvPicPr preferRelativeResize="0"/>
          <p:nvPr/>
        </p:nvPicPr>
        <p:blipFill>
          <a:blip r:embed="rId7">
            <a:alphaModFix/>
          </a:blip>
          <a:stretch>
            <a:fillRect/>
          </a:stretch>
        </p:blipFill>
        <p:spPr>
          <a:xfrm>
            <a:off x="973300" y="8239475"/>
            <a:ext cx="3790050" cy="3561050"/>
          </a:xfrm>
          <a:prstGeom prst="rect">
            <a:avLst/>
          </a:prstGeom>
          <a:noFill/>
          <a:ln>
            <a:noFill/>
          </a:ln>
          <a:effectLst>
            <a:outerShdw blurRad="61480" rotWithShape="0" algn="bl" dir="5400000" dist="20493">
              <a:srgbClr val="000000">
                <a:alpha val="50000"/>
              </a:srgbClr>
            </a:outerShdw>
          </a:effectLst>
        </p:spPr>
      </p:pic>
      <p:pic>
        <p:nvPicPr>
          <p:cNvPr id="383" name="Google Shape;383;g3c33024ce86_0_130"/>
          <p:cNvPicPr preferRelativeResize="0"/>
          <p:nvPr/>
        </p:nvPicPr>
        <p:blipFill>
          <a:blip r:embed="rId8">
            <a:alphaModFix/>
          </a:blip>
          <a:stretch>
            <a:fillRect/>
          </a:stretch>
        </p:blipFill>
        <p:spPr>
          <a:xfrm>
            <a:off x="2246595" y="2546937"/>
            <a:ext cx="2735223" cy="898431"/>
          </a:xfrm>
          <a:prstGeom prst="rect">
            <a:avLst/>
          </a:prstGeom>
          <a:noFill/>
          <a:ln>
            <a:noFill/>
          </a:ln>
          <a:effectLst>
            <a:outerShdw blurRad="58625" rotWithShape="0" algn="bl" dir="5400000" dist="19542">
              <a:srgbClr val="000000">
                <a:alpha val="50000"/>
              </a:srgbClr>
            </a:outerShdw>
          </a:effectLst>
        </p:spPr>
      </p:pic>
      <p:pic>
        <p:nvPicPr>
          <p:cNvPr id="384" name="Google Shape;384;g3c33024ce86_0_130"/>
          <p:cNvPicPr preferRelativeResize="0"/>
          <p:nvPr/>
        </p:nvPicPr>
        <p:blipFill>
          <a:blip r:embed="rId9">
            <a:alphaModFix/>
          </a:blip>
          <a:stretch>
            <a:fillRect/>
          </a:stretch>
        </p:blipFill>
        <p:spPr>
          <a:xfrm>
            <a:off x="11002454" y="2546937"/>
            <a:ext cx="2566946" cy="898431"/>
          </a:xfrm>
          <a:prstGeom prst="rect">
            <a:avLst/>
          </a:prstGeom>
          <a:noFill/>
          <a:ln>
            <a:noFill/>
          </a:ln>
          <a:effectLst>
            <a:outerShdw blurRad="58625" rotWithShape="0" algn="bl" dir="5400000" dist="19542">
              <a:srgbClr val="000000">
                <a:alpha val="50000"/>
              </a:srgbClr>
            </a:outerShdw>
          </a:effectLst>
        </p:spPr>
      </p:pic>
      <p:pic>
        <p:nvPicPr>
          <p:cNvPr id="385" name="Google Shape;385;g3c33024ce86_0_130"/>
          <p:cNvPicPr preferRelativeResize="0"/>
          <p:nvPr/>
        </p:nvPicPr>
        <p:blipFill>
          <a:blip r:embed="rId10">
            <a:alphaModFix/>
          </a:blip>
          <a:stretch>
            <a:fillRect/>
          </a:stretch>
        </p:blipFill>
        <p:spPr>
          <a:xfrm>
            <a:off x="15580675" y="2990675"/>
            <a:ext cx="8023850" cy="8725125"/>
          </a:xfrm>
          <a:prstGeom prst="rect">
            <a:avLst/>
          </a:prstGeom>
          <a:noFill/>
          <a:ln>
            <a:noFill/>
          </a:ln>
          <a:effectLst>
            <a:outerShdw blurRad="57150" rotWithShape="0" algn="bl" dir="5400000" dist="19050">
              <a:srgbClr val="000000">
                <a:alpha val="50000"/>
              </a:srgbClr>
            </a:outerShdw>
          </a:effectLst>
        </p:spPr>
      </p:pic>
      <p:sp>
        <p:nvSpPr>
          <p:cNvPr id="386" name="Google Shape;386;g3c33024ce86_0_130"/>
          <p:cNvSpPr txBox="1"/>
          <p:nvPr/>
        </p:nvSpPr>
        <p:spPr>
          <a:xfrm>
            <a:off x="4981825" y="8239475"/>
            <a:ext cx="9912600" cy="53403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1200"/>
              </a:spcBef>
              <a:spcAft>
                <a:spcPts val="0"/>
              </a:spcAft>
              <a:buClr>
                <a:schemeClr val="dk1"/>
              </a:buClr>
              <a:buSzPts val="2100"/>
              <a:buChar char="●"/>
            </a:pPr>
            <a:r>
              <a:rPr lang="en-US" sz="2100">
                <a:solidFill>
                  <a:schemeClr val="dk1"/>
                </a:solidFill>
                <a:latin typeface="Bricolage Grotesque"/>
                <a:ea typeface="Bricolage Grotesque"/>
                <a:cs typeface="Bricolage Grotesque"/>
                <a:sym typeface="Bricolage Grotesque"/>
              </a:rPr>
              <a:t>5G aramaları ağırlıklı olarak </a:t>
            </a:r>
            <a:r>
              <a:rPr b="1" lang="en-US" sz="2100">
                <a:solidFill>
                  <a:schemeClr val="dk1"/>
                </a:solidFill>
                <a:latin typeface="Bricolage Grotesque"/>
                <a:ea typeface="Bricolage Grotesque"/>
                <a:cs typeface="Bricolage Grotesque"/>
                <a:sym typeface="Bricolage Grotesque"/>
              </a:rPr>
              <a:t>bilgilendirici ve keşif odaklı niyet</a:t>
            </a:r>
            <a:r>
              <a:rPr lang="en-US" sz="2100">
                <a:solidFill>
                  <a:schemeClr val="dk1"/>
                </a:solidFill>
                <a:latin typeface="Bricolage Grotesque"/>
                <a:ea typeface="Bricolage Grotesque"/>
                <a:cs typeface="Bricolage Grotesque"/>
                <a:sym typeface="Bricolage Grotesque"/>
              </a:rPr>
              <a:t> taşımaktadır (</a:t>
            </a:r>
            <a:r>
              <a:rPr i="1" lang="en-US" sz="2100">
                <a:solidFill>
                  <a:schemeClr val="dk1"/>
                </a:solidFill>
                <a:latin typeface="Bricolage Grotesque"/>
                <a:ea typeface="Bricolage Grotesque"/>
                <a:cs typeface="Bricolage Grotesque"/>
                <a:sym typeface="Bricolage Grotesque"/>
              </a:rPr>
              <a:t>nedir, nasıl çalışır, hangi cihazlar destekler</a:t>
            </a:r>
            <a:r>
              <a:rPr lang="en-US" sz="2100">
                <a:solidFill>
                  <a:schemeClr val="dk1"/>
                </a:solidFill>
                <a:latin typeface="Bricolage Grotesque"/>
                <a:ea typeface="Bricolage Grotesque"/>
                <a:cs typeface="Bricolage Grotesque"/>
                <a:sym typeface="Bricolage Grotesque"/>
              </a:rPr>
              <a:t>).</a:t>
            </a:r>
            <a:br>
              <a:rPr lang="en-US" sz="2100">
                <a:solidFill>
                  <a:schemeClr val="dk1"/>
                </a:solidFill>
                <a:latin typeface="Bricolage Grotesque"/>
                <a:ea typeface="Bricolage Grotesque"/>
                <a:cs typeface="Bricolage Grotesque"/>
                <a:sym typeface="Bricolage Grotesque"/>
              </a:rPr>
            </a:br>
            <a:endParaRPr sz="2100">
              <a:solidFill>
                <a:schemeClr val="dk1"/>
              </a:solidFill>
              <a:latin typeface="Bricolage Grotesque"/>
              <a:ea typeface="Bricolage Grotesque"/>
              <a:cs typeface="Bricolage Grotesque"/>
              <a:sym typeface="Bricolage Grotesque"/>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latin typeface="Bricolage Grotesque"/>
                <a:ea typeface="Bricolage Grotesque"/>
                <a:cs typeface="Bricolage Grotesque"/>
                <a:sym typeface="Bricolage Grotesque"/>
              </a:rPr>
              <a:t>5G ana sayfası, bu niyeti karşılayacak şekilde </a:t>
            </a:r>
            <a:r>
              <a:rPr b="1" lang="en-US" sz="2100">
                <a:solidFill>
                  <a:schemeClr val="dk1"/>
                </a:solidFill>
                <a:latin typeface="Bricolage Grotesque"/>
                <a:ea typeface="Bricolage Grotesque"/>
                <a:cs typeface="Bricolage Grotesque"/>
                <a:sym typeface="Bricolage Grotesque"/>
              </a:rPr>
              <a:t>içerik kapsamı ve semantik yapı açısından geliştirilmeye devam etmektedir</a:t>
            </a:r>
            <a:r>
              <a:rPr lang="en-US" sz="2100">
                <a:solidFill>
                  <a:schemeClr val="dk1"/>
                </a:solidFill>
                <a:latin typeface="Bricolage Grotesque"/>
                <a:ea typeface="Bricolage Grotesque"/>
                <a:cs typeface="Bricolage Grotesque"/>
                <a:sym typeface="Bricolage Grotesque"/>
              </a:rPr>
              <a:t>.</a:t>
            </a:r>
            <a:br>
              <a:rPr lang="en-US" sz="2100">
                <a:solidFill>
                  <a:schemeClr val="dk1"/>
                </a:solidFill>
                <a:latin typeface="Bricolage Grotesque"/>
                <a:ea typeface="Bricolage Grotesque"/>
                <a:cs typeface="Bricolage Grotesque"/>
                <a:sym typeface="Bricolage Grotesque"/>
              </a:rPr>
            </a:br>
            <a:endParaRPr sz="2100">
              <a:solidFill>
                <a:schemeClr val="dk1"/>
              </a:solidFill>
              <a:latin typeface="Bricolage Grotesque"/>
              <a:ea typeface="Bricolage Grotesque"/>
              <a:cs typeface="Bricolage Grotesque"/>
              <a:sym typeface="Bricolage Grotesque"/>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Bricolage Grotesque"/>
                <a:ea typeface="Bricolage Grotesque"/>
                <a:cs typeface="Bricolage Grotesque"/>
                <a:sym typeface="Bricolage Grotesque"/>
              </a:rPr>
              <a:t>İlgili alt konu sayfalarına internal link optimizasyonları</a:t>
            </a:r>
            <a:r>
              <a:rPr lang="en-US" sz="2100">
                <a:solidFill>
                  <a:schemeClr val="dk1"/>
                </a:solidFill>
                <a:latin typeface="Bricolage Grotesque"/>
                <a:ea typeface="Bricolage Grotesque"/>
                <a:cs typeface="Bricolage Grotesque"/>
                <a:sym typeface="Bricolage Grotesque"/>
              </a:rPr>
              <a:t> sürdürülmekte; bu sayede hem </a:t>
            </a:r>
            <a:r>
              <a:rPr b="1" lang="en-US" sz="2100">
                <a:solidFill>
                  <a:schemeClr val="dk1"/>
                </a:solidFill>
                <a:latin typeface="Bricolage Grotesque"/>
                <a:ea typeface="Bricolage Grotesque"/>
                <a:cs typeface="Bricolage Grotesque"/>
                <a:sym typeface="Bricolage Grotesque"/>
              </a:rPr>
              <a:t>keşfedilebilirlik</a:t>
            </a:r>
            <a:r>
              <a:rPr lang="en-US" sz="2100">
                <a:solidFill>
                  <a:schemeClr val="dk1"/>
                </a:solidFill>
                <a:latin typeface="Bricolage Grotesque"/>
                <a:ea typeface="Bricolage Grotesque"/>
                <a:cs typeface="Bricolage Grotesque"/>
                <a:sym typeface="Bricolage Grotesque"/>
              </a:rPr>
              <a:t> hem de </a:t>
            </a:r>
            <a:r>
              <a:rPr b="1" lang="en-US" sz="2100">
                <a:solidFill>
                  <a:schemeClr val="dk1"/>
                </a:solidFill>
                <a:latin typeface="Bricolage Grotesque"/>
                <a:ea typeface="Bricolage Grotesque"/>
                <a:cs typeface="Bricolage Grotesque"/>
                <a:sym typeface="Bricolage Grotesque"/>
              </a:rPr>
              <a:t>sayfa derinliğine bağlı görünürlük</a:t>
            </a:r>
            <a:r>
              <a:rPr lang="en-US" sz="2100">
                <a:solidFill>
                  <a:schemeClr val="dk1"/>
                </a:solidFill>
                <a:latin typeface="Bricolage Grotesque"/>
                <a:ea typeface="Bricolage Grotesque"/>
                <a:cs typeface="Bricolage Grotesque"/>
                <a:sym typeface="Bricolage Grotesque"/>
              </a:rPr>
              <a:t> desteklenmektedir.</a:t>
            </a:r>
            <a:br>
              <a:rPr lang="en-US" sz="2100">
                <a:solidFill>
                  <a:schemeClr val="dk1"/>
                </a:solidFill>
                <a:latin typeface="Bricolage Grotesque"/>
                <a:ea typeface="Bricolage Grotesque"/>
                <a:cs typeface="Bricolage Grotesque"/>
                <a:sym typeface="Bricolage Grotesque"/>
              </a:rPr>
            </a:br>
            <a:endParaRPr sz="2100">
              <a:solidFill>
                <a:schemeClr val="dk1"/>
              </a:solidFill>
              <a:latin typeface="Bricolage Grotesque"/>
              <a:ea typeface="Bricolage Grotesque"/>
              <a:cs typeface="Bricolage Grotesque"/>
              <a:sym typeface="Bricolage Grotesque"/>
            </a:endParaRPr>
          </a:p>
          <a:p>
            <a:pPr indent="-361950" lvl="0" marL="457200" rtl="0" algn="l">
              <a:lnSpc>
                <a:spcPct val="115000"/>
              </a:lnSpc>
              <a:spcBef>
                <a:spcPts val="0"/>
              </a:spcBef>
              <a:spcAft>
                <a:spcPts val="0"/>
              </a:spcAft>
              <a:buClr>
                <a:schemeClr val="dk1"/>
              </a:buClr>
              <a:buSzPts val="2100"/>
              <a:buChar char="●"/>
            </a:pPr>
            <a:r>
              <a:rPr lang="en-US" sz="2100">
                <a:solidFill>
                  <a:schemeClr val="dk1"/>
                </a:solidFill>
                <a:latin typeface="Bricolage Grotesque"/>
                <a:ea typeface="Bricolage Grotesque"/>
                <a:cs typeface="Bricolage Grotesque"/>
                <a:sym typeface="Bricolage Grotesque"/>
              </a:rPr>
              <a:t>Mevcut performans, </a:t>
            </a:r>
            <a:r>
              <a:rPr b="1" lang="en-US" sz="2100">
                <a:solidFill>
                  <a:schemeClr val="dk1"/>
                </a:solidFill>
                <a:latin typeface="Bricolage Grotesque"/>
                <a:ea typeface="Bricolage Grotesque"/>
                <a:cs typeface="Bricolage Grotesque"/>
                <a:sym typeface="Bricolage Grotesque"/>
              </a:rPr>
              <a:t>üst huni kullanıcı niyetinin doğru sayfa mimarisiyle yakalandığını</a:t>
            </a:r>
            <a:r>
              <a:rPr lang="en-US" sz="2100">
                <a:solidFill>
                  <a:schemeClr val="dk1"/>
                </a:solidFill>
                <a:latin typeface="Bricolage Grotesque"/>
                <a:ea typeface="Bricolage Grotesque"/>
                <a:cs typeface="Bricolage Grotesque"/>
                <a:sym typeface="Bricolage Grotesque"/>
              </a:rPr>
              <a:t>, ancak kapsamın genişletilmesiyle ek görünürlük alanı olduğunu göstermektedir.</a:t>
            </a:r>
            <a:br>
              <a:rPr lang="en-US" sz="2100">
                <a:solidFill>
                  <a:schemeClr val="dk1"/>
                </a:solidFill>
                <a:latin typeface="Bricolage Grotesque"/>
                <a:ea typeface="Bricolage Grotesque"/>
                <a:cs typeface="Bricolage Grotesque"/>
                <a:sym typeface="Bricolage Grotesque"/>
              </a:rPr>
            </a:br>
            <a:endParaRPr sz="2100">
              <a:solidFill>
                <a:schemeClr val="dk1"/>
              </a:solidFill>
              <a:latin typeface="Bricolage Grotesque"/>
              <a:ea typeface="Bricolage Grotesque"/>
              <a:cs typeface="Bricolage Grotesque"/>
              <a:sym typeface="Bricolage Grotesque"/>
            </a:endParaRPr>
          </a:p>
        </p:txBody>
      </p:sp>
      <p:sp>
        <p:nvSpPr>
          <p:cNvPr id="387" name="Google Shape;387;g3c33024ce86_0_130"/>
          <p:cNvSpPr txBox="1"/>
          <p:nvPr/>
        </p:nvSpPr>
        <p:spPr>
          <a:xfrm>
            <a:off x="15580675" y="12007500"/>
            <a:ext cx="8023800" cy="125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2100">
                <a:solidFill>
                  <a:schemeClr val="dk1"/>
                </a:solidFill>
                <a:latin typeface="Bricolage Grotesque"/>
                <a:ea typeface="Bricolage Grotesque"/>
                <a:cs typeface="Bricolage Grotesque"/>
                <a:sym typeface="Bricolage Grotesque"/>
              </a:rPr>
              <a:t>Burada önemli notlarımızdan biri de Pasaj’da hedeflediğimiz kelimelerin pozisyonel olarak daha avantaklı oluşu. Burada telco tarafında stabilizasyonu yeni sağlamamızın etkisi var.</a:t>
            </a:r>
            <a:endParaRPr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392" name="Shape 392"/>
        <p:cNvGrpSpPr/>
        <p:nvPr/>
      </p:nvGrpSpPr>
      <p:grpSpPr>
        <a:xfrm>
          <a:off x="0" y="0"/>
          <a:ext cx="0" cy="0"/>
          <a:chOff x="0" y="0"/>
          <a:chExt cx="0" cy="0"/>
        </a:xfrm>
      </p:grpSpPr>
      <p:pic>
        <p:nvPicPr>
          <p:cNvPr descr=" " id="393" name="Google Shape;393;g3c33024ce86_0_167"/>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394" name="Google Shape;394;g3c33024ce86_0_167"/>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395" name="Google Shape;395;g3c33024ce86_0_167"/>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396" name="Google Shape;396;g3c33024ce86_0_167"/>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3c33024ce86_0_167"/>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398" name="Google Shape;398;g3c33024ce86_0_167"/>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Neler Yaptık?</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399" name="Google Shape;399;g3c33024ce86_0_167"/>
          <p:cNvSpPr txBox="1"/>
          <p:nvPr/>
        </p:nvSpPr>
        <p:spPr>
          <a:xfrm>
            <a:off x="1335250" y="2992075"/>
            <a:ext cx="21454800" cy="7906500"/>
          </a:xfrm>
          <a:prstGeom prst="rect">
            <a:avLst/>
          </a:prstGeom>
          <a:noFill/>
          <a:ln>
            <a:noFill/>
          </a:ln>
        </p:spPr>
        <p:txBody>
          <a:bodyPr anchorCtr="0" anchor="t" bIns="91425" lIns="91425" spcFirstLastPara="1" rIns="91425" wrap="square" tIns="91425">
            <a:noAutofit/>
          </a:bodyPr>
          <a:lstStyle/>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Indexability hatalarının giderilmesi (Application error hataları, çift canonical problemleri)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Sayfa tipine göre redesign süreçlerinin yönetilmesi ve recovery süreçleri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Site hızı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Meta tag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Heading tag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Internal link optimizasyonları (yeni link eklemeleri, kırık link temizlikleri, footer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Accessability optimizasyonları (breadcrumbs implementasyonu, 404 sayfaların yönlendirilmesi)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Blog için teknik &amp; içerik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Blog içerik fikirlerinin üretilmesi &amp; anahtar kelime araştrması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Schema markup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Backlink çalışması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5G sayfa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Sitemap optimizasyonları (dinamik sitemap yapısı)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Rakip analizi &amp; alternatif trafik kaynaklarının çalışılması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Craw’dan çıkan teknik SEO projeleri - Squad Backlog</a:t>
            </a:r>
            <a:endParaRPr sz="3100">
              <a:latin typeface="Bricolage Grotesque"/>
              <a:ea typeface="Bricolage Grotesque"/>
              <a:cs typeface="Bricolage Grotesque"/>
              <a:sym typeface="Bricolage Grotesq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404" name="Shape 404"/>
        <p:cNvGrpSpPr/>
        <p:nvPr/>
      </p:nvGrpSpPr>
      <p:grpSpPr>
        <a:xfrm>
          <a:off x="0" y="0"/>
          <a:ext cx="0" cy="0"/>
          <a:chOff x="0" y="0"/>
          <a:chExt cx="0" cy="0"/>
        </a:xfrm>
      </p:grpSpPr>
      <p:pic>
        <p:nvPicPr>
          <p:cNvPr descr=" " id="405" name="Google Shape;405;g3c33024ce86_0_181"/>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406" name="Google Shape;406;g3c33024ce86_0_181"/>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407" name="Google Shape;407;g3c33024ce86_0_181"/>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408" name="Google Shape;408;g3c33024ce86_0_181"/>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c33024ce86_0_181"/>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410" name="Google Shape;410;g3c33024ce86_0_181"/>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Rakiplerle Kıyaslama / Rakiplerin Güç Kazandığı Yerler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411" name="Google Shape;411;g3c33024ce86_0_181"/>
          <p:cNvPicPr preferRelativeResize="0"/>
          <p:nvPr/>
        </p:nvPicPr>
        <p:blipFill rotWithShape="1">
          <a:blip r:embed="rId6">
            <a:alphaModFix/>
          </a:blip>
          <a:srcRect b="0" l="12307" r="7307" t="0"/>
          <a:stretch/>
        </p:blipFill>
        <p:spPr>
          <a:xfrm>
            <a:off x="646475" y="2718125"/>
            <a:ext cx="4383250" cy="5168000"/>
          </a:xfrm>
          <a:prstGeom prst="rect">
            <a:avLst/>
          </a:prstGeom>
          <a:noFill/>
          <a:ln>
            <a:noFill/>
          </a:ln>
        </p:spPr>
      </p:pic>
      <p:pic>
        <p:nvPicPr>
          <p:cNvPr id="412" name="Google Shape;412;g3c33024ce86_0_181"/>
          <p:cNvPicPr preferRelativeResize="0"/>
          <p:nvPr/>
        </p:nvPicPr>
        <p:blipFill>
          <a:blip r:embed="rId7">
            <a:alphaModFix/>
          </a:blip>
          <a:stretch>
            <a:fillRect/>
          </a:stretch>
        </p:blipFill>
        <p:spPr>
          <a:xfrm>
            <a:off x="3735025" y="4060350"/>
            <a:ext cx="6939224" cy="738900"/>
          </a:xfrm>
          <a:prstGeom prst="rect">
            <a:avLst/>
          </a:prstGeom>
          <a:noFill/>
          <a:ln cap="flat" cmpd="sng" w="9525">
            <a:solidFill>
              <a:schemeClr val="dk2"/>
            </a:solidFill>
            <a:prstDash val="solid"/>
            <a:round/>
            <a:headEnd len="sm" w="sm" type="none"/>
            <a:tailEnd len="sm" w="sm" type="none"/>
          </a:ln>
        </p:spPr>
      </p:pic>
      <p:pic>
        <p:nvPicPr>
          <p:cNvPr id="413" name="Google Shape;413;g3c33024ce86_0_181"/>
          <p:cNvPicPr preferRelativeResize="0"/>
          <p:nvPr/>
        </p:nvPicPr>
        <p:blipFill>
          <a:blip r:embed="rId8">
            <a:alphaModFix/>
          </a:blip>
          <a:stretch>
            <a:fillRect/>
          </a:stretch>
        </p:blipFill>
        <p:spPr>
          <a:xfrm>
            <a:off x="3735026" y="4930675"/>
            <a:ext cx="6939225" cy="750186"/>
          </a:xfrm>
          <a:prstGeom prst="rect">
            <a:avLst/>
          </a:prstGeom>
          <a:noFill/>
          <a:ln cap="flat" cmpd="sng" w="9525">
            <a:solidFill>
              <a:schemeClr val="dk2"/>
            </a:solidFill>
            <a:prstDash val="solid"/>
            <a:round/>
            <a:headEnd len="sm" w="sm" type="none"/>
            <a:tailEnd len="sm" w="sm" type="none"/>
          </a:ln>
        </p:spPr>
      </p:pic>
      <p:pic>
        <p:nvPicPr>
          <p:cNvPr id="414" name="Google Shape;414;g3c33024ce86_0_181"/>
          <p:cNvPicPr preferRelativeResize="0"/>
          <p:nvPr/>
        </p:nvPicPr>
        <p:blipFill>
          <a:blip r:embed="rId9">
            <a:alphaModFix/>
          </a:blip>
          <a:stretch>
            <a:fillRect/>
          </a:stretch>
        </p:blipFill>
        <p:spPr>
          <a:xfrm>
            <a:off x="3735026" y="5944650"/>
            <a:ext cx="6939225" cy="711715"/>
          </a:xfrm>
          <a:prstGeom prst="rect">
            <a:avLst/>
          </a:prstGeom>
          <a:noFill/>
          <a:ln cap="flat" cmpd="sng" w="9525">
            <a:solidFill>
              <a:schemeClr val="dk2"/>
            </a:solidFill>
            <a:prstDash val="solid"/>
            <a:round/>
            <a:headEnd len="sm" w="sm" type="none"/>
            <a:tailEnd len="sm" w="sm" type="none"/>
          </a:ln>
        </p:spPr>
      </p:pic>
      <p:sp>
        <p:nvSpPr>
          <p:cNvPr id="415" name="Google Shape;415;g3c33024ce86_0_181"/>
          <p:cNvSpPr txBox="1"/>
          <p:nvPr/>
        </p:nvSpPr>
        <p:spPr>
          <a:xfrm>
            <a:off x="7674250" y="2933900"/>
            <a:ext cx="3000000" cy="6156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b="1" lang="en-US" sz="2800">
                <a:solidFill>
                  <a:schemeClr val="accent2"/>
                </a:solidFill>
                <a:latin typeface="Bricolage Grotesque"/>
                <a:ea typeface="Bricolage Grotesque"/>
                <a:cs typeface="Bricolage Grotesque"/>
                <a:sym typeface="Bricolage Grotesque"/>
              </a:rPr>
              <a:t>Şubat 2025</a:t>
            </a:r>
            <a:endParaRPr b="1" sz="2100">
              <a:solidFill>
                <a:schemeClr val="accent2"/>
              </a:solidFill>
              <a:latin typeface="Bricolage Grotesque"/>
              <a:ea typeface="Bricolage Grotesque"/>
              <a:cs typeface="Bricolage Grotesque"/>
              <a:sym typeface="Bricolage Grotesque"/>
            </a:endParaRPr>
          </a:p>
        </p:txBody>
      </p:sp>
      <p:pic>
        <p:nvPicPr>
          <p:cNvPr id="416" name="Google Shape;416;g3c33024ce86_0_181"/>
          <p:cNvPicPr preferRelativeResize="0"/>
          <p:nvPr/>
        </p:nvPicPr>
        <p:blipFill>
          <a:blip r:embed="rId10">
            <a:alphaModFix/>
          </a:blip>
          <a:stretch>
            <a:fillRect/>
          </a:stretch>
        </p:blipFill>
        <p:spPr>
          <a:xfrm>
            <a:off x="13467725" y="2960388"/>
            <a:ext cx="4383250" cy="4683475"/>
          </a:xfrm>
          <a:prstGeom prst="rect">
            <a:avLst/>
          </a:prstGeom>
          <a:noFill/>
          <a:ln>
            <a:noFill/>
          </a:ln>
        </p:spPr>
      </p:pic>
      <p:pic>
        <p:nvPicPr>
          <p:cNvPr id="417" name="Google Shape;417;g3c33024ce86_0_181"/>
          <p:cNvPicPr preferRelativeResize="0"/>
          <p:nvPr/>
        </p:nvPicPr>
        <p:blipFill>
          <a:blip r:embed="rId11">
            <a:alphaModFix/>
          </a:blip>
          <a:stretch>
            <a:fillRect/>
          </a:stretch>
        </p:blipFill>
        <p:spPr>
          <a:xfrm>
            <a:off x="16526748" y="4062975"/>
            <a:ext cx="6939225" cy="733659"/>
          </a:xfrm>
          <a:prstGeom prst="rect">
            <a:avLst/>
          </a:prstGeom>
          <a:noFill/>
          <a:ln cap="flat" cmpd="sng" w="9525">
            <a:solidFill>
              <a:schemeClr val="dk2"/>
            </a:solidFill>
            <a:prstDash val="solid"/>
            <a:round/>
            <a:headEnd len="sm" w="sm" type="none"/>
            <a:tailEnd len="sm" w="sm" type="none"/>
          </a:ln>
        </p:spPr>
      </p:pic>
      <p:pic>
        <p:nvPicPr>
          <p:cNvPr id="418" name="Google Shape;418;g3c33024ce86_0_181"/>
          <p:cNvPicPr preferRelativeResize="0"/>
          <p:nvPr/>
        </p:nvPicPr>
        <p:blipFill>
          <a:blip r:embed="rId12">
            <a:alphaModFix/>
          </a:blip>
          <a:stretch>
            <a:fillRect/>
          </a:stretch>
        </p:blipFill>
        <p:spPr>
          <a:xfrm>
            <a:off x="16526749" y="4994325"/>
            <a:ext cx="6939225" cy="687376"/>
          </a:xfrm>
          <a:prstGeom prst="rect">
            <a:avLst/>
          </a:prstGeom>
          <a:noFill/>
          <a:ln cap="flat" cmpd="sng" w="9525">
            <a:solidFill>
              <a:schemeClr val="dk2"/>
            </a:solidFill>
            <a:prstDash val="solid"/>
            <a:round/>
            <a:headEnd len="sm" w="sm" type="none"/>
            <a:tailEnd len="sm" w="sm" type="none"/>
          </a:ln>
        </p:spPr>
      </p:pic>
      <p:pic>
        <p:nvPicPr>
          <p:cNvPr id="419" name="Google Shape;419;g3c33024ce86_0_181"/>
          <p:cNvPicPr preferRelativeResize="0"/>
          <p:nvPr/>
        </p:nvPicPr>
        <p:blipFill>
          <a:blip r:embed="rId13">
            <a:alphaModFix/>
          </a:blip>
          <a:stretch>
            <a:fillRect/>
          </a:stretch>
        </p:blipFill>
        <p:spPr>
          <a:xfrm>
            <a:off x="16526757" y="5944650"/>
            <a:ext cx="6939225" cy="665405"/>
          </a:xfrm>
          <a:prstGeom prst="rect">
            <a:avLst/>
          </a:prstGeom>
          <a:noFill/>
          <a:ln cap="flat" cmpd="sng" w="9525">
            <a:solidFill>
              <a:schemeClr val="dk2"/>
            </a:solidFill>
            <a:prstDash val="solid"/>
            <a:round/>
            <a:headEnd len="sm" w="sm" type="none"/>
            <a:tailEnd len="sm" w="sm" type="none"/>
          </a:ln>
        </p:spPr>
      </p:pic>
      <p:sp>
        <p:nvSpPr>
          <p:cNvPr id="420" name="Google Shape;420;g3c33024ce86_0_181"/>
          <p:cNvSpPr txBox="1"/>
          <p:nvPr/>
        </p:nvSpPr>
        <p:spPr>
          <a:xfrm>
            <a:off x="20465975" y="2965725"/>
            <a:ext cx="3000000" cy="6156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b="1" lang="en-US" sz="2800">
                <a:solidFill>
                  <a:schemeClr val="accent2"/>
                </a:solidFill>
                <a:latin typeface="Bricolage Grotesque"/>
                <a:ea typeface="Bricolage Grotesque"/>
                <a:cs typeface="Bricolage Grotesque"/>
                <a:sym typeface="Bricolage Grotesque"/>
              </a:rPr>
              <a:t>Şubat 2026</a:t>
            </a:r>
            <a:endParaRPr b="1" sz="2100">
              <a:solidFill>
                <a:schemeClr val="accent2"/>
              </a:solidFill>
              <a:latin typeface="Bricolage Grotesque"/>
              <a:ea typeface="Bricolage Grotesque"/>
              <a:cs typeface="Bricolage Grotesque"/>
              <a:sym typeface="Bricolage Grotesque"/>
            </a:endParaRPr>
          </a:p>
        </p:txBody>
      </p:sp>
      <p:sp>
        <p:nvSpPr>
          <p:cNvPr id="421" name="Google Shape;421;g3c33024ce86_0_181"/>
          <p:cNvSpPr/>
          <p:nvPr/>
        </p:nvSpPr>
        <p:spPr>
          <a:xfrm>
            <a:off x="11606338" y="4728413"/>
            <a:ext cx="1174500" cy="1219200"/>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g3c33024ce86_0_181"/>
          <p:cNvSpPr txBox="1"/>
          <p:nvPr/>
        </p:nvSpPr>
        <p:spPr>
          <a:xfrm>
            <a:off x="1371775" y="8451100"/>
            <a:ext cx="12672900" cy="461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300">
                <a:solidFill>
                  <a:schemeClr val="dk1"/>
                </a:solidFill>
                <a:latin typeface="Bricolage Grotesque"/>
                <a:ea typeface="Bricolage Grotesque"/>
                <a:cs typeface="Bricolage Grotesque"/>
                <a:sym typeface="Bricolage Grotesque"/>
              </a:rPr>
              <a:t>Turk Telekom</a:t>
            </a:r>
            <a:r>
              <a:rPr lang="en-US" sz="2300">
                <a:solidFill>
                  <a:schemeClr val="dk1"/>
                </a:solidFill>
                <a:latin typeface="Bricolage Grotesque"/>
                <a:ea typeface="Bricolage Grotesque"/>
                <a:cs typeface="Bricolage Grotesque"/>
                <a:sym typeface="Bricolage Grotesque"/>
              </a:rPr>
              <a:t>’un YoY’da bu denli büyümesinin kaynağının özellikle internet ilişkili sorgular olduğunu görüyoruz. Hacimce yüksek sorgularda ilk sıralarda yer almasıyla share of clicks tarafında oldukça avantajlı bir büyüme gerçekleştirmiş.</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rPr b="1" lang="en-US" sz="2300">
                <a:solidFill>
                  <a:schemeClr val="dk1"/>
                </a:solidFill>
                <a:latin typeface="Bricolage Grotesque"/>
                <a:ea typeface="Bricolage Grotesque"/>
                <a:cs typeface="Bricolage Grotesque"/>
                <a:sym typeface="Bricolage Grotesque"/>
              </a:rPr>
              <a:t>Vodafone</a:t>
            </a:r>
            <a:r>
              <a:rPr lang="en-US" sz="2300">
                <a:solidFill>
                  <a:schemeClr val="dk1"/>
                </a:solidFill>
                <a:latin typeface="Bricolage Grotesque"/>
                <a:ea typeface="Bricolage Grotesque"/>
                <a:cs typeface="Bricolage Grotesque"/>
                <a:sym typeface="Bricolage Grotesque"/>
              </a:rPr>
              <a:t>’un ise özellikle freezone blog giib blog alanlarıyla hedeflediği informational ve mass kelimeler ile bu share’i arttırdığını söyleyebiliriz.</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rPr b="1" lang="en-US" sz="2300">
                <a:solidFill>
                  <a:schemeClr val="dk1"/>
                </a:solidFill>
                <a:latin typeface="Bricolage Grotesque"/>
                <a:ea typeface="Bricolage Grotesque"/>
                <a:cs typeface="Bricolage Grotesque"/>
                <a:sym typeface="Bricolage Grotesque"/>
              </a:rPr>
              <a:t>Turkcell’</a:t>
            </a:r>
            <a:r>
              <a:rPr lang="en-US" sz="2300">
                <a:solidFill>
                  <a:schemeClr val="dk1"/>
                </a:solidFill>
                <a:latin typeface="Bricolage Grotesque"/>
                <a:ea typeface="Bricolage Grotesque"/>
                <a:cs typeface="Bricolage Grotesque"/>
                <a:sym typeface="Bricolage Grotesque"/>
              </a:rPr>
              <a:t>de ise özellikle PAA odstu uzun kuyruklu spesifik kelime grupları, numara taşıma gibi hat odaklı sorgular, tarife detay kelimelerinde daha avantajlı alanlar görülüyor. Bu noktada gap’i kapatmak adına özellikle hız testi gibi sayfalarımızda avantajı arttırmak, blog yardımıyla da Vodafone’un cover ettiği alanı ele geçirmek alsında birincil hedeflerden.</a:t>
            </a:r>
            <a:endParaRPr sz="2300">
              <a:solidFill>
                <a:schemeClr val="dk1"/>
              </a:solidFill>
              <a:latin typeface="Bricolage Grotesque"/>
              <a:ea typeface="Bricolage Grotesque"/>
              <a:cs typeface="Bricolage Grotesque"/>
              <a:sym typeface="Bricolage Grotesque"/>
            </a:endParaRPr>
          </a:p>
        </p:txBody>
      </p:sp>
      <p:pic>
        <p:nvPicPr>
          <p:cNvPr id="423" name="Google Shape;423;g3c33024ce86_0_181"/>
          <p:cNvPicPr preferRelativeResize="0"/>
          <p:nvPr/>
        </p:nvPicPr>
        <p:blipFill>
          <a:blip r:embed="rId14">
            <a:alphaModFix/>
          </a:blip>
          <a:stretch>
            <a:fillRect/>
          </a:stretch>
        </p:blipFill>
        <p:spPr>
          <a:xfrm>
            <a:off x="15344875" y="9975301"/>
            <a:ext cx="8455550" cy="2771325"/>
          </a:xfrm>
          <a:prstGeom prst="rect">
            <a:avLst/>
          </a:prstGeom>
          <a:noFill/>
          <a:ln cap="flat" cmpd="sng" w="9525">
            <a:solidFill>
              <a:schemeClr val="dk2"/>
            </a:solidFill>
            <a:prstDash val="solid"/>
            <a:round/>
            <a:headEnd len="sm" w="sm" type="none"/>
            <a:tailEnd len="sm" w="sm" type="none"/>
          </a:ln>
        </p:spPr>
      </p:pic>
      <p:sp>
        <p:nvSpPr>
          <p:cNvPr id="424" name="Google Shape;424;g3c33024ce86_0_181"/>
          <p:cNvSpPr txBox="1"/>
          <p:nvPr/>
        </p:nvSpPr>
        <p:spPr>
          <a:xfrm>
            <a:off x="15344900" y="8696588"/>
            <a:ext cx="8455500" cy="94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US" sz="2300">
                <a:solidFill>
                  <a:schemeClr val="dk1"/>
                </a:solidFill>
                <a:latin typeface="Bricolage Grotesque"/>
                <a:ea typeface="Bricolage Grotesque"/>
                <a:cs typeface="Bricolage Grotesque"/>
                <a:sym typeface="Bricolage Grotesque"/>
              </a:rPr>
              <a:t>Ayrıca brand kelimeler hepsine güçlü oyuncular, burada da bramd awareness oldukça önemli bir alan tutuyor.</a:t>
            </a:r>
            <a:endParaRPr i="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429" name="Shape 429"/>
        <p:cNvGrpSpPr/>
        <p:nvPr/>
      </p:nvGrpSpPr>
      <p:grpSpPr>
        <a:xfrm>
          <a:off x="0" y="0"/>
          <a:ext cx="0" cy="0"/>
          <a:chOff x="0" y="0"/>
          <a:chExt cx="0" cy="0"/>
        </a:xfrm>
      </p:grpSpPr>
      <p:pic>
        <p:nvPicPr>
          <p:cNvPr descr=" " id="430" name="Google Shape;430;g3c33024ce86_0_191"/>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431" name="Google Shape;431;g3c33024ce86_0_191"/>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432" name="Google Shape;432;g3c33024ce86_0_191"/>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433" name="Google Shape;433;g3c33024ce86_0_191"/>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g3c33024ce86_0_191"/>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435" name="Google Shape;435;g3c33024ce86_0_191"/>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Market Analizi - Sektör İçgörüleri</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aphicFrame>
        <p:nvGraphicFramePr>
          <p:cNvPr id="436" name="Google Shape;436;g3c33024ce86_0_191"/>
          <p:cNvGraphicFramePr/>
          <p:nvPr/>
        </p:nvGraphicFramePr>
        <p:xfrm>
          <a:off x="928375" y="2794925"/>
          <a:ext cx="3000000" cy="3000000"/>
        </p:xfrm>
        <a:graphic>
          <a:graphicData uri="http://schemas.openxmlformats.org/drawingml/2006/table">
            <a:tbl>
              <a:tblPr>
                <a:noFill/>
                <a:tableStyleId>{941C18E8-B15E-492C-9B3D-6656E5B88652}</a:tableStyleId>
              </a:tblPr>
              <a:tblGrid>
                <a:gridCol w="3533750"/>
                <a:gridCol w="2860550"/>
                <a:gridCol w="2143225"/>
                <a:gridCol w="2627700"/>
                <a:gridCol w="2960125"/>
                <a:gridCol w="3356575"/>
              </a:tblGrid>
              <a:tr h="1105200">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Kategori</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Toplam Hacim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YoY Değişim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Turkcell</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Vodafone</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Türk Telekom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13131"/>
                    </a:solidFill>
                  </a:tcPr>
                </a:tc>
              </a:tr>
              <a:tr h="1179875">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Destek – Yardım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315K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-15%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91%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60%</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39%</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188575">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eSIM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117K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+13%</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77%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92%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97%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179875">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Ev İnterneti</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383K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-15%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89%</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81%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22%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179875">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Paket ve Tarifeler</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155K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-22%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89%</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82%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16%</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179875">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Kampanyalar</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81K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-14%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94%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71%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437" name="Google Shape;437;g3c33024ce86_0_191"/>
          <p:cNvSpPr txBox="1"/>
          <p:nvPr/>
        </p:nvSpPr>
        <p:spPr>
          <a:xfrm>
            <a:off x="18922775" y="2794925"/>
            <a:ext cx="5209500" cy="549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latin typeface="Bricolage Grotesque"/>
                <a:ea typeface="Bricolage Grotesque"/>
                <a:cs typeface="Bricolage Grotesque"/>
                <a:sym typeface="Bricolage Grotesque"/>
              </a:rPr>
              <a:t>Kategorilerin çoğunda pazar hacmi daralırken, Turkcell birçok alanda görünürlük payını korumaktadır. </a:t>
            </a:r>
            <a:endParaRPr sz="2300">
              <a:latin typeface="Bricolage Grotesque"/>
              <a:ea typeface="Bricolage Grotesque"/>
              <a:cs typeface="Bricolage Grotesque"/>
              <a:sym typeface="Bricolage Grotesque"/>
            </a:endParaRPr>
          </a:p>
          <a:p>
            <a:pPr indent="0" lvl="0" marL="0" rtl="0" algn="l">
              <a:spcBef>
                <a:spcPts val="0"/>
              </a:spcBef>
              <a:spcAft>
                <a:spcPts val="0"/>
              </a:spcAft>
              <a:buNone/>
            </a:pPr>
            <a:r>
              <a:t/>
            </a:r>
            <a:endParaRPr sz="2300">
              <a:latin typeface="Bricolage Grotesque"/>
              <a:ea typeface="Bricolage Grotesque"/>
              <a:cs typeface="Bricolage Grotesque"/>
              <a:sym typeface="Bricolage Grotesque"/>
            </a:endParaRPr>
          </a:p>
          <a:p>
            <a:pPr indent="0" lvl="0" marL="0" rtl="0" algn="l">
              <a:spcBef>
                <a:spcPts val="0"/>
              </a:spcBef>
              <a:spcAft>
                <a:spcPts val="0"/>
              </a:spcAft>
              <a:buNone/>
            </a:pPr>
            <a:r>
              <a:rPr lang="en-US" sz="2300">
                <a:latin typeface="Bricolage Grotesque"/>
                <a:ea typeface="Bricolage Grotesque"/>
                <a:cs typeface="Bricolage Grotesque"/>
                <a:sym typeface="Bricolage Grotesque"/>
              </a:rPr>
              <a:t>Bilgilendirici intent (Destek, eSIM) daha stabil performans sunarken,</a:t>
            </a:r>
            <a:endParaRPr sz="2300">
              <a:latin typeface="Bricolage Grotesque"/>
              <a:ea typeface="Bricolage Grotesque"/>
              <a:cs typeface="Bricolage Grotesque"/>
              <a:sym typeface="Bricolage Grotesque"/>
            </a:endParaRPr>
          </a:p>
          <a:p>
            <a:pPr indent="0" lvl="0" marL="0" rtl="0" algn="l">
              <a:spcBef>
                <a:spcPts val="0"/>
              </a:spcBef>
              <a:spcAft>
                <a:spcPts val="0"/>
              </a:spcAft>
              <a:buNone/>
            </a:pPr>
            <a:r>
              <a:rPr lang="en-US" sz="2300">
                <a:latin typeface="Bricolage Grotesque"/>
                <a:ea typeface="Bricolage Grotesque"/>
                <a:cs typeface="Bricolage Grotesque"/>
                <a:sym typeface="Bricolage Grotesque"/>
              </a:rPr>
              <a:t>ticari intent (Paketler, Kampanyalar) daha volatil yapıdadır.</a:t>
            </a:r>
            <a:endParaRPr sz="2300">
              <a:latin typeface="Bricolage Grotesque"/>
              <a:ea typeface="Bricolage Grotesque"/>
              <a:cs typeface="Bricolage Grotesque"/>
              <a:sym typeface="Bricolage Grotesque"/>
            </a:endParaRPr>
          </a:p>
          <a:p>
            <a:pPr indent="0" lvl="0" marL="0" rtl="0" algn="l">
              <a:spcBef>
                <a:spcPts val="0"/>
              </a:spcBef>
              <a:spcAft>
                <a:spcPts val="0"/>
              </a:spcAft>
              <a:buNone/>
            </a:pPr>
            <a:r>
              <a:t/>
            </a:r>
            <a:endParaRPr sz="2300">
              <a:latin typeface="Bricolage Grotesque"/>
              <a:ea typeface="Bricolage Grotesque"/>
              <a:cs typeface="Bricolage Grotesque"/>
              <a:sym typeface="Bricolage Grotesque"/>
            </a:endParaRPr>
          </a:p>
          <a:p>
            <a:pPr indent="0" lvl="0" marL="0" rtl="0" algn="l">
              <a:spcBef>
                <a:spcPts val="0"/>
              </a:spcBef>
              <a:spcAft>
                <a:spcPts val="0"/>
              </a:spcAft>
              <a:buNone/>
            </a:pPr>
            <a:r>
              <a:rPr lang="en-US" sz="2300">
                <a:latin typeface="Bricolage Grotesque"/>
                <a:ea typeface="Bricolage Grotesque"/>
                <a:cs typeface="Bricolage Grotesque"/>
                <a:sym typeface="Bricolage Grotesque"/>
              </a:rPr>
              <a:t>Bu tablo, SEO’nun şu an özellikle doğru niyeti yakalama ve payı savunma rolü üstlendiğini; eSIM gibi keşif odaklı alanlarda ise kontrollü büyüme fırsatlarının bulunduğunu göstermektedir.</a:t>
            </a:r>
            <a:endParaRPr sz="2300">
              <a:latin typeface="Bricolage Grotesque"/>
              <a:ea typeface="Bricolage Grotesque"/>
              <a:cs typeface="Bricolage Grotesque"/>
              <a:sym typeface="Bricolage Grotesque"/>
            </a:endParaRPr>
          </a:p>
        </p:txBody>
      </p:sp>
      <p:sp>
        <p:nvSpPr>
          <p:cNvPr id="438" name="Google Shape;438;g3c33024ce86_0_191"/>
          <p:cNvSpPr txBox="1"/>
          <p:nvPr/>
        </p:nvSpPr>
        <p:spPr>
          <a:xfrm>
            <a:off x="928375" y="10309825"/>
            <a:ext cx="97458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1800">
                <a:solidFill>
                  <a:schemeClr val="dk1"/>
                </a:solidFill>
                <a:latin typeface="Bricolage Grotesque"/>
                <a:ea typeface="Bricolage Grotesque"/>
                <a:cs typeface="Bricolage Grotesque"/>
                <a:sym typeface="Bricolage Grotesque"/>
              </a:rPr>
              <a:t>Destek - Yardım: </a:t>
            </a:r>
            <a:r>
              <a:rPr i="1" lang="en-US" sz="1800">
                <a:solidFill>
                  <a:schemeClr val="dk1"/>
                </a:solidFill>
                <a:latin typeface="Bricolage Grotesque"/>
                <a:ea typeface="Bricolage Grotesque"/>
                <a:cs typeface="Bricolage Grotesque"/>
                <a:sym typeface="Bricolage Grotesque"/>
              </a:rPr>
              <a:t>numara gizleme, sim lrt bloke kaldırma gibi kelimeler</a:t>
            </a:r>
            <a:endParaRPr i="1" sz="18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i="1" lang="en-US" sz="1800">
                <a:solidFill>
                  <a:schemeClr val="dk1"/>
                </a:solidFill>
                <a:latin typeface="Bricolage Grotesque"/>
                <a:ea typeface="Bricolage Grotesque"/>
                <a:cs typeface="Bricolage Grotesque"/>
                <a:sym typeface="Bricolage Grotesque"/>
              </a:rPr>
              <a:t>eSIM:</a:t>
            </a:r>
            <a:r>
              <a:rPr i="1" lang="en-US" sz="1800">
                <a:solidFill>
                  <a:schemeClr val="dk1"/>
                </a:solidFill>
                <a:latin typeface="Bricolage Grotesque"/>
                <a:ea typeface="Bricolage Grotesque"/>
                <a:cs typeface="Bricolage Grotesque"/>
                <a:sym typeface="Bricolage Grotesque"/>
              </a:rPr>
              <a:t> e-sim, e sim nedir, e sim ücreti gibi kelimeler</a:t>
            </a:r>
            <a:endParaRPr i="1" sz="18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i="1" lang="en-US" sz="1800">
                <a:solidFill>
                  <a:schemeClr val="dk1"/>
                </a:solidFill>
                <a:latin typeface="Bricolage Grotesque"/>
                <a:ea typeface="Bricolage Grotesque"/>
                <a:cs typeface="Bricolage Grotesque"/>
                <a:sym typeface="Bricolage Grotesque"/>
              </a:rPr>
              <a:t>Ev İnterneti:</a:t>
            </a:r>
            <a:r>
              <a:rPr i="1" lang="en-US" sz="1800">
                <a:solidFill>
                  <a:schemeClr val="dk1"/>
                </a:solidFill>
                <a:latin typeface="Bricolage Grotesque"/>
                <a:ea typeface="Bricolage Grotesque"/>
                <a:cs typeface="Bricolage Grotesque"/>
                <a:sym typeface="Bricolage Grotesque"/>
              </a:rPr>
              <a:t> evde internet, taşınabilir wifi gibi kelimeler</a:t>
            </a:r>
            <a:endParaRPr i="1" sz="18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i="1" lang="en-US" sz="1800">
                <a:solidFill>
                  <a:schemeClr val="dk1"/>
                </a:solidFill>
                <a:latin typeface="Bricolage Grotesque"/>
                <a:ea typeface="Bricolage Grotesque"/>
                <a:cs typeface="Bricolage Grotesque"/>
                <a:sym typeface="Bricolage Grotesque"/>
              </a:rPr>
              <a:t>Paket ve Tarifeler: </a:t>
            </a:r>
            <a:r>
              <a:rPr i="1" lang="en-US" sz="1800">
                <a:solidFill>
                  <a:schemeClr val="dk1"/>
                </a:solidFill>
                <a:latin typeface="Bricolage Grotesque"/>
                <a:ea typeface="Bricolage Grotesque"/>
                <a:cs typeface="Bricolage Grotesque"/>
                <a:sym typeface="Bricolage Grotesque"/>
              </a:rPr>
              <a:t>faturalı hat fiyatları, faturalı tarifeler gibi kelimeler</a:t>
            </a:r>
            <a:endParaRPr i="1" sz="18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i="1" lang="en-US" sz="1800">
                <a:solidFill>
                  <a:schemeClr val="dk1"/>
                </a:solidFill>
                <a:latin typeface="Bricolage Grotesque"/>
                <a:ea typeface="Bricolage Grotesque"/>
                <a:cs typeface="Bricolage Grotesque"/>
                <a:sym typeface="Bricolage Grotesque"/>
              </a:rPr>
              <a:t>Kampanyalar: </a:t>
            </a:r>
            <a:r>
              <a:rPr i="1" lang="en-US" sz="1800">
                <a:solidFill>
                  <a:schemeClr val="dk1"/>
                </a:solidFill>
                <a:latin typeface="Bricolage Grotesque"/>
                <a:ea typeface="Bricolage Grotesque"/>
                <a:cs typeface="Bricolage Grotesque"/>
                <a:sym typeface="Bricolage Grotesque"/>
              </a:rPr>
              <a:t>ev internet kampanyaları, numara taşıma kampanyaları gibi kelimeler</a:t>
            </a:r>
            <a:endParaRPr i="1" sz="1800">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443" name="Shape 443"/>
        <p:cNvGrpSpPr/>
        <p:nvPr/>
      </p:nvGrpSpPr>
      <p:grpSpPr>
        <a:xfrm>
          <a:off x="0" y="0"/>
          <a:ext cx="0" cy="0"/>
          <a:chOff x="0" y="0"/>
          <a:chExt cx="0" cy="0"/>
        </a:xfrm>
      </p:grpSpPr>
      <p:pic>
        <p:nvPicPr>
          <p:cNvPr descr=" " id="444" name="Google Shape;444;g3c33024ce86_0_201"/>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445" name="Google Shape;445;g3c33024ce86_0_201"/>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446" name="Google Shape;446;g3c33024ce86_0_201"/>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447" name="Google Shape;447;g3c33024ce86_0_201"/>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g3c33024ce86_0_201"/>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Telco</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449" name="Google Shape;449;g3c33024ce86_0_201"/>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2026 Planı / Projeler / Fırsatlar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450" name="Google Shape;450;g3c33024ce86_0_201"/>
          <p:cNvSpPr txBox="1"/>
          <p:nvPr/>
        </p:nvSpPr>
        <p:spPr>
          <a:xfrm>
            <a:off x="1240125" y="2596350"/>
            <a:ext cx="22238400" cy="824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700">
                <a:solidFill>
                  <a:schemeClr val="dk1"/>
                </a:solidFill>
                <a:latin typeface="Bricolage Grotesque"/>
                <a:ea typeface="Bricolage Grotesque"/>
                <a:cs typeface="Bricolage Grotesque"/>
                <a:sym typeface="Bricolage Grotesque"/>
              </a:rPr>
              <a:t>5M hedefi çerçevesinde özellikle alternatif trafik kaynakları üzerinde duruyoruz. Google + AI destekli bir trafik için 2026 için planladığımız temel maddeler şunlardır:</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 hesaplama sayfalarının oluşturulması ve 5.5M’luk hacim hedeflenerek </a:t>
            </a:r>
            <a:r>
              <a:rPr b="1" lang="en-US" sz="2700">
                <a:solidFill>
                  <a:schemeClr val="accent6"/>
                </a:solidFill>
                <a:latin typeface="Bricolage Grotesque"/>
                <a:ea typeface="Bricolage Grotesque"/>
                <a:cs typeface="Bricolage Grotesque"/>
                <a:sym typeface="Bricolage Grotesque"/>
              </a:rPr>
              <a:t>500K+ click</a:t>
            </a:r>
            <a:r>
              <a:rPr lang="en-US" sz="2700">
                <a:solidFill>
                  <a:schemeClr val="dk1"/>
                </a:solidFill>
                <a:latin typeface="Bricolage Grotesque"/>
                <a:ea typeface="Bricolage Grotesque"/>
                <a:cs typeface="Bricolage Grotesque"/>
                <a:sym typeface="Bricolage Grotesque"/>
              </a:rPr>
              <a:t> getirilmesi</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Alternatif mass trafik konularına dair LP’lerin oluşturulması ile 44</a:t>
            </a:r>
            <a:r>
              <a:rPr lang="en-US" sz="2700">
                <a:solidFill>
                  <a:schemeClr val="dk1"/>
                </a:solidFill>
                <a:latin typeface="Bricolage Grotesque"/>
                <a:ea typeface="Bricolage Grotesque"/>
                <a:cs typeface="Bricolage Grotesque"/>
                <a:sym typeface="Bricolage Grotesque"/>
              </a:rPr>
              <a:t>M’luk hacim hedeflenerek </a:t>
            </a:r>
            <a:r>
              <a:rPr b="1" lang="en-US" sz="2700">
                <a:solidFill>
                  <a:schemeClr val="accent6"/>
                </a:solidFill>
                <a:latin typeface="Bricolage Grotesque"/>
                <a:ea typeface="Bricolage Grotesque"/>
                <a:cs typeface="Bricolage Grotesque"/>
                <a:sym typeface="Bricolage Grotesque"/>
              </a:rPr>
              <a:t>500K+ click</a:t>
            </a:r>
            <a:r>
              <a:rPr lang="en-US" sz="2700">
                <a:solidFill>
                  <a:schemeClr val="dk1"/>
                </a:solidFill>
                <a:latin typeface="Bricolage Grotesque"/>
                <a:ea typeface="Bricolage Grotesque"/>
                <a:cs typeface="Bricolage Grotesque"/>
                <a:sym typeface="Bricolage Grotesque"/>
              </a:rPr>
              <a:t> getirilmesi</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Paket listeleme sayfalarına içerik eklenmesi ile %7-%10 click artışı </a:t>
            </a:r>
            <a:r>
              <a:rPr lang="en-US" sz="2700">
                <a:solidFill>
                  <a:schemeClr val="accent6"/>
                </a:solidFill>
                <a:latin typeface="Bricolage Grotesque"/>
                <a:ea typeface="Bricolage Grotesque"/>
                <a:cs typeface="Bricolage Grotesque"/>
                <a:sym typeface="Bricolage Grotesque"/>
              </a:rPr>
              <a:t>(</a:t>
            </a:r>
            <a:r>
              <a:rPr b="1" lang="en-US" sz="2700">
                <a:solidFill>
                  <a:schemeClr val="accent6"/>
                </a:solidFill>
                <a:latin typeface="Bricolage Grotesque"/>
                <a:ea typeface="Bricolage Grotesque"/>
                <a:cs typeface="Bricolage Grotesque"/>
                <a:sym typeface="Bricolage Grotesque"/>
              </a:rPr>
              <a:t>250K+ click</a:t>
            </a:r>
            <a:r>
              <a:rPr lang="en-US" sz="2700">
                <a:solidFill>
                  <a:schemeClr val="accent6"/>
                </a:solidFill>
                <a:latin typeface="Bricolage Grotesque"/>
                <a:ea typeface="Bricolage Grotesque"/>
                <a:cs typeface="Bricolage Grotesque"/>
                <a:sym typeface="Bricolage Grotesque"/>
              </a:rPr>
              <a:t>)</a:t>
            </a:r>
            <a:r>
              <a:rPr lang="en-US" sz="2700">
                <a:solidFill>
                  <a:schemeClr val="dk1"/>
                </a:solidFill>
                <a:latin typeface="Bricolage Grotesque"/>
                <a:ea typeface="Bricolage Grotesque"/>
                <a:cs typeface="Bricolage Grotesque"/>
                <a:sym typeface="Bricolage Grotesque"/>
              </a:rPr>
              <a:t> sağlanması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Aylık düzenli blog içerikleri ile </a:t>
            </a:r>
            <a:r>
              <a:rPr lang="en-US" sz="2700">
                <a:solidFill>
                  <a:schemeClr val="dk1"/>
                </a:solidFill>
                <a:latin typeface="Bricolage Grotesque"/>
                <a:ea typeface="Bricolage Grotesque"/>
                <a:cs typeface="Bricolage Grotesque"/>
                <a:sym typeface="Bricolage Grotesque"/>
              </a:rPr>
              <a:t>%5-%7 click artışı </a:t>
            </a:r>
            <a:r>
              <a:rPr lang="en-US" sz="2700">
                <a:solidFill>
                  <a:schemeClr val="accent6"/>
                </a:solidFill>
                <a:latin typeface="Bricolage Grotesque"/>
                <a:ea typeface="Bricolage Grotesque"/>
                <a:cs typeface="Bricolage Grotesque"/>
                <a:sym typeface="Bricolage Grotesque"/>
              </a:rPr>
              <a:t>(</a:t>
            </a:r>
            <a:r>
              <a:rPr b="1" lang="en-US" sz="2700">
                <a:solidFill>
                  <a:schemeClr val="accent6"/>
                </a:solidFill>
                <a:latin typeface="Bricolage Grotesque"/>
                <a:ea typeface="Bricolage Grotesque"/>
                <a:cs typeface="Bricolage Grotesque"/>
                <a:sym typeface="Bricolage Grotesque"/>
              </a:rPr>
              <a:t>200K+ click</a:t>
            </a:r>
            <a:r>
              <a:rPr lang="en-US" sz="2700">
                <a:solidFill>
                  <a:schemeClr val="accent6"/>
                </a:solidFill>
                <a:latin typeface="Bricolage Grotesque"/>
                <a:ea typeface="Bricolage Grotesque"/>
                <a:cs typeface="Bricolage Grotesque"/>
                <a:sym typeface="Bricolage Grotesque"/>
              </a:rPr>
              <a:t>)</a:t>
            </a:r>
            <a:r>
              <a:rPr lang="en-US" sz="2700">
                <a:solidFill>
                  <a:schemeClr val="dk1"/>
                </a:solidFill>
                <a:latin typeface="Bricolage Grotesque"/>
                <a:ea typeface="Bricolage Grotesque"/>
                <a:cs typeface="Bricolage Grotesque"/>
                <a:sym typeface="Bricolage Grotesque"/>
              </a:rPr>
              <a:t> sağlanması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Her sayfa tipine uygun schema markup uygulamaları ile hem AI hem de Google görünürlüğü için teknik optimizasyonların uygulanması ve beraberinde %6-%10 click artışı </a:t>
            </a:r>
            <a:r>
              <a:rPr lang="en-US" sz="2700">
                <a:solidFill>
                  <a:schemeClr val="accent6"/>
                </a:solidFill>
                <a:latin typeface="Bricolage Grotesque"/>
                <a:ea typeface="Bricolage Grotesque"/>
                <a:cs typeface="Bricolage Grotesque"/>
                <a:sym typeface="Bricolage Grotesque"/>
              </a:rPr>
              <a:t>(</a:t>
            </a:r>
            <a:r>
              <a:rPr b="1" lang="en-US" sz="2700">
                <a:solidFill>
                  <a:schemeClr val="accent6"/>
                </a:solidFill>
                <a:latin typeface="Bricolage Grotesque"/>
                <a:ea typeface="Bricolage Grotesque"/>
                <a:cs typeface="Bricolage Grotesque"/>
                <a:sym typeface="Bricolage Grotesque"/>
              </a:rPr>
              <a:t>200K+ click</a:t>
            </a:r>
            <a:r>
              <a:rPr lang="en-US" sz="2700">
                <a:solidFill>
                  <a:schemeClr val="accent6"/>
                </a:solidFill>
                <a:latin typeface="Bricolage Grotesque"/>
                <a:ea typeface="Bricolage Grotesque"/>
                <a:cs typeface="Bricolage Grotesque"/>
                <a:sym typeface="Bricolage Grotesque"/>
              </a:rPr>
              <a:t>)</a:t>
            </a:r>
            <a:r>
              <a:rPr lang="en-US" sz="2700">
                <a:solidFill>
                  <a:schemeClr val="dk1"/>
                </a:solidFill>
                <a:latin typeface="Bricolage Grotesque"/>
                <a:ea typeface="Bricolage Grotesque"/>
                <a:cs typeface="Bricolage Grotesque"/>
                <a:sym typeface="Bricolage Grotesque"/>
              </a:rPr>
              <a:t> sağlanması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Persona Odaklı Paket Tarifeleri ile </a:t>
            </a:r>
            <a:r>
              <a:rPr b="1" lang="en-US" sz="2700">
                <a:solidFill>
                  <a:schemeClr val="accent6"/>
                </a:solidFill>
                <a:latin typeface="Bricolage Grotesque"/>
                <a:ea typeface="Bricolage Grotesque"/>
                <a:cs typeface="Bricolage Grotesque"/>
                <a:sym typeface="Bricolage Grotesque"/>
              </a:rPr>
              <a:t>50K+ click</a:t>
            </a:r>
            <a:r>
              <a:rPr lang="en-US" sz="2700">
                <a:solidFill>
                  <a:schemeClr val="dk1"/>
                </a:solidFill>
                <a:latin typeface="Bricolage Grotesque"/>
                <a:ea typeface="Bricolage Grotesque"/>
                <a:cs typeface="Bricolage Grotesque"/>
                <a:sym typeface="Bricolage Grotesque"/>
              </a:rPr>
              <a:t> getirilmesi</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Sınırsız youtube, sınırsız tiktok gibi mecra bazlı ayrıştıran avantajların plana çıkardığımız listeleme sayfaları ile ortalama %8 click artışı </a:t>
            </a:r>
            <a:r>
              <a:rPr lang="en-US" sz="2700">
                <a:solidFill>
                  <a:schemeClr val="accent6"/>
                </a:solidFill>
                <a:latin typeface="Bricolage Grotesque"/>
                <a:ea typeface="Bricolage Grotesque"/>
                <a:cs typeface="Bricolage Grotesque"/>
                <a:sym typeface="Bricolage Grotesque"/>
              </a:rPr>
              <a:t>(</a:t>
            </a:r>
            <a:r>
              <a:rPr b="1" lang="en-US" sz="2700">
                <a:solidFill>
                  <a:schemeClr val="accent6"/>
                </a:solidFill>
                <a:latin typeface="Bricolage Grotesque"/>
                <a:ea typeface="Bricolage Grotesque"/>
                <a:cs typeface="Bricolage Grotesque"/>
                <a:sym typeface="Bricolage Grotesque"/>
              </a:rPr>
              <a:t>150K+ click</a:t>
            </a:r>
            <a:r>
              <a:rPr lang="en-US" sz="2700">
                <a:solidFill>
                  <a:schemeClr val="accent6"/>
                </a:solidFill>
                <a:latin typeface="Bricolage Grotesque"/>
                <a:ea typeface="Bricolage Grotesque"/>
                <a:cs typeface="Bricolage Grotesque"/>
                <a:sym typeface="Bricolage Grotesque"/>
              </a:rPr>
              <a:t>)</a:t>
            </a:r>
            <a:r>
              <a:rPr lang="en-US" sz="2700">
                <a:solidFill>
                  <a:schemeClr val="dk1"/>
                </a:solidFill>
                <a:latin typeface="Bricolage Grotesque"/>
                <a:ea typeface="Bricolage Grotesque"/>
                <a:cs typeface="Bricolage Grotesque"/>
                <a:sym typeface="Bricolage Grotesque"/>
              </a:rPr>
              <a:t> sağlanması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Hız optimizasyonları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Internal link optimizasyonları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JS ile gelen içerik alanlarının HTML codded gelmesi</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Blog sayfalarında AI odaklı short description optimizasyonları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Hem Google hem de AI görünürlük için backlink çalışmaları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Mağaza sayfaları lokal SEO çalışmaları</a:t>
            </a:r>
            <a:endParaRPr sz="2700">
              <a:solidFill>
                <a:schemeClr val="dk1"/>
              </a:solidFill>
              <a:latin typeface="Bricolage Grotesque"/>
              <a:ea typeface="Bricolage Grotesque"/>
              <a:cs typeface="Bricolage Grotesque"/>
              <a:sym typeface="Bricolage Grotesque"/>
            </a:endParaRPr>
          </a:p>
        </p:txBody>
      </p:sp>
      <p:sp>
        <p:nvSpPr>
          <p:cNvPr id="451" name="Google Shape;451;g3c33024ce86_0_201"/>
          <p:cNvSpPr/>
          <p:nvPr/>
        </p:nvSpPr>
        <p:spPr>
          <a:xfrm>
            <a:off x="3554125" y="12335150"/>
            <a:ext cx="16229754" cy="785106"/>
          </a:xfrm>
          <a:prstGeom prst="flowChartTerminator">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900">
                <a:solidFill>
                  <a:schemeClr val="lt1"/>
                </a:solidFill>
                <a:latin typeface="Bricolage Grotesque"/>
                <a:ea typeface="Bricolage Grotesque"/>
                <a:cs typeface="Bricolage Grotesque"/>
                <a:sym typeface="Bricolage Grotesque"/>
              </a:rPr>
              <a:t>2.2M</a:t>
            </a:r>
            <a:endParaRPr/>
          </a:p>
        </p:txBody>
      </p:sp>
      <p:sp>
        <p:nvSpPr>
          <p:cNvPr id="452" name="Google Shape;452;g3c33024ce86_0_201"/>
          <p:cNvSpPr/>
          <p:nvPr/>
        </p:nvSpPr>
        <p:spPr>
          <a:xfrm>
            <a:off x="3554125" y="12335150"/>
            <a:ext cx="6554088" cy="785106"/>
          </a:xfrm>
          <a:prstGeom prst="flowChartTerminator">
            <a:avLst/>
          </a:prstGeom>
          <a:solidFill>
            <a:schemeClr val="accent2"/>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g3c33024ce86_0_201"/>
          <p:cNvSpPr txBox="1"/>
          <p:nvPr/>
        </p:nvSpPr>
        <p:spPr>
          <a:xfrm>
            <a:off x="5433925" y="11605500"/>
            <a:ext cx="27945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700">
                <a:solidFill>
                  <a:schemeClr val="dk1"/>
                </a:solidFill>
                <a:latin typeface="Bricolage Grotesque"/>
                <a:ea typeface="Bricolage Grotesque"/>
                <a:cs typeface="Bricolage Grotesque"/>
                <a:sym typeface="Bricolage Grotesque"/>
              </a:rPr>
              <a:t>güncel durum</a:t>
            </a:r>
            <a:endParaRPr b="1" sz="1000"/>
          </a:p>
        </p:txBody>
      </p:sp>
      <p:sp>
        <p:nvSpPr>
          <p:cNvPr id="454" name="Google Shape;454;g3c33024ce86_0_201"/>
          <p:cNvSpPr txBox="1"/>
          <p:nvPr/>
        </p:nvSpPr>
        <p:spPr>
          <a:xfrm>
            <a:off x="6051025" y="12335138"/>
            <a:ext cx="1560300" cy="78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900">
                <a:solidFill>
                  <a:schemeClr val="lt1"/>
                </a:solidFill>
                <a:latin typeface="Bricolage Grotesque"/>
                <a:ea typeface="Bricolage Grotesque"/>
                <a:cs typeface="Bricolage Grotesque"/>
                <a:sym typeface="Bricolage Grotesque"/>
              </a:rPr>
              <a:t>2.2M</a:t>
            </a:r>
            <a:endParaRPr b="1" sz="2200">
              <a:solidFill>
                <a:schemeClr val="lt1"/>
              </a:solidFill>
            </a:endParaRPr>
          </a:p>
        </p:txBody>
      </p:sp>
      <p:sp>
        <p:nvSpPr>
          <p:cNvPr id="455" name="Google Shape;455;g3c33024ce86_0_201"/>
          <p:cNvSpPr txBox="1"/>
          <p:nvPr/>
        </p:nvSpPr>
        <p:spPr>
          <a:xfrm>
            <a:off x="12060525" y="11605500"/>
            <a:ext cx="46908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700">
                <a:solidFill>
                  <a:schemeClr val="dk1"/>
                </a:solidFill>
                <a:latin typeface="Bricolage Grotesque"/>
                <a:ea typeface="Bricolage Grotesque"/>
                <a:cs typeface="Bricolage Grotesque"/>
                <a:sym typeface="Bricolage Grotesque"/>
              </a:rPr>
              <a:t>hedef için gereken ek artış</a:t>
            </a:r>
            <a:endParaRPr b="1" sz="1000"/>
          </a:p>
        </p:txBody>
      </p:sp>
      <p:sp>
        <p:nvSpPr>
          <p:cNvPr id="456" name="Google Shape;456;g3c33024ce86_0_201"/>
          <p:cNvSpPr txBox="1"/>
          <p:nvPr/>
        </p:nvSpPr>
        <p:spPr>
          <a:xfrm>
            <a:off x="13625775" y="12335138"/>
            <a:ext cx="1560300" cy="78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900">
                <a:solidFill>
                  <a:schemeClr val="dk1"/>
                </a:solidFill>
                <a:latin typeface="Bricolage Grotesque"/>
                <a:ea typeface="Bricolage Grotesque"/>
                <a:cs typeface="Bricolage Grotesque"/>
                <a:sym typeface="Bricolage Grotesque"/>
              </a:rPr>
              <a:t>2.8M</a:t>
            </a:r>
            <a:endParaRPr b="1" sz="2200">
              <a:solidFill>
                <a:schemeClr val="dk1"/>
              </a:solidFill>
            </a:endParaRPr>
          </a:p>
        </p:txBody>
      </p:sp>
      <p:sp>
        <p:nvSpPr>
          <p:cNvPr id="457" name="Google Shape;457;g3c33024ce86_0_201"/>
          <p:cNvSpPr/>
          <p:nvPr/>
        </p:nvSpPr>
        <p:spPr>
          <a:xfrm>
            <a:off x="12715000" y="8008025"/>
            <a:ext cx="286800" cy="2701800"/>
          </a:xfrm>
          <a:prstGeom prst="rightBracket">
            <a:avLst>
              <a:gd fmla="val 8333"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g3c33024ce86_0_201"/>
          <p:cNvSpPr txBox="1"/>
          <p:nvPr/>
        </p:nvSpPr>
        <p:spPr>
          <a:xfrm>
            <a:off x="13379150" y="8655300"/>
            <a:ext cx="30000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700">
                <a:solidFill>
                  <a:schemeClr val="accent6"/>
                </a:solidFill>
                <a:latin typeface="Bricolage Grotesque"/>
                <a:ea typeface="Bricolage Grotesque"/>
                <a:cs typeface="Bricolage Grotesque"/>
                <a:sym typeface="Bricolage Grotesque"/>
              </a:rPr>
              <a:t>70</a:t>
            </a:r>
            <a:r>
              <a:rPr b="1" lang="en-US" sz="2700">
                <a:solidFill>
                  <a:schemeClr val="accent6"/>
                </a:solidFill>
                <a:latin typeface="Bricolage Grotesque"/>
                <a:ea typeface="Bricolage Grotesque"/>
                <a:cs typeface="Bricolage Grotesque"/>
                <a:sym typeface="Bricolage Grotesque"/>
              </a:rPr>
              <a:t>0K+ click</a:t>
            </a:r>
            <a:endParaRPr/>
          </a:p>
        </p:txBody>
      </p:sp>
      <p:sp>
        <p:nvSpPr>
          <p:cNvPr id="459" name="Google Shape;459;g3c33024ce86_0_201"/>
          <p:cNvSpPr txBox="1"/>
          <p:nvPr/>
        </p:nvSpPr>
        <p:spPr>
          <a:xfrm>
            <a:off x="19665800" y="10880300"/>
            <a:ext cx="3964500" cy="7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800">
                <a:solidFill>
                  <a:schemeClr val="accent6"/>
                </a:solidFill>
                <a:latin typeface="Bricolage Grotesque"/>
                <a:ea typeface="Bricolage Grotesque"/>
                <a:cs typeface="Bricolage Grotesque"/>
                <a:sym typeface="Bricolage Grotesque"/>
              </a:rPr>
              <a:t>2.55M</a:t>
            </a:r>
            <a:r>
              <a:rPr b="1" lang="en-US" sz="3800">
                <a:solidFill>
                  <a:schemeClr val="accent6"/>
                </a:solidFill>
                <a:latin typeface="Bricolage Grotesque"/>
                <a:ea typeface="Bricolage Grotesque"/>
                <a:cs typeface="Bricolage Grotesque"/>
                <a:sym typeface="Bricolage Grotesque"/>
              </a:rPr>
              <a:t>+ ek click</a:t>
            </a:r>
            <a:endParaRPr sz="2500"/>
          </a:p>
        </p:txBody>
      </p:sp>
      <p:cxnSp>
        <p:nvCxnSpPr>
          <p:cNvPr id="460" name="Google Shape;460;g3c33024ce86_0_201"/>
          <p:cNvCxnSpPr/>
          <p:nvPr/>
        </p:nvCxnSpPr>
        <p:spPr>
          <a:xfrm>
            <a:off x="940738" y="10874691"/>
            <a:ext cx="22505700" cy="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pic>
        <p:nvPicPr>
          <p:cNvPr descr=" " id="466" name="Google Shape;466;g2e3c0731b07_0_81"/>
          <p:cNvPicPr preferRelativeResize="0"/>
          <p:nvPr/>
        </p:nvPicPr>
        <p:blipFill rotWithShape="1">
          <a:blip r:embed="rId3">
            <a:alphaModFix/>
          </a:blip>
          <a:srcRect b="0" l="0" r="0" t="0"/>
          <a:stretch/>
        </p:blipFill>
        <p:spPr>
          <a:xfrm>
            <a:off x="0" y="0"/>
            <a:ext cx="24387048" cy="13716000"/>
          </a:xfrm>
          <a:prstGeom prst="rect">
            <a:avLst/>
          </a:prstGeom>
          <a:noFill/>
          <a:ln>
            <a:noFill/>
          </a:ln>
        </p:spPr>
      </p:pic>
      <p:sp>
        <p:nvSpPr>
          <p:cNvPr id="467" name="Google Shape;467;g2e3c0731b07_0_81"/>
          <p:cNvSpPr/>
          <p:nvPr/>
        </p:nvSpPr>
        <p:spPr>
          <a:xfrm>
            <a:off x="11787073" y="5537200"/>
            <a:ext cx="813000" cy="711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468" name="Google Shape;468;g2e3c0731b07_0_81"/>
          <p:cNvPicPr preferRelativeResize="0"/>
          <p:nvPr/>
        </p:nvPicPr>
        <p:blipFill rotWithShape="1">
          <a:blip r:embed="rId4">
            <a:alphaModFix/>
          </a:blip>
          <a:srcRect b="0" l="0" r="0" t="0"/>
          <a:stretch/>
        </p:blipFill>
        <p:spPr>
          <a:xfrm>
            <a:off x="11787073" y="5537200"/>
            <a:ext cx="812902" cy="203200"/>
          </a:xfrm>
          <a:prstGeom prst="rect">
            <a:avLst/>
          </a:prstGeom>
          <a:noFill/>
          <a:ln>
            <a:noFill/>
          </a:ln>
        </p:spPr>
      </p:pic>
      <p:sp>
        <p:nvSpPr>
          <p:cNvPr id="469" name="Google Shape;469;g2e3c0731b07_0_81"/>
          <p:cNvSpPr/>
          <p:nvPr/>
        </p:nvSpPr>
        <p:spPr>
          <a:xfrm>
            <a:off x="6264000" y="6248400"/>
            <a:ext cx="14496300" cy="1329300"/>
          </a:xfrm>
          <a:prstGeom prst="rect">
            <a:avLst/>
          </a:prstGeom>
          <a:noFill/>
          <a:ln>
            <a:noFill/>
          </a:ln>
        </p:spPr>
        <p:txBody>
          <a:bodyPr anchorCtr="0" anchor="t" bIns="0" lIns="0" spcFirstLastPara="1" rIns="0" wrap="square" tIns="0">
            <a:noAutofit/>
          </a:bodyPr>
          <a:lstStyle/>
          <a:p>
            <a:pPr indent="0" lvl="0" marL="0" marR="0" rtl="0" algn="ctr">
              <a:lnSpc>
                <a:spcPct val="108108"/>
              </a:lnSpc>
              <a:spcBef>
                <a:spcPts val="0"/>
              </a:spcBef>
              <a:spcAft>
                <a:spcPts val="0"/>
              </a:spcAft>
              <a:buClr>
                <a:srgbClr val="FEFEF7"/>
              </a:buClr>
              <a:buSzPts val="7400"/>
              <a:buFont typeface="Bricolage Grotesque ExtraBold"/>
              <a:buNone/>
            </a:pPr>
            <a:r>
              <a:rPr lang="en-US" sz="7400">
                <a:solidFill>
                  <a:srgbClr val="FEFEF7"/>
                </a:solidFill>
                <a:latin typeface="Bricolage Grotesque ExtraBold"/>
                <a:ea typeface="Bricolage Grotesque ExtraBold"/>
                <a:cs typeface="Bricolage Grotesque ExtraBold"/>
                <a:sym typeface="Bricolage Grotesque ExtraBold"/>
              </a:rPr>
              <a:t>Pasaj</a:t>
            </a:r>
            <a:endParaRPr b="0" i="0" sz="7400" u="none" cap="none" strike="noStrike">
              <a:solidFill>
                <a:schemeClr val="dk1"/>
              </a:solidFill>
              <a:latin typeface="Calibri"/>
              <a:ea typeface="Calibri"/>
              <a:cs typeface="Calibri"/>
              <a:sym typeface="Calibri"/>
            </a:endParaRPr>
          </a:p>
        </p:txBody>
      </p:sp>
      <p:sp>
        <p:nvSpPr>
          <p:cNvPr id="470" name="Google Shape;470;g2e3c0731b07_0_81"/>
          <p:cNvSpPr/>
          <p:nvPr/>
        </p:nvSpPr>
        <p:spPr>
          <a:xfrm>
            <a:off x="11787073" y="7264400"/>
            <a:ext cx="813000" cy="914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471" name="Google Shape;471;g2e3c0731b07_0_81"/>
          <p:cNvPicPr preferRelativeResize="0"/>
          <p:nvPr/>
        </p:nvPicPr>
        <p:blipFill rotWithShape="1">
          <a:blip r:embed="rId4">
            <a:alphaModFix/>
          </a:blip>
          <a:srcRect b="0" l="0" r="0" t="0"/>
          <a:stretch/>
        </p:blipFill>
        <p:spPr>
          <a:xfrm>
            <a:off x="11787073" y="7975600"/>
            <a:ext cx="812902" cy="203200"/>
          </a:xfrm>
          <a:prstGeom prst="rect">
            <a:avLst/>
          </a:prstGeom>
          <a:noFill/>
          <a:ln>
            <a:noFill/>
          </a:ln>
        </p:spPr>
      </p:pic>
      <p:sp>
        <p:nvSpPr>
          <p:cNvPr id="472" name="Google Shape;472;g2e3c0731b07_0_81"/>
          <p:cNvSpPr/>
          <p:nvPr/>
        </p:nvSpPr>
        <p:spPr>
          <a:xfrm>
            <a:off x="-2254125" y="4889850"/>
            <a:ext cx="10063800" cy="3936300"/>
          </a:xfrm>
          <a:prstGeom prst="rect">
            <a:avLst/>
          </a:prstGeom>
          <a:noFill/>
          <a:ln>
            <a:noFill/>
          </a:ln>
        </p:spPr>
        <p:txBody>
          <a:bodyPr anchorCtr="0" anchor="t" bIns="0" lIns="0" spcFirstLastPara="1" rIns="0" wrap="square" tIns="0">
            <a:noAutofit/>
          </a:bodyPr>
          <a:lstStyle/>
          <a:p>
            <a:pPr indent="0" lvl="0" marL="0" marR="0" rtl="0" algn="l">
              <a:lnSpc>
                <a:spcPct val="32000"/>
              </a:lnSpc>
              <a:spcBef>
                <a:spcPts val="0"/>
              </a:spcBef>
              <a:spcAft>
                <a:spcPts val="0"/>
              </a:spcAft>
              <a:buClr>
                <a:srgbClr val="FEFEF7"/>
              </a:buClr>
              <a:buSzPts val="40000"/>
              <a:buFont typeface="Bricolage Grotesque ExtraBold"/>
              <a:buNone/>
            </a:pPr>
            <a:r>
              <a:t/>
            </a:r>
            <a:endParaRPr b="0" i="0" sz="40000" u="none" cap="none" strike="noStrike">
              <a:solidFill>
                <a:srgbClr val="254E49"/>
              </a:solidFill>
              <a:latin typeface="Bricolage Grotesque ExtraBold"/>
              <a:ea typeface="Bricolage Grotesque ExtraBold"/>
              <a:cs typeface="Bricolage Grotesque ExtraBold"/>
              <a:sym typeface="Bricolage Grotesque ExtraBold"/>
            </a:endParaRPr>
          </a:p>
          <a:p>
            <a:pPr indent="0" lvl="0" marL="0" marR="0" rtl="0" algn="ctr">
              <a:lnSpc>
                <a:spcPct val="32000"/>
              </a:lnSpc>
              <a:spcBef>
                <a:spcPts val="0"/>
              </a:spcBef>
              <a:spcAft>
                <a:spcPts val="0"/>
              </a:spcAft>
              <a:buClr>
                <a:srgbClr val="FEFEF7"/>
              </a:buClr>
              <a:buSzPts val="40000"/>
              <a:buFont typeface="Bricolage Grotesque ExtraBold"/>
              <a:buNone/>
            </a:pPr>
            <a:r>
              <a:rPr b="0" i="0" lang="en-US" sz="40000" u="none" cap="none" strike="noStrike">
                <a:solidFill>
                  <a:srgbClr val="254E49"/>
                </a:solidFill>
                <a:latin typeface="Bricolage Grotesque ExtraBold"/>
                <a:ea typeface="Bricolage Grotesque ExtraBold"/>
                <a:cs typeface="Bricolage Grotesque ExtraBold"/>
                <a:sym typeface="Bricolage Grotesque ExtraBold"/>
              </a:rPr>
              <a:t>0</a:t>
            </a:r>
            <a:r>
              <a:rPr lang="en-US" sz="40000">
                <a:solidFill>
                  <a:srgbClr val="254E49"/>
                </a:solidFill>
                <a:latin typeface="Bricolage Grotesque ExtraBold"/>
                <a:ea typeface="Bricolage Grotesque ExtraBold"/>
                <a:cs typeface="Bricolage Grotesque ExtraBold"/>
                <a:sym typeface="Bricolage Grotesque ExtraBold"/>
              </a:rPr>
              <a:t>4</a:t>
            </a:r>
            <a:endParaRPr b="0" i="0" sz="40000" u="none" cap="none" strike="noStrike">
              <a:solidFill>
                <a:srgbClr val="254E49"/>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477" name="Shape 477"/>
        <p:cNvGrpSpPr/>
        <p:nvPr/>
      </p:nvGrpSpPr>
      <p:grpSpPr>
        <a:xfrm>
          <a:off x="0" y="0"/>
          <a:ext cx="0" cy="0"/>
          <a:chOff x="0" y="0"/>
          <a:chExt cx="0" cy="0"/>
        </a:xfrm>
      </p:grpSpPr>
      <p:sp>
        <p:nvSpPr>
          <p:cNvPr id="478" name="Google Shape;478;g3c33024ce86_0_211"/>
          <p:cNvSpPr/>
          <p:nvPr/>
        </p:nvSpPr>
        <p:spPr>
          <a:xfrm>
            <a:off x="2646900" y="1490100"/>
            <a:ext cx="4321200" cy="107358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FF7B52"/>
              </a:buClr>
              <a:buSzPts val="6400"/>
              <a:buFont typeface="Bricolage Grotesque"/>
              <a:buNone/>
            </a:pPr>
            <a:r>
              <a:rPr b="1" lang="en-US" sz="9000">
                <a:solidFill>
                  <a:srgbClr val="FF7B52"/>
                </a:solidFill>
                <a:latin typeface="Bricolage Grotesque"/>
                <a:ea typeface="Bricolage Grotesque"/>
                <a:cs typeface="Bricolage Grotesque"/>
                <a:sym typeface="Bricolage Grotesque"/>
              </a:rPr>
              <a:t>Ajanda</a:t>
            </a:r>
            <a:endParaRPr b="0" i="0" sz="9000" u="none" cap="none" strike="noStrike">
              <a:solidFill>
                <a:schemeClr val="dk1"/>
              </a:solidFill>
              <a:latin typeface="Calibri"/>
              <a:ea typeface="Calibri"/>
              <a:cs typeface="Calibri"/>
              <a:sym typeface="Calibri"/>
            </a:endParaRPr>
          </a:p>
        </p:txBody>
      </p:sp>
      <p:sp>
        <p:nvSpPr>
          <p:cNvPr id="479" name="Google Shape;479;g3c33024ce86_0_211"/>
          <p:cNvSpPr/>
          <p:nvPr/>
        </p:nvSpPr>
        <p:spPr>
          <a:xfrm>
            <a:off x="12960675" y="2861100"/>
            <a:ext cx="10432200" cy="7993800"/>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Genel Performans (Google &amp; AI)</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Non-branded / Branded Kırılım</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Pozisyon Aralığına Göre Kelime Sayısı Dağılımı</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Anahtar Kelime Highlight’ları</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Neler Yaptık?</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Rakiplerle Kıyaslama / Rakiplerin Güç Kazandığı Yerler</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Market Analizi - Sektör İçgörüleri</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2026 Planı / Projeler / Fırsatlar</a:t>
            </a:r>
            <a:endParaRPr sz="3200">
              <a:solidFill>
                <a:srgbClr val="10332F"/>
              </a:solidFill>
              <a:latin typeface="Outfit"/>
              <a:ea typeface="Outfit"/>
              <a:cs typeface="Outfit"/>
              <a:sym typeface="Outfit"/>
            </a:endParaRPr>
          </a:p>
        </p:txBody>
      </p:sp>
      <p:pic>
        <p:nvPicPr>
          <p:cNvPr descr=" " id="480" name="Google Shape;480;g3c33024ce86_0_211"/>
          <p:cNvPicPr preferRelativeResize="0"/>
          <p:nvPr/>
        </p:nvPicPr>
        <p:blipFill rotWithShape="1">
          <a:blip r:embed="rId3">
            <a:alphaModFix/>
          </a:blip>
          <a:srcRect b="0" l="0" r="0" t="0"/>
          <a:stretch/>
        </p:blipFill>
        <p:spPr>
          <a:xfrm>
            <a:off x="406451" y="12242800"/>
            <a:ext cx="965321" cy="1016000"/>
          </a:xfrm>
          <a:prstGeom prst="rect">
            <a:avLst/>
          </a:prstGeom>
          <a:noFill/>
          <a:ln>
            <a:noFill/>
          </a:ln>
        </p:spPr>
      </p:pic>
      <p:pic>
        <p:nvPicPr>
          <p:cNvPr descr=" " id="481" name="Google Shape;481;g3c33024ce86_0_211"/>
          <p:cNvPicPr preferRelativeResize="0"/>
          <p:nvPr/>
        </p:nvPicPr>
        <p:blipFill rotWithShape="1">
          <a:blip r:embed="rId4">
            <a:alphaModFix/>
          </a:blip>
          <a:srcRect b="0" l="0" r="0" t="0"/>
          <a:stretch/>
        </p:blipFill>
        <p:spPr>
          <a:xfrm>
            <a:off x="538084" y="12381347"/>
            <a:ext cx="702051" cy="738907"/>
          </a:xfrm>
          <a:prstGeom prst="rect">
            <a:avLst/>
          </a:prstGeom>
          <a:noFill/>
          <a:ln>
            <a:noFill/>
          </a:ln>
        </p:spPr>
      </p:pic>
      <p:sp>
        <p:nvSpPr>
          <p:cNvPr id="482" name="Google Shape;482;g3c33024ce86_0_211"/>
          <p:cNvSpPr/>
          <p:nvPr/>
        </p:nvSpPr>
        <p:spPr>
          <a:xfrm>
            <a:off x="0" y="0"/>
            <a:ext cx="96150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487" name="Shape 487"/>
        <p:cNvGrpSpPr/>
        <p:nvPr/>
      </p:nvGrpSpPr>
      <p:grpSpPr>
        <a:xfrm>
          <a:off x="0" y="0"/>
          <a:ext cx="0" cy="0"/>
          <a:chOff x="0" y="0"/>
          <a:chExt cx="0" cy="0"/>
        </a:xfrm>
      </p:grpSpPr>
      <p:pic>
        <p:nvPicPr>
          <p:cNvPr descr=" " id="488" name="Google Shape;488;g3c33024ce86_0_229"/>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489" name="Google Shape;489;g3c33024ce86_0_229"/>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490" name="Google Shape;490;g3c33024ce86_0_229"/>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491" name="Google Shape;491;g3c33024ce86_0_229"/>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3c33024ce86_0_229"/>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493" name="Google Shape;493;g3c33024ce86_0_229"/>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Genel Performans Metrikleri</a:t>
            </a:r>
            <a:endParaRPr b="1" i="0" sz="5500" u="none" cap="none" strike="noStrike">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494" name="Google Shape;494;g3c33024ce86_0_229" title="Chart"/>
          <p:cNvPicPr preferRelativeResize="0"/>
          <p:nvPr/>
        </p:nvPicPr>
        <p:blipFill rotWithShape="1">
          <a:blip r:embed="rId6">
            <a:alphaModFix/>
          </a:blip>
          <a:srcRect b="7295" l="0" r="0" t="0"/>
          <a:stretch/>
        </p:blipFill>
        <p:spPr>
          <a:xfrm>
            <a:off x="2749212" y="2755850"/>
            <a:ext cx="16073800" cy="6701081"/>
          </a:xfrm>
          <a:prstGeom prst="rect">
            <a:avLst/>
          </a:prstGeom>
          <a:noFill/>
          <a:ln>
            <a:noFill/>
          </a:ln>
        </p:spPr>
      </p:pic>
      <p:sp>
        <p:nvSpPr>
          <p:cNvPr id="495" name="Google Shape;495;g3c33024ce86_0_229"/>
          <p:cNvSpPr txBox="1"/>
          <p:nvPr/>
        </p:nvSpPr>
        <p:spPr>
          <a:xfrm>
            <a:off x="19792650" y="4459575"/>
            <a:ext cx="2620200" cy="61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800">
                <a:solidFill>
                  <a:srgbClr val="10332F"/>
                </a:solidFill>
                <a:latin typeface="Bricolage Grotesque"/>
                <a:ea typeface="Bricolage Grotesque"/>
                <a:cs typeface="Bricolage Grotesque"/>
                <a:sym typeface="Bricolage Grotesque"/>
              </a:rPr>
              <a:t>Hedef: </a:t>
            </a:r>
            <a:r>
              <a:rPr lang="en-US" sz="2800">
                <a:solidFill>
                  <a:srgbClr val="10332F"/>
                </a:solidFill>
                <a:latin typeface="Bricolage Grotesque"/>
                <a:ea typeface="Bricolage Grotesque"/>
                <a:cs typeface="Bricolage Grotesque"/>
                <a:sym typeface="Bricolage Grotesque"/>
              </a:rPr>
              <a:t>65</a:t>
            </a:r>
            <a:r>
              <a:rPr lang="en-US" sz="2800">
                <a:solidFill>
                  <a:srgbClr val="10332F"/>
                </a:solidFill>
                <a:latin typeface="Bricolage Grotesque"/>
                <a:ea typeface="Bricolage Grotesque"/>
                <a:cs typeface="Bricolage Grotesque"/>
                <a:sym typeface="Bricolage Grotesque"/>
              </a:rPr>
              <a:t>0K</a:t>
            </a:r>
            <a:endParaRPr sz="1900"/>
          </a:p>
        </p:txBody>
      </p:sp>
      <p:sp>
        <p:nvSpPr>
          <p:cNvPr id="496" name="Google Shape;496;g3c33024ce86_0_229"/>
          <p:cNvSpPr txBox="1"/>
          <p:nvPr/>
        </p:nvSpPr>
        <p:spPr>
          <a:xfrm>
            <a:off x="2749200" y="10059625"/>
            <a:ext cx="153792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Bricolage Grotesque"/>
                <a:ea typeface="Bricolage Grotesque"/>
                <a:cs typeface="Bricolage Grotesque"/>
                <a:sym typeface="Bricolage Grotesque"/>
              </a:rPr>
              <a:t>Turkcell Pasaj tarafında hem </a:t>
            </a:r>
            <a:r>
              <a:rPr b="1" lang="en-US" sz="2400">
                <a:solidFill>
                  <a:schemeClr val="dk1"/>
                </a:solidFill>
                <a:latin typeface="Bricolage Grotesque"/>
                <a:ea typeface="Bricolage Grotesque"/>
                <a:cs typeface="Bricolage Grotesque"/>
                <a:sym typeface="Bricolage Grotesque"/>
              </a:rPr>
              <a:t>organik tıklamalar hem de gösterimler düzenli olarak artış gösteriyor</a:t>
            </a:r>
            <a:r>
              <a:rPr lang="en-US" sz="2400">
                <a:solidFill>
                  <a:schemeClr val="dk1"/>
                </a:solidFill>
                <a:latin typeface="Bricolage Grotesque"/>
                <a:ea typeface="Bricolage Grotesque"/>
                <a:cs typeface="Bricolage Grotesque"/>
                <a:sym typeface="Bricolage Grotesque"/>
              </a:rPr>
              <a:t> ve son dönemde </a:t>
            </a:r>
            <a:r>
              <a:rPr b="1" lang="en-US" sz="2400">
                <a:solidFill>
                  <a:schemeClr val="dk1"/>
                </a:solidFill>
                <a:latin typeface="Bricolage Grotesque"/>
                <a:ea typeface="Bricolage Grotesque"/>
                <a:cs typeface="Bricolage Grotesque"/>
                <a:sym typeface="Bricolage Grotesque"/>
              </a:rPr>
              <a:t>tüm zamanların en yüksek seviyesine (all-time record)</a:t>
            </a:r>
            <a:r>
              <a:rPr lang="en-US" sz="2400">
                <a:solidFill>
                  <a:schemeClr val="dk1"/>
                </a:solidFill>
                <a:latin typeface="Bricolage Grotesque"/>
                <a:ea typeface="Bricolage Grotesque"/>
                <a:cs typeface="Bricolage Grotesque"/>
                <a:sym typeface="Bricolage Grotesque"/>
              </a:rPr>
              <a:t> ulaşılmış durumda.</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400">
                <a:solidFill>
                  <a:schemeClr val="dk1"/>
                </a:solidFill>
                <a:latin typeface="Bricolage Grotesque"/>
                <a:ea typeface="Bricolage Grotesque"/>
                <a:cs typeface="Bricolage Grotesque"/>
                <a:sym typeface="Bricolage Grotesque"/>
              </a:rPr>
              <a:t>Özellikle yılın ikinci yarısından itibaren, </a:t>
            </a:r>
            <a:r>
              <a:rPr b="1" lang="en-US" sz="2400">
                <a:solidFill>
                  <a:schemeClr val="dk1"/>
                </a:solidFill>
                <a:latin typeface="Bricolage Grotesque"/>
                <a:ea typeface="Bricolage Grotesque"/>
                <a:cs typeface="Bricolage Grotesque"/>
                <a:sym typeface="Bricolage Grotesque"/>
              </a:rPr>
              <a:t>impression artışı click artışından daha hızlı ilerliyor</a:t>
            </a:r>
            <a:r>
              <a:rPr lang="en-US" sz="2400">
                <a:solidFill>
                  <a:schemeClr val="dk1"/>
                </a:solidFill>
                <a:latin typeface="Bricolage Grotesque"/>
                <a:ea typeface="Bricolage Grotesque"/>
                <a:cs typeface="Bricolage Grotesque"/>
                <a:sym typeface="Bricolage Grotesque"/>
              </a:rPr>
              <a:t>; bu da Pasaj için henüz tam karşılığı alınmamış ek trafik potansiyeline işaret ediyor.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400">
                <a:solidFill>
                  <a:schemeClr val="dk1"/>
                </a:solidFill>
                <a:latin typeface="Bricolage Grotesque"/>
                <a:ea typeface="Bricolage Grotesque"/>
                <a:cs typeface="Bricolage Grotesque"/>
                <a:sym typeface="Bricolage Grotesque"/>
              </a:rPr>
              <a:t>500K’lık hedefimiz için istikrarlı şekilde ilerlediğimizi görmekteyiz.</a:t>
            </a:r>
            <a:endParaRPr sz="2400">
              <a:solidFill>
                <a:schemeClr val="dk1"/>
              </a:solidFill>
              <a:latin typeface="Bricolage Grotesque"/>
              <a:ea typeface="Bricolage Grotesque"/>
              <a:cs typeface="Bricolage Grotesque"/>
              <a:sym typeface="Bricolage Grotesque"/>
            </a:endParaRPr>
          </a:p>
        </p:txBody>
      </p:sp>
      <p:sp>
        <p:nvSpPr>
          <p:cNvPr id="497" name="Google Shape;497;g3c33024ce86_0_229"/>
          <p:cNvSpPr/>
          <p:nvPr/>
        </p:nvSpPr>
        <p:spPr>
          <a:xfrm>
            <a:off x="19318450" y="9193900"/>
            <a:ext cx="4659600" cy="2198700"/>
          </a:xfrm>
          <a:prstGeom prst="wedgeRectCallout">
            <a:avLst>
              <a:gd fmla="val -20833" name="adj1"/>
              <a:gd fmla="val 625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100">
                <a:solidFill>
                  <a:schemeClr val="dk1"/>
                </a:solidFill>
                <a:latin typeface="Bricolage Grotesque"/>
                <a:ea typeface="Bricolage Grotesque"/>
                <a:cs typeface="Bricolage Grotesque"/>
                <a:sym typeface="Bricolage Grotesque"/>
              </a:rPr>
              <a:t>H2 vs H1 </a:t>
            </a:r>
            <a:endParaRPr sz="3100">
              <a:solidFill>
                <a:schemeClr val="dk1"/>
              </a:solidFill>
              <a:latin typeface="Bricolage Grotesque"/>
              <a:ea typeface="Bricolage Grotesque"/>
              <a:cs typeface="Bricolage Grotesque"/>
              <a:sym typeface="Bricolage Grotesque"/>
            </a:endParaRPr>
          </a:p>
          <a:p>
            <a:pPr indent="0" lvl="0" marL="0" rtl="0" algn="ctr">
              <a:spcBef>
                <a:spcPts val="0"/>
              </a:spcBef>
              <a:spcAft>
                <a:spcPts val="0"/>
              </a:spcAft>
              <a:buNone/>
            </a:pPr>
            <a:r>
              <a:rPr b="1" lang="en-US" sz="3100">
                <a:solidFill>
                  <a:schemeClr val="accent6"/>
                </a:solidFill>
                <a:latin typeface="Bricolage Grotesque"/>
                <a:ea typeface="Bricolage Grotesque"/>
                <a:cs typeface="Bricolage Grotesque"/>
                <a:sym typeface="Bricolage Grotesque"/>
              </a:rPr>
              <a:t>%39</a:t>
            </a:r>
            <a:r>
              <a:rPr lang="en-US" sz="3100">
                <a:solidFill>
                  <a:schemeClr val="dk1"/>
                </a:solidFill>
                <a:latin typeface="Bricolage Grotesque"/>
                <a:ea typeface="Bricolage Grotesque"/>
                <a:cs typeface="Bricolage Grotesque"/>
                <a:sym typeface="Bricolage Grotesque"/>
              </a:rPr>
              <a:t> click artışı</a:t>
            </a:r>
            <a:endParaRPr b="1" sz="3100">
              <a:solidFill>
                <a:schemeClr val="accent6"/>
              </a:solidFill>
              <a:latin typeface="Bricolage Grotesque"/>
              <a:ea typeface="Bricolage Grotesque"/>
              <a:cs typeface="Bricolage Grotesque"/>
              <a:sym typeface="Bricolage Grotesq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02" name="Shape 502"/>
        <p:cNvGrpSpPr/>
        <p:nvPr/>
      </p:nvGrpSpPr>
      <p:grpSpPr>
        <a:xfrm>
          <a:off x="0" y="0"/>
          <a:ext cx="0" cy="0"/>
          <a:chOff x="0" y="0"/>
          <a:chExt cx="0" cy="0"/>
        </a:xfrm>
      </p:grpSpPr>
      <p:pic>
        <p:nvPicPr>
          <p:cNvPr descr=" " id="503" name="Google Shape;503;g3c33024ce86_0_241"/>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04" name="Google Shape;504;g3c33024ce86_0_241"/>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05" name="Google Shape;505;g3c33024ce86_0_241"/>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06" name="Google Shape;506;g3c33024ce86_0_241"/>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g3c33024ce86_0_241"/>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508" name="Google Shape;508;g3c33024ce86_0_241"/>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Nonbranded / Branded Kırılım</a:t>
            </a:r>
            <a:endParaRPr b="1" i="0" sz="5500" u="none" cap="none" strike="noStrike">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509" name="Google Shape;509;g3c33024ce86_0_241"/>
          <p:cNvSpPr txBox="1"/>
          <p:nvPr/>
        </p:nvSpPr>
        <p:spPr>
          <a:xfrm>
            <a:off x="3419125" y="9749450"/>
            <a:ext cx="13498800" cy="372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Bricolage Grotesque"/>
                <a:ea typeface="Bricolage Grotesque"/>
                <a:cs typeface="Bricolage Grotesque"/>
                <a:sym typeface="Bricolage Grotesque"/>
              </a:rPr>
              <a:t>Cep Telefonu &amp; Aksesuarlar</a:t>
            </a: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TV &amp; Ses Sistemleri</a:t>
            </a:r>
            <a:r>
              <a:rPr lang="en-US" sz="2300">
                <a:solidFill>
                  <a:schemeClr val="dk1"/>
                </a:solidFill>
                <a:latin typeface="Bricolage Grotesque"/>
                <a:ea typeface="Bricolage Grotesque"/>
                <a:cs typeface="Bricolage Grotesque"/>
                <a:sym typeface="Bricolage Grotesque"/>
              </a:rPr>
              <a:t> ve </a:t>
            </a:r>
            <a:r>
              <a:rPr b="1" lang="en-US" sz="2300">
                <a:solidFill>
                  <a:schemeClr val="dk1"/>
                </a:solidFill>
                <a:latin typeface="Bricolage Grotesque"/>
                <a:ea typeface="Bricolage Grotesque"/>
                <a:cs typeface="Bricolage Grotesque"/>
                <a:sym typeface="Bricolage Grotesque"/>
              </a:rPr>
              <a:t>Elektrikli Ev Aletleri</a:t>
            </a:r>
            <a:r>
              <a:rPr lang="en-US" sz="2300">
                <a:solidFill>
                  <a:schemeClr val="dk1"/>
                </a:solidFill>
                <a:latin typeface="Bricolage Grotesque"/>
                <a:ea typeface="Bricolage Grotesque"/>
                <a:cs typeface="Bricolage Grotesque"/>
                <a:sym typeface="Bricolage Grotesque"/>
              </a:rPr>
              <a:t> gibi </a:t>
            </a:r>
            <a:r>
              <a:rPr b="1" lang="en-US" sz="2300">
                <a:solidFill>
                  <a:schemeClr val="dk1"/>
                </a:solidFill>
                <a:latin typeface="Bricolage Grotesque"/>
                <a:ea typeface="Bricolage Grotesque"/>
                <a:cs typeface="Bricolage Grotesque"/>
                <a:sym typeface="Bricolage Grotesque"/>
              </a:rPr>
              <a:t>ticari niyetli kategoriler</a:t>
            </a:r>
            <a:r>
              <a:rPr lang="en-US" sz="2300">
                <a:solidFill>
                  <a:schemeClr val="dk1"/>
                </a:solidFill>
                <a:latin typeface="Bricolage Grotesque"/>
                <a:ea typeface="Bricolage Grotesque"/>
                <a:cs typeface="Bricolage Grotesque"/>
                <a:sym typeface="Bricolage Grotesque"/>
              </a:rPr>
              <a:t>, hem hacim hem de performans artışıyla Pasaj trafiğinin ana sürükleyicileri olmuştur.</a:t>
            </a:r>
            <a:br>
              <a:rPr lang="en-US" sz="2300">
                <a:solidFill>
                  <a:schemeClr val="dk1"/>
                </a:solidFill>
                <a:latin typeface="Bricolage Grotesque"/>
                <a:ea typeface="Bricolage Grotesque"/>
                <a:cs typeface="Bricolage Grotesque"/>
                <a:sym typeface="Bricolage Grotesque"/>
              </a:rPr>
            </a:br>
            <a:endParaRPr sz="23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lang="en-US" sz="2300">
                <a:solidFill>
                  <a:schemeClr val="dk1"/>
                </a:solidFill>
                <a:latin typeface="Bricolage Grotesque"/>
                <a:ea typeface="Bricolage Grotesque"/>
                <a:cs typeface="Bricolage Grotesque"/>
                <a:sym typeface="Bricolage Grotesque"/>
              </a:rPr>
              <a:t>Hobi &amp; Oyun</a:t>
            </a: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Ev &amp; Yaşam</a:t>
            </a:r>
            <a:r>
              <a:rPr lang="en-US" sz="2300">
                <a:solidFill>
                  <a:schemeClr val="dk1"/>
                </a:solidFill>
                <a:latin typeface="Bricolage Grotesque"/>
                <a:ea typeface="Bricolage Grotesque"/>
                <a:cs typeface="Bricolage Grotesque"/>
                <a:sym typeface="Bricolage Grotesque"/>
              </a:rPr>
              <a:t> ve </a:t>
            </a:r>
            <a:r>
              <a:rPr b="1" lang="en-US" sz="2300">
                <a:solidFill>
                  <a:schemeClr val="dk1"/>
                </a:solidFill>
                <a:latin typeface="Bricolage Grotesque"/>
                <a:ea typeface="Bricolage Grotesque"/>
                <a:cs typeface="Bricolage Grotesque"/>
                <a:sym typeface="Bricolage Grotesque"/>
              </a:rPr>
              <a:t>Sağlık &amp; Kişisel Bakım</a:t>
            </a:r>
            <a:r>
              <a:rPr lang="en-US" sz="2300">
                <a:solidFill>
                  <a:schemeClr val="dk1"/>
                </a:solidFill>
                <a:latin typeface="Bricolage Grotesque"/>
                <a:ea typeface="Bricolage Grotesque"/>
                <a:cs typeface="Bricolage Grotesque"/>
                <a:sym typeface="Bricolage Grotesque"/>
              </a:rPr>
              <a:t> kategorileri, daha çok </a:t>
            </a:r>
            <a:r>
              <a:rPr b="1" lang="en-US" sz="2300">
                <a:solidFill>
                  <a:schemeClr val="dk1"/>
                </a:solidFill>
                <a:latin typeface="Bricolage Grotesque"/>
                <a:ea typeface="Bricolage Grotesque"/>
                <a:cs typeface="Bricolage Grotesque"/>
                <a:sym typeface="Bricolage Grotesque"/>
              </a:rPr>
              <a:t>keşif ve karşılaştırma niyetiyle</a:t>
            </a:r>
            <a:r>
              <a:rPr lang="en-US" sz="2300">
                <a:solidFill>
                  <a:schemeClr val="dk1"/>
                </a:solidFill>
                <a:latin typeface="Bricolage Grotesque"/>
                <a:ea typeface="Bricolage Grotesque"/>
                <a:cs typeface="Bricolage Grotesque"/>
                <a:sym typeface="Bricolage Grotesque"/>
              </a:rPr>
              <a:t> büyüyerek üst huniyi beslemiştir.</a:t>
            </a:r>
            <a:br>
              <a:rPr lang="en-US" sz="2300">
                <a:solidFill>
                  <a:schemeClr val="dk1"/>
                </a:solidFill>
                <a:latin typeface="Bricolage Grotesque"/>
                <a:ea typeface="Bricolage Grotesque"/>
                <a:cs typeface="Bricolage Grotesque"/>
                <a:sym typeface="Bricolage Grotesque"/>
              </a:rPr>
            </a:br>
            <a:endParaRPr sz="23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lang="en-US" sz="2300">
                <a:solidFill>
                  <a:schemeClr val="dk1"/>
                </a:solidFill>
                <a:latin typeface="Bricolage Grotesque"/>
                <a:ea typeface="Bricolage Grotesque"/>
                <a:cs typeface="Bricolage Grotesque"/>
                <a:sym typeface="Bricolage Grotesque"/>
              </a:rPr>
              <a:t>Marka sayfaları ve marka jenerik aramalar</a:t>
            </a:r>
            <a:r>
              <a:rPr lang="en-US" sz="2300">
                <a:solidFill>
                  <a:schemeClr val="dk1"/>
                </a:solidFill>
                <a:latin typeface="Bricolage Grotesque"/>
                <a:ea typeface="Bricolage Grotesque"/>
                <a:cs typeface="Bricolage Grotesque"/>
                <a:sym typeface="Bricolage Grotesque"/>
              </a:rPr>
              <a:t>, artan görünürlükle birlikte Pasaj’ın </a:t>
            </a:r>
            <a:r>
              <a:rPr b="1" lang="en-US" sz="2300">
                <a:solidFill>
                  <a:schemeClr val="dk1"/>
                </a:solidFill>
                <a:latin typeface="Bricolage Grotesque"/>
                <a:ea typeface="Bricolage Grotesque"/>
                <a:cs typeface="Bricolage Grotesque"/>
                <a:sym typeface="Bricolage Grotesque"/>
              </a:rPr>
              <a:t>marka güveni ve tercih edilen pazar yeri algısını</a:t>
            </a:r>
            <a:r>
              <a:rPr lang="en-US" sz="2300">
                <a:solidFill>
                  <a:schemeClr val="dk1"/>
                </a:solidFill>
                <a:latin typeface="Bricolage Grotesque"/>
                <a:ea typeface="Bricolage Grotesque"/>
                <a:cs typeface="Bricolage Grotesque"/>
                <a:sym typeface="Bricolage Grotesque"/>
              </a:rPr>
              <a:t> desteklemiştir.</a:t>
            </a:r>
            <a:endParaRPr sz="23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t/>
            </a:r>
            <a:endParaRPr sz="23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300">
                <a:solidFill>
                  <a:schemeClr val="dk1"/>
                </a:solidFill>
                <a:latin typeface="Bricolage Grotesque"/>
                <a:ea typeface="Bricolage Grotesque"/>
                <a:cs typeface="Bricolage Grotesque"/>
                <a:sym typeface="Bricolage Grotesque"/>
              </a:rPr>
              <a:t>Özetle, bu artışın lokomotifinin nonbranded click’ler olduğunu söyleyebiliriz.</a:t>
            </a:r>
            <a:endParaRPr sz="2300">
              <a:solidFill>
                <a:schemeClr val="dk1"/>
              </a:solidFill>
              <a:latin typeface="Bricolage Grotesque"/>
              <a:ea typeface="Bricolage Grotesque"/>
              <a:cs typeface="Bricolage Grotesque"/>
              <a:sym typeface="Bricolage Grotesque"/>
            </a:endParaRPr>
          </a:p>
        </p:txBody>
      </p:sp>
      <p:pic>
        <p:nvPicPr>
          <p:cNvPr id="510" name="Google Shape;510;g3c33024ce86_0_241" title="Chart"/>
          <p:cNvPicPr preferRelativeResize="0"/>
          <p:nvPr/>
        </p:nvPicPr>
        <p:blipFill rotWithShape="1">
          <a:blip r:embed="rId6">
            <a:alphaModFix/>
          </a:blip>
          <a:srcRect b="7424" l="0" r="0" t="0"/>
          <a:stretch/>
        </p:blipFill>
        <p:spPr>
          <a:xfrm>
            <a:off x="4878388" y="2541750"/>
            <a:ext cx="14630400" cy="6090987"/>
          </a:xfrm>
          <a:prstGeom prst="rect">
            <a:avLst/>
          </a:prstGeom>
          <a:noFill/>
          <a:ln>
            <a:noFill/>
          </a:ln>
        </p:spPr>
      </p:pic>
      <p:sp>
        <p:nvSpPr>
          <p:cNvPr id="511" name="Google Shape;511;g3c33024ce86_0_241"/>
          <p:cNvSpPr/>
          <p:nvPr/>
        </p:nvSpPr>
        <p:spPr>
          <a:xfrm>
            <a:off x="18410700" y="9749450"/>
            <a:ext cx="5486400" cy="2198700"/>
          </a:xfrm>
          <a:prstGeom prst="wedgeRectCallout">
            <a:avLst>
              <a:gd fmla="val -20833" name="adj1"/>
              <a:gd fmla="val 625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Bricolage Grotesque"/>
                <a:ea typeface="Bricolage Grotesque"/>
                <a:cs typeface="Bricolage Grotesque"/>
                <a:sym typeface="Bricolage Grotesque"/>
              </a:rPr>
              <a:t>H2’yi en çok etkileyen sorgular:</a:t>
            </a:r>
            <a:endParaRPr sz="20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t/>
            </a:r>
            <a:endParaRPr sz="2000">
              <a:solidFill>
                <a:schemeClr val="dk1"/>
              </a:solidFill>
              <a:latin typeface="Bricolage Grotesque"/>
              <a:ea typeface="Bricolage Grotesque"/>
              <a:cs typeface="Bricolage Grotesque"/>
              <a:sym typeface="Bricolage Grotesque"/>
            </a:endParaRPr>
          </a:p>
          <a:p>
            <a:pPr indent="-355600" lvl="0" marL="457200" rtl="0" algn="l">
              <a:spcBef>
                <a:spcPts val="0"/>
              </a:spcBef>
              <a:spcAft>
                <a:spcPts val="0"/>
              </a:spcAft>
              <a:buClr>
                <a:schemeClr val="dk1"/>
              </a:buClr>
              <a:buSzPts val="2000"/>
              <a:buFont typeface="Bricolage Grotesque"/>
              <a:buChar char="●"/>
            </a:pPr>
            <a:r>
              <a:rPr lang="en-US" sz="2000">
                <a:solidFill>
                  <a:schemeClr val="dk1"/>
                </a:solidFill>
                <a:latin typeface="Bricolage Grotesque"/>
                <a:ea typeface="Bricolage Grotesque"/>
                <a:cs typeface="Bricolage Grotesque"/>
                <a:sym typeface="Bricolage Grotesque"/>
              </a:rPr>
              <a:t>Yeni iPhone lansman sorguları</a:t>
            </a:r>
            <a:endParaRPr sz="2000">
              <a:solidFill>
                <a:schemeClr val="dk1"/>
              </a:solidFill>
              <a:latin typeface="Bricolage Grotesque"/>
              <a:ea typeface="Bricolage Grotesque"/>
              <a:cs typeface="Bricolage Grotesque"/>
              <a:sym typeface="Bricolage Grotesque"/>
            </a:endParaRPr>
          </a:p>
          <a:p>
            <a:pPr indent="-355600" lvl="0" marL="457200" rtl="0" algn="l">
              <a:spcBef>
                <a:spcPts val="0"/>
              </a:spcBef>
              <a:spcAft>
                <a:spcPts val="0"/>
              </a:spcAft>
              <a:buClr>
                <a:schemeClr val="dk1"/>
              </a:buClr>
              <a:buSzPts val="2000"/>
              <a:buFont typeface="Bricolage Grotesque"/>
              <a:buChar char="●"/>
            </a:pPr>
            <a:r>
              <a:rPr lang="en-US" sz="2000">
                <a:solidFill>
                  <a:schemeClr val="dk1"/>
                </a:solidFill>
                <a:latin typeface="Bricolage Grotesque"/>
                <a:ea typeface="Bricolage Grotesque"/>
                <a:cs typeface="Bricolage Grotesque"/>
                <a:sym typeface="Bricolage Grotesque"/>
              </a:rPr>
              <a:t>Trade-in &amp; yenilenmiş telefon aramaları</a:t>
            </a:r>
            <a:endParaRPr sz="2000">
              <a:solidFill>
                <a:schemeClr val="dk1"/>
              </a:solidFill>
              <a:latin typeface="Bricolage Grotesque"/>
              <a:ea typeface="Bricolage Grotesque"/>
              <a:cs typeface="Bricolage Grotesque"/>
              <a:sym typeface="Bricolage Grotesque"/>
            </a:endParaRPr>
          </a:p>
          <a:p>
            <a:pPr indent="-355600" lvl="0" marL="457200" rtl="0" algn="l">
              <a:spcBef>
                <a:spcPts val="0"/>
              </a:spcBef>
              <a:spcAft>
                <a:spcPts val="0"/>
              </a:spcAft>
              <a:buClr>
                <a:schemeClr val="dk1"/>
              </a:buClr>
              <a:buSzPts val="2000"/>
              <a:buFont typeface="Bricolage Grotesque"/>
              <a:buChar char="●"/>
            </a:pPr>
            <a:r>
              <a:rPr lang="en-US" sz="2000">
                <a:solidFill>
                  <a:schemeClr val="dk1"/>
                </a:solidFill>
                <a:latin typeface="Bricolage Grotesque"/>
                <a:ea typeface="Bricolage Grotesque"/>
                <a:cs typeface="Bricolage Grotesque"/>
                <a:sym typeface="Bricolage Grotesque"/>
              </a:rPr>
              <a:t>PS5 ve yüksek fiyatlı elektronik ürünler</a:t>
            </a:r>
            <a:endParaRPr sz="2000">
              <a:solidFill>
                <a:schemeClr val="dk1"/>
              </a:solidFill>
              <a:latin typeface="Bricolage Grotesque"/>
              <a:ea typeface="Bricolage Grotesque"/>
              <a:cs typeface="Bricolage Grotesque"/>
              <a:sym typeface="Bricolage Grotesque"/>
            </a:endParaRPr>
          </a:p>
          <a:p>
            <a:pPr indent="-355600" lvl="0" marL="457200" rtl="0" algn="l">
              <a:spcBef>
                <a:spcPts val="0"/>
              </a:spcBef>
              <a:spcAft>
                <a:spcPts val="0"/>
              </a:spcAft>
              <a:buClr>
                <a:schemeClr val="dk1"/>
              </a:buClr>
              <a:buSzPts val="2000"/>
              <a:buFont typeface="Bricolage Grotesque"/>
              <a:buChar char="●"/>
            </a:pPr>
            <a:r>
              <a:rPr lang="en-US" sz="2000">
                <a:solidFill>
                  <a:schemeClr val="dk1"/>
                </a:solidFill>
                <a:latin typeface="Bricolage Grotesque"/>
                <a:ea typeface="Bricolage Grotesque"/>
                <a:cs typeface="Bricolage Grotesque"/>
                <a:sym typeface="Bricolage Grotesque"/>
              </a:rPr>
              <a:t>Faizsiz kredi &amp; taksitli alışveriş sorguları</a:t>
            </a:r>
            <a:endParaRPr sz="2000">
              <a:solidFill>
                <a:schemeClr val="dk1"/>
              </a:solidFill>
              <a:latin typeface="Bricolage Grotesque"/>
              <a:ea typeface="Bricolage Grotesque"/>
              <a:cs typeface="Bricolage Grotesque"/>
              <a:sym typeface="Bricolage Grotesque"/>
            </a:endParaRPr>
          </a:p>
        </p:txBody>
      </p:sp>
      <p:sp>
        <p:nvSpPr>
          <p:cNvPr id="512" name="Google Shape;512;g3c33024ce86_0_241"/>
          <p:cNvSpPr/>
          <p:nvPr/>
        </p:nvSpPr>
        <p:spPr>
          <a:xfrm>
            <a:off x="19857975" y="7521725"/>
            <a:ext cx="4327500" cy="2095800"/>
          </a:xfrm>
          <a:prstGeom prst="wedgeRectCallout">
            <a:avLst>
              <a:gd fmla="val -20833" name="adj1"/>
              <a:gd fmla="val 625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200">
                <a:solidFill>
                  <a:schemeClr val="dk1"/>
                </a:solidFill>
                <a:latin typeface="Bricolage Grotesque"/>
                <a:ea typeface="Bricolage Grotesque"/>
                <a:cs typeface="Bricolage Grotesque"/>
                <a:sym typeface="Bricolage Grotesque"/>
              </a:rPr>
              <a:t>Branded hacimde YoY </a:t>
            </a:r>
            <a:r>
              <a:rPr b="1" lang="en-US" sz="3200">
                <a:solidFill>
                  <a:srgbClr val="FF0000"/>
                </a:solidFill>
                <a:latin typeface="Bricolage Grotesque"/>
                <a:ea typeface="Bricolage Grotesque"/>
                <a:cs typeface="Bricolage Grotesque"/>
                <a:sym typeface="Bricolage Grotesque"/>
              </a:rPr>
              <a:t>%33 daralma</a:t>
            </a:r>
            <a:endParaRPr b="1" sz="3200">
              <a:solidFill>
                <a:srgbClr val="FF0000"/>
              </a:solidFill>
              <a:latin typeface="Bricolage Grotesque"/>
              <a:ea typeface="Bricolage Grotesque"/>
              <a:cs typeface="Bricolage Grotesque"/>
              <a:sym typeface="Bricolage Grotesq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17" name="Shape 517"/>
        <p:cNvGrpSpPr/>
        <p:nvPr/>
      </p:nvGrpSpPr>
      <p:grpSpPr>
        <a:xfrm>
          <a:off x="0" y="0"/>
          <a:ext cx="0" cy="0"/>
          <a:chOff x="0" y="0"/>
          <a:chExt cx="0" cy="0"/>
        </a:xfrm>
      </p:grpSpPr>
      <p:pic>
        <p:nvPicPr>
          <p:cNvPr descr=" " id="518" name="Google Shape;518;g3c33024ce86_0_253"/>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19" name="Google Shape;519;g3c33024ce86_0_253"/>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20" name="Google Shape;520;g3c33024ce86_0_253"/>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21" name="Google Shape;521;g3c33024ce86_0_253"/>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g3c33024ce86_0_253"/>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523" name="Google Shape;523;g3c33024ce86_0_253"/>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Pozisyon Aralığına Göre Kelime Sayısı Dağılımı</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pSp>
        <p:nvGrpSpPr>
          <p:cNvPr id="524" name="Google Shape;524;g3c33024ce86_0_253"/>
          <p:cNvGrpSpPr/>
          <p:nvPr/>
        </p:nvGrpSpPr>
        <p:grpSpPr>
          <a:xfrm>
            <a:off x="1371775" y="3414450"/>
            <a:ext cx="13893749" cy="4082900"/>
            <a:chOff x="801525" y="3047850"/>
            <a:chExt cx="13893749" cy="4082900"/>
          </a:xfrm>
        </p:grpSpPr>
        <p:pic>
          <p:nvPicPr>
            <p:cNvPr id="525" name="Google Shape;525;g3c33024ce86_0_253"/>
            <p:cNvPicPr preferRelativeResize="0"/>
            <p:nvPr/>
          </p:nvPicPr>
          <p:blipFill rotWithShape="1">
            <a:blip r:embed="rId6">
              <a:alphaModFix/>
            </a:blip>
            <a:srcRect b="0" l="0" r="94953" t="0"/>
            <a:stretch/>
          </p:blipFill>
          <p:spPr>
            <a:xfrm>
              <a:off x="801525" y="3047850"/>
              <a:ext cx="1149875" cy="4082900"/>
            </a:xfrm>
            <a:prstGeom prst="rect">
              <a:avLst/>
            </a:prstGeom>
            <a:noFill/>
            <a:ln>
              <a:noFill/>
            </a:ln>
          </p:spPr>
        </p:pic>
        <p:pic>
          <p:nvPicPr>
            <p:cNvPr id="526" name="Google Shape;526;g3c33024ce86_0_253"/>
            <p:cNvPicPr preferRelativeResize="0"/>
            <p:nvPr/>
          </p:nvPicPr>
          <p:blipFill rotWithShape="1">
            <a:blip r:embed="rId6">
              <a:alphaModFix/>
            </a:blip>
            <a:srcRect b="0" l="44065" r="0" t="0"/>
            <a:stretch/>
          </p:blipFill>
          <p:spPr>
            <a:xfrm>
              <a:off x="1951399" y="3047850"/>
              <a:ext cx="12743875" cy="4082900"/>
            </a:xfrm>
            <a:prstGeom prst="rect">
              <a:avLst/>
            </a:prstGeom>
            <a:noFill/>
            <a:ln>
              <a:noFill/>
            </a:ln>
          </p:spPr>
        </p:pic>
        <p:pic>
          <p:nvPicPr>
            <p:cNvPr id="527" name="Google Shape;527;g3c33024ce86_0_253"/>
            <p:cNvPicPr preferRelativeResize="0"/>
            <p:nvPr/>
          </p:nvPicPr>
          <p:blipFill rotWithShape="1">
            <a:blip r:embed="rId6">
              <a:alphaModFix/>
            </a:blip>
            <a:srcRect b="78950" l="0" r="65561" t="0"/>
            <a:stretch/>
          </p:blipFill>
          <p:spPr>
            <a:xfrm>
              <a:off x="801525" y="3047850"/>
              <a:ext cx="7846477" cy="859450"/>
            </a:xfrm>
            <a:prstGeom prst="rect">
              <a:avLst/>
            </a:prstGeom>
            <a:noFill/>
            <a:ln>
              <a:noFill/>
            </a:ln>
          </p:spPr>
        </p:pic>
      </p:grpSp>
      <p:sp>
        <p:nvSpPr>
          <p:cNvPr id="528" name="Google Shape;528;g3c33024ce86_0_253"/>
          <p:cNvSpPr/>
          <p:nvPr/>
        </p:nvSpPr>
        <p:spPr>
          <a:xfrm>
            <a:off x="19750875" y="5086450"/>
            <a:ext cx="965400" cy="738900"/>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g3c33024ce86_0_253"/>
          <p:cNvSpPr/>
          <p:nvPr/>
        </p:nvSpPr>
        <p:spPr>
          <a:xfrm>
            <a:off x="1240125" y="3234400"/>
            <a:ext cx="13997100" cy="44430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0" name="Google Shape;530;g3c33024ce86_0_253"/>
          <p:cNvPicPr preferRelativeResize="0"/>
          <p:nvPr/>
        </p:nvPicPr>
        <p:blipFill>
          <a:blip r:embed="rId7">
            <a:alphaModFix/>
          </a:blip>
          <a:stretch>
            <a:fillRect/>
          </a:stretch>
        </p:blipFill>
        <p:spPr>
          <a:xfrm>
            <a:off x="16537550" y="4090700"/>
            <a:ext cx="2591925" cy="2753920"/>
          </a:xfrm>
          <a:prstGeom prst="rect">
            <a:avLst/>
          </a:prstGeom>
          <a:noFill/>
          <a:ln>
            <a:noFill/>
          </a:ln>
          <a:effectLst>
            <a:outerShdw blurRad="57150" rotWithShape="0" algn="bl" dir="5400000" dist="19050">
              <a:srgbClr val="000000">
                <a:alpha val="50000"/>
              </a:srgbClr>
            </a:outerShdw>
          </a:effectLst>
        </p:spPr>
      </p:pic>
      <p:pic>
        <p:nvPicPr>
          <p:cNvPr id="531" name="Google Shape;531;g3c33024ce86_0_253"/>
          <p:cNvPicPr preferRelativeResize="0"/>
          <p:nvPr/>
        </p:nvPicPr>
        <p:blipFill>
          <a:blip r:embed="rId8">
            <a:alphaModFix/>
          </a:blip>
          <a:stretch>
            <a:fillRect/>
          </a:stretch>
        </p:blipFill>
        <p:spPr>
          <a:xfrm>
            <a:off x="21075825" y="4090150"/>
            <a:ext cx="2591925" cy="2731490"/>
          </a:xfrm>
          <a:prstGeom prst="rect">
            <a:avLst/>
          </a:prstGeom>
          <a:noFill/>
          <a:ln>
            <a:noFill/>
          </a:ln>
          <a:effectLst>
            <a:outerShdw blurRad="57150" rotWithShape="0" algn="bl" dir="5400000" dist="19050">
              <a:srgbClr val="000000">
                <a:alpha val="50000"/>
              </a:srgbClr>
            </a:outerShdw>
          </a:effectLst>
        </p:spPr>
      </p:pic>
      <p:sp>
        <p:nvSpPr>
          <p:cNvPr id="532" name="Google Shape;532;g3c33024ce86_0_253"/>
          <p:cNvSpPr txBox="1"/>
          <p:nvPr/>
        </p:nvSpPr>
        <p:spPr>
          <a:xfrm>
            <a:off x="1240125" y="8252700"/>
            <a:ext cx="15297300" cy="340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2025–2026 döneminde, iPhone ve telefon odaklı kampanya, ürün ve kategori varyasyonları ile Pasaj kapsamında açılan yeni sorgular, ilk sayfa görünürlüğünü (Top 10) belirgin şekilde artırmıştır. Özellikle model bazlı (iPhone 15, iPhone 14), fiyat, taksit, karşılaştırma ve stok odaklı aramaların kapsama alınmasıyla, Top 10 kelime sayısında (Top 3 + 4–10) anlamlı bir büyüme gerçekleşmiştir. Bu artış, yüksek ticari niyet taşıyan ve varyasyonlu telefon sorgularının Pasaj tarafından daha güçlü şekilde yakalandığını göstermektedir.</a:t>
            </a:r>
            <a:endParaRPr sz="2100">
              <a:solidFill>
                <a:schemeClr val="dk1"/>
              </a:solidFill>
              <a:latin typeface="Bricolage Grotesque"/>
              <a:ea typeface="Bricolage Grotesque"/>
              <a:cs typeface="Bricolage Grotesque"/>
              <a:sym typeface="Bricolage Grotesque"/>
            </a:endParaRPr>
          </a:p>
          <a:p>
            <a:pPr indent="0" lvl="0" marL="0" rtl="0" algn="l">
              <a:lnSpc>
                <a:spcPct val="100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Buna paralel olarak, toplam sıralanan kelime seti genişlemiş, SERP kapsamı telefon ve aksesuar odaklı yeni içeriklerle derinleşmiştir.</a:t>
            </a:r>
            <a:endParaRPr sz="2100">
              <a:solidFill>
                <a:schemeClr val="dk1"/>
              </a:solidFill>
              <a:latin typeface="Bricolage Grotesque"/>
              <a:ea typeface="Bricolage Grotesque"/>
              <a:cs typeface="Bricolage Grotesque"/>
              <a:sym typeface="Bricolage Grotesque"/>
            </a:endParaRPr>
          </a:p>
          <a:p>
            <a:pPr indent="0" lvl="0" marL="0" rtl="0" algn="l">
              <a:lnSpc>
                <a:spcPct val="100000"/>
              </a:lnSpc>
              <a:spcBef>
                <a:spcPts val="1200"/>
              </a:spcBef>
              <a:spcAft>
                <a:spcPts val="1200"/>
              </a:spcAft>
              <a:buNone/>
            </a:pPr>
            <a:r>
              <a:rPr lang="en-US" sz="2100">
                <a:solidFill>
                  <a:schemeClr val="dk1"/>
                </a:solidFill>
                <a:latin typeface="Bricolage Grotesque"/>
                <a:ea typeface="Bricolage Grotesque"/>
                <a:cs typeface="Bricolage Grotesque"/>
                <a:sym typeface="Bricolage Grotesque"/>
              </a:rPr>
              <a:t>Genel tablo, Pasaj’ın telefon kategorisinde ilk sayfa penetrasyonunu güçlendirdiğini ve özellikle Top 10’dan Top 3’e taşınabilecek iPhone ve telefon kelimeleri için optimizasyon potansiyelinin arttığını ortaya koymaktadır.</a:t>
            </a:r>
            <a:endParaRPr sz="2100">
              <a:solidFill>
                <a:schemeClr val="dk1"/>
              </a:solidFill>
              <a:latin typeface="Bricolage Grotesque"/>
              <a:ea typeface="Bricolage Grotesque"/>
              <a:cs typeface="Bricolage Grotesque"/>
              <a:sym typeface="Bricolage Grotesque"/>
            </a:endParaRPr>
          </a:p>
        </p:txBody>
      </p:sp>
      <p:sp>
        <p:nvSpPr>
          <p:cNvPr id="533" name="Google Shape;533;g3c33024ce86_0_253"/>
          <p:cNvSpPr/>
          <p:nvPr/>
        </p:nvSpPr>
        <p:spPr>
          <a:xfrm>
            <a:off x="17603875" y="8977225"/>
            <a:ext cx="5910000" cy="2415600"/>
          </a:xfrm>
          <a:prstGeom prst="wedgeRectCallout">
            <a:avLst>
              <a:gd fmla="val -20833" name="adj1"/>
              <a:gd fmla="val 625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600">
                <a:solidFill>
                  <a:schemeClr val="dk1"/>
                </a:solidFill>
                <a:latin typeface="Bricolage Grotesque"/>
                <a:ea typeface="Bricolage Grotesque"/>
                <a:cs typeface="Bricolage Grotesque"/>
                <a:sym typeface="Bricolage Grotesque"/>
              </a:rPr>
              <a:t>Fırsat Alanları:</a:t>
            </a:r>
            <a:endParaRPr b="1" sz="26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t/>
            </a:r>
            <a:endParaRPr sz="26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Clr>
                <a:schemeClr val="dk1"/>
              </a:buClr>
              <a:buSzPts val="1100"/>
              <a:buFont typeface="Arial"/>
              <a:buNone/>
            </a:pPr>
            <a:r>
              <a:rPr lang="en-US" sz="2600">
                <a:solidFill>
                  <a:schemeClr val="dk1"/>
                </a:solidFill>
                <a:latin typeface="Bricolage Grotesque"/>
                <a:ea typeface="Bricolage Grotesque"/>
                <a:cs typeface="Bricolage Grotesque"/>
                <a:sym typeface="Bricolage Grotesque"/>
              </a:rPr>
              <a:t>• Top3 için dijital ürünler ve aksesuar kategorileri</a:t>
            </a:r>
            <a:endParaRPr sz="26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600">
                <a:solidFill>
                  <a:schemeClr val="dk1"/>
                </a:solidFill>
                <a:latin typeface="Bricolage Grotesque"/>
                <a:ea typeface="Bricolage Grotesque"/>
                <a:cs typeface="Bricolage Grotesque"/>
                <a:sym typeface="Bricolage Grotesque"/>
              </a:rPr>
              <a:t>• İlk sayfa için bilgisayar sorguları</a:t>
            </a:r>
            <a:endParaRPr sz="2600">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38" name="Shape 538"/>
        <p:cNvGrpSpPr/>
        <p:nvPr/>
      </p:nvGrpSpPr>
      <p:grpSpPr>
        <a:xfrm>
          <a:off x="0" y="0"/>
          <a:ext cx="0" cy="0"/>
          <a:chOff x="0" y="0"/>
          <a:chExt cx="0" cy="0"/>
        </a:xfrm>
      </p:grpSpPr>
      <p:pic>
        <p:nvPicPr>
          <p:cNvPr descr=" " id="539" name="Google Shape;539;g3c881079c58_0_352"/>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40" name="Google Shape;540;g3c881079c58_0_352"/>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41" name="Google Shape;541;g3c881079c58_0_352"/>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42" name="Google Shape;542;g3c881079c58_0_352"/>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3c881079c58_0_352"/>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544" name="Google Shape;544;g3c881079c58_0_352"/>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Case Study</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545" name="Google Shape;545;g3c881079c58_0_352"/>
          <p:cNvSpPr txBox="1"/>
          <p:nvPr/>
        </p:nvSpPr>
        <p:spPr>
          <a:xfrm>
            <a:off x="1371775" y="2757550"/>
            <a:ext cx="21390300" cy="186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Bricolage Grotesque"/>
                <a:ea typeface="Bricolage Grotesque"/>
                <a:cs typeface="Bricolage Grotesque"/>
                <a:sym typeface="Bricolage Grotesque"/>
              </a:rPr>
              <a:t>Challenge</a:t>
            </a:r>
            <a:endParaRPr b="1" sz="23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t/>
            </a:r>
            <a:endParaRPr b="1" sz="23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100">
                <a:solidFill>
                  <a:schemeClr val="dk1"/>
                </a:solidFill>
                <a:latin typeface="Bricolage Grotesque"/>
                <a:ea typeface="Bricolage Grotesque"/>
                <a:cs typeface="Bricolage Grotesque"/>
                <a:sym typeface="Bricolage Grotesque"/>
              </a:rPr>
              <a:t>Turkcell Pasaj, güçlü rakiplerin domine ettiği rekabetçi kategorilerde organik görünürlük açısından sınırlı kalıyordu. Brand bilinirliği rakiplere kıyasla daha düşük seviyedeydi ve organik büyüme büyük ölçüde branded trafiğe dayanıyordu. Bununla birlikte, SEO performansını ölçeklemek ve organik trafiğin satışa etkisini daha güçlü hale getirmek için stratejik ve yapısal gelişim alanları bulunuyordu.</a:t>
            </a:r>
            <a:endParaRPr/>
          </a:p>
        </p:txBody>
      </p:sp>
      <p:sp>
        <p:nvSpPr>
          <p:cNvPr id="546" name="Google Shape;546;g3c881079c58_0_352"/>
          <p:cNvSpPr txBox="1"/>
          <p:nvPr/>
        </p:nvSpPr>
        <p:spPr>
          <a:xfrm>
            <a:off x="1371775" y="5419400"/>
            <a:ext cx="21390300" cy="250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Bricolage Grotesque"/>
                <a:ea typeface="Bricolage Grotesque"/>
                <a:cs typeface="Bricolage Grotesque"/>
                <a:sym typeface="Bricolage Grotesque"/>
              </a:rPr>
              <a:t>Solution</a:t>
            </a:r>
            <a:endParaRPr b="1" sz="23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t/>
            </a:r>
            <a:endParaRPr b="1" sz="2300">
              <a:solidFill>
                <a:schemeClr val="dk1"/>
              </a:solidFill>
              <a:latin typeface="Bricolage Grotesque"/>
              <a:ea typeface="Bricolage Grotesque"/>
              <a:cs typeface="Bricolage Grotesque"/>
              <a:sym typeface="Bricolage Grotesque"/>
            </a:endParaRPr>
          </a:p>
          <a:p>
            <a:pPr indent="-361950" lvl="0" marL="457200" rtl="0" algn="l">
              <a:spcBef>
                <a:spcPts val="0"/>
              </a:spcBef>
              <a:spcAft>
                <a:spcPts val="0"/>
              </a:spcAft>
              <a:buClr>
                <a:schemeClr val="dk1"/>
              </a:buClr>
              <a:buSzPts val="2100"/>
              <a:buFont typeface="Bricolage Grotesque"/>
              <a:buChar char="●"/>
            </a:pPr>
            <a:r>
              <a:rPr lang="en-US" sz="2100">
                <a:solidFill>
                  <a:schemeClr val="dk1"/>
                </a:solidFill>
                <a:latin typeface="Bricolage Grotesque"/>
                <a:ea typeface="Bricolage Grotesque"/>
                <a:cs typeface="Bricolage Grotesque"/>
                <a:sym typeface="Bricolage Grotesque"/>
              </a:rPr>
              <a:t>Teknik SEO altyapısının güçlendirilmesi</a:t>
            </a:r>
            <a:endParaRPr sz="2100">
              <a:solidFill>
                <a:schemeClr val="dk1"/>
              </a:solidFill>
              <a:latin typeface="Bricolage Grotesque"/>
              <a:ea typeface="Bricolage Grotesque"/>
              <a:cs typeface="Bricolage Grotesque"/>
              <a:sym typeface="Bricolage Grotesque"/>
            </a:endParaRPr>
          </a:p>
          <a:p>
            <a:pPr indent="-361950" lvl="0" marL="457200" rtl="0" algn="l">
              <a:spcBef>
                <a:spcPts val="0"/>
              </a:spcBef>
              <a:spcAft>
                <a:spcPts val="0"/>
              </a:spcAft>
              <a:buClr>
                <a:schemeClr val="dk1"/>
              </a:buClr>
              <a:buSzPts val="2100"/>
              <a:buFont typeface="Bricolage Grotesque"/>
              <a:buChar char="●"/>
            </a:pPr>
            <a:r>
              <a:rPr lang="en-US" sz="2100">
                <a:solidFill>
                  <a:schemeClr val="dk1"/>
                </a:solidFill>
                <a:latin typeface="Bricolage Grotesque"/>
                <a:ea typeface="Bricolage Grotesque"/>
                <a:cs typeface="Bricolage Grotesque"/>
                <a:sym typeface="Bricolage Grotesque"/>
              </a:rPr>
              <a:t>Kategori ve ticari sayfalarda stratejik optimizasyon</a:t>
            </a:r>
            <a:endParaRPr sz="2100">
              <a:solidFill>
                <a:schemeClr val="dk1"/>
              </a:solidFill>
              <a:latin typeface="Bricolage Grotesque"/>
              <a:ea typeface="Bricolage Grotesque"/>
              <a:cs typeface="Bricolage Grotesque"/>
              <a:sym typeface="Bricolage Grotesque"/>
            </a:endParaRPr>
          </a:p>
          <a:p>
            <a:pPr indent="-361950" lvl="0" marL="457200" rtl="0" algn="l">
              <a:spcBef>
                <a:spcPts val="0"/>
              </a:spcBef>
              <a:spcAft>
                <a:spcPts val="0"/>
              </a:spcAft>
              <a:buClr>
                <a:schemeClr val="dk1"/>
              </a:buClr>
              <a:buSzPts val="2100"/>
              <a:buFont typeface="Bricolage Grotesque"/>
              <a:buChar char="●"/>
            </a:pPr>
            <a:r>
              <a:rPr lang="en-US" sz="2100">
                <a:solidFill>
                  <a:schemeClr val="dk1"/>
                </a:solidFill>
                <a:latin typeface="Bricolage Grotesque"/>
                <a:ea typeface="Bricolage Grotesque"/>
                <a:cs typeface="Bricolage Grotesque"/>
                <a:sym typeface="Bricolage Grotesque"/>
              </a:rPr>
              <a:t>Non-brand görünürlüğü artırmaya yönelik keyword expansion</a:t>
            </a:r>
            <a:endParaRPr sz="2100">
              <a:solidFill>
                <a:schemeClr val="dk1"/>
              </a:solidFill>
              <a:latin typeface="Bricolage Grotesque"/>
              <a:ea typeface="Bricolage Grotesque"/>
              <a:cs typeface="Bricolage Grotesque"/>
              <a:sym typeface="Bricolage Grotesque"/>
            </a:endParaRPr>
          </a:p>
          <a:p>
            <a:pPr indent="-361950" lvl="0" marL="457200" rtl="0" algn="l">
              <a:spcBef>
                <a:spcPts val="0"/>
              </a:spcBef>
              <a:spcAft>
                <a:spcPts val="0"/>
              </a:spcAft>
              <a:buClr>
                <a:schemeClr val="dk1"/>
              </a:buClr>
              <a:buSzPts val="2100"/>
              <a:buFont typeface="Bricolage Grotesque"/>
              <a:buChar char="●"/>
            </a:pPr>
            <a:r>
              <a:rPr lang="en-US" sz="2100">
                <a:solidFill>
                  <a:schemeClr val="dk1"/>
                </a:solidFill>
                <a:latin typeface="Bricolage Grotesque"/>
                <a:ea typeface="Bricolage Grotesque"/>
                <a:cs typeface="Bricolage Grotesque"/>
                <a:sym typeface="Bricolage Grotesque"/>
              </a:rPr>
              <a:t>Ölçümleme yapısının daha sağlıklı kurgulanması</a:t>
            </a:r>
            <a:endParaRPr sz="21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t/>
            </a:r>
            <a:endParaRPr sz="2100">
              <a:solidFill>
                <a:schemeClr val="dk1"/>
              </a:solidFill>
              <a:latin typeface="Bricolage Grotesque"/>
              <a:ea typeface="Bricolage Grotesque"/>
              <a:cs typeface="Bricolage Grotesque"/>
              <a:sym typeface="Bricolage Grotesque"/>
            </a:endParaRPr>
          </a:p>
        </p:txBody>
      </p:sp>
      <p:sp>
        <p:nvSpPr>
          <p:cNvPr id="547" name="Google Shape;547;g3c881079c58_0_352"/>
          <p:cNvSpPr txBox="1"/>
          <p:nvPr/>
        </p:nvSpPr>
        <p:spPr>
          <a:xfrm>
            <a:off x="1371775" y="8497100"/>
            <a:ext cx="4520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300">
                <a:solidFill>
                  <a:schemeClr val="dk1"/>
                </a:solidFill>
                <a:latin typeface="Bricolage Grotesque"/>
                <a:ea typeface="Bricolage Grotesque"/>
                <a:cs typeface="Bricolage Grotesque"/>
                <a:sym typeface="Bricolage Grotesque"/>
              </a:rPr>
              <a:t>Y0Y 24’ - 25’  Results</a:t>
            </a:r>
            <a:endParaRPr/>
          </a:p>
        </p:txBody>
      </p:sp>
      <p:pic>
        <p:nvPicPr>
          <p:cNvPr id="548" name="Google Shape;548;g3c881079c58_0_352" title="image001 (2).png"/>
          <p:cNvPicPr preferRelativeResize="0"/>
          <p:nvPr/>
        </p:nvPicPr>
        <p:blipFill>
          <a:blip r:embed="rId6">
            <a:alphaModFix/>
          </a:blip>
          <a:stretch>
            <a:fillRect/>
          </a:stretch>
        </p:blipFill>
        <p:spPr>
          <a:xfrm>
            <a:off x="10964925" y="8727750"/>
            <a:ext cx="12933274" cy="2639700"/>
          </a:xfrm>
          <a:prstGeom prst="rect">
            <a:avLst/>
          </a:prstGeom>
          <a:noFill/>
          <a:ln>
            <a:noFill/>
          </a:ln>
          <a:effectLst>
            <a:outerShdw blurRad="57150" rotWithShape="0" algn="bl" dir="5400000" dist="19050">
              <a:srgbClr val="000000">
                <a:alpha val="50000"/>
              </a:srgbClr>
            </a:outerShdw>
          </a:effectLst>
        </p:spPr>
      </p:pic>
      <p:sp>
        <p:nvSpPr>
          <p:cNvPr id="549" name="Google Shape;549;g3c881079c58_0_352"/>
          <p:cNvSpPr txBox="1"/>
          <p:nvPr/>
        </p:nvSpPr>
        <p:spPr>
          <a:xfrm>
            <a:off x="1371775" y="9035900"/>
            <a:ext cx="10267800" cy="444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 </a:t>
            </a:r>
            <a:r>
              <a:rPr b="1" lang="en-US" sz="2100">
                <a:solidFill>
                  <a:schemeClr val="dk1"/>
                </a:solidFill>
                <a:latin typeface="Bricolage Grotesque"/>
                <a:ea typeface="Bricolage Grotesque"/>
                <a:cs typeface="Bricolage Grotesque"/>
                <a:sym typeface="Bricolage Grotesque"/>
              </a:rPr>
              <a:t>+65.7% Trafik Artışı </a:t>
            </a:r>
            <a:br>
              <a:rPr b="1" lang="en-US" sz="2100">
                <a:solidFill>
                  <a:schemeClr val="dk1"/>
                </a:solidFill>
                <a:latin typeface="Bricolage Grotesque"/>
                <a:ea typeface="Bricolage Grotesque"/>
                <a:cs typeface="Bricolage Grotesque"/>
                <a:sym typeface="Bricolage Grotesque"/>
              </a:rPr>
            </a:br>
            <a:r>
              <a:rPr lang="en-US" sz="2100">
                <a:solidFill>
                  <a:schemeClr val="dk1"/>
                </a:solidFill>
                <a:latin typeface="Bricolage Grotesque"/>
                <a:ea typeface="Bricolage Grotesque"/>
                <a:cs typeface="Bricolage Grotesque"/>
                <a:sym typeface="Bricolage Grotesque"/>
              </a:rPr>
              <a:t> (2.0M → 3.39M)</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 </a:t>
            </a:r>
            <a:r>
              <a:rPr b="1" lang="en-US" sz="2100">
                <a:solidFill>
                  <a:schemeClr val="dk1"/>
                </a:solidFill>
                <a:latin typeface="Bricolage Grotesque"/>
                <a:ea typeface="Bricolage Grotesque"/>
                <a:cs typeface="Bricolage Grotesque"/>
                <a:sym typeface="Bricolage Grotesque"/>
              </a:rPr>
              <a:t>+35.1% Satış Artışı</a:t>
            </a:r>
            <a:br>
              <a:rPr b="1" lang="en-US" sz="2100">
                <a:solidFill>
                  <a:schemeClr val="dk1"/>
                </a:solidFill>
                <a:latin typeface="Bricolage Grotesque"/>
                <a:ea typeface="Bricolage Grotesque"/>
                <a:cs typeface="Bricolage Grotesque"/>
                <a:sym typeface="Bricolage Grotesque"/>
              </a:rPr>
            </a:br>
            <a:r>
              <a:rPr lang="en-US" sz="2100">
                <a:solidFill>
                  <a:schemeClr val="dk1"/>
                </a:solidFill>
                <a:latin typeface="Bricolage Grotesque"/>
                <a:ea typeface="Bricolage Grotesque"/>
                <a:cs typeface="Bricolage Grotesque"/>
                <a:sym typeface="Bricolage Grotesque"/>
              </a:rPr>
              <a:t> (9,300 → 12,569 transactions)</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b="1" lang="en-US" sz="2300">
                <a:solidFill>
                  <a:schemeClr val="dk1"/>
                </a:solidFill>
                <a:latin typeface="Bricolage Grotesque"/>
                <a:ea typeface="Bricolage Grotesque"/>
                <a:cs typeface="Bricolage Grotesque"/>
                <a:sym typeface="Bricolage Grotesque"/>
              </a:rPr>
              <a:t>YoY 24’ - 25’ Q4 </a:t>
            </a:r>
            <a:r>
              <a:rPr b="1" lang="en-US" sz="2300">
                <a:solidFill>
                  <a:schemeClr val="dk1"/>
                </a:solidFill>
                <a:latin typeface="Bricolage Grotesque"/>
                <a:ea typeface="Bricolage Grotesque"/>
                <a:cs typeface="Bricolage Grotesque"/>
                <a:sym typeface="Bricolage Grotesque"/>
              </a:rPr>
              <a:t>Results</a:t>
            </a:r>
            <a:endParaRPr b="1"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 +56% Non-Brand Clicks</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100">
                <a:solidFill>
                  <a:schemeClr val="dk1"/>
                </a:solidFill>
                <a:latin typeface="Bricolage Grotesque"/>
                <a:ea typeface="Bricolage Grotesque"/>
                <a:cs typeface="Bricolage Grotesque"/>
                <a:sym typeface="Bricolage Grotesque"/>
              </a:rPr>
              <a:t>👀 +204% Non-Brand Impressions</a:t>
            </a:r>
            <a:endParaRPr sz="21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t/>
            </a:r>
            <a:endParaRPr sz="2100">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54" name="Shape 554"/>
        <p:cNvGrpSpPr/>
        <p:nvPr/>
      </p:nvGrpSpPr>
      <p:grpSpPr>
        <a:xfrm>
          <a:off x="0" y="0"/>
          <a:ext cx="0" cy="0"/>
          <a:chOff x="0" y="0"/>
          <a:chExt cx="0" cy="0"/>
        </a:xfrm>
      </p:grpSpPr>
      <p:pic>
        <p:nvPicPr>
          <p:cNvPr descr=" " id="555" name="Google Shape;555;g3c33024ce86_0_272"/>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56" name="Google Shape;556;g3c33024ce86_0_272"/>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57" name="Google Shape;557;g3c33024ce86_0_272"/>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58" name="Google Shape;558;g3c33024ce86_0_272"/>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3c33024ce86_0_272"/>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560" name="Google Shape;560;g3c33024ce86_0_272"/>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Anahtar Kelime Highlight’ları</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aphicFrame>
        <p:nvGraphicFramePr>
          <p:cNvPr id="561" name="Google Shape;561;g3c33024ce86_0_272"/>
          <p:cNvGraphicFramePr/>
          <p:nvPr/>
        </p:nvGraphicFramePr>
        <p:xfrm>
          <a:off x="941825" y="3215525"/>
          <a:ext cx="3000000" cy="3000000"/>
        </p:xfrm>
        <a:graphic>
          <a:graphicData uri="http://schemas.openxmlformats.org/drawingml/2006/table">
            <a:tbl>
              <a:tblPr>
                <a:noFill/>
                <a:tableStyleId>{941C18E8-B15E-492C-9B3D-6656E5B88652}</a:tableStyleId>
              </a:tblPr>
              <a:tblGrid>
                <a:gridCol w="4470200"/>
                <a:gridCol w="3244125"/>
                <a:gridCol w="1680275"/>
                <a:gridCol w="3088675"/>
                <a:gridCol w="1716600"/>
              </a:tblGrid>
              <a:tr h="200025">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Kelime</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Volume</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YoY</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Pozisyon</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Pozisyon Artışı</a:t>
                      </a:r>
                      <a:endParaRPr b="1" sz="24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iphone 13</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1.8M</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dyson</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823K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playstation 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368K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9</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ps5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301K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iphone 17 pro</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201K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New</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tablet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201K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bluetooth kulaklık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165K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jbl kulaklık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165K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5G telefonlar</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3.6</a:t>
                      </a:r>
                      <a:r>
                        <a:rPr lang="en-US" sz="2400">
                          <a:latin typeface="Bricolage Grotesque"/>
                          <a:ea typeface="Bricolage Grotesque"/>
                          <a:cs typeface="Bricolage Grotesque"/>
                          <a:sym typeface="Bricolage Grotesque"/>
                        </a:rPr>
                        <a:t>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latin typeface="Bricolage Grotesque"/>
                          <a:ea typeface="Bricolage Grotesque"/>
                          <a:cs typeface="Bricolage Grotesque"/>
                          <a:sym typeface="Bricolage Grotesque"/>
                        </a:rPr>
                        <a:t>21</a:t>
                      </a:r>
                      <a:r>
                        <a:rPr lang="en-US" sz="2400">
                          <a:solidFill>
                            <a:schemeClr val="dk1"/>
                          </a:solidFill>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dyson airwrap</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368</a:t>
                      </a:r>
                      <a:r>
                        <a:rPr lang="en-US" sz="2400">
                          <a:latin typeface="Bricolage Grotesque"/>
                          <a:ea typeface="Bricolage Grotesque"/>
                          <a:cs typeface="Bricolage Grotesque"/>
                          <a:sym typeface="Bricolage Grotesque"/>
                        </a:rPr>
                        <a:t>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US" sz="2400">
                          <a:solidFill>
                            <a:schemeClr val="dk1"/>
                          </a:solidFill>
                          <a:latin typeface="Bricolage Grotesque"/>
                          <a:ea typeface="Bricolage Grotesque"/>
                          <a:cs typeface="Bricolage Grotesque"/>
                          <a:sym typeface="Bricolage Grotesque"/>
                        </a:rPr>
                        <a:t>-45%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dyson airstrait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135K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9</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+9</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iphone 17 pro max</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550</a:t>
                      </a:r>
                      <a:r>
                        <a:rPr lang="en-US" sz="2400">
                          <a:latin typeface="Bricolage Grotesque"/>
                          <a:ea typeface="Bricolage Grotesque"/>
                          <a:cs typeface="Bricolage Grotesque"/>
                          <a:sym typeface="Bricolage Grotesque"/>
                        </a:rPr>
                        <a:t>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telefon fiyatları</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110K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-45%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lang="en-US" sz="2400">
                          <a:latin typeface="Bricolage Grotesque"/>
                          <a:ea typeface="Bricolage Grotesque"/>
                          <a:cs typeface="Bricolage Grotesque"/>
                          <a:sym typeface="Bricolage Grotesque"/>
                        </a:rPr>
                        <a:t>+12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562" name="Google Shape;562;g3c33024ce86_0_272"/>
          <p:cNvSpPr txBox="1"/>
          <p:nvPr/>
        </p:nvSpPr>
        <p:spPr>
          <a:xfrm>
            <a:off x="15380600" y="3174050"/>
            <a:ext cx="8840100" cy="838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latin typeface="Bricolage Grotesque"/>
                <a:ea typeface="Bricolage Grotesque"/>
                <a:cs typeface="Bricolage Grotesque"/>
                <a:sym typeface="Bricolage Grotesque"/>
              </a:rPr>
              <a:t>Telefon, teknoloji ve elektronik odaklı yüksek hacimli kelimelerde, </a:t>
            </a:r>
            <a:r>
              <a:rPr b="1" lang="en-US" sz="2000">
                <a:solidFill>
                  <a:schemeClr val="dk1"/>
                </a:solidFill>
                <a:latin typeface="Bricolage Grotesque"/>
                <a:ea typeface="Bricolage Grotesque"/>
                <a:cs typeface="Bricolage Grotesque"/>
                <a:sym typeface="Bricolage Grotesque"/>
              </a:rPr>
              <a:t>talep daralmasına rağmen Pasaj’ın sıralama kazanımları belirgin şekilde öne çıkmaktadır</a:t>
            </a:r>
            <a:r>
              <a:rPr lang="en-US" sz="2000">
                <a:solidFill>
                  <a:schemeClr val="dk1"/>
                </a:solidFill>
                <a:latin typeface="Bricolage Grotesque"/>
                <a:ea typeface="Bricolage Grotesque"/>
                <a:cs typeface="Bricolage Grotesque"/>
                <a:sym typeface="Bricolage Grotesque"/>
              </a:rPr>
              <a:t>. Özellikle </a:t>
            </a:r>
            <a:r>
              <a:rPr b="1" lang="en-US" sz="2000">
                <a:solidFill>
                  <a:schemeClr val="dk1"/>
                </a:solidFill>
                <a:latin typeface="Bricolage Grotesque"/>
                <a:ea typeface="Bricolage Grotesque"/>
                <a:cs typeface="Bricolage Grotesque"/>
                <a:sym typeface="Bricolage Grotesque"/>
              </a:rPr>
              <a:t>iPhone, telefon fiyatları, tablet, kulaklık ve robot süpürge</a:t>
            </a:r>
            <a:r>
              <a:rPr lang="en-US" sz="2000">
                <a:solidFill>
                  <a:schemeClr val="dk1"/>
                </a:solidFill>
                <a:latin typeface="Bricolage Grotesque"/>
                <a:ea typeface="Bricolage Grotesque"/>
                <a:cs typeface="Bricolage Grotesque"/>
                <a:sym typeface="Bricolage Grotesque"/>
              </a:rPr>
              <a:t> gibi ticari niyetli sorgularda, </a:t>
            </a:r>
            <a:r>
              <a:rPr b="1" lang="en-US" sz="2000">
                <a:solidFill>
                  <a:schemeClr val="dk1"/>
                </a:solidFill>
                <a:latin typeface="Bricolage Grotesque"/>
                <a:ea typeface="Bricolage Grotesque"/>
                <a:cs typeface="Bricolage Grotesque"/>
                <a:sym typeface="Bricolage Grotesque"/>
              </a:rPr>
              <a:t>Top 10 ve Top 5 bandına güçlü girişler</a:t>
            </a:r>
            <a:r>
              <a:rPr lang="en-US" sz="2000">
                <a:solidFill>
                  <a:schemeClr val="dk1"/>
                </a:solidFill>
                <a:latin typeface="Bricolage Grotesque"/>
                <a:ea typeface="Bricolage Grotesque"/>
                <a:cs typeface="Bricolage Grotesque"/>
                <a:sym typeface="Bricolage Grotesque"/>
              </a:rPr>
              <a:t> sağlanmıştır.</a:t>
            </a:r>
            <a:endParaRPr sz="20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latin typeface="Bricolage Grotesque"/>
                <a:ea typeface="Bricolage Grotesque"/>
                <a:cs typeface="Bricolage Grotesque"/>
                <a:sym typeface="Bricolage Grotesque"/>
              </a:rPr>
              <a:t>Tabloda görüldüğü üzere:</a:t>
            </a:r>
            <a:endParaRPr sz="2000">
              <a:solidFill>
                <a:schemeClr val="dk1"/>
              </a:solidFill>
              <a:latin typeface="Bricolage Grotesque"/>
              <a:ea typeface="Bricolage Grotesque"/>
              <a:cs typeface="Bricolage Grotesque"/>
              <a:sym typeface="Bricolage Grotesque"/>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latin typeface="Bricolage Grotesque"/>
                <a:ea typeface="Bricolage Grotesque"/>
                <a:cs typeface="Bricolage Grotesque"/>
                <a:sym typeface="Bricolage Grotesque"/>
              </a:rPr>
              <a:t>iPhone ve telefon odaklı kelimelerde</a:t>
            </a:r>
            <a:r>
              <a:rPr lang="en-US" sz="2000">
                <a:solidFill>
                  <a:schemeClr val="dk1"/>
                </a:solidFill>
                <a:latin typeface="Bricolage Grotesque"/>
                <a:ea typeface="Bricolage Grotesque"/>
                <a:cs typeface="Bricolage Grotesque"/>
                <a:sym typeface="Bricolage Grotesque"/>
              </a:rPr>
              <a:t>, kampanya, ürün ve kategori sayfalarının genişletilmesiyle </a:t>
            </a:r>
            <a:r>
              <a:rPr b="1" lang="en-US" sz="2000">
                <a:solidFill>
                  <a:schemeClr val="dk1"/>
                </a:solidFill>
                <a:latin typeface="Bricolage Grotesque"/>
                <a:ea typeface="Bricolage Grotesque"/>
                <a:cs typeface="Bricolage Grotesque"/>
                <a:sym typeface="Bricolage Grotesque"/>
              </a:rPr>
              <a:t>ilk sayfa penetrasyonu güçlenmiştir</a:t>
            </a:r>
            <a:r>
              <a:rPr lang="en-US" sz="2000">
                <a:solidFill>
                  <a:schemeClr val="dk1"/>
                </a:solidFill>
                <a:latin typeface="Bricolage Grotesque"/>
                <a:ea typeface="Bricolage Grotesque"/>
                <a:cs typeface="Bricolage Grotesque"/>
                <a:sym typeface="Bricolage Grotesque"/>
              </a:rPr>
              <a:t>.</a:t>
            </a:r>
            <a:endParaRPr sz="2000">
              <a:solidFill>
                <a:schemeClr val="dk1"/>
              </a:solidFill>
              <a:latin typeface="Bricolage Grotesque"/>
              <a:ea typeface="Bricolage Grotesque"/>
              <a:cs typeface="Bricolage Grotesque"/>
              <a:sym typeface="Bricolage Grotesque"/>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latin typeface="Bricolage Grotesque"/>
                <a:ea typeface="Bricolage Grotesque"/>
                <a:cs typeface="Bricolage Grotesque"/>
                <a:sym typeface="Bricolage Grotesque"/>
              </a:rPr>
              <a:t>Tablet, kulaklık ve robot süpürge</a:t>
            </a:r>
            <a:r>
              <a:rPr lang="en-US" sz="2000">
                <a:solidFill>
                  <a:schemeClr val="dk1"/>
                </a:solidFill>
                <a:latin typeface="Bricolage Grotesque"/>
                <a:ea typeface="Bricolage Grotesque"/>
                <a:cs typeface="Bricolage Grotesque"/>
                <a:sym typeface="Bricolage Grotesque"/>
              </a:rPr>
              <a:t> gibi rekabetin yoğun olduğu kategorilerde, bazı sorgularda </a:t>
            </a:r>
            <a:r>
              <a:rPr b="1" lang="en-US" sz="2000">
                <a:solidFill>
                  <a:schemeClr val="dk1"/>
                </a:solidFill>
                <a:latin typeface="Bricolage Grotesque"/>
                <a:ea typeface="Bricolage Grotesque"/>
                <a:cs typeface="Bricolage Grotesque"/>
                <a:sym typeface="Bricolage Grotesque"/>
              </a:rPr>
              <a:t>+30’un üzerinde pozisyon artışı</a:t>
            </a:r>
            <a:r>
              <a:rPr lang="en-US" sz="2000">
                <a:solidFill>
                  <a:schemeClr val="dk1"/>
                </a:solidFill>
                <a:latin typeface="Bricolage Grotesque"/>
                <a:ea typeface="Bricolage Grotesque"/>
                <a:cs typeface="Bricolage Grotesque"/>
                <a:sym typeface="Bricolage Grotesque"/>
              </a:rPr>
              <a:t> elde edilmiştir.</a:t>
            </a:r>
            <a:endParaRPr sz="2000">
              <a:solidFill>
                <a:schemeClr val="dk1"/>
              </a:solidFill>
              <a:latin typeface="Bricolage Grotesque"/>
              <a:ea typeface="Bricolage Grotesque"/>
              <a:cs typeface="Bricolage Grotesque"/>
              <a:sym typeface="Bricolage Grotesque"/>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Bricolage Grotesque"/>
                <a:ea typeface="Bricolage Grotesque"/>
                <a:cs typeface="Bricolage Grotesque"/>
                <a:sym typeface="Bricolage Grotesque"/>
              </a:rPr>
              <a:t>Birçok kelimede YoY hacim düşüşü yaşanmasına rağmen, </a:t>
            </a:r>
            <a:r>
              <a:rPr b="1" lang="en-US" sz="2000">
                <a:solidFill>
                  <a:schemeClr val="dk1"/>
                </a:solidFill>
                <a:latin typeface="Bricolage Grotesque"/>
                <a:ea typeface="Bricolage Grotesque"/>
                <a:cs typeface="Bricolage Grotesque"/>
                <a:sym typeface="Bricolage Grotesque"/>
              </a:rPr>
              <a:t>pozisyon kazanımları sayesinde görünürlük ve trafik korunmuş</a:t>
            </a:r>
            <a:r>
              <a:rPr lang="en-US" sz="2000">
                <a:solidFill>
                  <a:schemeClr val="dk1"/>
                </a:solidFill>
                <a:latin typeface="Bricolage Grotesque"/>
                <a:ea typeface="Bricolage Grotesque"/>
                <a:cs typeface="Bricolage Grotesque"/>
                <a:sym typeface="Bricolage Grotesque"/>
              </a:rPr>
              <a:t>, hatta artırılmıştır.</a:t>
            </a:r>
            <a:endParaRPr sz="2000">
              <a:solidFill>
                <a:schemeClr val="dk1"/>
              </a:solidFill>
              <a:latin typeface="Bricolage Grotesque"/>
              <a:ea typeface="Bricolage Grotesque"/>
              <a:cs typeface="Bricolage Grotesque"/>
              <a:sym typeface="Bricolage Grotesque"/>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latin typeface="Bricolage Grotesque"/>
                <a:ea typeface="Bricolage Grotesque"/>
                <a:cs typeface="Bricolage Grotesque"/>
                <a:sym typeface="Bricolage Grotesque"/>
              </a:rPr>
              <a:t>Özellikle </a:t>
            </a:r>
            <a:r>
              <a:rPr b="1" lang="en-US" sz="2000">
                <a:solidFill>
                  <a:schemeClr val="dk1"/>
                </a:solidFill>
                <a:latin typeface="Bricolage Grotesque"/>
                <a:ea typeface="Bricolage Grotesque"/>
                <a:cs typeface="Bricolage Grotesque"/>
                <a:sym typeface="Bricolage Grotesque"/>
              </a:rPr>
              <a:t>model bazlı ve varyasyonlu sorguların</a:t>
            </a:r>
            <a:r>
              <a:rPr lang="en-US" sz="2000">
                <a:solidFill>
                  <a:schemeClr val="dk1"/>
                </a:solidFill>
                <a:latin typeface="Bricolage Grotesque"/>
                <a:ea typeface="Bricolage Grotesque"/>
                <a:cs typeface="Bricolage Grotesque"/>
                <a:sym typeface="Bricolage Grotesque"/>
              </a:rPr>
              <a:t> (iphone 13, iphone 17 pro, dyson, ps5 vb.) öne çıkması, Pasaj’ın </a:t>
            </a:r>
            <a:r>
              <a:rPr b="1" lang="en-US" sz="2000">
                <a:solidFill>
                  <a:schemeClr val="dk1"/>
                </a:solidFill>
                <a:latin typeface="Bricolage Grotesque"/>
                <a:ea typeface="Bricolage Grotesque"/>
                <a:cs typeface="Bricolage Grotesque"/>
                <a:sym typeface="Bricolage Grotesque"/>
              </a:rPr>
              <a:t>niyet bazlı aramalarda daha güçlü yakalama sağladığını</a:t>
            </a:r>
            <a:r>
              <a:rPr lang="en-US" sz="2000">
                <a:solidFill>
                  <a:schemeClr val="dk1"/>
                </a:solidFill>
                <a:latin typeface="Bricolage Grotesque"/>
                <a:ea typeface="Bricolage Grotesque"/>
                <a:cs typeface="Bricolage Grotesque"/>
                <a:sym typeface="Bricolage Grotesque"/>
              </a:rPr>
              <a:t> göstermektedir.</a:t>
            </a:r>
            <a:br>
              <a:rPr lang="en-US" sz="2000">
                <a:solidFill>
                  <a:schemeClr val="dk1"/>
                </a:solidFill>
                <a:latin typeface="Bricolage Grotesque"/>
                <a:ea typeface="Bricolage Grotesque"/>
                <a:cs typeface="Bricolage Grotesque"/>
                <a:sym typeface="Bricolage Grotesque"/>
              </a:rPr>
            </a:br>
            <a:endParaRPr sz="20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000">
                <a:solidFill>
                  <a:schemeClr val="dk1"/>
                </a:solidFill>
                <a:latin typeface="Bricolage Grotesque"/>
                <a:ea typeface="Bricolage Grotesque"/>
                <a:cs typeface="Bricolage Grotesque"/>
                <a:sym typeface="Bricolage Grotesque"/>
              </a:rPr>
              <a:t>Genel tablo, Pasaj’ın </a:t>
            </a:r>
            <a:r>
              <a:rPr b="1" lang="en-US" sz="2000">
                <a:solidFill>
                  <a:schemeClr val="dk1"/>
                </a:solidFill>
                <a:latin typeface="Bricolage Grotesque"/>
                <a:ea typeface="Bricolage Grotesque"/>
                <a:cs typeface="Bricolage Grotesque"/>
                <a:sym typeface="Bricolage Grotesque"/>
              </a:rPr>
              <a:t>yüksek hacimli ve stratejik ürün kelimelerinde SEO anlamında net bir recovery ve büyüme fazına girdiğini</a:t>
            </a:r>
            <a:r>
              <a:rPr lang="en-US" sz="2000">
                <a:solidFill>
                  <a:schemeClr val="dk1"/>
                </a:solidFill>
                <a:latin typeface="Bricolage Grotesque"/>
                <a:ea typeface="Bricolage Grotesque"/>
                <a:cs typeface="Bricolage Grotesque"/>
                <a:sym typeface="Bricolage Grotesque"/>
              </a:rPr>
              <a:t>, önümüzdeki dönemde </a:t>
            </a:r>
            <a:r>
              <a:rPr b="1" lang="en-US" sz="2000">
                <a:solidFill>
                  <a:schemeClr val="dk1"/>
                </a:solidFill>
                <a:latin typeface="Bricolage Grotesque"/>
                <a:ea typeface="Bricolage Grotesque"/>
                <a:cs typeface="Bricolage Grotesque"/>
                <a:sym typeface="Bricolage Grotesque"/>
              </a:rPr>
              <a:t>Top 3’e taşınabilecek güçlü bir kelime havuzu oluştuğunu</a:t>
            </a:r>
            <a:r>
              <a:rPr lang="en-US" sz="2000">
                <a:solidFill>
                  <a:schemeClr val="dk1"/>
                </a:solidFill>
                <a:latin typeface="Bricolage Grotesque"/>
                <a:ea typeface="Bricolage Grotesque"/>
                <a:cs typeface="Bricolage Grotesque"/>
                <a:sym typeface="Bricolage Grotesque"/>
              </a:rPr>
              <a:t> ortaya koymaktadır.</a:t>
            </a:r>
            <a:endParaRPr b="1" sz="2000">
              <a:solidFill>
                <a:schemeClr val="dk1"/>
              </a:solidFill>
              <a:latin typeface="Bricolage Grotesque"/>
              <a:ea typeface="Bricolage Grotesque"/>
              <a:cs typeface="Bricolage Grotesque"/>
              <a:sym typeface="Bricolage Grotesque"/>
            </a:endParaRPr>
          </a:p>
        </p:txBody>
      </p:sp>
      <p:sp>
        <p:nvSpPr>
          <p:cNvPr id="563" name="Google Shape;563;g3c33024ce86_0_272"/>
          <p:cNvSpPr/>
          <p:nvPr/>
        </p:nvSpPr>
        <p:spPr>
          <a:xfrm>
            <a:off x="12952450" y="1219200"/>
            <a:ext cx="6192300" cy="1608000"/>
          </a:xfrm>
          <a:prstGeom prst="wedgeRectCallout">
            <a:avLst>
              <a:gd fmla="val -20833" name="adj1"/>
              <a:gd fmla="val 625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700">
                <a:solidFill>
                  <a:schemeClr val="dk1"/>
                </a:solidFill>
                <a:latin typeface="Bricolage Grotesque"/>
                <a:ea typeface="Bricolage Grotesque"/>
                <a:cs typeface="Bricolage Grotesque"/>
                <a:sym typeface="Bricolage Grotesque"/>
              </a:rPr>
              <a:t>Toplam hacimde</a:t>
            </a:r>
            <a:r>
              <a:rPr lang="en-US" sz="2700">
                <a:solidFill>
                  <a:schemeClr val="dk1"/>
                </a:solidFill>
                <a:latin typeface="Bricolage Grotesque"/>
                <a:ea typeface="Bricolage Grotesque"/>
                <a:cs typeface="Bricolage Grotesque"/>
                <a:sym typeface="Bricolage Grotesque"/>
              </a:rPr>
              <a:t> YoY </a:t>
            </a:r>
            <a:r>
              <a:rPr b="1" lang="en-US" sz="2700">
                <a:solidFill>
                  <a:srgbClr val="FF0000"/>
                </a:solidFill>
                <a:latin typeface="Bricolage Grotesque"/>
                <a:ea typeface="Bricolage Grotesque"/>
                <a:cs typeface="Bricolage Grotesque"/>
                <a:sym typeface="Bricolage Grotesque"/>
              </a:rPr>
              <a:t>%15 daralma</a:t>
            </a:r>
            <a:endParaRPr b="1" sz="2700">
              <a:solidFill>
                <a:srgbClr val="FF0000"/>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700">
                <a:solidFill>
                  <a:schemeClr val="dk1"/>
                </a:solidFill>
                <a:latin typeface="Bricolage Grotesque"/>
                <a:ea typeface="Bricolage Grotesque"/>
                <a:cs typeface="Bricolage Grotesque"/>
                <a:sym typeface="Bricolage Grotesque"/>
              </a:rPr>
              <a:t>Ortalama pozisyonda</a:t>
            </a:r>
            <a:r>
              <a:rPr b="1" lang="en-US" sz="2700">
                <a:solidFill>
                  <a:srgbClr val="FF0000"/>
                </a:solidFill>
                <a:latin typeface="Bricolage Grotesque"/>
                <a:ea typeface="Bricolage Grotesque"/>
                <a:cs typeface="Bricolage Grotesque"/>
                <a:sym typeface="Bricolage Grotesque"/>
              </a:rPr>
              <a:t> </a:t>
            </a:r>
            <a:r>
              <a:rPr b="1" lang="en-US" sz="2700">
                <a:solidFill>
                  <a:schemeClr val="accent6"/>
                </a:solidFill>
                <a:latin typeface="Bricolage Grotesque"/>
                <a:ea typeface="Bricolage Grotesque"/>
                <a:cs typeface="Bricolage Grotesque"/>
                <a:sym typeface="Bricolage Grotesque"/>
              </a:rPr>
              <a:t>%17.2 iyileşme</a:t>
            </a:r>
            <a:endParaRPr b="1" sz="2700">
              <a:solidFill>
                <a:schemeClr val="accent6"/>
              </a:solidFill>
              <a:latin typeface="Bricolage Grotesque"/>
              <a:ea typeface="Bricolage Grotesque"/>
              <a:cs typeface="Bricolage Grotesque"/>
              <a:sym typeface="Bricolage Grotesq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68" name="Shape 568"/>
        <p:cNvGrpSpPr/>
        <p:nvPr/>
      </p:nvGrpSpPr>
      <p:grpSpPr>
        <a:xfrm>
          <a:off x="0" y="0"/>
          <a:ext cx="0" cy="0"/>
          <a:chOff x="0" y="0"/>
          <a:chExt cx="0" cy="0"/>
        </a:xfrm>
      </p:grpSpPr>
      <p:pic>
        <p:nvPicPr>
          <p:cNvPr descr=" " id="569" name="Google Shape;569;g3c33024ce86_0_29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70" name="Google Shape;570;g3c33024ce86_0_29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71" name="Google Shape;571;g3c33024ce86_0_29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72" name="Google Shape;572;g3c33024ce86_0_29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3c33024ce86_0_29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574" name="Google Shape;574;g3c33024ce86_0_29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Neler Yaptık?</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575" name="Google Shape;575;g3c33024ce86_0_298"/>
          <p:cNvSpPr txBox="1"/>
          <p:nvPr/>
        </p:nvSpPr>
        <p:spPr>
          <a:xfrm>
            <a:off x="1371775" y="2658325"/>
            <a:ext cx="21454800" cy="9563400"/>
          </a:xfrm>
          <a:prstGeom prst="rect">
            <a:avLst/>
          </a:prstGeom>
          <a:noFill/>
          <a:ln>
            <a:noFill/>
          </a:ln>
        </p:spPr>
        <p:txBody>
          <a:bodyPr anchorCtr="0" anchor="t" bIns="91425" lIns="91425" spcFirstLastPara="1" rIns="91425" wrap="square" tIns="91425">
            <a:noAutofit/>
          </a:bodyPr>
          <a:lstStyle/>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Meta tag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Heading tag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Blog için teknik &amp; içerik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Schema markup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Backlink çalışması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Sitemap &amp; Robots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Rakip analizi &amp; alternatif trafik kaynaklarının çalışılması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Crawl’dan çıkan teknik SEO projeleri - Squad Backlog</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Non 200 internal link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Site hızı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Llm.txt optimzayonları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5G odaklı sayfa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Sayfa tipine göre internal link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Ürün çoklama gibi kopya sayfa tekilleştirmeleri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AI kw modelleme çalışmaları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CTR odaklı meta tag güncellemeleri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Karşılaştır content çalışmaları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Yönlendirme zinciri analizleri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Yeni kategori ağacı çalışmaları</a:t>
            </a:r>
            <a:endParaRPr sz="3100">
              <a:latin typeface="Bricolage Grotesque"/>
              <a:ea typeface="Bricolage Grotesque"/>
              <a:cs typeface="Bricolage Grotesque"/>
              <a:sym typeface="Bricolage Grotesq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80" name="Shape 580"/>
        <p:cNvGrpSpPr/>
        <p:nvPr/>
      </p:nvGrpSpPr>
      <p:grpSpPr>
        <a:xfrm>
          <a:off x="0" y="0"/>
          <a:ext cx="0" cy="0"/>
          <a:chOff x="0" y="0"/>
          <a:chExt cx="0" cy="0"/>
        </a:xfrm>
      </p:grpSpPr>
      <p:pic>
        <p:nvPicPr>
          <p:cNvPr descr=" " id="581" name="Google Shape;581;g3c33024ce86_0_30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82" name="Google Shape;582;g3c33024ce86_0_30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83" name="Google Shape;583;g3c33024ce86_0_30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84" name="Google Shape;584;g3c33024ce86_0_30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g3c33024ce86_0_30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586" name="Google Shape;586;g3c33024ce86_0_30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Rakiplerle Kıyaslama / Rakiplerin Güç Kazandığı Yerler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587" name="Google Shape;587;g3c33024ce86_0_308"/>
          <p:cNvPicPr preferRelativeResize="0"/>
          <p:nvPr/>
        </p:nvPicPr>
        <p:blipFill>
          <a:blip r:embed="rId6">
            <a:alphaModFix/>
          </a:blip>
          <a:stretch>
            <a:fillRect/>
          </a:stretch>
        </p:blipFill>
        <p:spPr>
          <a:xfrm>
            <a:off x="1581600" y="2658325"/>
            <a:ext cx="7375139" cy="10461925"/>
          </a:xfrm>
          <a:prstGeom prst="rect">
            <a:avLst/>
          </a:prstGeom>
          <a:noFill/>
          <a:ln>
            <a:noFill/>
          </a:ln>
          <a:effectLst>
            <a:outerShdw blurRad="57150" rotWithShape="0" algn="bl" dir="5400000" dist="19050">
              <a:srgbClr val="000000">
                <a:alpha val="50000"/>
              </a:srgbClr>
            </a:outerShdw>
          </a:effectLst>
        </p:spPr>
      </p:pic>
      <p:sp>
        <p:nvSpPr>
          <p:cNvPr id="588" name="Google Shape;588;g3c33024ce86_0_308"/>
          <p:cNvSpPr txBox="1"/>
          <p:nvPr/>
        </p:nvSpPr>
        <p:spPr>
          <a:xfrm>
            <a:off x="10024850" y="2957125"/>
            <a:ext cx="12807300" cy="77763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1200"/>
              </a:spcBef>
              <a:spcAft>
                <a:spcPts val="0"/>
              </a:spcAft>
              <a:buClr>
                <a:schemeClr val="dk1"/>
              </a:buClr>
              <a:buSzPts val="2400"/>
              <a:buChar char="●"/>
            </a:pPr>
            <a:r>
              <a:rPr b="1" lang="en-US" sz="2400">
                <a:solidFill>
                  <a:schemeClr val="dk1"/>
                </a:solidFill>
                <a:latin typeface="Bricolage Grotesque"/>
                <a:ea typeface="Bricolage Grotesque"/>
                <a:cs typeface="Bricolage Grotesque"/>
                <a:sym typeface="Bricolage Grotesque"/>
              </a:rPr>
              <a:t>Hepsiburada</a:t>
            </a:r>
            <a:r>
              <a:rPr lang="en-US" sz="2400">
                <a:solidFill>
                  <a:schemeClr val="dk1"/>
                </a:solidFill>
                <a:latin typeface="Bricolage Grotesque"/>
                <a:ea typeface="Bricolage Grotesque"/>
                <a:cs typeface="Bricolage Grotesque"/>
                <a:sym typeface="Bricolage Grotesque"/>
              </a:rPr>
              <a:t>, özellikle </a:t>
            </a:r>
            <a:r>
              <a:rPr i="1" lang="en-US" sz="2400">
                <a:solidFill>
                  <a:schemeClr val="dk1"/>
                </a:solidFill>
                <a:latin typeface="Bricolage Grotesque"/>
                <a:ea typeface="Bricolage Grotesque"/>
                <a:cs typeface="Bricolage Grotesque"/>
                <a:sym typeface="Bricolage Grotesque"/>
              </a:rPr>
              <a:t>iPhone</a:t>
            </a:r>
            <a:r>
              <a:rPr lang="en-US" sz="2400">
                <a:solidFill>
                  <a:schemeClr val="dk1"/>
                </a:solidFill>
                <a:latin typeface="Bricolage Grotesque"/>
                <a:ea typeface="Bricolage Grotesque"/>
                <a:cs typeface="Bricolage Grotesque"/>
                <a:sym typeface="Bricolage Grotesque"/>
              </a:rPr>
              <a:t> ve </a:t>
            </a:r>
            <a:r>
              <a:rPr i="1" lang="en-US" sz="2400">
                <a:solidFill>
                  <a:schemeClr val="dk1"/>
                </a:solidFill>
                <a:latin typeface="Bricolage Grotesque"/>
                <a:ea typeface="Bricolage Grotesque"/>
                <a:cs typeface="Bricolage Grotesque"/>
                <a:sym typeface="Bricolage Grotesque"/>
              </a:rPr>
              <a:t>PS5</a:t>
            </a:r>
            <a:r>
              <a:rPr lang="en-US" sz="2400">
                <a:solidFill>
                  <a:schemeClr val="dk1"/>
                </a:solidFill>
                <a:latin typeface="Bricolage Grotesque"/>
                <a:ea typeface="Bricolage Grotesque"/>
                <a:cs typeface="Bricolage Grotesque"/>
                <a:sym typeface="Bricolage Grotesque"/>
              </a:rPr>
              <a:t> gibi </a:t>
            </a:r>
            <a:r>
              <a:rPr b="1" lang="en-US" sz="2400">
                <a:solidFill>
                  <a:schemeClr val="dk1"/>
                </a:solidFill>
                <a:latin typeface="Bricolage Grotesque"/>
                <a:ea typeface="Bricolage Grotesque"/>
                <a:cs typeface="Bricolage Grotesque"/>
                <a:sym typeface="Bricolage Grotesque"/>
              </a:rPr>
              <a:t>kritik olarak tanımladığımız yüksek ticari niyetli kelime gruplarında</a:t>
            </a:r>
            <a:r>
              <a:rPr lang="en-US" sz="2400">
                <a:solidFill>
                  <a:schemeClr val="dk1"/>
                </a:solidFill>
                <a:latin typeface="Bricolage Grotesque"/>
                <a:ea typeface="Bricolage Grotesque"/>
                <a:cs typeface="Bricolage Grotesque"/>
                <a:sym typeface="Bricolage Grotesque"/>
              </a:rPr>
              <a:t> belirgin bir </a:t>
            </a:r>
            <a:r>
              <a:rPr b="1" lang="en-US" sz="2400">
                <a:solidFill>
                  <a:schemeClr val="dk1"/>
                </a:solidFill>
                <a:latin typeface="Bricolage Grotesque"/>
                <a:ea typeface="Bricolage Grotesque"/>
                <a:cs typeface="Bricolage Grotesque"/>
                <a:sym typeface="Bricolage Grotesque"/>
              </a:rPr>
              <a:t>görünürlük kaybı</a:t>
            </a:r>
            <a:r>
              <a:rPr lang="en-US" sz="2400">
                <a:solidFill>
                  <a:schemeClr val="dk1"/>
                </a:solidFill>
                <a:latin typeface="Bricolage Grotesque"/>
                <a:ea typeface="Bricolage Grotesque"/>
                <a:cs typeface="Bricolage Grotesque"/>
                <a:sym typeface="Bricolage Grotesque"/>
              </a:rPr>
              <a:t> yaşamaktadır. Bu durum, ilgili ürün gruplarında rekabet gücünün zayıfladığını göstermektedir.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Bricolage Grotesque"/>
                <a:ea typeface="Bricolage Grotesque"/>
                <a:cs typeface="Bricolage Grotesque"/>
                <a:sym typeface="Bricolage Grotesque"/>
              </a:rPr>
              <a:t>MediaMarkt</a:t>
            </a:r>
            <a:r>
              <a:rPr lang="en-US" sz="2400">
                <a:solidFill>
                  <a:schemeClr val="dk1"/>
                </a:solidFill>
                <a:latin typeface="Bricolage Grotesque"/>
                <a:ea typeface="Bricolage Grotesque"/>
                <a:cs typeface="Bricolage Grotesque"/>
                <a:sym typeface="Bricolage Grotesque"/>
              </a:rPr>
              <a:t>, başta </a:t>
            </a:r>
            <a:r>
              <a:rPr b="1" lang="en-US" sz="2400">
                <a:solidFill>
                  <a:schemeClr val="dk1"/>
                </a:solidFill>
                <a:latin typeface="Bricolage Grotesque"/>
                <a:ea typeface="Bricolage Grotesque"/>
                <a:cs typeface="Bricolage Grotesque"/>
                <a:sym typeface="Bricolage Grotesque"/>
              </a:rPr>
              <a:t>yüksek hacimli Apple ve Samsung odaklı kelimeler</a:t>
            </a:r>
            <a:r>
              <a:rPr lang="en-US" sz="2400">
                <a:solidFill>
                  <a:schemeClr val="dk1"/>
                </a:solidFill>
                <a:latin typeface="Bricolage Grotesque"/>
                <a:ea typeface="Bricolage Grotesque"/>
                <a:cs typeface="Bricolage Grotesque"/>
                <a:sym typeface="Bricolage Grotesque"/>
              </a:rPr>
              <a:t> olmak üzere, ilk sıralara güçlü şekilde yerleşerek pazarda </a:t>
            </a:r>
            <a:r>
              <a:rPr b="1" lang="en-US" sz="2400">
                <a:solidFill>
                  <a:schemeClr val="dk1"/>
                </a:solidFill>
                <a:latin typeface="Bricolage Grotesque"/>
                <a:ea typeface="Bricolage Grotesque"/>
                <a:cs typeface="Bricolage Grotesque"/>
                <a:sym typeface="Bricolage Grotesque"/>
              </a:rPr>
              <a:t>hakim bir konum</a:t>
            </a:r>
            <a:r>
              <a:rPr lang="en-US" sz="2400">
                <a:solidFill>
                  <a:schemeClr val="dk1"/>
                </a:solidFill>
                <a:latin typeface="Bricolage Grotesque"/>
                <a:ea typeface="Bricolage Grotesque"/>
                <a:cs typeface="Bricolage Grotesque"/>
                <a:sym typeface="Bricolage Grotesque"/>
              </a:rPr>
              <a:t> elde etmiş görünmektedir.</a:t>
            </a:r>
            <a:br>
              <a:rPr lang="en-US" sz="2400">
                <a:solidFill>
                  <a:schemeClr val="dk1"/>
                </a:solidFill>
                <a:latin typeface="Bricolage Grotesque"/>
                <a:ea typeface="Bricolage Grotesque"/>
                <a:cs typeface="Bricolage Grotesque"/>
                <a:sym typeface="Bricolage Grotesque"/>
              </a:rPr>
            </a:br>
            <a:r>
              <a:rPr lang="en-US" sz="2400">
                <a:solidFill>
                  <a:schemeClr val="dk1"/>
                </a:solidFill>
                <a:latin typeface="Bricolage Grotesque"/>
                <a:ea typeface="Bricolage Grotesque"/>
                <a:cs typeface="Bricolage Grotesque"/>
                <a:sym typeface="Bricolage Grotesque"/>
              </a:rPr>
              <a:t>Buna ek olarak, </a:t>
            </a:r>
            <a:r>
              <a:rPr b="1" lang="en-US" sz="2400">
                <a:solidFill>
                  <a:schemeClr val="dk1"/>
                </a:solidFill>
                <a:latin typeface="Bricolage Grotesque"/>
                <a:ea typeface="Bricolage Grotesque"/>
                <a:cs typeface="Bricolage Grotesque"/>
                <a:sym typeface="Bricolage Grotesque"/>
              </a:rPr>
              <a:t>3D yazıcı</a:t>
            </a:r>
            <a:r>
              <a:rPr lang="en-US" sz="2400">
                <a:solidFill>
                  <a:schemeClr val="dk1"/>
                </a:solidFill>
                <a:latin typeface="Bricolage Grotesque"/>
                <a:ea typeface="Bricolage Grotesque"/>
                <a:cs typeface="Bricolage Grotesque"/>
                <a:sym typeface="Bricolage Grotesque"/>
              </a:rPr>
              <a:t> gibi görece yeni ve yükselen kelime gruplarında, hem bize hem de diğer rakiplere kıyasla </a:t>
            </a:r>
            <a:r>
              <a:rPr b="1" lang="en-US" sz="2400">
                <a:solidFill>
                  <a:schemeClr val="dk1"/>
                </a:solidFill>
                <a:latin typeface="Bricolage Grotesque"/>
                <a:ea typeface="Bricolage Grotesque"/>
                <a:cs typeface="Bricolage Grotesque"/>
                <a:sym typeface="Bricolage Grotesque"/>
              </a:rPr>
              <a:t>daha agresif bir büyüme</a:t>
            </a:r>
            <a:r>
              <a:rPr lang="en-US" sz="2400">
                <a:solidFill>
                  <a:schemeClr val="dk1"/>
                </a:solidFill>
                <a:latin typeface="Bricolage Grotesque"/>
                <a:ea typeface="Bricolage Grotesque"/>
                <a:cs typeface="Bricolage Grotesque"/>
                <a:sym typeface="Bricolage Grotesque"/>
              </a:rPr>
              <a:t> sergilemektedir.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latin typeface="Bricolage Grotesque"/>
                <a:ea typeface="Bricolage Grotesque"/>
                <a:cs typeface="Bricolage Grotesque"/>
                <a:sym typeface="Bricolage Grotesque"/>
              </a:rPr>
              <a:t>MediaMarkt’in performansı sadece ana ürün gruplarıyla sınırlı kalmayıp; </a:t>
            </a:r>
            <a:r>
              <a:rPr b="1" lang="en-US" sz="2400">
                <a:solidFill>
                  <a:schemeClr val="dk1"/>
                </a:solidFill>
                <a:latin typeface="Bricolage Grotesque"/>
                <a:ea typeface="Bricolage Grotesque"/>
                <a:cs typeface="Bricolage Grotesque"/>
                <a:sym typeface="Bricolage Grotesque"/>
              </a:rPr>
              <a:t>araç içi ürünler, waffle makinesi, airfryer ve kamera</a:t>
            </a:r>
            <a:r>
              <a:rPr lang="en-US" sz="2400">
                <a:solidFill>
                  <a:schemeClr val="dk1"/>
                </a:solidFill>
                <a:latin typeface="Bricolage Grotesque"/>
                <a:ea typeface="Bricolage Grotesque"/>
                <a:cs typeface="Bricolage Grotesque"/>
                <a:sym typeface="Bricolage Grotesque"/>
              </a:rPr>
              <a:t> gibi </a:t>
            </a:r>
            <a:r>
              <a:rPr b="1" lang="en-US" sz="2400">
                <a:solidFill>
                  <a:schemeClr val="dk1"/>
                </a:solidFill>
                <a:latin typeface="Bricolage Grotesque"/>
                <a:ea typeface="Bricolage Grotesque"/>
                <a:cs typeface="Bricolage Grotesque"/>
                <a:sym typeface="Bricolage Grotesque"/>
              </a:rPr>
              <a:t>hacimli ancak niş</a:t>
            </a:r>
            <a:r>
              <a:rPr lang="en-US" sz="2400">
                <a:solidFill>
                  <a:schemeClr val="dk1"/>
                </a:solidFill>
                <a:latin typeface="Bricolage Grotesque"/>
                <a:ea typeface="Bricolage Grotesque"/>
                <a:cs typeface="Bricolage Grotesque"/>
                <a:sym typeface="Bricolage Grotesque"/>
              </a:rPr>
              <a:t> kelime setlerinde de güçlü bir yayılım göstermektedir.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Bricolage Grotesque"/>
                <a:ea typeface="Bricolage Grotesque"/>
                <a:cs typeface="Bricolage Grotesque"/>
                <a:sym typeface="Bricolage Grotesque"/>
              </a:rPr>
              <a:t>Teknosa</a:t>
            </a:r>
            <a:r>
              <a:rPr lang="en-US" sz="2400">
                <a:solidFill>
                  <a:schemeClr val="dk1"/>
                </a:solidFill>
                <a:latin typeface="Bricolage Grotesque"/>
                <a:ea typeface="Bricolage Grotesque"/>
                <a:cs typeface="Bricolage Grotesque"/>
                <a:sym typeface="Bricolage Grotesque"/>
              </a:rPr>
              <a:t>, özellikle </a:t>
            </a:r>
            <a:r>
              <a:rPr b="1" lang="en-US" sz="2400">
                <a:solidFill>
                  <a:schemeClr val="dk1"/>
                </a:solidFill>
                <a:latin typeface="Bricolage Grotesque"/>
                <a:ea typeface="Bricolage Grotesque"/>
                <a:cs typeface="Bricolage Grotesque"/>
                <a:sym typeface="Bricolage Grotesque"/>
              </a:rPr>
              <a:t>fiyat odaklı ve karşılaştırma niyeti taşıyan</a:t>
            </a:r>
            <a:r>
              <a:rPr lang="en-US" sz="2400">
                <a:solidFill>
                  <a:schemeClr val="dk1"/>
                </a:solidFill>
                <a:latin typeface="Bricolage Grotesque"/>
                <a:ea typeface="Bricolage Grotesque"/>
                <a:cs typeface="Bricolage Grotesque"/>
                <a:sym typeface="Bricolage Grotesque"/>
              </a:rPr>
              <a:t> kelimelerde öne çıkmakta; bu da markanın </a:t>
            </a:r>
            <a:r>
              <a:rPr b="1" lang="en-US" sz="2400">
                <a:solidFill>
                  <a:schemeClr val="dk1"/>
                </a:solidFill>
                <a:latin typeface="Bricolage Grotesque"/>
                <a:ea typeface="Bricolage Grotesque"/>
                <a:cs typeface="Bricolage Grotesque"/>
                <a:sym typeface="Bricolage Grotesque"/>
              </a:rPr>
              <a:t>price-driven kullanıcı segmentinde</a:t>
            </a:r>
            <a:r>
              <a:rPr lang="en-US" sz="2400">
                <a:solidFill>
                  <a:schemeClr val="dk1"/>
                </a:solidFill>
                <a:latin typeface="Bricolage Grotesque"/>
                <a:ea typeface="Bricolage Grotesque"/>
                <a:cs typeface="Bricolage Grotesque"/>
                <a:sym typeface="Bricolage Grotesque"/>
              </a:rPr>
              <a:t> daha görünür hale geldiğini göstermektedir.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p:txBody>
      </p:sp>
      <p:graphicFrame>
        <p:nvGraphicFramePr>
          <p:cNvPr id="589" name="Google Shape;589;g3c33024ce86_0_308"/>
          <p:cNvGraphicFramePr/>
          <p:nvPr/>
        </p:nvGraphicFramePr>
        <p:xfrm>
          <a:off x="12490450" y="11286750"/>
          <a:ext cx="3000000" cy="3000000"/>
        </p:xfrm>
        <a:graphic>
          <a:graphicData uri="http://schemas.openxmlformats.org/drawingml/2006/table">
            <a:tbl>
              <a:tblPr>
                <a:noFill/>
                <a:tableStyleId>{941C18E8-B15E-492C-9B3D-6656E5B88652}</a:tableStyleId>
              </a:tblPr>
              <a:tblGrid>
                <a:gridCol w="4572350"/>
                <a:gridCol w="4470375"/>
              </a:tblGrid>
              <a:tr h="200025">
                <a:tc>
                  <a:txBody>
                    <a:bodyPr/>
                    <a:lstStyle/>
                    <a:p>
                      <a:pPr indent="0" lvl="0" marL="0" rtl="0" algn="ctr">
                        <a:lnSpc>
                          <a:spcPct val="115000"/>
                        </a:lnSpc>
                        <a:spcBef>
                          <a:spcPts val="0"/>
                        </a:spcBef>
                        <a:spcAft>
                          <a:spcPts val="0"/>
                        </a:spcAft>
                        <a:buNone/>
                      </a:pPr>
                      <a:r>
                        <a:rPr b="1" lang="en-US">
                          <a:latin typeface="Bricolage Grotesque"/>
                          <a:ea typeface="Bricolage Grotesque"/>
                          <a:cs typeface="Bricolage Grotesque"/>
                          <a:sym typeface="Bricolage Grotesque"/>
                        </a:rPr>
                        <a:t>Odak Alanı</a:t>
                      </a:r>
                      <a:endParaRPr b="1">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Bricolage Grotesque"/>
                          <a:ea typeface="Bricolage Grotesque"/>
                          <a:cs typeface="Bricolage Grotesque"/>
                          <a:sym typeface="Bricolage Grotesque"/>
                        </a:rPr>
                        <a:t>Aksiyon</a:t>
                      </a:r>
                      <a:endParaRPr b="1">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1700">
                          <a:latin typeface="Bricolage Grotesque"/>
                          <a:ea typeface="Bricolage Grotesque"/>
                          <a:cs typeface="Bricolage Grotesque"/>
                          <a:sym typeface="Bricolage Grotesque"/>
                        </a:rPr>
                        <a:t>Hero Ürünler (iPhone, Samsung, PS5)</a:t>
                      </a:r>
                      <a:endParaRPr sz="17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Bricolage Grotesque"/>
                          <a:ea typeface="Bricolage Grotesque"/>
                          <a:cs typeface="Bricolage Grotesque"/>
                          <a:sym typeface="Bricolage Grotesque"/>
                        </a:rPr>
                        <a:t>Model + fiyat + taksit sayfa güçlendirme</a:t>
                      </a:r>
                      <a:endParaRPr sz="17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700">
                          <a:latin typeface="Bricolage Grotesque"/>
                          <a:ea typeface="Bricolage Grotesque"/>
                          <a:cs typeface="Bricolage Grotesque"/>
                          <a:sym typeface="Bricolage Grotesque"/>
                        </a:rPr>
                        <a:t>11–20 → Top 10 (Bilgisayar &amp; Aksesuar)</a:t>
                      </a:r>
                      <a:endParaRPr sz="17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Bricolage Grotesque"/>
                          <a:ea typeface="Bricolage Grotesque"/>
                          <a:cs typeface="Bricolage Grotesque"/>
                          <a:sym typeface="Bricolage Grotesque"/>
                        </a:rPr>
                        <a:t>Internal link + kategori optimizasyonu</a:t>
                      </a:r>
                      <a:endParaRPr sz="17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1700">
                          <a:latin typeface="Bricolage Grotesque"/>
                          <a:ea typeface="Bricolage Grotesque"/>
                          <a:cs typeface="Bricolage Grotesque"/>
                          <a:sym typeface="Bricolage Grotesque"/>
                        </a:rPr>
                        <a:t>Ticari Niyet (Fiyat / Kampanya / Taksit)</a:t>
                      </a:r>
                      <a:endParaRPr sz="17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Bricolage Grotesque"/>
                          <a:ea typeface="Bricolage Grotesque"/>
                          <a:cs typeface="Bricolage Grotesque"/>
                          <a:sym typeface="Bricolage Grotesque"/>
                        </a:rPr>
                        <a:t>Snippet &amp; trade-in sayfa güçlendirme</a:t>
                      </a:r>
                      <a:endParaRPr sz="1700">
                        <a:latin typeface="Bricolage Grotesque"/>
                        <a:ea typeface="Bricolage Grotesque"/>
                        <a:cs typeface="Bricolage Grotesque"/>
                        <a:sym typeface="Bricolage Grotesque"/>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594" name="Shape 594"/>
        <p:cNvGrpSpPr/>
        <p:nvPr/>
      </p:nvGrpSpPr>
      <p:grpSpPr>
        <a:xfrm>
          <a:off x="0" y="0"/>
          <a:ext cx="0" cy="0"/>
          <a:chOff x="0" y="0"/>
          <a:chExt cx="0" cy="0"/>
        </a:xfrm>
      </p:grpSpPr>
      <p:pic>
        <p:nvPicPr>
          <p:cNvPr descr=" " id="595" name="Google Shape;595;g3c33024ce86_0_31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596" name="Google Shape;596;g3c33024ce86_0_31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597" name="Google Shape;597;g3c33024ce86_0_31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598" name="Google Shape;598;g3c33024ce86_0_31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g3c33024ce86_0_31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600" name="Google Shape;600;g3c33024ce86_0_31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Market Analizi - Sektör İçgörüleri</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aphicFrame>
        <p:nvGraphicFramePr>
          <p:cNvPr id="601" name="Google Shape;601;g3c33024ce86_0_318"/>
          <p:cNvGraphicFramePr/>
          <p:nvPr/>
        </p:nvGraphicFramePr>
        <p:xfrm>
          <a:off x="545525" y="2489975"/>
          <a:ext cx="3000000" cy="3000000"/>
        </p:xfrm>
        <a:graphic>
          <a:graphicData uri="http://schemas.openxmlformats.org/drawingml/2006/table">
            <a:tbl>
              <a:tblPr>
                <a:noFill/>
                <a:tableStyleId>{941C18E8-B15E-492C-9B3D-6656E5B88652}</a:tableStyleId>
              </a:tblPr>
              <a:tblGrid>
                <a:gridCol w="3746950"/>
                <a:gridCol w="2397075"/>
                <a:gridCol w="2094550"/>
                <a:gridCol w="2141075"/>
                <a:gridCol w="2094550"/>
                <a:gridCol w="2117825"/>
                <a:gridCol w="2048000"/>
                <a:gridCol w="2699675"/>
                <a:gridCol w="1978200"/>
                <a:gridCol w="1978200"/>
              </a:tblGrid>
              <a:tr h="974800">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Kategori</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Toplam Hacim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YoY Değişim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Turkcell</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MediaMarkt</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Hepsiburada</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Trendyol</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Vatan Bilgisayar</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Teknosa</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Amazon</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r>
              <a:tr h="11724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Dyson Keywords</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2.6M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46% (+35%)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70% (-4.1%)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42% (-15%)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93% (+1.5%)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1724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iPhone Keywords</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14.2M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-8.7%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40% (+25%)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93% (+4.8%)</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74% (-2.5%)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1724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Telefon Keywords</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5.3M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-18%</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32% (+20%)</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75% (+18%)</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52% (-14%)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79% (+1.1%)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72% (-3.3%)</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1724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Bilgisayar &amp; Tablet</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4.7M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-13%</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18% (+12%)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72% (+17%)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63% (-12%)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87% (+5.4%)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68% (-8.7%)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43% (-2.5%)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27% (—)</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1724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Elektrikli Ev Aletleri</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-16%</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3.8% (+1.4%)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54% (+7.1%)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50% (-26%)</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97% (+0.8%)</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26% (-7.3%)</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38% (-1.3%)</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23% (-7.5%)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172425">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Sağlık &amp; Kişisel Bakım</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2.3M</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-32%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16% (+11%)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61% (+1.3%)</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56% (-11%)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97% (+1.7%)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44% (-1.1%)</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602" name="Google Shape;602;g3c33024ce86_0_318"/>
          <p:cNvSpPr txBox="1"/>
          <p:nvPr/>
        </p:nvSpPr>
        <p:spPr>
          <a:xfrm>
            <a:off x="1371775" y="10695625"/>
            <a:ext cx="21753900" cy="288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Genel olarak kategorilerde </a:t>
            </a:r>
            <a:r>
              <a:rPr b="1" lang="en-US" sz="2300">
                <a:solidFill>
                  <a:schemeClr val="dk1"/>
                </a:solidFill>
                <a:latin typeface="Bricolage Grotesque"/>
                <a:ea typeface="Bricolage Grotesque"/>
                <a:cs typeface="Bricolage Grotesque"/>
                <a:sym typeface="Bricolage Grotesque"/>
              </a:rPr>
              <a:t>YoY talep daralması</a:t>
            </a:r>
            <a:r>
              <a:rPr lang="en-US" sz="2300">
                <a:solidFill>
                  <a:schemeClr val="dk1"/>
                </a:solidFill>
                <a:latin typeface="Bricolage Grotesque"/>
                <a:ea typeface="Bricolage Grotesque"/>
                <a:cs typeface="Bricolage Grotesque"/>
                <a:sym typeface="Bricolage Grotesque"/>
              </a:rPr>
              <a:t> görülmesine rağmen, rekabet yüksek hacimli ürün gruplarında </a:t>
            </a:r>
            <a:r>
              <a:rPr b="1" lang="en-US" sz="2300">
                <a:solidFill>
                  <a:schemeClr val="dk1"/>
                </a:solidFill>
                <a:latin typeface="Bricolage Grotesque"/>
                <a:ea typeface="Bricolage Grotesque"/>
                <a:cs typeface="Bricolage Grotesque"/>
                <a:sym typeface="Bricolage Grotesque"/>
              </a:rPr>
              <a:t>konsolide olmaya başlamıştır</a:t>
            </a:r>
            <a:r>
              <a:rPr lang="en-US" sz="2300">
                <a:solidFill>
                  <a:schemeClr val="dk1"/>
                </a:solidFill>
                <a:latin typeface="Bricolage Grotesque"/>
                <a:ea typeface="Bricolage Grotesque"/>
                <a:cs typeface="Bricolage Grotesque"/>
                <a:sym typeface="Bricolage Grotesque"/>
              </a:rPr>
              <a:t>.</a:t>
            </a:r>
            <a:br>
              <a:rPr lang="en-US" sz="2300">
                <a:solidFill>
                  <a:schemeClr val="dk1"/>
                </a:solidFill>
                <a:latin typeface="Bricolage Grotesque"/>
                <a:ea typeface="Bricolage Grotesque"/>
                <a:cs typeface="Bricolage Grotesque"/>
                <a:sym typeface="Bricolage Grotesque"/>
              </a:rPr>
            </a:br>
            <a:r>
              <a:rPr b="1" lang="en-US" sz="2300">
                <a:solidFill>
                  <a:schemeClr val="dk1"/>
                </a:solidFill>
                <a:latin typeface="Bricolage Grotesque"/>
                <a:ea typeface="Bricolage Grotesque"/>
                <a:cs typeface="Bricolage Grotesque"/>
                <a:sym typeface="Bricolage Grotesque"/>
              </a:rPr>
              <a:t>iPhone ve telefon</a:t>
            </a:r>
            <a:r>
              <a:rPr lang="en-US" sz="2300">
                <a:solidFill>
                  <a:schemeClr val="dk1"/>
                </a:solidFill>
                <a:latin typeface="Bricolage Grotesque"/>
                <a:ea typeface="Bricolage Grotesque"/>
                <a:cs typeface="Bricolage Grotesque"/>
                <a:sym typeface="Bricolage Grotesque"/>
              </a:rPr>
              <a:t> gibi kritik kelimelerde </a:t>
            </a:r>
            <a:r>
              <a:rPr b="1" lang="en-US" sz="2300">
                <a:solidFill>
                  <a:schemeClr val="dk1"/>
                </a:solidFill>
                <a:latin typeface="Bricolage Grotesque"/>
                <a:ea typeface="Bricolage Grotesque"/>
                <a:cs typeface="Bricolage Grotesque"/>
                <a:sym typeface="Bricolage Grotesque"/>
              </a:rPr>
              <a:t>MediaMarkt ve Trendyol görünürlüklerini artırarak pazarda daha baskın hale gelirken</a:t>
            </a: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Hepsiburada</a:t>
            </a:r>
            <a:r>
              <a:rPr lang="en-US" sz="2300">
                <a:solidFill>
                  <a:schemeClr val="dk1"/>
                </a:solidFill>
                <a:latin typeface="Bricolage Grotesque"/>
                <a:ea typeface="Bricolage Grotesque"/>
                <a:cs typeface="Bricolage Grotesque"/>
                <a:sym typeface="Bricolage Grotesque"/>
              </a:rPr>
              <a:t> bu segmentlerde gerileme yaşamaktadır.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b="1" lang="en-US" sz="2300">
                <a:solidFill>
                  <a:schemeClr val="dk1"/>
                </a:solidFill>
                <a:latin typeface="Bricolage Grotesque"/>
                <a:ea typeface="Bricolage Grotesque"/>
                <a:cs typeface="Bricolage Grotesque"/>
                <a:sym typeface="Bricolage Grotesque"/>
              </a:rPr>
              <a:t>Dyson ve elektrikli ev aletleri</a:t>
            </a:r>
            <a:r>
              <a:rPr lang="en-US" sz="2300">
                <a:solidFill>
                  <a:schemeClr val="dk1"/>
                </a:solidFill>
                <a:latin typeface="Bricolage Grotesque"/>
                <a:ea typeface="Bricolage Grotesque"/>
                <a:cs typeface="Bricolage Grotesque"/>
                <a:sym typeface="Bricolage Grotesque"/>
              </a:rPr>
              <a:t> gibi marka-odaklı kategorilerde, </a:t>
            </a:r>
            <a:r>
              <a:rPr b="1" lang="en-US" sz="2300">
                <a:solidFill>
                  <a:schemeClr val="dk1"/>
                </a:solidFill>
                <a:latin typeface="Bricolage Grotesque"/>
                <a:ea typeface="Bricolage Grotesque"/>
                <a:cs typeface="Bricolage Grotesque"/>
                <a:sym typeface="Bricolage Grotesque"/>
              </a:rPr>
              <a:t>geniş ürün kapsaması olan oyuncular</a:t>
            </a:r>
            <a:r>
              <a:rPr lang="en-US" sz="2300">
                <a:solidFill>
                  <a:schemeClr val="dk1"/>
                </a:solidFill>
                <a:latin typeface="Bricolage Grotesque"/>
                <a:ea typeface="Bricolage Grotesque"/>
                <a:cs typeface="Bricolage Grotesque"/>
                <a:sym typeface="Bricolage Grotesque"/>
              </a:rPr>
              <a:t> öne çıkmaktadır.</a:t>
            </a:r>
            <a:br>
              <a:rPr lang="en-US" sz="2300">
                <a:solidFill>
                  <a:schemeClr val="dk1"/>
                </a:solidFill>
                <a:latin typeface="Bricolage Grotesque"/>
                <a:ea typeface="Bricolage Grotesque"/>
                <a:cs typeface="Bricolage Grotesque"/>
                <a:sym typeface="Bricolage Grotesque"/>
              </a:rPr>
            </a:br>
            <a:r>
              <a:rPr lang="en-US" sz="2300">
                <a:solidFill>
                  <a:schemeClr val="dk1"/>
                </a:solidFill>
                <a:latin typeface="Bricolage Grotesque"/>
                <a:ea typeface="Bricolage Grotesque"/>
                <a:cs typeface="Bricolage Grotesque"/>
                <a:sym typeface="Bricolage Grotesque"/>
              </a:rPr>
              <a:t>Buna paralel olarak büyüme, </a:t>
            </a:r>
            <a:r>
              <a:rPr b="1" lang="en-US" sz="2300">
                <a:solidFill>
                  <a:schemeClr val="dk1"/>
                </a:solidFill>
                <a:latin typeface="Bricolage Grotesque"/>
                <a:ea typeface="Bricolage Grotesque"/>
                <a:cs typeface="Bricolage Grotesque"/>
                <a:sym typeface="Bricolage Grotesque"/>
              </a:rPr>
              <a:t>ana jenerik kelimelerden çok model, marka ve niyet bazlı sorgulara</a:t>
            </a:r>
            <a:r>
              <a:rPr lang="en-US" sz="2300">
                <a:solidFill>
                  <a:schemeClr val="dk1"/>
                </a:solidFill>
                <a:latin typeface="Bricolage Grotesque"/>
                <a:ea typeface="Bricolage Grotesque"/>
                <a:cs typeface="Bricolage Grotesque"/>
                <a:sym typeface="Bricolage Grotesque"/>
              </a:rPr>
              <a:t> kaymaktadır.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solidFill>
                  <a:schemeClr val="dk1"/>
                </a:solidFill>
                <a:latin typeface="Bricolage Grotesque"/>
                <a:ea typeface="Bricolage Grotesque"/>
                <a:cs typeface="Bricolage Grotesque"/>
                <a:sym typeface="Bricolage Grotesque"/>
              </a:rPr>
              <a:t>Genel tablo, rekabetin </a:t>
            </a:r>
            <a:r>
              <a:rPr b="1" lang="en-US" sz="2300">
                <a:solidFill>
                  <a:schemeClr val="dk1"/>
                </a:solidFill>
                <a:latin typeface="Bricolage Grotesque"/>
                <a:ea typeface="Bricolage Grotesque"/>
                <a:cs typeface="Bricolage Grotesque"/>
                <a:sym typeface="Bricolage Grotesque"/>
              </a:rPr>
              <a:t>yüksek hacimli ana kategorilerde yoğunlaştığını</a:t>
            </a:r>
            <a:r>
              <a:rPr lang="en-US" sz="2300">
                <a:solidFill>
                  <a:schemeClr val="dk1"/>
                </a:solidFill>
                <a:latin typeface="Bricolage Grotesque"/>
                <a:ea typeface="Bricolage Grotesque"/>
                <a:cs typeface="Bricolage Grotesque"/>
                <a:sym typeface="Bricolage Grotesque"/>
              </a:rPr>
              <a:t>, fırsatların ise </a:t>
            </a:r>
            <a:r>
              <a:rPr b="1" lang="en-US" sz="2300">
                <a:solidFill>
                  <a:schemeClr val="dk1"/>
                </a:solidFill>
                <a:latin typeface="Bricolage Grotesque"/>
                <a:ea typeface="Bricolage Grotesque"/>
                <a:cs typeface="Bricolage Grotesque"/>
                <a:sym typeface="Bricolage Grotesque"/>
              </a:rPr>
              <a:t>niş ve intent-odaklı kelime gruplarında</a:t>
            </a:r>
            <a:r>
              <a:rPr lang="en-US" sz="2300">
                <a:solidFill>
                  <a:schemeClr val="dk1"/>
                </a:solidFill>
                <a:latin typeface="Bricolage Grotesque"/>
                <a:ea typeface="Bricolage Grotesque"/>
                <a:cs typeface="Bricolage Grotesque"/>
                <a:sym typeface="Bricolage Grotesque"/>
              </a:rPr>
              <a:t> oluştuğunu göstermektedir.</a:t>
            </a:r>
            <a:endParaRPr sz="2300">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607" name="Shape 607"/>
        <p:cNvGrpSpPr/>
        <p:nvPr/>
      </p:nvGrpSpPr>
      <p:grpSpPr>
        <a:xfrm>
          <a:off x="0" y="0"/>
          <a:ext cx="0" cy="0"/>
          <a:chOff x="0" y="0"/>
          <a:chExt cx="0" cy="0"/>
        </a:xfrm>
      </p:grpSpPr>
      <p:pic>
        <p:nvPicPr>
          <p:cNvPr descr=" " id="608" name="Google Shape;608;g3c33024ce86_0_32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609" name="Google Shape;609;g3c33024ce86_0_32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610" name="Google Shape;610;g3c33024ce86_0_32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611" name="Google Shape;611;g3c33024ce86_0_32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g3c33024ce86_0_32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Pasaj</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613" name="Google Shape;613;g3c33024ce86_0_32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2026 Planı / Projeler / Fırsatlar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614" name="Google Shape;614;g3c33024ce86_0_328"/>
          <p:cNvSpPr txBox="1"/>
          <p:nvPr/>
        </p:nvSpPr>
        <p:spPr>
          <a:xfrm>
            <a:off x="1240125" y="2596350"/>
            <a:ext cx="22238400" cy="681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700">
                <a:solidFill>
                  <a:schemeClr val="dk1"/>
                </a:solidFill>
                <a:latin typeface="Bricolage Grotesque"/>
                <a:ea typeface="Bricolage Grotesque"/>
                <a:cs typeface="Bricolage Grotesque"/>
                <a:sym typeface="Bricolage Grotesque"/>
              </a:rPr>
              <a:t>650K</a:t>
            </a:r>
            <a:r>
              <a:rPr lang="en-US" sz="2700">
                <a:solidFill>
                  <a:schemeClr val="dk1"/>
                </a:solidFill>
                <a:latin typeface="Bricolage Grotesque"/>
                <a:ea typeface="Bricolage Grotesque"/>
                <a:cs typeface="Bricolage Grotesque"/>
                <a:sym typeface="Bricolage Grotesque"/>
              </a:rPr>
              <a:t> hedefi çerçevesinde özellikle alternatif trafik kaynakları üzerinde duruyoruz. Google + AI destekli bir trafik için 2026 için planladığımız temel maddeler şunlardır:</a:t>
            </a:r>
            <a:endParaRPr sz="2700">
              <a:solidFill>
                <a:schemeClr val="dk1"/>
              </a:solidFill>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Listeleme sayfalarında popüler aramaların link olarak eklenebilir olması , ilgili aramalara lead edecek butonlar olması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Ürün listeleme sayfalarında alışverişçilerin satın aldığı x ürün linklemesi</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Structured data optimizasyonları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Arama hacmine dayalı filtre genişletmeleri ve alt kategori/landing page kırılımlarının oluşturulması (örn. laptop, tablet gibi ürün gruplarında inch, teknik özellik, kullanım amacına göre).</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Related search / category sayfalarının above the content linklenmesi gibi internal link optimizasyonları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AI odaklı blog sayfaları için short desc optimizasyonları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PAA ve AI bazlı sorguların FAQ ve tüm içerik alanlarımızda aktif kullanımı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Spesifik alt kategori fikirlerini search sayfalarında hedefleme</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Backlink çalışmaları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Hem Google hem de AI görünürlük için backlink çalışmaları</a:t>
            </a:r>
            <a:endParaRPr sz="2700">
              <a:solidFill>
                <a:schemeClr val="dk1"/>
              </a:solidFill>
              <a:latin typeface="Bricolage Grotesque"/>
              <a:ea typeface="Bricolage Grotesque"/>
              <a:cs typeface="Bricolage Grotesque"/>
              <a:sym typeface="Bricolage Grotesque"/>
            </a:endParaRPr>
          </a:p>
        </p:txBody>
      </p:sp>
      <p:sp>
        <p:nvSpPr>
          <p:cNvPr id="615" name="Google Shape;615;g3c33024ce86_0_328"/>
          <p:cNvSpPr/>
          <p:nvPr/>
        </p:nvSpPr>
        <p:spPr>
          <a:xfrm>
            <a:off x="3554125" y="12335150"/>
            <a:ext cx="16229754" cy="785106"/>
          </a:xfrm>
          <a:prstGeom prst="flowChartTerminator">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900">
                <a:solidFill>
                  <a:schemeClr val="lt1"/>
                </a:solidFill>
                <a:latin typeface="Bricolage Grotesque"/>
                <a:ea typeface="Bricolage Grotesque"/>
                <a:cs typeface="Bricolage Grotesque"/>
                <a:sym typeface="Bricolage Grotesque"/>
              </a:rPr>
              <a:t>2.2M</a:t>
            </a:r>
            <a:endParaRPr/>
          </a:p>
        </p:txBody>
      </p:sp>
      <p:sp>
        <p:nvSpPr>
          <p:cNvPr id="616" name="Google Shape;616;g3c33024ce86_0_328"/>
          <p:cNvSpPr/>
          <p:nvPr/>
        </p:nvSpPr>
        <p:spPr>
          <a:xfrm>
            <a:off x="3554125" y="12335150"/>
            <a:ext cx="12189204" cy="785106"/>
          </a:xfrm>
          <a:prstGeom prst="flowChartTerminator">
            <a:avLst/>
          </a:prstGeom>
          <a:solidFill>
            <a:schemeClr val="accent2"/>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7" name="Google Shape;617;g3c33024ce86_0_328"/>
          <p:cNvSpPr txBox="1"/>
          <p:nvPr/>
        </p:nvSpPr>
        <p:spPr>
          <a:xfrm>
            <a:off x="8251475" y="11569600"/>
            <a:ext cx="27945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700">
                <a:solidFill>
                  <a:schemeClr val="dk1"/>
                </a:solidFill>
                <a:latin typeface="Bricolage Grotesque"/>
                <a:ea typeface="Bricolage Grotesque"/>
                <a:cs typeface="Bricolage Grotesque"/>
                <a:sym typeface="Bricolage Grotesque"/>
              </a:rPr>
              <a:t>güncel durum</a:t>
            </a:r>
            <a:endParaRPr b="1" sz="1000"/>
          </a:p>
        </p:txBody>
      </p:sp>
      <p:sp>
        <p:nvSpPr>
          <p:cNvPr id="618" name="Google Shape;618;g3c33024ce86_0_328"/>
          <p:cNvSpPr txBox="1"/>
          <p:nvPr/>
        </p:nvSpPr>
        <p:spPr>
          <a:xfrm>
            <a:off x="8868575" y="12335138"/>
            <a:ext cx="1560300" cy="78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900">
                <a:solidFill>
                  <a:schemeClr val="lt1"/>
                </a:solidFill>
                <a:latin typeface="Bricolage Grotesque"/>
                <a:ea typeface="Bricolage Grotesque"/>
                <a:cs typeface="Bricolage Grotesque"/>
                <a:sym typeface="Bricolage Grotesque"/>
              </a:rPr>
              <a:t>435K</a:t>
            </a:r>
            <a:endParaRPr b="1" sz="2200">
              <a:solidFill>
                <a:schemeClr val="lt1"/>
              </a:solidFill>
            </a:endParaRPr>
          </a:p>
        </p:txBody>
      </p:sp>
      <p:sp>
        <p:nvSpPr>
          <p:cNvPr id="619" name="Google Shape;619;g3c33024ce86_0_328"/>
          <p:cNvSpPr txBox="1"/>
          <p:nvPr/>
        </p:nvSpPr>
        <p:spPr>
          <a:xfrm>
            <a:off x="14912775" y="11479650"/>
            <a:ext cx="46908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700">
                <a:solidFill>
                  <a:schemeClr val="dk1"/>
                </a:solidFill>
                <a:latin typeface="Bricolage Grotesque"/>
                <a:ea typeface="Bricolage Grotesque"/>
                <a:cs typeface="Bricolage Grotesque"/>
                <a:sym typeface="Bricolage Grotesque"/>
              </a:rPr>
              <a:t>hedef için gereken ek artış</a:t>
            </a:r>
            <a:endParaRPr b="1" sz="1000"/>
          </a:p>
        </p:txBody>
      </p:sp>
      <p:sp>
        <p:nvSpPr>
          <p:cNvPr id="620" name="Google Shape;620;g3c33024ce86_0_328"/>
          <p:cNvSpPr txBox="1"/>
          <p:nvPr/>
        </p:nvSpPr>
        <p:spPr>
          <a:xfrm>
            <a:off x="16478025" y="12242788"/>
            <a:ext cx="1560300" cy="78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900">
                <a:solidFill>
                  <a:schemeClr val="dk1"/>
                </a:solidFill>
                <a:latin typeface="Bricolage Grotesque"/>
                <a:ea typeface="Bricolage Grotesque"/>
                <a:cs typeface="Bricolage Grotesque"/>
                <a:sym typeface="Bricolage Grotesque"/>
              </a:rPr>
              <a:t>225K</a:t>
            </a:r>
            <a:endParaRPr b="1" sz="22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pic>
        <p:nvPicPr>
          <p:cNvPr descr=" " id="626" name="Google Shape;626;g33d7f9d02ad_1_92"/>
          <p:cNvPicPr preferRelativeResize="0"/>
          <p:nvPr/>
        </p:nvPicPr>
        <p:blipFill rotWithShape="1">
          <a:blip r:embed="rId3">
            <a:alphaModFix/>
          </a:blip>
          <a:srcRect b="0" l="0" r="0" t="0"/>
          <a:stretch/>
        </p:blipFill>
        <p:spPr>
          <a:xfrm>
            <a:off x="0" y="0"/>
            <a:ext cx="24387048" cy="13716000"/>
          </a:xfrm>
          <a:prstGeom prst="rect">
            <a:avLst/>
          </a:prstGeom>
          <a:noFill/>
          <a:ln>
            <a:noFill/>
          </a:ln>
        </p:spPr>
      </p:pic>
      <p:sp>
        <p:nvSpPr>
          <p:cNvPr id="627" name="Google Shape;627;g33d7f9d02ad_1_92"/>
          <p:cNvSpPr/>
          <p:nvPr/>
        </p:nvSpPr>
        <p:spPr>
          <a:xfrm>
            <a:off x="11787073" y="5537200"/>
            <a:ext cx="813000" cy="711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28" name="Google Shape;628;g33d7f9d02ad_1_92"/>
          <p:cNvPicPr preferRelativeResize="0"/>
          <p:nvPr/>
        </p:nvPicPr>
        <p:blipFill rotWithShape="1">
          <a:blip r:embed="rId4">
            <a:alphaModFix/>
          </a:blip>
          <a:srcRect b="0" l="0" r="0" t="0"/>
          <a:stretch/>
        </p:blipFill>
        <p:spPr>
          <a:xfrm>
            <a:off x="11787073" y="5537200"/>
            <a:ext cx="812902" cy="203200"/>
          </a:xfrm>
          <a:prstGeom prst="rect">
            <a:avLst/>
          </a:prstGeom>
          <a:noFill/>
          <a:ln>
            <a:noFill/>
          </a:ln>
        </p:spPr>
      </p:pic>
      <p:sp>
        <p:nvSpPr>
          <p:cNvPr id="629" name="Google Shape;629;g33d7f9d02ad_1_92"/>
          <p:cNvSpPr/>
          <p:nvPr/>
        </p:nvSpPr>
        <p:spPr>
          <a:xfrm>
            <a:off x="11787073" y="7264400"/>
            <a:ext cx="813000" cy="914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30" name="Google Shape;630;g33d7f9d02ad_1_92"/>
          <p:cNvPicPr preferRelativeResize="0"/>
          <p:nvPr/>
        </p:nvPicPr>
        <p:blipFill rotWithShape="1">
          <a:blip r:embed="rId4">
            <a:alphaModFix/>
          </a:blip>
          <a:srcRect b="0" l="0" r="0" t="0"/>
          <a:stretch/>
        </p:blipFill>
        <p:spPr>
          <a:xfrm>
            <a:off x="11787073" y="7975600"/>
            <a:ext cx="812902" cy="203200"/>
          </a:xfrm>
          <a:prstGeom prst="rect">
            <a:avLst/>
          </a:prstGeom>
          <a:noFill/>
          <a:ln>
            <a:noFill/>
          </a:ln>
        </p:spPr>
      </p:pic>
      <p:sp>
        <p:nvSpPr>
          <p:cNvPr id="631" name="Google Shape;631;g33d7f9d02ad_1_92"/>
          <p:cNvSpPr/>
          <p:nvPr/>
        </p:nvSpPr>
        <p:spPr>
          <a:xfrm>
            <a:off x="-2254125" y="4889850"/>
            <a:ext cx="10063800" cy="3936300"/>
          </a:xfrm>
          <a:prstGeom prst="rect">
            <a:avLst/>
          </a:prstGeom>
          <a:noFill/>
          <a:ln>
            <a:noFill/>
          </a:ln>
        </p:spPr>
        <p:txBody>
          <a:bodyPr anchorCtr="0" anchor="t" bIns="0" lIns="0" spcFirstLastPara="1" rIns="0" wrap="square" tIns="0">
            <a:noAutofit/>
          </a:bodyPr>
          <a:lstStyle/>
          <a:p>
            <a:pPr indent="0" lvl="0" marL="0" marR="0" rtl="0" algn="ctr">
              <a:lnSpc>
                <a:spcPct val="32000"/>
              </a:lnSpc>
              <a:spcBef>
                <a:spcPts val="0"/>
              </a:spcBef>
              <a:spcAft>
                <a:spcPts val="0"/>
              </a:spcAft>
              <a:buClr>
                <a:srgbClr val="FEFEF7"/>
              </a:buClr>
              <a:buSzPts val="40000"/>
              <a:buFont typeface="Bricolage Grotesque ExtraBold"/>
              <a:buNone/>
            </a:pPr>
            <a:r>
              <a:t/>
            </a:r>
            <a:endParaRPr b="0" i="0" sz="40000" u="none" cap="none" strike="noStrike">
              <a:solidFill>
                <a:srgbClr val="254E49"/>
              </a:solidFill>
              <a:latin typeface="Bricolage Grotesque ExtraBold"/>
              <a:ea typeface="Bricolage Grotesque ExtraBold"/>
              <a:cs typeface="Bricolage Grotesque ExtraBold"/>
              <a:sym typeface="Bricolage Grotesque ExtraBold"/>
            </a:endParaRPr>
          </a:p>
          <a:p>
            <a:pPr indent="0" lvl="0" marL="0" marR="0" rtl="0" algn="ctr">
              <a:lnSpc>
                <a:spcPct val="32000"/>
              </a:lnSpc>
              <a:spcBef>
                <a:spcPts val="0"/>
              </a:spcBef>
              <a:spcAft>
                <a:spcPts val="0"/>
              </a:spcAft>
              <a:buClr>
                <a:srgbClr val="FEFEF7"/>
              </a:buClr>
              <a:buSzPts val="40000"/>
              <a:buFont typeface="Bricolage Grotesque ExtraBold"/>
              <a:buNone/>
            </a:pPr>
            <a:r>
              <a:rPr b="0" i="0" lang="en-US" sz="40000" u="none" cap="none" strike="noStrike">
                <a:solidFill>
                  <a:srgbClr val="254E49"/>
                </a:solidFill>
                <a:latin typeface="Bricolage Grotesque ExtraBold"/>
                <a:ea typeface="Bricolage Grotesque ExtraBold"/>
                <a:cs typeface="Bricolage Grotesque ExtraBold"/>
                <a:sym typeface="Bricolage Grotesque ExtraBold"/>
              </a:rPr>
              <a:t>0</a:t>
            </a:r>
            <a:r>
              <a:rPr lang="en-US" sz="40000">
                <a:solidFill>
                  <a:srgbClr val="254E49"/>
                </a:solidFill>
                <a:latin typeface="Bricolage Grotesque ExtraBold"/>
                <a:ea typeface="Bricolage Grotesque ExtraBold"/>
                <a:cs typeface="Bricolage Grotesque ExtraBold"/>
                <a:sym typeface="Bricolage Grotesque ExtraBold"/>
              </a:rPr>
              <a:t>5</a:t>
            </a:r>
            <a:endParaRPr b="0" i="0" sz="40000" u="none" cap="none" strike="noStrike">
              <a:solidFill>
                <a:srgbClr val="254E49"/>
              </a:solidFill>
              <a:latin typeface="Calibri"/>
              <a:ea typeface="Calibri"/>
              <a:cs typeface="Calibri"/>
              <a:sym typeface="Calibri"/>
            </a:endParaRPr>
          </a:p>
        </p:txBody>
      </p:sp>
      <p:sp>
        <p:nvSpPr>
          <p:cNvPr id="632" name="Google Shape;632;g33d7f9d02ad_1_92"/>
          <p:cNvSpPr/>
          <p:nvPr/>
        </p:nvSpPr>
        <p:spPr>
          <a:xfrm>
            <a:off x="2808613" y="6248400"/>
            <a:ext cx="18769800" cy="1329300"/>
          </a:xfrm>
          <a:prstGeom prst="rect">
            <a:avLst/>
          </a:prstGeom>
          <a:noFill/>
          <a:ln>
            <a:noFill/>
          </a:ln>
        </p:spPr>
        <p:txBody>
          <a:bodyPr anchorCtr="0" anchor="t" bIns="0" lIns="0" spcFirstLastPara="1" rIns="0" wrap="square" tIns="0">
            <a:noAutofit/>
          </a:bodyPr>
          <a:lstStyle/>
          <a:p>
            <a:pPr indent="0" lvl="0" marL="0" marR="0" rtl="0" algn="ctr">
              <a:lnSpc>
                <a:spcPct val="108108"/>
              </a:lnSpc>
              <a:spcBef>
                <a:spcPts val="0"/>
              </a:spcBef>
              <a:spcAft>
                <a:spcPts val="0"/>
              </a:spcAft>
              <a:buClr>
                <a:srgbClr val="FEFEF7"/>
              </a:buClr>
              <a:buSzPts val="7400"/>
              <a:buFont typeface="Bricolage Grotesque ExtraBold"/>
              <a:buNone/>
            </a:pPr>
            <a:r>
              <a:rPr lang="en-US" sz="7400">
                <a:solidFill>
                  <a:srgbClr val="FEFEF7"/>
                </a:solidFill>
                <a:latin typeface="Bricolage Grotesque ExtraBold"/>
                <a:ea typeface="Bricolage Grotesque ExtraBold"/>
                <a:cs typeface="Bricolage Grotesque ExtraBold"/>
                <a:sym typeface="Bricolage Grotesque ExtraBold"/>
              </a:rPr>
              <a:t>Superonline</a:t>
            </a:r>
            <a:endParaRPr b="0" i="0" sz="74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637" name="Shape 637"/>
        <p:cNvGrpSpPr/>
        <p:nvPr/>
      </p:nvGrpSpPr>
      <p:grpSpPr>
        <a:xfrm>
          <a:off x="0" y="0"/>
          <a:ext cx="0" cy="0"/>
          <a:chOff x="0" y="0"/>
          <a:chExt cx="0" cy="0"/>
        </a:xfrm>
      </p:grpSpPr>
      <p:sp>
        <p:nvSpPr>
          <p:cNvPr id="638" name="Google Shape;638;g3c33024ce86_0_220"/>
          <p:cNvSpPr/>
          <p:nvPr/>
        </p:nvSpPr>
        <p:spPr>
          <a:xfrm>
            <a:off x="2646900" y="1490100"/>
            <a:ext cx="4321200" cy="10735800"/>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FF7B52"/>
              </a:buClr>
              <a:buSzPts val="6400"/>
              <a:buFont typeface="Bricolage Grotesque"/>
              <a:buNone/>
            </a:pPr>
            <a:r>
              <a:rPr b="1" lang="en-US" sz="9000">
                <a:solidFill>
                  <a:srgbClr val="FF7B52"/>
                </a:solidFill>
                <a:latin typeface="Bricolage Grotesque"/>
                <a:ea typeface="Bricolage Grotesque"/>
                <a:cs typeface="Bricolage Grotesque"/>
                <a:sym typeface="Bricolage Grotesque"/>
              </a:rPr>
              <a:t>Ajanda</a:t>
            </a:r>
            <a:endParaRPr b="0" i="0" sz="9000" u="none" cap="none" strike="noStrike">
              <a:solidFill>
                <a:schemeClr val="dk1"/>
              </a:solidFill>
              <a:latin typeface="Calibri"/>
              <a:ea typeface="Calibri"/>
              <a:cs typeface="Calibri"/>
              <a:sym typeface="Calibri"/>
            </a:endParaRPr>
          </a:p>
        </p:txBody>
      </p:sp>
      <p:sp>
        <p:nvSpPr>
          <p:cNvPr id="639" name="Google Shape;639;g3c33024ce86_0_220"/>
          <p:cNvSpPr/>
          <p:nvPr/>
        </p:nvSpPr>
        <p:spPr>
          <a:xfrm>
            <a:off x="12960675" y="2861100"/>
            <a:ext cx="10432200" cy="7993800"/>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Genel Performans (Google &amp; AI)</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Nonbranded / Branded Kırılım</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Pozisyon Aralığına Göre Kelime Sayısı Dağılımı</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Anahtar Kelime Highlight’ları</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Neler Yaptık?</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Rakiplerle Kıyaslama / Rakiplerin Güç Kazandığı Yerler</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Market Analizi - Sektör İçgörüleri</a:t>
            </a:r>
            <a:endParaRPr sz="3200">
              <a:solidFill>
                <a:srgbClr val="10332F"/>
              </a:solidFill>
              <a:latin typeface="Outfit"/>
              <a:ea typeface="Outfit"/>
              <a:cs typeface="Outfit"/>
              <a:sym typeface="Outfit"/>
            </a:endParaRPr>
          </a:p>
          <a:p>
            <a:pPr indent="0" lvl="0" marL="0" marR="0" rtl="0" algn="l">
              <a:lnSpc>
                <a:spcPct val="200000"/>
              </a:lnSpc>
              <a:spcBef>
                <a:spcPts val="0"/>
              </a:spcBef>
              <a:spcAft>
                <a:spcPts val="0"/>
              </a:spcAft>
              <a:buNone/>
            </a:pPr>
            <a:r>
              <a:rPr lang="en-US" sz="3200">
                <a:solidFill>
                  <a:srgbClr val="10332F"/>
                </a:solidFill>
                <a:latin typeface="Outfit"/>
                <a:ea typeface="Outfit"/>
                <a:cs typeface="Outfit"/>
                <a:sym typeface="Outfit"/>
              </a:rPr>
              <a:t>2026 Planı / Projeler / Fırsatlar</a:t>
            </a:r>
            <a:endParaRPr sz="3200">
              <a:solidFill>
                <a:srgbClr val="10332F"/>
              </a:solidFill>
              <a:latin typeface="Outfit"/>
              <a:ea typeface="Outfit"/>
              <a:cs typeface="Outfit"/>
              <a:sym typeface="Outfit"/>
            </a:endParaRPr>
          </a:p>
        </p:txBody>
      </p:sp>
      <p:pic>
        <p:nvPicPr>
          <p:cNvPr descr=" " id="640" name="Google Shape;640;g3c33024ce86_0_220"/>
          <p:cNvPicPr preferRelativeResize="0"/>
          <p:nvPr/>
        </p:nvPicPr>
        <p:blipFill rotWithShape="1">
          <a:blip r:embed="rId3">
            <a:alphaModFix/>
          </a:blip>
          <a:srcRect b="0" l="0" r="0" t="0"/>
          <a:stretch/>
        </p:blipFill>
        <p:spPr>
          <a:xfrm>
            <a:off x="406451" y="12242800"/>
            <a:ext cx="965321" cy="1016000"/>
          </a:xfrm>
          <a:prstGeom prst="rect">
            <a:avLst/>
          </a:prstGeom>
          <a:noFill/>
          <a:ln>
            <a:noFill/>
          </a:ln>
        </p:spPr>
      </p:pic>
      <p:pic>
        <p:nvPicPr>
          <p:cNvPr descr=" " id="641" name="Google Shape;641;g3c33024ce86_0_220"/>
          <p:cNvPicPr preferRelativeResize="0"/>
          <p:nvPr/>
        </p:nvPicPr>
        <p:blipFill rotWithShape="1">
          <a:blip r:embed="rId4">
            <a:alphaModFix/>
          </a:blip>
          <a:srcRect b="0" l="0" r="0" t="0"/>
          <a:stretch/>
        </p:blipFill>
        <p:spPr>
          <a:xfrm>
            <a:off x="538084" y="12381347"/>
            <a:ext cx="702051" cy="738907"/>
          </a:xfrm>
          <a:prstGeom prst="rect">
            <a:avLst/>
          </a:prstGeom>
          <a:noFill/>
          <a:ln>
            <a:noFill/>
          </a:ln>
        </p:spPr>
      </p:pic>
      <p:sp>
        <p:nvSpPr>
          <p:cNvPr id="642" name="Google Shape;642;g3c33024ce86_0_220"/>
          <p:cNvSpPr/>
          <p:nvPr/>
        </p:nvSpPr>
        <p:spPr>
          <a:xfrm>
            <a:off x="0" y="0"/>
            <a:ext cx="96150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647" name="Shape 647"/>
        <p:cNvGrpSpPr/>
        <p:nvPr/>
      </p:nvGrpSpPr>
      <p:grpSpPr>
        <a:xfrm>
          <a:off x="0" y="0"/>
          <a:ext cx="0" cy="0"/>
          <a:chOff x="0" y="0"/>
          <a:chExt cx="0" cy="0"/>
        </a:xfrm>
      </p:grpSpPr>
      <p:pic>
        <p:nvPicPr>
          <p:cNvPr descr=" " id="648" name="Google Shape;648;g3c33024ce86_0_33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649" name="Google Shape;649;g3c33024ce86_0_33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650" name="Google Shape;650;g3c33024ce86_0_33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651" name="Google Shape;651;g3c33024ce86_0_33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c33024ce86_0_33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653" name="Google Shape;653;g3c33024ce86_0_33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Genel Performans Metrikleri</a:t>
            </a:r>
            <a:endParaRPr b="1" i="0" sz="5500" u="none" cap="none" strike="noStrike">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654" name="Google Shape;654;g3c33024ce86_0_338" title="Chart"/>
          <p:cNvPicPr preferRelativeResize="0"/>
          <p:nvPr/>
        </p:nvPicPr>
        <p:blipFill rotWithShape="1">
          <a:blip r:embed="rId6">
            <a:alphaModFix/>
          </a:blip>
          <a:srcRect b="7969" l="0" r="0" t="0"/>
          <a:stretch/>
        </p:blipFill>
        <p:spPr>
          <a:xfrm>
            <a:off x="3280375" y="2451750"/>
            <a:ext cx="17826427" cy="6769149"/>
          </a:xfrm>
          <a:prstGeom prst="rect">
            <a:avLst/>
          </a:prstGeom>
          <a:noFill/>
          <a:ln>
            <a:noFill/>
          </a:ln>
        </p:spPr>
      </p:pic>
      <p:sp>
        <p:nvSpPr>
          <p:cNvPr id="655" name="Google Shape;655;g3c33024ce86_0_338"/>
          <p:cNvSpPr txBox="1"/>
          <p:nvPr/>
        </p:nvSpPr>
        <p:spPr>
          <a:xfrm>
            <a:off x="21386800" y="7753800"/>
            <a:ext cx="2620200" cy="6156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800">
                <a:solidFill>
                  <a:srgbClr val="10332F"/>
                </a:solidFill>
                <a:latin typeface="Bricolage Grotesque"/>
                <a:ea typeface="Bricolage Grotesque"/>
                <a:cs typeface="Bricolage Grotesque"/>
                <a:sym typeface="Bricolage Grotesque"/>
              </a:rPr>
              <a:t>Hedef: </a:t>
            </a:r>
            <a:r>
              <a:rPr lang="en-US" sz="2800">
                <a:solidFill>
                  <a:srgbClr val="10332F"/>
                </a:solidFill>
                <a:latin typeface="Bricolage Grotesque"/>
                <a:ea typeface="Bricolage Grotesque"/>
                <a:cs typeface="Bricolage Grotesque"/>
                <a:sym typeface="Bricolage Grotesque"/>
              </a:rPr>
              <a:t>75</a:t>
            </a:r>
            <a:r>
              <a:rPr lang="en-US" sz="2800">
                <a:solidFill>
                  <a:srgbClr val="10332F"/>
                </a:solidFill>
                <a:latin typeface="Bricolage Grotesque"/>
                <a:ea typeface="Bricolage Grotesque"/>
                <a:cs typeface="Bricolage Grotesque"/>
                <a:sym typeface="Bricolage Grotesque"/>
              </a:rPr>
              <a:t>0K</a:t>
            </a:r>
            <a:endParaRPr sz="1900"/>
          </a:p>
        </p:txBody>
      </p:sp>
      <p:sp>
        <p:nvSpPr>
          <p:cNvPr id="656" name="Google Shape;656;g3c33024ce86_0_338"/>
          <p:cNvSpPr txBox="1"/>
          <p:nvPr/>
        </p:nvSpPr>
        <p:spPr>
          <a:xfrm>
            <a:off x="2895838" y="9714550"/>
            <a:ext cx="18595500" cy="240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chemeClr val="dk1"/>
                </a:solidFill>
                <a:latin typeface="Bricolage Grotesque"/>
                <a:ea typeface="Bricolage Grotesque"/>
                <a:cs typeface="Bricolage Grotesque"/>
                <a:sym typeface="Bricolage Grotesque"/>
              </a:rPr>
              <a:t>Yıl boyunca </a:t>
            </a:r>
            <a:r>
              <a:rPr b="1" lang="en-US" sz="2400">
                <a:solidFill>
                  <a:schemeClr val="dk1"/>
                </a:solidFill>
                <a:latin typeface="Bricolage Grotesque"/>
                <a:ea typeface="Bricolage Grotesque"/>
                <a:cs typeface="Bricolage Grotesque"/>
                <a:sym typeface="Bricolage Grotesque"/>
              </a:rPr>
              <a:t>organik gösterimler ve tıklamalar istikrarlı bir artış eğilimi</a:t>
            </a:r>
            <a:r>
              <a:rPr lang="en-US" sz="2400">
                <a:solidFill>
                  <a:schemeClr val="dk1"/>
                </a:solidFill>
                <a:latin typeface="Bricolage Grotesque"/>
                <a:ea typeface="Bricolage Grotesque"/>
                <a:cs typeface="Bricolage Grotesque"/>
                <a:sym typeface="Bricolage Grotesque"/>
              </a:rPr>
              <a:t> sergilemiştir. Özellikle yılın ikinci yarısında, </a:t>
            </a:r>
            <a:r>
              <a:rPr b="1" lang="en-US" sz="2400">
                <a:solidFill>
                  <a:schemeClr val="dk1"/>
                </a:solidFill>
                <a:latin typeface="Bricolage Grotesque"/>
                <a:ea typeface="Bricolage Grotesque"/>
                <a:cs typeface="Bricolage Grotesque"/>
                <a:sym typeface="Bricolage Grotesque"/>
              </a:rPr>
              <a:t>organik görünürlükte belirgin bir ivmelenme</a:t>
            </a:r>
            <a:r>
              <a:rPr lang="en-US" sz="2400">
                <a:solidFill>
                  <a:schemeClr val="dk1"/>
                </a:solidFill>
                <a:latin typeface="Bricolage Grotesque"/>
                <a:ea typeface="Bricolage Grotesque"/>
                <a:cs typeface="Bricolage Grotesque"/>
                <a:sym typeface="Bricolage Grotesque"/>
              </a:rPr>
              <a:t> gözlemlenmiştir.</a:t>
            </a:r>
            <a:endParaRPr sz="24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400">
                <a:solidFill>
                  <a:schemeClr val="dk1"/>
                </a:solidFill>
                <a:latin typeface="Bricolage Grotesque"/>
                <a:ea typeface="Bricolage Grotesque"/>
                <a:cs typeface="Bricolage Grotesque"/>
                <a:sym typeface="Bricolage Grotesque"/>
              </a:rPr>
              <a:t>Son çeyrekte gerçekleştirilen </a:t>
            </a:r>
            <a:r>
              <a:rPr b="1" lang="en-US" sz="2400">
                <a:solidFill>
                  <a:schemeClr val="dk1"/>
                </a:solidFill>
                <a:latin typeface="Bricolage Grotesque"/>
                <a:ea typeface="Bricolage Grotesque"/>
                <a:cs typeface="Bricolage Grotesque"/>
                <a:sym typeface="Bricolage Grotesque"/>
              </a:rPr>
              <a:t>m.superonline’dan www.superonline’a geçiş</a:t>
            </a:r>
            <a:r>
              <a:rPr lang="en-US" sz="2400">
                <a:solidFill>
                  <a:schemeClr val="dk1"/>
                </a:solidFill>
                <a:latin typeface="Bricolage Grotesque"/>
                <a:ea typeface="Bricolage Grotesque"/>
                <a:cs typeface="Bricolage Grotesque"/>
                <a:sym typeface="Bricolage Grotesque"/>
              </a:rPr>
              <a:t>, metriklerde </a:t>
            </a:r>
            <a:r>
              <a:rPr b="1" lang="en-US" sz="2400">
                <a:solidFill>
                  <a:schemeClr val="dk1"/>
                </a:solidFill>
                <a:latin typeface="Bricolage Grotesque"/>
                <a:ea typeface="Bricolage Grotesque"/>
                <a:cs typeface="Bricolage Grotesque"/>
                <a:sym typeface="Bricolage Grotesque"/>
              </a:rPr>
              <a:t>kısa vadeli dalgalanmalara</a:t>
            </a:r>
            <a:r>
              <a:rPr lang="en-US" sz="2400">
                <a:solidFill>
                  <a:schemeClr val="dk1"/>
                </a:solidFill>
                <a:latin typeface="Bricolage Grotesque"/>
                <a:ea typeface="Bricolage Grotesque"/>
                <a:cs typeface="Bricolage Grotesque"/>
                <a:sym typeface="Bricolage Grotesque"/>
              </a:rPr>
              <a:t> yol açsa da, toplam performans üzerinde </a:t>
            </a:r>
            <a:r>
              <a:rPr b="1" lang="en-US" sz="2400">
                <a:solidFill>
                  <a:schemeClr val="dk1"/>
                </a:solidFill>
                <a:latin typeface="Bricolage Grotesque"/>
                <a:ea typeface="Bricolage Grotesque"/>
                <a:cs typeface="Bricolage Grotesque"/>
                <a:sym typeface="Bricolage Grotesque"/>
              </a:rPr>
              <a:t>agresif</a:t>
            </a:r>
            <a:r>
              <a:rPr b="1" lang="en-US" sz="2400">
                <a:solidFill>
                  <a:schemeClr val="dk1"/>
                </a:solidFill>
                <a:latin typeface="Bricolage Grotesque"/>
                <a:ea typeface="Bricolage Grotesque"/>
                <a:cs typeface="Bricolage Grotesque"/>
                <a:sym typeface="Bricolage Grotesque"/>
              </a:rPr>
              <a:t> bir negatif etki yaratmamıştır</a:t>
            </a:r>
            <a:r>
              <a:rPr lang="en-US" sz="2400">
                <a:solidFill>
                  <a:schemeClr val="dk1"/>
                </a:solidFill>
                <a:latin typeface="Bricolage Grotesque"/>
                <a:ea typeface="Bricolage Grotesque"/>
                <a:cs typeface="Bricolage Grotesque"/>
                <a:sym typeface="Bricolage Grotesque"/>
              </a:rPr>
              <a:t>. Aksine, geçiş sonrası dönemde </a:t>
            </a:r>
            <a:r>
              <a:rPr b="1" lang="en-US" sz="2400">
                <a:solidFill>
                  <a:schemeClr val="dk1"/>
                </a:solidFill>
                <a:latin typeface="Bricolage Grotesque"/>
                <a:ea typeface="Bricolage Grotesque"/>
                <a:cs typeface="Bricolage Grotesque"/>
                <a:sym typeface="Bricolage Grotesque"/>
              </a:rPr>
              <a:t>görünürlük ve tıklama seviyeleri yeniden stabil hale gelmiş</a:t>
            </a:r>
            <a:r>
              <a:rPr lang="en-US" sz="2400">
                <a:solidFill>
                  <a:schemeClr val="dk1"/>
                </a:solidFill>
                <a:latin typeface="Bricolage Grotesque"/>
                <a:ea typeface="Bricolage Grotesque"/>
                <a:cs typeface="Bricolage Grotesque"/>
                <a:sym typeface="Bricolage Grotesque"/>
              </a:rPr>
              <a:t>, artış trendi korunmuştur.</a:t>
            </a:r>
            <a:endParaRPr sz="2400">
              <a:solidFill>
                <a:schemeClr val="dk1"/>
              </a:solidFill>
              <a:latin typeface="Bricolage Grotesque"/>
              <a:ea typeface="Bricolage Grotesque"/>
              <a:cs typeface="Bricolage Grotesque"/>
              <a:sym typeface="Bricolage Grotesque"/>
            </a:endParaRPr>
          </a:p>
        </p:txBody>
      </p:sp>
      <p:sp>
        <p:nvSpPr>
          <p:cNvPr id="657" name="Google Shape;657;g3c33024ce86_0_338"/>
          <p:cNvSpPr/>
          <p:nvPr/>
        </p:nvSpPr>
        <p:spPr>
          <a:xfrm>
            <a:off x="20110800" y="1489725"/>
            <a:ext cx="4011300" cy="1665900"/>
          </a:xfrm>
          <a:prstGeom prst="wedgeRectCallout">
            <a:avLst>
              <a:gd fmla="val -20833" name="adj1"/>
              <a:gd fmla="val 625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200">
                <a:solidFill>
                  <a:schemeClr val="dk1"/>
                </a:solidFill>
                <a:latin typeface="Bricolage Grotesque"/>
                <a:ea typeface="Bricolage Grotesque"/>
                <a:cs typeface="Bricolage Grotesque"/>
                <a:sym typeface="Bricolage Grotesque"/>
              </a:rPr>
              <a:t>YoY </a:t>
            </a:r>
            <a:r>
              <a:rPr b="1" lang="en-US" sz="3200">
                <a:solidFill>
                  <a:schemeClr val="accent6"/>
                </a:solidFill>
                <a:latin typeface="Bricolage Grotesque"/>
                <a:ea typeface="Bricolage Grotesque"/>
                <a:cs typeface="Bricolage Grotesque"/>
                <a:sym typeface="Bricolage Grotesque"/>
              </a:rPr>
              <a:t>%37</a:t>
            </a:r>
            <a:r>
              <a:rPr lang="en-US" sz="3200">
                <a:solidFill>
                  <a:schemeClr val="dk1"/>
                </a:solidFill>
                <a:latin typeface="Bricolage Grotesque"/>
                <a:ea typeface="Bricolage Grotesque"/>
                <a:cs typeface="Bricolage Grotesque"/>
                <a:sym typeface="Bricolage Grotesque"/>
              </a:rPr>
              <a:t> click artışı</a:t>
            </a:r>
            <a:endParaRPr b="1" sz="3200">
              <a:solidFill>
                <a:srgbClr val="FF0000"/>
              </a:solidFill>
              <a:latin typeface="Bricolage Grotesque"/>
              <a:ea typeface="Bricolage Grotesque"/>
              <a:cs typeface="Bricolage Grotesque"/>
              <a:sym typeface="Bricolage Grotesque"/>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662" name="Shape 662"/>
        <p:cNvGrpSpPr/>
        <p:nvPr/>
      </p:nvGrpSpPr>
      <p:grpSpPr>
        <a:xfrm>
          <a:off x="0" y="0"/>
          <a:ext cx="0" cy="0"/>
          <a:chOff x="0" y="0"/>
          <a:chExt cx="0" cy="0"/>
        </a:xfrm>
      </p:grpSpPr>
      <p:pic>
        <p:nvPicPr>
          <p:cNvPr descr=" " id="663" name="Google Shape;663;g3c33024ce86_0_34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664" name="Google Shape;664;g3c33024ce86_0_34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665" name="Google Shape;665;g3c33024ce86_0_34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666" name="Google Shape;666;g3c33024ce86_0_34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3c33024ce86_0_34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668" name="Google Shape;668;g3c33024ce86_0_34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Nonbranded / Branded Kırılım</a:t>
            </a:r>
            <a:endParaRPr b="1" i="0" sz="5500" u="none" cap="none" strike="noStrike">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669" name="Google Shape;669;g3c33024ce86_0_348" title="Chart"/>
          <p:cNvPicPr preferRelativeResize="0"/>
          <p:nvPr/>
        </p:nvPicPr>
        <p:blipFill rotWithShape="1">
          <a:blip r:embed="rId6">
            <a:alphaModFix/>
          </a:blip>
          <a:srcRect b="8037" l="0" r="0" t="0"/>
          <a:stretch/>
        </p:blipFill>
        <p:spPr>
          <a:xfrm>
            <a:off x="4267637" y="2448575"/>
            <a:ext cx="15851899" cy="6555600"/>
          </a:xfrm>
          <a:prstGeom prst="rect">
            <a:avLst/>
          </a:prstGeom>
          <a:noFill/>
          <a:ln>
            <a:noFill/>
          </a:ln>
        </p:spPr>
      </p:pic>
      <p:sp>
        <p:nvSpPr>
          <p:cNvPr id="670" name="Google Shape;670;g3c33024ce86_0_348"/>
          <p:cNvSpPr txBox="1"/>
          <p:nvPr/>
        </p:nvSpPr>
        <p:spPr>
          <a:xfrm>
            <a:off x="3019150" y="9620475"/>
            <a:ext cx="19161900" cy="328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Non-branded tarafta özellikle </a:t>
            </a:r>
            <a:r>
              <a:rPr b="1" lang="en-US" sz="2300">
                <a:solidFill>
                  <a:schemeClr val="dk1"/>
                </a:solidFill>
                <a:latin typeface="Bricolage Grotesque"/>
                <a:ea typeface="Bricolage Grotesque"/>
                <a:cs typeface="Bricolage Grotesque"/>
                <a:sym typeface="Bricolage Grotesque"/>
              </a:rPr>
              <a:t>speedtest, hız testi ve IP bazlı sorguların</a:t>
            </a:r>
            <a:r>
              <a:rPr lang="en-US" sz="2300">
                <a:solidFill>
                  <a:schemeClr val="dk1"/>
                </a:solidFill>
                <a:latin typeface="Bricolage Grotesque"/>
                <a:ea typeface="Bricolage Grotesque"/>
                <a:cs typeface="Bricolage Grotesque"/>
                <a:sym typeface="Bricolage Grotesque"/>
              </a:rPr>
              <a:t> katkısıyla </a:t>
            </a:r>
            <a:r>
              <a:rPr b="1" lang="en-US" sz="2300">
                <a:solidFill>
                  <a:schemeClr val="dk1"/>
                </a:solidFill>
                <a:latin typeface="Bricolage Grotesque"/>
                <a:ea typeface="Bricolage Grotesque"/>
                <a:cs typeface="Bricolage Grotesque"/>
                <a:sym typeface="Bricolage Grotesque"/>
              </a:rPr>
              <a:t>belirgin bir büyüme</a:t>
            </a:r>
            <a:r>
              <a:rPr lang="en-US" sz="2300">
                <a:solidFill>
                  <a:schemeClr val="dk1"/>
                </a:solidFill>
                <a:latin typeface="Bricolage Grotesque"/>
                <a:ea typeface="Bricolage Grotesque"/>
                <a:cs typeface="Bricolage Grotesque"/>
                <a:sym typeface="Bricolage Grotesque"/>
              </a:rPr>
              <a:t> gözlemlenmektedir. Bu sorgular, yüksek hacimleri ve sürekli kullanım davranışı sayesinde </a:t>
            </a:r>
            <a:r>
              <a:rPr b="1" lang="en-US" sz="2300">
                <a:solidFill>
                  <a:schemeClr val="dk1"/>
                </a:solidFill>
                <a:latin typeface="Bricolage Grotesque"/>
                <a:ea typeface="Bricolage Grotesque"/>
                <a:cs typeface="Bricolage Grotesque"/>
                <a:sym typeface="Bricolage Grotesque"/>
              </a:rPr>
              <a:t>toplam trafik hacmini ve pozisyon dağılımını olumlu yönde etkilemiştir</a:t>
            </a:r>
            <a:r>
              <a:rPr lang="en-US" sz="2300">
                <a:solidFill>
                  <a:schemeClr val="dk1"/>
                </a:solidFill>
                <a:latin typeface="Bricolage Grotesque"/>
                <a:ea typeface="Bricolage Grotesque"/>
                <a:cs typeface="Bricolage Grotesque"/>
                <a:sym typeface="Bricolage Grotesque"/>
              </a:rPr>
              <a:t>.</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Buna karşılık, </a:t>
            </a:r>
            <a:r>
              <a:rPr b="1" lang="en-US" sz="2300">
                <a:solidFill>
                  <a:schemeClr val="dk1"/>
                </a:solidFill>
                <a:latin typeface="Bricolage Grotesque"/>
                <a:ea typeface="Bricolage Grotesque"/>
                <a:cs typeface="Bricolage Grotesque"/>
                <a:sym typeface="Bricolage Grotesque"/>
              </a:rPr>
              <a:t>branded sorgulardan gelen trafik özellikle son çeyrekte düşüş göstermektedir</a:t>
            </a:r>
            <a:r>
              <a:rPr lang="en-US" sz="2300">
                <a:solidFill>
                  <a:schemeClr val="dk1"/>
                </a:solidFill>
                <a:latin typeface="Bricolage Grotesque"/>
                <a:ea typeface="Bricolage Grotesque"/>
                <a:cs typeface="Bricolage Grotesque"/>
                <a:sym typeface="Bricolage Grotesque"/>
              </a:rPr>
              <a:t>. H1–H2 karşılaştırmasında en çok düşüş yaşayan sorgular incelendiğinde, </a:t>
            </a:r>
            <a:r>
              <a:rPr b="1" lang="en-US" sz="2300">
                <a:solidFill>
                  <a:schemeClr val="dk1"/>
                </a:solidFill>
                <a:latin typeface="Bricolage Grotesque"/>
                <a:ea typeface="Bricolage Grotesque"/>
                <a:cs typeface="Bricolage Grotesque"/>
                <a:sym typeface="Bricolage Grotesque"/>
              </a:rPr>
              <a:t>Top 10’un tamamının branded kelimelerden oluşması</a:t>
            </a:r>
            <a:r>
              <a:rPr lang="en-US" sz="2300">
                <a:solidFill>
                  <a:schemeClr val="dk1"/>
                </a:solidFill>
                <a:latin typeface="Bricolage Grotesque"/>
                <a:ea typeface="Bricolage Grotesque"/>
                <a:cs typeface="Bricolage Grotesque"/>
                <a:sym typeface="Bricolage Grotesque"/>
              </a:rPr>
              <a:t>, bu trendi net biçimde ortaya koymaktadır.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solidFill>
                  <a:schemeClr val="dk1"/>
                </a:solidFill>
                <a:latin typeface="Bricolage Grotesque"/>
                <a:ea typeface="Bricolage Grotesque"/>
                <a:cs typeface="Bricolage Grotesque"/>
                <a:sym typeface="Bricolage Grotesque"/>
              </a:rPr>
              <a:t>Genel tablo, büyümenin ağırlıklı olarak </a:t>
            </a:r>
            <a:r>
              <a:rPr b="1" lang="en-US" sz="2300">
                <a:solidFill>
                  <a:schemeClr val="dk1"/>
                </a:solidFill>
                <a:latin typeface="Bricolage Grotesque"/>
                <a:ea typeface="Bricolage Grotesque"/>
                <a:cs typeface="Bricolage Grotesque"/>
                <a:sym typeface="Bricolage Grotesque"/>
              </a:rPr>
              <a:t>non-branded ve bilgilendirici/araç odaklı sorgulardan</a:t>
            </a:r>
            <a:r>
              <a:rPr lang="en-US" sz="2300">
                <a:solidFill>
                  <a:schemeClr val="dk1"/>
                </a:solidFill>
                <a:latin typeface="Bricolage Grotesque"/>
                <a:ea typeface="Bricolage Grotesque"/>
                <a:cs typeface="Bricolage Grotesque"/>
                <a:sym typeface="Bricolage Grotesque"/>
              </a:rPr>
              <a:t> geldiğini; branded tarafta ise </a:t>
            </a:r>
            <a:r>
              <a:rPr b="1" lang="en-US" sz="2300">
                <a:solidFill>
                  <a:schemeClr val="dk1"/>
                </a:solidFill>
                <a:latin typeface="Bricolage Grotesque"/>
                <a:ea typeface="Bricolage Grotesque"/>
                <a:cs typeface="Bricolage Grotesque"/>
                <a:sym typeface="Bricolage Grotesque"/>
              </a:rPr>
              <a:t>talep veya davranış kaynaklı bir yavaşlama</a:t>
            </a:r>
            <a:r>
              <a:rPr lang="en-US" sz="2300">
                <a:solidFill>
                  <a:schemeClr val="dk1"/>
                </a:solidFill>
                <a:latin typeface="Bricolage Grotesque"/>
                <a:ea typeface="Bricolage Grotesque"/>
                <a:cs typeface="Bricolage Grotesque"/>
                <a:sym typeface="Bricolage Grotesque"/>
              </a:rPr>
              <a:t> yaşandığını göstermektedir. Bu durum, toplam performansı desteklemekle birlikte </a:t>
            </a:r>
            <a:r>
              <a:rPr b="1" lang="en-US" sz="2300">
                <a:solidFill>
                  <a:schemeClr val="dk1"/>
                </a:solidFill>
                <a:latin typeface="Bricolage Grotesque"/>
                <a:ea typeface="Bricolage Grotesque"/>
                <a:cs typeface="Bricolage Grotesque"/>
                <a:sym typeface="Bricolage Grotesque"/>
              </a:rPr>
              <a:t>marka kaynaklı trafiğin yeniden dengelenmesi için ek aksiyon alanı</a:t>
            </a:r>
            <a:r>
              <a:rPr lang="en-US" sz="2300">
                <a:solidFill>
                  <a:schemeClr val="dk1"/>
                </a:solidFill>
                <a:latin typeface="Bricolage Grotesque"/>
                <a:ea typeface="Bricolage Grotesque"/>
                <a:cs typeface="Bricolage Grotesque"/>
                <a:sym typeface="Bricolage Grotesque"/>
              </a:rPr>
              <a:t> bulunduğuna işaret etmektedir.</a:t>
            </a:r>
            <a:endParaRPr sz="2300">
              <a:solidFill>
                <a:schemeClr val="dk1"/>
              </a:solidFill>
              <a:latin typeface="Bricolage Grotesque"/>
              <a:ea typeface="Bricolage Grotesque"/>
              <a:cs typeface="Bricolage Grotesque"/>
              <a:sym typeface="Bricolage Grotesque"/>
            </a:endParaRPr>
          </a:p>
        </p:txBody>
      </p:sp>
      <p:sp>
        <p:nvSpPr>
          <p:cNvPr id="671" name="Google Shape;671;g3c33024ce86_0_348"/>
          <p:cNvSpPr/>
          <p:nvPr/>
        </p:nvSpPr>
        <p:spPr>
          <a:xfrm>
            <a:off x="19794600" y="1059700"/>
            <a:ext cx="4327500" cy="2095800"/>
          </a:xfrm>
          <a:prstGeom prst="wedgeRectCallout">
            <a:avLst>
              <a:gd fmla="val -20833" name="adj1"/>
              <a:gd fmla="val 625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200">
                <a:solidFill>
                  <a:schemeClr val="dk1"/>
                </a:solidFill>
                <a:latin typeface="Bricolage Grotesque"/>
                <a:ea typeface="Bricolage Grotesque"/>
                <a:cs typeface="Bricolage Grotesque"/>
                <a:sym typeface="Bricolage Grotesque"/>
              </a:rPr>
              <a:t>Branded hacimde YoY </a:t>
            </a:r>
            <a:r>
              <a:rPr b="1" lang="en-US" sz="3200">
                <a:solidFill>
                  <a:srgbClr val="FF0000"/>
                </a:solidFill>
                <a:latin typeface="Bricolage Grotesque"/>
                <a:ea typeface="Bricolage Grotesque"/>
                <a:cs typeface="Bricolage Grotesque"/>
                <a:sym typeface="Bricolage Grotesque"/>
              </a:rPr>
              <a:t>%18 daralma</a:t>
            </a:r>
            <a:endParaRPr b="1" sz="3200">
              <a:solidFill>
                <a:srgbClr val="FF0000"/>
              </a:solidFill>
              <a:latin typeface="Bricolage Grotesque"/>
              <a:ea typeface="Bricolage Grotesque"/>
              <a:cs typeface="Bricolage Grotesque"/>
              <a:sym typeface="Bricolage Grotesque"/>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676" name="Shape 676"/>
        <p:cNvGrpSpPr/>
        <p:nvPr/>
      </p:nvGrpSpPr>
      <p:grpSpPr>
        <a:xfrm>
          <a:off x="0" y="0"/>
          <a:ext cx="0" cy="0"/>
          <a:chOff x="0" y="0"/>
          <a:chExt cx="0" cy="0"/>
        </a:xfrm>
      </p:grpSpPr>
      <p:pic>
        <p:nvPicPr>
          <p:cNvPr descr=" " id="677" name="Google Shape;677;g3c33024ce86_0_35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678" name="Google Shape;678;g3c33024ce86_0_35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679" name="Google Shape;679;g3c33024ce86_0_35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680" name="Google Shape;680;g3c33024ce86_0_35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3c33024ce86_0_35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682" name="Google Shape;682;g3c33024ce86_0_35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Pozisyon Aralığına Göre Kelime Sayısı Dağılımı</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683" name="Google Shape;683;g3c33024ce86_0_358"/>
          <p:cNvSpPr/>
          <p:nvPr/>
        </p:nvSpPr>
        <p:spPr>
          <a:xfrm>
            <a:off x="19750875" y="5086450"/>
            <a:ext cx="965400" cy="738900"/>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g3c33024ce86_0_358"/>
          <p:cNvSpPr/>
          <p:nvPr/>
        </p:nvSpPr>
        <p:spPr>
          <a:xfrm>
            <a:off x="538075" y="3234400"/>
            <a:ext cx="15474300" cy="4602300"/>
          </a:xfrm>
          <a:prstGeom prst="rect">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85" name="Google Shape;685;g3c33024ce86_0_358"/>
          <p:cNvGrpSpPr/>
          <p:nvPr/>
        </p:nvGrpSpPr>
        <p:grpSpPr>
          <a:xfrm>
            <a:off x="538075" y="3243650"/>
            <a:ext cx="15474298" cy="4320425"/>
            <a:chOff x="538075" y="3243650"/>
            <a:chExt cx="15474298" cy="4320425"/>
          </a:xfrm>
        </p:grpSpPr>
        <p:pic>
          <p:nvPicPr>
            <p:cNvPr id="686" name="Google Shape;686;g3c33024ce86_0_358"/>
            <p:cNvPicPr preferRelativeResize="0"/>
            <p:nvPr/>
          </p:nvPicPr>
          <p:blipFill rotWithShape="1">
            <a:blip r:embed="rId6">
              <a:alphaModFix/>
            </a:blip>
            <a:srcRect b="0" l="0" r="94576" t="0"/>
            <a:stretch/>
          </p:blipFill>
          <p:spPr>
            <a:xfrm>
              <a:off x="538075" y="3243650"/>
              <a:ext cx="1363425" cy="4320425"/>
            </a:xfrm>
            <a:prstGeom prst="rect">
              <a:avLst/>
            </a:prstGeom>
            <a:noFill/>
            <a:ln>
              <a:noFill/>
            </a:ln>
          </p:spPr>
        </p:pic>
        <p:pic>
          <p:nvPicPr>
            <p:cNvPr id="687" name="Google Shape;687;g3c33024ce86_0_358"/>
            <p:cNvPicPr preferRelativeResize="0"/>
            <p:nvPr/>
          </p:nvPicPr>
          <p:blipFill rotWithShape="1">
            <a:blip r:embed="rId6">
              <a:alphaModFix/>
            </a:blip>
            <a:srcRect b="0" l="43864" r="0" t="0"/>
            <a:stretch/>
          </p:blipFill>
          <p:spPr>
            <a:xfrm>
              <a:off x="1901500" y="3243650"/>
              <a:ext cx="14110874" cy="4320425"/>
            </a:xfrm>
            <a:prstGeom prst="rect">
              <a:avLst/>
            </a:prstGeom>
            <a:noFill/>
            <a:ln>
              <a:noFill/>
            </a:ln>
          </p:spPr>
        </p:pic>
        <p:pic>
          <p:nvPicPr>
            <p:cNvPr id="688" name="Google Shape;688;g3c33024ce86_0_358"/>
            <p:cNvPicPr preferRelativeResize="0"/>
            <p:nvPr/>
          </p:nvPicPr>
          <p:blipFill rotWithShape="1">
            <a:blip r:embed="rId6">
              <a:alphaModFix/>
            </a:blip>
            <a:srcRect b="79383" l="0" r="65419" t="0"/>
            <a:stretch/>
          </p:blipFill>
          <p:spPr>
            <a:xfrm>
              <a:off x="696075" y="3338725"/>
              <a:ext cx="8692598" cy="890725"/>
            </a:xfrm>
            <a:prstGeom prst="rect">
              <a:avLst/>
            </a:prstGeom>
            <a:noFill/>
            <a:ln>
              <a:noFill/>
            </a:ln>
          </p:spPr>
        </p:pic>
      </p:grpSp>
      <p:sp>
        <p:nvSpPr>
          <p:cNvPr id="689" name="Google Shape;689;g3c33024ce86_0_358"/>
          <p:cNvSpPr txBox="1"/>
          <p:nvPr/>
        </p:nvSpPr>
        <p:spPr>
          <a:xfrm>
            <a:off x="538075" y="8654575"/>
            <a:ext cx="22935300" cy="247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Son dönemde kurumsal internet, fiber internet ve hız testi odaklı sorgular ile bunların varyasyonları, hem yeni eklenen hem de pozisyonunu iyileştiren kelimeler arasında belirgin şekilde öne çıkmaktadır.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Bu sorguların artışı, özellikle non-branded ve yüksek niyetli aramalarda görünürlüğün güçlendiğini ve ilk sayfa penetrasyonunun genişlediğini göstermektedir.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300">
                <a:solidFill>
                  <a:schemeClr val="dk1"/>
                </a:solidFill>
                <a:latin typeface="Bricolage Grotesque"/>
                <a:ea typeface="Bricolage Grotesque"/>
                <a:cs typeface="Bricolage Grotesque"/>
                <a:sym typeface="Bricolage Grotesque"/>
              </a:rPr>
              <a:t>Genel tablo, büyümenin araç/servis odaklı ve karar destekleyici sorgulardan geldiğini; bu alanlarda ek optimizasyonla Top 3 potansiyelinin yüksek olduğunu ortaya koymaktadır.</a:t>
            </a:r>
            <a:endParaRPr sz="2300">
              <a:solidFill>
                <a:schemeClr val="dk1"/>
              </a:solidFill>
              <a:latin typeface="Bricolage Grotesque"/>
              <a:ea typeface="Bricolage Grotesque"/>
              <a:cs typeface="Bricolage Grotesque"/>
              <a:sym typeface="Bricolage Grotesque"/>
            </a:endParaRPr>
          </a:p>
        </p:txBody>
      </p:sp>
      <p:pic>
        <p:nvPicPr>
          <p:cNvPr id="690" name="Google Shape;690;g3c33024ce86_0_358"/>
          <p:cNvPicPr preferRelativeResize="0"/>
          <p:nvPr/>
        </p:nvPicPr>
        <p:blipFill>
          <a:blip r:embed="rId7">
            <a:alphaModFix/>
          </a:blip>
          <a:stretch>
            <a:fillRect/>
          </a:stretch>
        </p:blipFill>
        <p:spPr>
          <a:xfrm>
            <a:off x="20821150" y="4221100"/>
            <a:ext cx="2476500" cy="2628900"/>
          </a:xfrm>
          <a:prstGeom prst="rect">
            <a:avLst/>
          </a:prstGeom>
          <a:noFill/>
          <a:ln>
            <a:noFill/>
          </a:ln>
          <a:effectLst>
            <a:outerShdw blurRad="57150" rotWithShape="0" algn="bl" dir="5400000" dist="19050">
              <a:srgbClr val="000000">
                <a:alpha val="50000"/>
              </a:srgbClr>
            </a:outerShdw>
          </a:effectLst>
        </p:spPr>
      </p:pic>
      <p:pic>
        <p:nvPicPr>
          <p:cNvPr id="691" name="Google Shape;691;g3c33024ce86_0_358"/>
          <p:cNvPicPr preferRelativeResize="0"/>
          <p:nvPr/>
        </p:nvPicPr>
        <p:blipFill>
          <a:blip r:embed="rId8">
            <a:alphaModFix/>
          </a:blip>
          <a:stretch>
            <a:fillRect/>
          </a:stretch>
        </p:blipFill>
        <p:spPr>
          <a:xfrm>
            <a:off x="16956700" y="4221100"/>
            <a:ext cx="2514600" cy="2647950"/>
          </a:xfrm>
          <a:prstGeom prst="rect">
            <a:avLst/>
          </a:prstGeom>
          <a:noFill/>
          <a:ln>
            <a:noFill/>
          </a:ln>
          <a:effectLst>
            <a:outerShdw blurRad="57150" rotWithShape="0" algn="bl" dir="5400000" dist="19050">
              <a:srgbClr val="000000">
                <a:alpha val="50000"/>
              </a:srgbClr>
            </a:outerShdw>
          </a:effectLst>
        </p:spPr>
      </p:pic>
      <p:sp>
        <p:nvSpPr>
          <p:cNvPr id="692" name="Google Shape;692;g3c33024ce86_0_358"/>
          <p:cNvSpPr/>
          <p:nvPr/>
        </p:nvSpPr>
        <p:spPr>
          <a:xfrm>
            <a:off x="19794600" y="1059700"/>
            <a:ext cx="4327500" cy="2095800"/>
          </a:xfrm>
          <a:prstGeom prst="wedgeRectCallout">
            <a:avLst>
              <a:gd fmla="val -20833" name="adj1"/>
              <a:gd fmla="val 625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800">
                <a:solidFill>
                  <a:schemeClr val="dk1"/>
                </a:solidFill>
                <a:latin typeface="Bricolage Grotesque"/>
                <a:ea typeface="Bricolage Grotesque"/>
                <a:cs typeface="Bricolage Grotesque"/>
                <a:sym typeface="Bricolage Grotesque"/>
              </a:rPr>
              <a:t>Ocak’26 ile hız testi sayfasında all time record kelime hedefleme</a:t>
            </a:r>
            <a:endParaRPr b="1" sz="2800">
              <a:solidFill>
                <a:srgbClr val="FF0000"/>
              </a:solidFill>
              <a:latin typeface="Bricolage Grotesque"/>
              <a:ea typeface="Bricolage Grotesque"/>
              <a:cs typeface="Bricolage Grotesque"/>
              <a:sym typeface="Bricolage Grotesque"/>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697" name="Shape 697"/>
        <p:cNvGrpSpPr/>
        <p:nvPr/>
      </p:nvGrpSpPr>
      <p:grpSpPr>
        <a:xfrm>
          <a:off x="0" y="0"/>
          <a:ext cx="0" cy="0"/>
          <a:chOff x="0" y="0"/>
          <a:chExt cx="0" cy="0"/>
        </a:xfrm>
      </p:grpSpPr>
      <p:pic>
        <p:nvPicPr>
          <p:cNvPr descr=" " id="698" name="Google Shape;698;g3c33024ce86_0_36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699" name="Google Shape;699;g3c33024ce86_0_36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700" name="Google Shape;700;g3c33024ce86_0_36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701" name="Google Shape;701;g3c33024ce86_0_36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3c33024ce86_0_36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703" name="Google Shape;703;g3c33024ce86_0_36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Anahtar Kelime Highlight’ları</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aphicFrame>
        <p:nvGraphicFramePr>
          <p:cNvPr id="704" name="Google Shape;704;g3c33024ce86_0_368"/>
          <p:cNvGraphicFramePr/>
          <p:nvPr/>
        </p:nvGraphicFramePr>
        <p:xfrm>
          <a:off x="1599500" y="2564750"/>
          <a:ext cx="3000000" cy="3000000"/>
        </p:xfrm>
        <a:graphic>
          <a:graphicData uri="http://schemas.openxmlformats.org/drawingml/2006/table">
            <a:tbl>
              <a:tblPr>
                <a:noFill/>
                <a:tableStyleId>{941C18E8-B15E-492C-9B3D-6656E5B88652}</a:tableStyleId>
              </a:tblPr>
              <a:tblGrid>
                <a:gridCol w="5723650"/>
                <a:gridCol w="2434450"/>
                <a:gridCol w="1755925"/>
                <a:gridCol w="2420700"/>
                <a:gridCol w="2708675"/>
              </a:tblGrid>
              <a:tr h="200025">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Kelime</a:t>
                      </a:r>
                      <a:endParaRPr b="1" sz="2400">
                        <a:solidFill>
                          <a:schemeClr val="lt1"/>
                        </a:solidFill>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Volume</a:t>
                      </a:r>
                      <a:endParaRPr b="1" sz="2400">
                        <a:solidFill>
                          <a:schemeClr val="lt1"/>
                        </a:solidFill>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YoY</a:t>
                      </a:r>
                      <a:endParaRPr b="1" sz="2400">
                        <a:solidFill>
                          <a:schemeClr val="lt1"/>
                        </a:solidFill>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Pozisyon</a:t>
                      </a:r>
                      <a:endParaRPr b="1" sz="2400">
                        <a:solidFill>
                          <a:schemeClr val="lt1"/>
                        </a:solidFill>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400">
                          <a:solidFill>
                            <a:schemeClr val="lt1"/>
                          </a:solidFill>
                          <a:latin typeface="Bricolage Grotesque"/>
                          <a:ea typeface="Bricolage Grotesque"/>
                          <a:cs typeface="Bricolage Grotesque"/>
                          <a:sym typeface="Bricolage Grotesque"/>
                        </a:rPr>
                        <a:t>Pozisyon Artışı</a:t>
                      </a:r>
                      <a:endParaRPr b="1" sz="2400">
                        <a:solidFill>
                          <a:schemeClr val="lt1"/>
                        </a:solidFill>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hız testi</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1.5M</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internet hız testi</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823K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speedtest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60.5K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ip adresi</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74K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+14</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tv+</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90.5K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adsl hız testi</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22.2K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4</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fiber altyapı sorgulama</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27.1K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+49%</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fiber internet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22.2K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sz="2400">
                          <a:solidFill>
                            <a:schemeClr val="dk1"/>
                          </a:solidFill>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sz="2400">
                          <a:solidFill>
                            <a:schemeClr val="dk1"/>
                          </a:solidFill>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hız testi internet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27.1K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+49%</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ip sorgulama</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27.1K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5</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turkcell borç sorgulama</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12.1K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+7</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fiber internet fiyatları</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5.4K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+22</a:t>
                      </a: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+4</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internet neden çekmiyor</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14.8K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8</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+6</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internet altyapı sorgulama</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40.5K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taşınabilir internet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27.1K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+99</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fiber altyapı sorgulama</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27.1K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+49%</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3</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sz="2400">
                          <a:latin typeface="Bricolage Grotesque"/>
                          <a:ea typeface="Bricolage Grotesque"/>
                          <a:cs typeface="Bricolage Grotesque"/>
                          <a:sym typeface="Bricolage Grotesque"/>
                        </a:rPr>
                        <a:t>fiber sorgulama </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4.4K</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sz="2400">
                          <a:solidFill>
                            <a:schemeClr val="dk1"/>
                          </a:solidFill>
                          <a:latin typeface="Bricolage Grotesque"/>
                          <a:ea typeface="Bricolage Grotesque"/>
                          <a:cs typeface="Bricolage Grotesque"/>
                          <a:sym typeface="Bricolage Grotesque"/>
                        </a:rPr>
                        <a:t>–</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400">
                          <a:latin typeface="Bricolage Grotesque"/>
                          <a:ea typeface="Bricolage Grotesque"/>
                          <a:cs typeface="Bricolage Grotesque"/>
                          <a:sym typeface="Bricolage Grotesque"/>
                        </a:rPr>
                        <a:t>2</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lang="en-US" sz="2400">
                          <a:solidFill>
                            <a:schemeClr val="dk1"/>
                          </a:solidFill>
                          <a:latin typeface="Bricolage Grotesque"/>
                          <a:ea typeface="Bricolage Grotesque"/>
                          <a:cs typeface="Bricolage Grotesque"/>
                          <a:sym typeface="Bricolage Grotesque"/>
                        </a:rPr>
                        <a:t>+51</a:t>
                      </a:r>
                      <a:endParaRPr sz="2400">
                        <a:latin typeface="Bricolage Grotesque"/>
                        <a:ea typeface="Bricolage Grotesque"/>
                        <a:cs typeface="Bricolage Grotesque"/>
                        <a:sym typeface="Bricolage Grotesque"/>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705" name="Google Shape;705;g3c33024ce86_0_368"/>
          <p:cNvSpPr txBox="1"/>
          <p:nvPr/>
        </p:nvSpPr>
        <p:spPr>
          <a:xfrm>
            <a:off x="17002275" y="2963225"/>
            <a:ext cx="7151100" cy="873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300">
                <a:solidFill>
                  <a:schemeClr val="dk1"/>
                </a:solidFill>
                <a:latin typeface="Bricolage Grotesque"/>
                <a:ea typeface="Bricolage Grotesque"/>
                <a:cs typeface="Bricolage Grotesque"/>
                <a:sym typeface="Bricolage Grotesque"/>
              </a:rPr>
              <a:t>Hız testi</a:t>
            </a:r>
            <a:r>
              <a:rPr lang="en-US" sz="2300">
                <a:solidFill>
                  <a:schemeClr val="dk1"/>
                </a:solidFill>
                <a:latin typeface="Bricolage Grotesque"/>
                <a:ea typeface="Bricolage Grotesque"/>
                <a:cs typeface="Bricolage Grotesque"/>
                <a:sym typeface="Bricolage Grotesque"/>
              </a:rPr>
              <a:t>, </a:t>
            </a:r>
            <a:r>
              <a:rPr b="1" lang="en-US" sz="2300">
                <a:solidFill>
                  <a:schemeClr val="dk1"/>
                </a:solidFill>
                <a:latin typeface="Bricolage Grotesque"/>
                <a:ea typeface="Bricolage Grotesque"/>
                <a:cs typeface="Bricolage Grotesque"/>
                <a:sym typeface="Bricolage Grotesque"/>
              </a:rPr>
              <a:t>internet hız testi</a:t>
            </a:r>
            <a:r>
              <a:rPr lang="en-US" sz="2300">
                <a:solidFill>
                  <a:schemeClr val="dk1"/>
                </a:solidFill>
                <a:latin typeface="Bricolage Grotesque"/>
                <a:ea typeface="Bricolage Grotesque"/>
                <a:cs typeface="Bricolage Grotesque"/>
                <a:sym typeface="Bricolage Grotesque"/>
              </a:rPr>
              <a:t> ve </a:t>
            </a:r>
            <a:r>
              <a:rPr b="1" lang="en-US" sz="2300">
                <a:solidFill>
                  <a:schemeClr val="dk1"/>
                </a:solidFill>
                <a:latin typeface="Bricolage Grotesque"/>
                <a:ea typeface="Bricolage Grotesque"/>
                <a:cs typeface="Bricolage Grotesque"/>
                <a:sym typeface="Bricolage Grotesque"/>
              </a:rPr>
              <a:t>speedtest</a:t>
            </a:r>
            <a:r>
              <a:rPr lang="en-US" sz="2300">
                <a:solidFill>
                  <a:schemeClr val="dk1"/>
                </a:solidFill>
                <a:latin typeface="Bricolage Grotesque"/>
                <a:ea typeface="Bricolage Grotesque"/>
                <a:cs typeface="Bricolage Grotesque"/>
                <a:sym typeface="Bricolage Grotesque"/>
              </a:rPr>
              <a:t> gibi yüksek hacimli sorgular, hem </a:t>
            </a:r>
            <a:r>
              <a:rPr b="1" lang="en-US" sz="2300">
                <a:solidFill>
                  <a:schemeClr val="dk1"/>
                </a:solidFill>
                <a:latin typeface="Bricolage Grotesque"/>
                <a:ea typeface="Bricolage Grotesque"/>
                <a:cs typeface="Bricolage Grotesque"/>
                <a:sym typeface="Bricolage Grotesque"/>
              </a:rPr>
              <a:t>talep artışı</a:t>
            </a:r>
            <a:r>
              <a:rPr lang="en-US" sz="2300">
                <a:solidFill>
                  <a:schemeClr val="dk1"/>
                </a:solidFill>
                <a:latin typeface="Bricolage Grotesque"/>
                <a:ea typeface="Bricolage Grotesque"/>
                <a:cs typeface="Bricolage Grotesque"/>
                <a:sym typeface="Bricolage Grotesque"/>
              </a:rPr>
              <a:t> hem de </a:t>
            </a:r>
            <a:r>
              <a:rPr b="1" lang="en-US" sz="2300">
                <a:solidFill>
                  <a:schemeClr val="dk1"/>
                </a:solidFill>
                <a:latin typeface="Bricolage Grotesque"/>
                <a:ea typeface="Bricolage Grotesque"/>
                <a:cs typeface="Bricolage Grotesque"/>
                <a:sym typeface="Bricolage Grotesque"/>
              </a:rPr>
              <a:t>pozisyon kazanımları</a:t>
            </a:r>
            <a:r>
              <a:rPr lang="en-US" sz="2300">
                <a:solidFill>
                  <a:schemeClr val="dk1"/>
                </a:solidFill>
                <a:latin typeface="Bricolage Grotesque"/>
                <a:ea typeface="Bricolage Grotesque"/>
                <a:cs typeface="Bricolage Grotesque"/>
                <a:sym typeface="Bricolage Grotesque"/>
              </a:rPr>
              <a:t> ile öne çıkmaktadır. Bu sorguların performansı, non-branded ve araç odaklı aramalarda görünürlüğün güçlendiğini göstermektedir.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Buna paralel olarak </a:t>
            </a:r>
            <a:r>
              <a:rPr b="1" lang="en-US" sz="2300">
                <a:solidFill>
                  <a:schemeClr val="dk1"/>
                </a:solidFill>
                <a:latin typeface="Bricolage Grotesque"/>
                <a:ea typeface="Bricolage Grotesque"/>
                <a:cs typeface="Bricolage Grotesque"/>
                <a:sym typeface="Bricolage Grotesque"/>
              </a:rPr>
              <a:t>altyapı, IP ve taşınabilir internet</a:t>
            </a:r>
            <a:r>
              <a:rPr lang="en-US" sz="2300">
                <a:solidFill>
                  <a:schemeClr val="dk1"/>
                </a:solidFill>
                <a:latin typeface="Bricolage Grotesque"/>
                <a:ea typeface="Bricolage Grotesque"/>
                <a:cs typeface="Bricolage Grotesque"/>
                <a:sym typeface="Bricolage Grotesque"/>
              </a:rPr>
              <a:t> odaklı sorgularda da anlamlı sıralama iyileşmeleri elde edilmiştir. Özellikle </a:t>
            </a:r>
            <a:r>
              <a:rPr b="1" lang="en-US" sz="2300">
                <a:solidFill>
                  <a:schemeClr val="dk1"/>
                </a:solidFill>
                <a:latin typeface="Bricolage Grotesque"/>
                <a:ea typeface="Bricolage Grotesque"/>
                <a:cs typeface="Bricolage Grotesque"/>
                <a:sym typeface="Bricolage Grotesque"/>
              </a:rPr>
              <a:t>taşınabilir internet</a:t>
            </a:r>
            <a:r>
              <a:rPr lang="en-US" sz="2300">
                <a:solidFill>
                  <a:schemeClr val="dk1"/>
                </a:solidFill>
                <a:latin typeface="Bricolage Grotesque"/>
                <a:ea typeface="Bricolage Grotesque"/>
                <a:cs typeface="Bricolage Grotesque"/>
                <a:sym typeface="Bricolage Grotesque"/>
              </a:rPr>
              <a:t> sorgusunda ilk sıraya yükseliş, yüksek niyetli kelimelerde güçlü bir kırılım sağlandığını ortaya koymaktadır.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lang="en-US" sz="2300">
                <a:solidFill>
                  <a:schemeClr val="dk1"/>
                </a:solidFill>
                <a:latin typeface="Bricolage Grotesque"/>
                <a:ea typeface="Bricolage Grotesque"/>
                <a:cs typeface="Bricolage Grotesque"/>
                <a:sym typeface="Bricolage Grotesque"/>
              </a:rPr>
              <a:t>Genel tablo, </a:t>
            </a:r>
            <a:r>
              <a:rPr b="1" lang="en-US" sz="2300">
                <a:solidFill>
                  <a:schemeClr val="dk1"/>
                </a:solidFill>
                <a:latin typeface="Bricolage Grotesque"/>
                <a:ea typeface="Bricolage Grotesque"/>
                <a:cs typeface="Bricolage Grotesque"/>
                <a:sym typeface="Bricolage Grotesque"/>
              </a:rPr>
              <a:t>yüksek hacimli ve bilgilendirici sorguların Top 10 bandında konsolide olduğunu</a:t>
            </a:r>
            <a:r>
              <a:rPr lang="en-US" sz="2300">
                <a:solidFill>
                  <a:schemeClr val="dk1"/>
                </a:solidFill>
                <a:latin typeface="Bricolage Grotesque"/>
                <a:ea typeface="Bricolage Grotesque"/>
                <a:cs typeface="Bricolage Grotesque"/>
                <a:sym typeface="Bricolage Grotesque"/>
              </a:rPr>
              <a:t>, bu kelimelerin önemli bir kısmının </a:t>
            </a:r>
            <a:r>
              <a:rPr b="1" lang="en-US" sz="2300">
                <a:solidFill>
                  <a:schemeClr val="dk1"/>
                </a:solidFill>
                <a:latin typeface="Bricolage Grotesque"/>
                <a:ea typeface="Bricolage Grotesque"/>
                <a:cs typeface="Bricolage Grotesque"/>
                <a:sym typeface="Bricolage Grotesque"/>
              </a:rPr>
              <a:t>Top 3’e taşınabilecek güçlü potansiyele</a:t>
            </a:r>
            <a:r>
              <a:rPr lang="en-US" sz="2300">
                <a:solidFill>
                  <a:schemeClr val="dk1"/>
                </a:solidFill>
                <a:latin typeface="Bricolage Grotesque"/>
                <a:ea typeface="Bricolage Grotesque"/>
                <a:cs typeface="Bricolage Grotesque"/>
                <a:sym typeface="Bricolage Grotesque"/>
              </a:rPr>
              <a:t> sahip olduğunu göstermektedir.</a:t>
            </a:r>
            <a:endParaRPr sz="23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b="1" lang="en-US" sz="2300">
                <a:solidFill>
                  <a:schemeClr val="dk1"/>
                </a:solidFill>
                <a:latin typeface="Bricolage Grotesque"/>
                <a:ea typeface="Bricolage Grotesque"/>
                <a:cs typeface="Bricolage Grotesque"/>
                <a:sym typeface="Bricolage Grotesque"/>
              </a:rPr>
              <a:t>Taşınabilir internet</a:t>
            </a:r>
            <a:r>
              <a:rPr lang="en-US" sz="2300">
                <a:solidFill>
                  <a:schemeClr val="dk1"/>
                </a:solidFill>
                <a:latin typeface="Bricolage Grotesque"/>
                <a:ea typeface="Bricolage Grotesque"/>
                <a:cs typeface="Bricolage Grotesque"/>
                <a:sym typeface="Bricolage Grotesque"/>
              </a:rPr>
              <a:t> tarafında com.tr’nin pozisyon önceliğini hedefliyoruz fakat henüz SoL ile ilk sırada çıktığımızı görmekteyiz.</a:t>
            </a:r>
            <a:endParaRPr sz="2300">
              <a:solidFill>
                <a:schemeClr val="dk1"/>
              </a:solidFill>
              <a:latin typeface="Bricolage Grotesque"/>
              <a:ea typeface="Bricolage Grotesque"/>
              <a:cs typeface="Bricolage Grotesque"/>
              <a:sym typeface="Bricolage Grotesque"/>
            </a:endParaRPr>
          </a:p>
        </p:txBody>
      </p:sp>
      <p:sp>
        <p:nvSpPr>
          <p:cNvPr id="706" name="Google Shape;706;g3c33024ce86_0_368"/>
          <p:cNvSpPr/>
          <p:nvPr/>
        </p:nvSpPr>
        <p:spPr>
          <a:xfrm>
            <a:off x="14868875" y="1108650"/>
            <a:ext cx="3927300" cy="1219200"/>
          </a:xfrm>
          <a:prstGeom prst="wedgeRectCallout">
            <a:avLst>
              <a:gd fmla="val -20833" name="adj1"/>
              <a:gd fmla="val 625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700">
                <a:solidFill>
                  <a:schemeClr val="dk1"/>
                </a:solidFill>
                <a:latin typeface="Bricolage Grotesque"/>
                <a:ea typeface="Bricolage Grotesque"/>
                <a:cs typeface="Bricolage Grotesque"/>
                <a:sym typeface="Bricolage Grotesque"/>
              </a:rPr>
              <a:t>Ortalama pozisyonda</a:t>
            </a:r>
            <a:r>
              <a:rPr b="1" lang="en-US" sz="2700">
                <a:solidFill>
                  <a:srgbClr val="FF0000"/>
                </a:solidFill>
                <a:latin typeface="Bricolage Grotesque"/>
                <a:ea typeface="Bricolage Grotesque"/>
                <a:cs typeface="Bricolage Grotesque"/>
                <a:sym typeface="Bricolage Grotesque"/>
              </a:rPr>
              <a:t> </a:t>
            </a:r>
            <a:r>
              <a:rPr b="1" lang="en-US" sz="2700">
                <a:solidFill>
                  <a:schemeClr val="accent6"/>
                </a:solidFill>
                <a:latin typeface="Bricolage Grotesque"/>
                <a:ea typeface="Bricolage Grotesque"/>
                <a:cs typeface="Bricolage Grotesque"/>
                <a:sym typeface="Bricolage Grotesque"/>
              </a:rPr>
              <a:t>%8.9 iyileşme</a:t>
            </a:r>
            <a:endParaRPr b="1" sz="2700">
              <a:solidFill>
                <a:schemeClr val="accent6"/>
              </a:solidFill>
              <a:latin typeface="Bricolage Grotesque"/>
              <a:ea typeface="Bricolage Grotesque"/>
              <a:cs typeface="Bricolage Grotesque"/>
              <a:sym typeface="Bricolage Grotesque"/>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711" name="Shape 711"/>
        <p:cNvGrpSpPr/>
        <p:nvPr/>
      </p:nvGrpSpPr>
      <p:grpSpPr>
        <a:xfrm>
          <a:off x="0" y="0"/>
          <a:ext cx="0" cy="0"/>
          <a:chOff x="0" y="0"/>
          <a:chExt cx="0" cy="0"/>
        </a:xfrm>
      </p:grpSpPr>
      <p:pic>
        <p:nvPicPr>
          <p:cNvPr descr=" " id="712" name="Google Shape;712;g3c33024ce86_0_37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713" name="Google Shape;713;g3c33024ce86_0_37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714" name="Google Shape;714;g3c33024ce86_0_37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715" name="Google Shape;715;g3c33024ce86_0_37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g3c33024ce86_0_37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717" name="Google Shape;717;g3c33024ce86_0_37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Neler Yaptık?</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718" name="Google Shape;718;g3c33024ce86_0_378"/>
          <p:cNvSpPr txBox="1"/>
          <p:nvPr/>
        </p:nvSpPr>
        <p:spPr>
          <a:xfrm>
            <a:off x="1371775" y="2658325"/>
            <a:ext cx="21454800" cy="9563400"/>
          </a:xfrm>
          <a:prstGeom prst="rect">
            <a:avLst/>
          </a:prstGeom>
          <a:noFill/>
          <a:ln>
            <a:noFill/>
          </a:ln>
        </p:spPr>
        <p:txBody>
          <a:bodyPr anchorCtr="0" anchor="t" bIns="91425" lIns="91425" spcFirstLastPara="1" rIns="91425" wrap="square" tIns="91425">
            <a:noAutofit/>
          </a:bodyPr>
          <a:lstStyle/>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Meta tag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Heading tag optimizasyonları (eksik, duplike, zayıf olanların optimizasyonu)</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Sayfa tipine göre schema markup önerileri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Sayfa tipine göre hız optimizasyon önerileri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Protokol değişim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Rakip analizi ve fırsatların iletilmesi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Tarama bütçesi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LLM txt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Internal link optimizasyonları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JS ile Çalışan Linklerin HTML ile Çalışması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Ek Ürünlerdeki Duplikasyon Problemi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Boş Sayfaların Tespit Edilmesi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Backlink çalışmaları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Blog için kategori ağacı çalışılması &amp; anahtar kelime araştırması</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Heading 1 Optimizasyonu</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Boş Sayfaların Yönlendirilmesi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Yurtdışı benchmark çıktılarına göre hız testi sayfası geliştirmeleri ve içerik geliştirmeleri</a:t>
            </a:r>
            <a:endParaRPr sz="3100">
              <a:latin typeface="Bricolage Grotesque"/>
              <a:ea typeface="Bricolage Grotesque"/>
              <a:cs typeface="Bricolage Grotesque"/>
              <a:sym typeface="Bricolage Grotesque"/>
            </a:endParaRPr>
          </a:p>
          <a:p>
            <a:pPr indent="-425450" lvl="0" marL="457200" rtl="0" algn="l">
              <a:lnSpc>
                <a:spcPct val="115000"/>
              </a:lnSpc>
              <a:spcBef>
                <a:spcPts val="0"/>
              </a:spcBef>
              <a:spcAft>
                <a:spcPts val="0"/>
              </a:spcAft>
              <a:buSzPts val="3100"/>
              <a:buFont typeface="Bricolage Grotesque"/>
              <a:buChar char="●"/>
            </a:pPr>
            <a:r>
              <a:rPr lang="en-US" sz="3100">
                <a:latin typeface="Bricolage Grotesque"/>
                <a:ea typeface="Bricolage Grotesque"/>
                <a:cs typeface="Bricolage Grotesque"/>
                <a:sym typeface="Bricolage Grotesque"/>
              </a:rPr>
              <a:t>Sıkça Sorulan Sorular Girişlerinin Yapılması + FAQ Schema Markup Eklenmesi</a:t>
            </a:r>
            <a:endParaRPr sz="3100">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t/>
            </a:r>
            <a:endParaRPr sz="3100">
              <a:latin typeface="Bricolage Grotesque"/>
              <a:ea typeface="Bricolage Grotesque"/>
              <a:cs typeface="Bricolage Grotesque"/>
              <a:sym typeface="Bricolage Grotesque"/>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723" name="Shape 723"/>
        <p:cNvGrpSpPr/>
        <p:nvPr/>
      </p:nvGrpSpPr>
      <p:grpSpPr>
        <a:xfrm>
          <a:off x="0" y="0"/>
          <a:ext cx="0" cy="0"/>
          <a:chOff x="0" y="0"/>
          <a:chExt cx="0" cy="0"/>
        </a:xfrm>
      </p:grpSpPr>
      <p:pic>
        <p:nvPicPr>
          <p:cNvPr descr=" " id="724" name="Google Shape;724;g3c33024ce86_0_38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725" name="Google Shape;725;g3c33024ce86_0_38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726" name="Google Shape;726;g3c33024ce86_0_38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727" name="Google Shape;727;g3c33024ce86_0_38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g3c33024ce86_0_38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729" name="Google Shape;729;g3c33024ce86_0_38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Rakiplerle Kıyaslama / Rakiplerin Güç Kazandığı Yerler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pic>
        <p:nvPicPr>
          <p:cNvPr id="730" name="Google Shape;730;g3c33024ce86_0_388" title="Screenshot 2026-02-05 at 18.25.32.png"/>
          <p:cNvPicPr preferRelativeResize="0"/>
          <p:nvPr/>
        </p:nvPicPr>
        <p:blipFill>
          <a:blip r:embed="rId6">
            <a:alphaModFix/>
          </a:blip>
          <a:stretch>
            <a:fillRect/>
          </a:stretch>
        </p:blipFill>
        <p:spPr>
          <a:xfrm>
            <a:off x="1566125" y="2963225"/>
            <a:ext cx="9237250" cy="8802875"/>
          </a:xfrm>
          <a:prstGeom prst="rect">
            <a:avLst/>
          </a:prstGeom>
          <a:noFill/>
          <a:ln>
            <a:noFill/>
          </a:ln>
        </p:spPr>
      </p:pic>
      <p:sp>
        <p:nvSpPr>
          <p:cNvPr id="731" name="Google Shape;731;g3c33024ce86_0_388"/>
          <p:cNvSpPr txBox="1"/>
          <p:nvPr/>
        </p:nvSpPr>
        <p:spPr>
          <a:xfrm>
            <a:off x="12772250" y="3578200"/>
            <a:ext cx="9808200" cy="757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chemeClr val="dk1"/>
                </a:solidFill>
                <a:latin typeface="Bricolage Grotesque"/>
                <a:ea typeface="Bricolage Grotesque"/>
                <a:cs typeface="Bricolage Grotesque"/>
                <a:sym typeface="Bricolage Grotesque"/>
              </a:rPr>
              <a:t>turk.net</a:t>
            </a:r>
            <a:r>
              <a:rPr lang="en-US" sz="2400">
                <a:solidFill>
                  <a:schemeClr val="dk1"/>
                </a:solidFill>
                <a:latin typeface="Bricolage Grotesque"/>
                <a:ea typeface="Bricolage Grotesque"/>
                <a:cs typeface="Bricolage Grotesque"/>
                <a:sym typeface="Bricolage Grotesque"/>
              </a:rPr>
              <a:t>, özellikle </a:t>
            </a:r>
            <a:r>
              <a:rPr b="1" lang="en-US" sz="2400">
                <a:solidFill>
                  <a:schemeClr val="dk1"/>
                </a:solidFill>
                <a:latin typeface="Bricolage Grotesque"/>
                <a:ea typeface="Bricolage Grotesque"/>
                <a:cs typeface="Bricolage Grotesque"/>
                <a:sym typeface="Bricolage Grotesque"/>
              </a:rPr>
              <a:t>internet paketleri, altyapısız internet ve fiyat odaklı</a:t>
            </a:r>
            <a:r>
              <a:rPr lang="en-US" sz="2400">
                <a:solidFill>
                  <a:schemeClr val="dk1"/>
                </a:solidFill>
                <a:latin typeface="Bricolage Grotesque"/>
                <a:ea typeface="Bricolage Grotesque"/>
                <a:cs typeface="Bricolage Grotesque"/>
                <a:sym typeface="Bricolage Grotesque"/>
              </a:rPr>
              <a:t> kelime gruplarında belirgin bir iyileşme göstermektedir. Görünürlük payı </a:t>
            </a:r>
            <a:r>
              <a:rPr b="1" lang="en-US" sz="2400">
                <a:solidFill>
                  <a:schemeClr val="dk1"/>
                </a:solidFill>
                <a:latin typeface="Bricolage Grotesque"/>
                <a:ea typeface="Bricolage Grotesque"/>
                <a:cs typeface="Bricolage Grotesque"/>
                <a:sym typeface="Bricolage Grotesque"/>
              </a:rPr>
              <a:t>%55 seviyesinde</a:t>
            </a:r>
            <a:r>
              <a:rPr lang="en-US" sz="2400">
                <a:solidFill>
                  <a:schemeClr val="dk1"/>
                </a:solidFill>
                <a:latin typeface="Bricolage Grotesque"/>
                <a:ea typeface="Bricolage Grotesque"/>
                <a:cs typeface="Bricolage Grotesque"/>
                <a:sym typeface="Bricolage Grotesque"/>
              </a:rPr>
              <a:t> olup, </a:t>
            </a:r>
            <a:r>
              <a:rPr b="1" lang="en-US" sz="2400">
                <a:solidFill>
                  <a:schemeClr val="dk1"/>
                </a:solidFill>
                <a:latin typeface="Bricolage Grotesque"/>
                <a:ea typeface="Bricolage Grotesque"/>
                <a:cs typeface="Bricolage Grotesque"/>
                <a:sym typeface="Bricolage Grotesque"/>
              </a:rPr>
              <a:t>+1.5% ila +17%</a:t>
            </a:r>
            <a:r>
              <a:rPr lang="en-US" sz="2400">
                <a:solidFill>
                  <a:schemeClr val="dk1"/>
                </a:solidFill>
                <a:latin typeface="Bricolage Grotesque"/>
                <a:ea typeface="Bricolage Grotesque"/>
                <a:cs typeface="Bricolage Grotesque"/>
                <a:sym typeface="Bricolage Grotesque"/>
              </a:rPr>
              <a:t> aralığında artışlar dikkat çekmektedir. Bu durum, ticari ve karşılaştırma niyetli sorgularda daha agresif bir konumlanmaya işaret etmektedir.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lang="en-US" sz="2400">
                <a:solidFill>
                  <a:schemeClr val="dk1"/>
                </a:solidFill>
                <a:latin typeface="Bricolage Grotesque"/>
                <a:ea typeface="Bricolage Grotesque"/>
                <a:cs typeface="Bricolage Grotesque"/>
                <a:sym typeface="Bricolage Grotesque"/>
              </a:rPr>
              <a:t>Türk Telekom</a:t>
            </a:r>
            <a:r>
              <a:rPr lang="en-US" sz="2400">
                <a:solidFill>
                  <a:schemeClr val="dk1"/>
                </a:solidFill>
                <a:latin typeface="Bricolage Grotesque"/>
                <a:ea typeface="Bricolage Grotesque"/>
                <a:cs typeface="Bricolage Grotesque"/>
                <a:sym typeface="Bricolage Grotesque"/>
              </a:rPr>
              <a:t>, </a:t>
            </a:r>
            <a:r>
              <a:rPr b="1" lang="en-US" sz="2400">
                <a:solidFill>
                  <a:schemeClr val="dk1"/>
                </a:solidFill>
                <a:latin typeface="Bricolage Grotesque"/>
                <a:ea typeface="Bricolage Grotesque"/>
                <a:cs typeface="Bricolage Grotesque"/>
                <a:sym typeface="Bricolage Grotesque"/>
              </a:rPr>
              <a:t>hız testi, IP adresi, internet + hız ve “internet neden yok”</a:t>
            </a:r>
            <a:r>
              <a:rPr lang="en-US" sz="2400">
                <a:solidFill>
                  <a:schemeClr val="dk1"/>
                </a:solidFill>
                <a:latin typeface="Bricolage Grotesque"/>
                <a:ea typeface="Bricolage Grotesque"/>
                <a:cs typeface="Bricolage Grotesque"/>
                <a:sym typeface="Bricolage Grotesque"/>
              </a:rPr>
              <a:t> gibi </a:t>
            </a:r>
            <a:r>
              <a:rPr b="1" lang="en-US" sz="2400">
                <a:solidFill>
                  <a:schemeClr val="dk1"/>
                </a:solidFill>
                <a:latin typeface="Bricolage Grotesque"/>
                <a:ea typeface="Bricolage Grotesque"/>
                <a:cs typeface="Bricolage Grotesque"/>
                <a:sym typeface="Bricolage Grotesque"/>
              </a:rPr>
              <a:t>uzun kuyruklu bilgilendirici sorgularda</a:t>
            </a:r>
            <a:r>
              <a:rPr lang="en-US" sz="2400">
                <a:solidFill>
                  <a:schemeClr val="dk1"/>
                </a:solidFill>
                <a:latin typeface="Bricolage Grotesque"/>
                <a:ea typeface="Bricolage Grotesque"/>
                <a:cs typeface="Bricolage Grotesque"/>
                <a:sym typeface="Bricolage Grotesque"/>
              </a:rPr>
              <a:t> güçlü bir performans sergilemektedir. Görünürlük oranı </a:t>
            </a:r>
            <a:r>
              <a:rPr b="1" lang="en-US" sz="2400">
                <a:solidFill>
                  <a:schemeClr val="dk1"/>
                </a:solidFill>
                <a:latin typeface="Bricolage Grotesque"/>
                <a:ea typeface="Bricolage Grotesque"/>
                <a:cs typeface="Bricolage Grotesque"/>
                <a:sym typeface="Bricolage Grotesque"/>
              </a:rPr>
              <a:t>%73–74 bandında</a:t>
            </a:r>
            <a:r>
              <a:rPr lang="en-US" sz="2400">
                <a:solidFill>
                  <a:schemeClr val="dk1"/>
                </a:solidFill>
                <a:latin typeface="Bricolage Grotesque"/>
                <a:ea typeface="Bricolage Grotesque"/>
                <a:cs typeface="Bricolage Grotesque"/>
                <a:sym typeface="Bricolage Grotesque"/>
              </a:rPr>
              <a:t> olup, </a:t>
            </a:r>
            <a:r>
              <a:rPr b="1" lang="en-US" sz="2400">
                <a:solidFill>
                  <a:schemeClr val="dk1"/>
                </a:solidFill>
                <a:latin typeface="Bricolage Grotesque"/>
                <a:ea typeface="Bricolage Grotesque"/>
                <a:cs typeface="Bricolage Grotesque"/>
                <a:sym typeface="Bricolage Grotesque"/>
              </a:rPr>
              <a:t>+12% ila +13%</a:t>
            </a:r>
            <a:r>
              <a:rPr lang="en-US" sz="2400">
                <a:solidFill>
                  <a:schemeClr val="dk1"/>
                </a:solidFill>
                <a:latin typeface="Bricolage Grotesque"/>
                <a:ea typeface="Bricolage Grotesque"/>
                <a:cs typeface="Bricolage Grotesque"/>
                <a:sym typeface="Bricolage Grotesque"/>
              </a:rPr>
              <a:t> seviyesinde artışlarla informational tarafta istikrarlı bir büyüme yakalamıştır.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b="1" lang="en-US" sz="2400">
                <a:solidFill>
                  <a:schemeClr val="dk1"/>
                </a:solidFill>
                <a:latin typeface="Bricolage Grotesque"/>
                <a:ea typeface="Bricolage Grotesque"/>
                <a:cs typeface="Bricolage Grotesque"/>
                <a:sym typeface="Bricolage Grotesque"/>
              </a:rPr>
              <a:t>Superonline</a:t>
            </a:r>
            <a:r>
              <a:rPr lang="en-US" sz="2400">
                <a:solidFill>
                  <a:schemeClr val="dk1"/>
                </a:solidFill>
                <a:latin typeface="Bricolage Grotesque"/>
                <a:ea typeface="Bricolage Grotesque"/>
                <a:cs typeface="Bricolage Grotesque"/>
                <a:sym typeface="Bricolage Grotesque"/>
              </a:rPr>
              <a:t>, özellikle </a:t>
            </a:r>
            <a:r>
              <a:rPr b="1" lang="en-US" sz="2400">
                <a:solidFill>
                  <a:schemeClr val="dk1"/>
                </a:solidFill>
                <a:latin typeface="Bricolage Grotesque"/>
                <a:ea typeface="Bricolage Grotesque"/>
                <a:cs typeface="Bricolage Grotesque"/>
                <a:sym typeface="Bricolage Grotesque"/>
              </a:rPr>
              <a:t>ev interneti ile ilişkili kelime varyasyonlarında</a:t>
            </a:r>
            <a:r>
              <a:rPr lang="en-US" sz="2400">
                <a:solidFill>
                  <a:schemeClr val="dk1"/>
                </a:solidFill>
                <a:latin typeface="Bricolage Grotesque"/>
                <a:ea typeface="Bricolage Grotesque"/>
                <a:cs typeface="Bricolage Grotesque"/>
                <a:sym typeface="Bricolage Grotesque"/>
              </a:rPr>
              <a:t>, </a:t>
            </a:r>
            <a:r>
              <a:rPr b="1" lang="en-US" sz="2400">
                <a:solidFill>
                  <a:schemeClr val="dk1"/>
                </a:solidFill>
                <a:latin typeface="Bricolage Grotesque"/>
                <a:ea typeface="Bricolage Grotesque"/>
                <a:cs typeface="Bricolage Grotesque"/>
                <a:sym typeface="Bricolage Grotesque"/>
              </a:rPr>
              <a:t>fiber sorgulama</a:t>
            </a:r>
            <a:r>
              <a:rPr lang="en-US" sz="2400">
                <a:solidFill>
                  <a:schemeClr val="dk1"/>
                </a:solidFill>
                <a:latin typeface="Bricolage Grotesque"/>
                <a:ea typeface="Bricolage Grotesque"/>
                <a:cs typeface="Bricolage Grotesque"/>
                <a:sym typeface="Bricolage Grotesque"/>
              </a:rPr>
              <a:t>, </a:t>
            </a:r>
            <a:r>
              <a:rPr b="1" lang="en-US" sz="2400">
                <a:solidFill>
                  <a:schemeClr val="dk1"/>
                </a:solidFill>
                <a:latin typeface="Bricolage Grotesque"/>
                <a:ea typeface="Bricolage Grotesque"/>
                <a:cs typeface="Bricolage Grotesque"/>
                <a:sym typeface="Bricolage Grotesque"/>
              </a:rPr>
              <a:t>altyapı sorgulama</a:t>
            </a:r>
            <a:r>
              <a:rPr lang="en-US" sz="2400">
                <a:solidFill>
                  <a:schemeClr val="dk1"/>
                </a:solidFill>
                <a:latin typeface="Bricolage Grotesque"/>
                <a:ea typeface="Bricolage Grotesque"/>
                <a:cs typeface="Bricolage Grotesque"/>
                <a:sym typeface="Bricolage Grotesque"/>
              </a:rPr>
              <a:t> ve </a:t>
            </a:r>
            <a:r>
              <a:rPr b="1" lang="en-US" sz="2400">
                <a:solidFill>
                  <a:schemeClr val="dk1"/>
                </a:solidFill>
                <a:latin typeface="Bricolage Grotesque"/>
                <a:ea typeface="Bricolage Grotesque"/>
                <a:cs typeface="Bricolage Grotesque"/>
                <a:sym typeface="Bricolage Grotesque"/>
              </a:rPr>
              <a:t>IP odaklı</a:t>
            </a:r>
            <a:r>
              <a:rPr lang="en-US" sz="2400">
                <a:solidFill>
                  <a:schemeClr val="dk1"/>
                </a:solidFill>
                <a:latin typeface="Bricolage Grotesque"/>
                <a:ea typeface="Bricolage Grotesque"/>
                <a:cs typeface="Bricolage Grotesque"/>
                <a:sym typeface="Bricolage Grotesque"/>
              </a:rPr>
              <a:t> aramalarda öne çıkmaktadır. Görünürlük oranı </a:t>
            </a:r>
            <a:r>
              <a:rPr b="1" lang="en-US" sz="2400">
                <a:solidFill>
                  <a:schemeClr val="dk1"/>
                </a:solidFill>
                <a:latin typeface="Bricolage Grotesque"/>
                <a:ea typeface="Bricolage Grotesque"/>
                <a:cs typeface="Bricolage Grotesque"/>
                <a:sym typeface="Bricolage Grotesque"/>
              </a:rPr>
              <a:t>%56–60</a:t>
            </a:r>
            <a:r>
              <a:rPr lang="en-US" sz="2400">
                <a:solidFill>
                  <a:schemeClr val="dk1"/>
                </a:solidFill>
                <a:latin typeface="Bricolage Grotesque"/>
                <a:ea typeface="Bricolage Grotesque"/>
                <a:cs typeface="Bricolage Grotesque"/>
                <a:sym typeface="Bricolage Grotesque"/>
              </a:rPr>
              <a:t> seviyelerine ulaşmış; bu alanlarda </a:t>
            </a:r>
            <a:r>
              <a:rPr b="1" lang="en-US" sz="2400">
                <a:solidFill>
                  <a:schemeClr val="dk1"/>
                </a:solidFill>
                <a:latin typeface="Bricolage Grotesque"/>
                <a:ea typeface="Bricolage Grotesque"/>
                <a:cs typeface="Bricolage Grotesque"/>
                <a:sym typeface="Bricolage Grotesque"/>
              </a:rPr>
              <a:t>+4.6% ila +8%</a:t>
            </a:r>
            <a:r>
              <a:rPr lang="en-US" sz="2400">
                <a:solidFill>
                  <a:schemeClr val="dk1"/>
                </a:solidFill>
                <a:latin typeface="Bricolage Grotesque"/>
                <a:ea typeface="Bricolage Grotesque"/>
                <a:cs typeface="Bricolage Grotesque"/>
                <a:sym typeface="Bricolage Grotesque"/>
              </a:rPr>
              <a:t> arası artışlarla rekabet gücünü artırmıştır.</a:t>
            </a:r>
            <a:br>
              <a:rPr lang="en-US" sz="2400">
                <a:solidFill>
                  <a:schemeClr val="dk1"/>
                </a:solidFill>
                <a:latin typeface="Bricolage Grotesque"/>
                <a:ea typeface="Bricolage Grotesque"/>
                <a:cs typeface="Bricolage Grotesque"/>
                <a:sym typeface="Bricolage Grotesque"/>
              </a:rPr>
            </a:br>
            <a:endParaRPr sz="2400">
              <a:solidFill>
                <a:schemeClr val="dk1"/>
              </a:solidFill>
              <a:latin typeface="Bricolage Grotesque"/>
              <a:ea typeface="Bricolage Grotesque"/>
              <a:cs typeface="Bricolage Grotesque"/>
              <a:sym typeface="Bricolage Grotesque"/>
            </a:endParaRPr>
          </a:p>
          <a:p>
            <a:pPr indent="0" lvl="0" marL="0" rtl="0" algn="l">
              <a:spcBef>
                <a:spcPts val="0"/>
              </a:spcBef>
              <a:spcAft>
                <a:spcPts val="0"/>
              </a:spcAft>
              <a:buNone/>
            </a:pPr>
            <a:r>
              <a:rPr lang="en-US" sz="2400">
                <a:solidFill>
                  <a:schemeClr val="dk1"/>
                </a:solidFill>
                <a:latin typeface="Bricolage Grotesque"/>
                <a:ea typeface="Bricolage Grotesque"/>
                <a:cs typeface="Bricolage Grotesque"/>
                <a:sym typeface="Bricolage Grotesque"/>
              </a:rPr>
              <a:t>Buna karşılık </a:t>
            </a:r>
            <a:r>
              <a:rPr b="1" lang="en-US" sz="2400">
                <a:solidFill>
                  <a:schemeClr val="dk1"/>
                </a:solidFill>
                <a:latin typeface="Bricolage Grotesque"/>
                <a:ea typeface="Bricolage Grotesque"/>
                <a:cs typeface="Bricolage Grotesque"/>
                <a:sym typeface="Bricolage Grotesque"/>
              </a:rPr>
              <a:t>Vodafone</a:t>
            </a:r>
            <a:r>
              <a:rPr lang="en-US" sz="2400">
                <a:solidFill>
                  <a:schemeClr val="dk1"/>
                </a:solidFill>
                <a:latin typeface="Bricolage Grotesque"/>
                <a:ea typeface="Bricolage Grotesque"/>
                <a:cs typeface="Bricolage Grotesque"/>
                <a:sym typeface="Bricolage Grotesque"/>
              </a:rPr>
              <a:t>, benzer sorgu gruplarında </a:t>
            </a:r>
            <a:r>
              <a:rPr b="1" lang="en-US" sz="2400">
                <a:solidFill>
                  <a:schemeClr val="dk1"/>
                </a:solidFill>
                <a:latin typeface="Bricolage Grotesque"/>
                <a:ea typeface="Bricolage Grotesque"/>
                <a:cs typeface="Bricolage Grotesque"/>
                <a:sym typeface="Bricolage Grotesque"/>
              </a:rPr>
              <a:t>-%3 ila -%3.7</a:t>
            </a:r>
            <a:r>
              <a:rPr lang="en-US" sz="2400">
                <a:solidFill>
                  <a:schemeClr val="dk1"/>
                </a:solidFill>
                <a:latin typeface="Bricolage Grotesque"/>
                <a:ea typeface="Bricolage Grotesque"/>
                <a:cs typeface="Bricolage Grotesque"/>
                <a:sym typeface="Bricolage Grotesque"/>
              </a:rPr>
              <a:t> bandında düşüş yaşayarak görünürlük kaybı göstermektedir.</a:t>
            </a:r>
            <a:endParaRPr sz="2400">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736" name="Shape 736"/>
        <p:cNvGrpSpPr/>
        <p:nvPr/>
      </p:nvGrpSpPr>
      <p:grpSpPr>
        <a:xfrm>
          <a:off x="0" y="0"/>
          <a:ext cx="0" cy="0"/>
          <a:chOff x="0" y="0"/>
          <a:chExt cx="0" cy="0"/>
        </a:xfrm>
      </p:grpSpPr>
      <p:pic>
        <p:nvPicPr>
          <p:cNvPr descr=" " id="737" name="Google Shape;737;g3c33024ce86_0_39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738" name="Google Shape;738;g3c33024ce86_0_39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739" name="Google Shape;739;g3c33024ce86_0_39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740" name="Google Shape;740;g3c33024ce86_0_39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3c33024ce86_0_39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742" name="Google Shape;742;g3c33024ce86_0_39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Market Analizi - Sektör İçgörüleri</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aphicFrame>
        <p:nvGraphicFramePr>
          <p:cNvPr id="743" name="Google Shape;743;g3c33024ce86_0_398"/>
          <p:cNvGraphicFramePr/>
          <p:nvPr/>
        </p:nvGraphicFramePr>
        <p:xfrm>
          <a:off x="1830200" y="3403125"/>
          <a:ext cx="3000000" cy="3000000"/>
        </p:xfrm>
        <a:graphic>
          <a:graphicData uri="http://schemas.openxmlformats.org/drawingml/2006/table">
            <a:tbl>
              <a:tblPr>
                <a:noFill/>
                <a:tableStyleId>{941C18E8-B15E-492C-9B3D-6656E5B88652}</a:tableStyleId>
              </a:tblPr>
              <a:tblGrid>
                <a:gridCol w="3859825"/>
                <a:gridCol w="2548475"/>
                <a:gridCol w="2226825"/>
                <a:gridCol w="2078350"/>
                <a:gridCol w="3760875"/>
                <a:gridCol w="2103125"/>
                <a:gridCol w="2177350"/>
                <a:gridCol w="2103125"/>
              </a:tblGrid>
              <a:tr h="899500">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Kategori</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Toplam Hacim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YoY Değişim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Superonline</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Türk Telekom</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Turkcell</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Turk.net</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c>
                  <a:txBody>
                    <a:bodyPr/>
                    <a:lstStyle/>
                    <a:p>
                      <a:pPr indent="0" lvl="0" marL="0" rtl="0" algn="ctr">
                        <a:lnSpc>
                          <a:spcPct val="115000"/>
                        </a:lnSpc>
                        <a:spcBef>
                          <a:spcPts val="0"/>
                        </a:spcBef>
                        <a:spcAft>
                          <a:spcPts val="0"/>
                        </a:spcAft>
                        <a:buNone/>
                      </a:pPr>
                      <a:r>
                        <a:rPr b="1" lang="en-US" sz="2300">
                          <a:solidFill>
                            <a:schemeClr val="lt1"/>
                          </a:solidFill>
                          <a:latin typeface="Bricolage Grotesque"/>
                          <a:ea typeface="Bricolage Grotesque"/>
                          <a:cs typeface="Bricolage Grotesque"/>
                          <a:sym typeface="Bricolage Grotesque"/>
                        </a:rPr>
                        <a:t>Vodafone</a:t>
                      </a:r>
                      <a:endParaRPr b="1" sz="2300">
                        <a:solidFill>
                          <a:schemeClr val="lt1"/>
                        </a:solidFill>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313131"/>
                    </a:solidFill>
                  </a:tcPr>
                </a:tc>
              </a:tr>
              <a:tr h="1081850">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ADSL &amp; VDSL</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12.4K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-15%</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71% (+17%)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78% (+9.4%)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65% (+29%)</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62% (-7.7%)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59% (-14%)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081850">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Ev İnterneti</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101K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69% (+12%)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bireysel.tt 86% (+24%)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88% (+12%)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48% (-0.3%)</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67% (+20%)</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081850">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Fatura &amp; Borç Ödeme</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35.9K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-12%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58% (+19%)</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94% (-1.9%)</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r h="1081850">
                <a:tc>
                  <a:txBody>
                    <a:bodyPr/>
                    <a:lstStyle/>
                    <a:p>
                      <a:pPr indent="0" lvl="0" marL="0" rtl="0" algn="l">
                        <a:spcBef>
                          <a:spcPts val="0"/>
                        </a:spcBef>
                        <a:spcAft>
                          <a:spcPts val="0"/>
                        </a:spcAft>
                        <a:buNone/>
                      </a:pPr>
                      <a:r>
                        <a:rPr b="1" lang="en-US" sz="2300">
                          <a:latin typeface="Bricolage Grotesque"/>
                          <a:ea typeface="Bricolage Grotesque"/>
                          <a:cs typeface="Bricolage Grotesque"/>
                          <a:sym typeface="Bricolage Grotesque"/>
                        </a:rPr>
                        <a:t>Internet (Jenerik)</a:t>
                      </a:r>
                      <a:endParaRPr b="1"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376K</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-2%</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75% (+17%)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64% (+30%)</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55% (+19%)</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77% (+3.7%)</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2300">
                          <a:latin typeface="Bricolage Grotesque"/>
                          <a:ea typeface="Bricolage Grotesque"/>
                          <a:cs typeface="Bricolage Grotesque"/>
                          <a:sym typeface="Bricolage Grotesque"/>
                        </a:rPr>
                        <a:t>49% (-7.4%)</a:t>
                      </a:r>
                      <a:endParaRPr sz="2300">
                        <a:latin typeface="Bricolage Grotesque"/>
                        <a:ea typeface="Bricolage Grotesque"/>
                        <a:cs typeface="Bricolage Grotesque"/>
                        <a:sym typeface="Bricolage Grotesque"/>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tcPr>
                </a:tc>
              </a:tr>
            </a:tbl>
          </a:graphicData>
        </a:graphic>
      </p:graphicFrame>
      <p:sp>
        <p:nvSpPr>
          <p:cNvPr id="744" name="Google Shape;744;g3c33024ce86_0_398"/>
          <p:cNvSpPr txBox="1"/>
          <p:nvPr/>
        </p:nvSpPr>
        <p:spPr>
          <a:xfrm>
            <a:off x="1764538" y="9102050"/>
            <a:ext cx="20858100" cy="383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chemeClr val="dk1"/>
                </a:solidFill>
                <a:latin typeface="Bricolage Grotesque"/>
                <a:ea typeface="Bricolage Grotesque"/>
                <a:cs typeface="Bricolage Grotesque"/>
                <a:sym typeface="Bricolage Grotesque"/>
              </a:rPr>
              <a:t>Genel olarak kategorilerde </a:t>
            </a:r>
            <a:r>
              <a:rPr b="1" lang="en-US" sz="2400">
                <a:solidFill>
                  <a:schemeClr val="dk1"/>
                </a:solidFill>
                <a:latin typeface="Bricolage Grotesque"/>
                <a:ea typeface="Bricolage Grotesque"/>
                <a:cs typeface="Bricolage Grotesque"/>
                <a:sym typeface="Bricolage Grotesque"/>
              </a:rPr>
              <a:t>YoY bazlı talep daralması</a:t>
            </a:r>
            <a:r>
              <a:rPr lang="en-US" sz="2400">
                <a:solidFill>
                  <a:schemeClr val="dk1"/>
                </a:solidFill>
                <a:latin typeface="Bricolage Grotesque"/>
                <a:ea typeface="Bricolage Grotesque"/>
                <a:cs typeface="Bricolage Grotesque"/>
                <a:sym typeface="Bricolage Grotesque"/>
              </a:rPr>
              <a:t> görülmesine rağmen, Superonline birçok kritik alanda </a:t>
            </a:r>
            <a:r>
              <a:rPr b="1" lang="en-US" sz="2400">
                <a:solidFill>
                  <a:schemeClr val="dk1"/>
                </a:solidFill>
                <a:latin typeface="Bricolage Grotesque"/>
                <a:ea typeface="Bricolage Grotesque"/>
                <a:cs typeface="Bricolage Grotesque"/>
                <a:sym typeface="Bricolage Grotesque"/>
              </a:rPr>
              <a:t>görünürlüğünü artırarak rekabet gücünü korumaktadır</a:t>
            </a:r>
            <a:r>
              <a:rPr lang="en-US" sz="2400">
                <a:solidFill>
                  <a:schemeClr val="dk1"/>
                </a:solidFill>
                <a:latin typeface="Bricolage Grotesque"/>
                <a:ea typeface="Bricolage Grotesque"/>
                <a:cs typeface="Bricolage Grotesque"/>
                <a:sym typeface="Bricolage Grotesque"/>
              </a:rPr>
              <a:t>. Özellikle </a:t>
            </a:r>
            <a:r>
              <a:rPr b="1" lang="en-US" sz="2400">
                <a:solidFill>
                  <a:schemeClr val="dk1"/>
                </a:solidFill>
                <a:latin typeface="Bricolage Grotesque"/>
                <a:ea typeface="Bricolage Grotesque"/>
                <a:cs typeface="Bricolage Grotesque"/>
                <a:sym typeface="Bricolage Grotesque"/>
              </a:rPr>
              <a:t>ADSL &amp; VDSL</a:t>
            </a:r>
            <a:r>
              <a:rPr lang="en-US" sz="2400">
                <a:solidFill>
                  <a:schemeClr val="dk1"/>
                </a:solidFill>
                <a:latin typeface="Bricolage Grotesque"/>
                <a:ea typeface="Bricolage Grotesque"/>
                <a:cs typeface="Bricolage Grotesque"/>
                <a:sym typeface="Bricolage Grotesque"/>
              </a:rPr>
              <a:t> ve </a:t>
            </a:r>
            <a:r>
              <a:rPr b="1" lang="en-US" sz="2400">
                <a:solidFill>
                  <a:schemeClr val="dk1"/>
                </a:solidFill>
                <a:latin typeface="Bricolage Grotesque"/>
                <a:ea typeface="Bricolage Grotesque"/>
                <a:cs typeface="Bricolage Grotesque"/>
                <a:sym typeface="Bricolage Grotesque"/>
              </a:rPr>
              <a:t>Ev İnterneti</a:t>
            </a:r>
            <a:r>
              <a:rPr lang="en-US" sz="2400">
                <a:solidFill>
                  <a:schemeClr val="dk1"/>
                </a:solidFill>
                <a:latin typeface="Bricolage Grotesque"/>
                <a:ea typeface="Bricolage Grotesque"/>
                <a:cs typeface="Bricolage Grotesque"/>
                <a:sym typeface="Bricolage Grotesque"/>
              </a:rPr>
              <a:t> kategorilerinde, Superonline’ın </a:t>
            </a:r>
            <a:r>
              <a:rPr b="1" lang="en-US" sz="2400">
                <a:solidFill>
                  <a:schemeClr val="dk1"/>
                </a:solidFill>
                <a:latin typeface="Bricolage Grotesque"/>
                <a:ea typeface="Bricolage Grotesque"/>
                <a:cs typeface="Bricolage Grotesque"/>
                <a:sym typeface="Bricolage Grotesque"/>
              </a:rPr>
              <a:t>pozisyonunu güçlendirdiği</a:t>
            </a:r>
            <a:r>
              <a:rPr lang="en-US" sz="2400">
                <a:solidFill>
                  <a:schemeClr val="dk1"/>
                </a:solidFill>
                <a:latin typeface="Bricolage Grotesque"/>
                <a:ea typeface="Bricolage Grotesque"/>
                <a:cs typeface="Bricolage Grotesque"/>
                <a:sym typeface="Bricolage Grotesque"/>
              </a:rPr>
              <a:t> ve ana rakiplerle başa baş bir görünürlük seviyesine ulaştığı görülmektedir.</a:t>
            </a:r>
            <a:endParaRPr sz="24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0"/>
              </a:spcAft>
              <a:buNone/>
            </a:pPr>
            <a:r>
              <a:rPr b="1" lang="en-US" sz="2400">
                <a:solidFill>
                  <a:schemeClr val="dk1"/>
                </a:solidFill>
                <a:latin typeface="Bricolage Grotesque"/>
                <a:ea typeface="Bricolage Grotesque"/>
                <a:cs typeface="Bricolage Grotesque"/>
                <a:sym typeface="Bricolage Grotesque"/>
              </a:rPr>
              <a:t>Fatura &amp; Borç Ödeme</a:t>
            </a:r>
            <a:r>
              <a:rPr lang="en-US" sz="2400">
                <a:solidFill>
                  <a:schemeClr val="dk1"/>
                </a:solidFill>
                <a:latin typeface="Bricolage Grotesque"/>
                <a:ea typeface="Bricolage Grotesque"/>
                <a:cs typeface="Bricolage Grotesque"/>
                <a:sym typeface="Bricolage Grotesque"/>
              </a:rPr>
              <a:t> ve </a:t>
            </a:r>
            <a:r>
              <a:rPr b="1" lang="en-US" sz="2400">
                <a:solidFill>
                  <a:schemeClr val="dk1"/>
                </a:solidFill>
                <a:latin typeface="Bricolage Grotesque"/>
                <a:ea typeface="Bricolage Grotesque"/>
                <a:cs typeface="Bricolage Grotesque"/>
                <a:sym typeface="Bricolage Grotesque"/>
              </a:rPr>
              <a:t>jenerik internet</a:t>
            </a:r>
            <a:r>
              <a:rPr lang="en-US" sz="2400">
                <a:solidFill>
                  <a:schemeClr val="dk1"/>
                </a:solidFill>
                <a:latin typeface="Bricolage Grotesque"/>
                <a:ea typeface="Bricolage Grotesque"/>
                <a:cs typeface="Bricolage Grotesque"/>
                <a:sym typeface="Bricolage Grotesque"/>
              </a:rPr>
              <a:t> sorgularında, daha çok </a:t>
            </a:r>
            <a:r>
              <a:rPr b="1" lang="en-US" sz="2400">
                <a:solidFill>
                  <a:schemeClr val="dk1"/>
                </a:solidFill>
                <a:latin typeface="Bricolage Grotesque"/>
                <a:ea typeface="Bricolage Grotesque"/>
                <a:cs typeface="Bricolage Grotesque"/>
                <a:sym typeface="Bricolage Grotesque"/>
              </a:rPr>
              <a:t>bilgilendirici ve işlem odaklı niyetin</a:t>
            </a:r>
            <a:r>
              <a:rPr lang="en-US" sz="2400">
                <a:solidFill>
                  <a:schemeClr val="dk1"/>
                </a:solidFill>
                <a:latin typeface="Bricolage Grotesque"/>
                <a:ea typeface="Bricolage Grotesque"/>
                <a:cs typeface="Bricolage Grotesque"/>
                <a:sym typeface="Bricolage Grotesque"/>
              </a:rPr>
              <a:t> öne çıktığı; bu alanlarda Superonline’ın </a:t>
            </a:r>
            <a:r>
              <a:rPr b="1" lang="en-US" sz="2400">
                <a:solidFill>
                  <a:schemeClr val="dk1"/>
                </a:solidFill>
                <a:latin typeface="Bricolage Grotesque"/>
                <a:ea typeface="Bricolage Grotesque"/>
                <a:cs typeface="Bricolage Grotesque"/>
                <a:sym typeface="Bricolage Grotesque"/>
              </a:rPr>
              <a:t>istikrarlı bir artış</a:t>
            </a:r>
            <a:r>
              <a:rPr lang="en-US" sz="2400">
                <a:solidFill>
                  <a:schemeClr val="dk1"/>
                </a:solidFill>
                <a:latin typeface="Bricolage Grotesque"/>
                <a:ea typeface="Bricolage Grotesque"/>
                <a:cs typeface="Bricolage Grotesque"/>
                <a:sym typeface="Bricolage Grotesque"/>
              </a:rPr>
              <a:t> yakaladığı dikkat çekmektedir. Buna karşın bazı kategorilerde </a:t>
            </a:r>
            <a:r>
              <a:rPr b="1" lang="en-US" sz="2400">
                <a:solidFill>
                  <a:schemeClr val="dk1"/>
                </a:solidFill>
                <a:latin typeface="Bricolage Grotesque"/>
                <a:ea typeface="Bricolage Grotesque"/>
                <a:cs typeface="Bricolage Grotesque"/>
                <a:sym typeface="Bricolage Grotesque"/>
              </a:rPr>
              <a:t>Türk Telekom ve Turkcell’in agresif yükselişi</a:t>
            </a:r>
            <a:r>
              <a:rPr lang="en-US" sz="2400">
                <a:solidFill>
                  <a:schemeClr val="dk1"/>
                </a:solidFill>
                <a:latin typeface="Bricolage Grotesque"/>
                <a:ea typeface="Bricolage Grotesque"/>
                <a:cs typeface="Bricolage Grotesque"/>
                <a:sym typeface="Bricolage Grotesque"/>
              </a:rPr>
              <a:t>, rekabetin yüksek hacimli ana kelimelerde yoğunlaştığını göstermektedir.</a:t>
            </a:r>
            <a:endParaRPr sz="2400">
              <a:solidFill>
                <a:schemeClr val="dk1"/>
              </a:solidFill>
              <a:latin typeface="Bricolage Grotesque"/>
              <a:ea typeface="Bricolage Grotesque"/>
              <a:cs typeface="Bricolage Grotesque"/>
              <a:sym typeface="Bricolage Grotesque"/>
            </a:endParaRPr>
          </a:p>
          <a:p>
            <a:pPr indent="0" lvl="0" marL="0" rtl="0" algn="l">
              <a:lnSpc>
                <a:spcPct val="115000"/>
              </a:lnSpc>
              <a:spcBef>
                <a:spcPts val="1200"/>
              </a:spcBef>
              <a:spcAft>
                <a:spcPts val="1200"/>
              </a:spcAft>
              <a:buNone/>
            </a:pPr>
            <a:r>
              <a:rPr lang="en-US" sz="2400">
                <a:solidFill>
                  <a:schemeClr val="dk1"/>
                </a:solidFill>
                <a:latin typeface="Bricolage Grotesque"/>
                <a:ea typeface="Bricolage Grotesque"/>
                <a:cs typeface="Bricolage Grotesque"/>
                <a:sym typeface="Bricolage Grotesque"/>
              </a:rPr>
              <a:t>Genel tablo, Superonline için </a:t>
            </a:r>
            <a:r>
              <a:rPr b="1" lang="en-US" sz="2400">
                <a:solidFill>
                  <a:schemeClr val="dk1"/>
                </a:solidFill>
                <a:latin typeface="Bricolage Grotesque"/>
                <a:ea typeface="Bricolage Grotesque"/>
                <a:cs typeface="Bricolage Grotesque"/>
                <a:sym typeface="Bricolage Grotesque"/>
              </a:rPr>
              <a:t>yüksek hacimli ana sorgularda görünürlüğün korunduğunu</a:t>
            </a:r>
            <a:r>
              <a:rPr lang="en-US" sz="2400">
                <a:solidFill>
                  <a:schemeClr val="dk1"/>
                </a:solidFill>
                <a:latin typeface="Bricolage Grotesque"/>
                <a:ea typeface="Bricolage Grotesque"/>
                <a:cs typeface="Bricolage Grotesque"/>
                <a:sym typeface="Bricolage Grotesque"/>
              </a:rPr>
              <a:t>, büyüme fırsatlarının ise </a:t>
            </a:r>
            <a:r>
              <a:rPr b="1" lang="en-US" sz="2400">
                <a:solidFill>
                  <a:schemeClr val="dk1"/>
                </a:solidFill>
                <a:latin typeface="Bricolage Grotesque"/>
                <a:ea typeface="Bricolage Grotesque"/>
                <a:cs typeface="Bricolage Grotesque"/>
                <a:sym typeface="Bricolage Grotesque"/>
              </a:rPr>
              <a:t>niş, varyasyonlu ve niyet odaklı kelime gruplarında</a:t>
            </a:r>
            <a:r>
              <a:rPr lang="en-US" sz="2400">
                <a:solidFill>
                  <a:schemeClr val="dk1"/>
                </a:solidFill>
                <a:latin typeface="Bricolage Grotesque"/>
                <a:ea typeface="Bricolage Grotesque"/>
                <a:cs typeface="Bricolage Grotesque"/>
                <a:sym typeface="Bricolage Grotesque"/>
              </a:rPr>
              <a:t> yoğunlaştığını ortaya koymaktadır.</a:t>
            </a:r>
            <a:endParaRPr sz="2400">
              <a:solidFill>
                <a:schemeClr val="dk1"/>
              </a:solidFill>
              <a:latin typeface="Bricolage Grotesque"/>
              <a:ea typeface="Bricolage Grotesque"/>
              <a:cs typeface="Bricolage Grotesque"/>
              <a:sym typeface="Bricolage Grotesque"/>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749" name="Shape 749"/>
        <p:cNvGrpSpPr/>
        <p:nvPr/>
      </p:nvGrpSpPr>
      <p:grpSpPr>
        <a:xfrm>
          <a:off x="0" y="0"/>
          <a:ext cx="0" cy="0"/>
          <a:chOff x="0" y="0"/>
          <a:chExt cx="0" cy="0"/>
        </a:xfrm>
      </p:grpSpPr>
      <p:pic>
        <p:nvPicPr>
          <p:cNvPr descr=" " id="750" name="Google Shape;750;g3c33024ce86_0_408"/>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751" name="Google Shape;751;g3c33024ce86_0_408"/>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752" name="Google Shape;752;g3c33024ce86_0_408"/>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753" name="Google Shape;753;g3c33024ce86_0_408"/>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g3c33024ce86_0_408"/>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Superonline</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755" name="Google Shape;755;g3c33024ce86_0_408"/>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2026 Planı / Projeler / Fırsatlar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sp>
        <p:nvSpPr>
          <p:cNvPr id="756" name="Google Shape;756;g3c33024ce86_0_408"/>
          <p:cNvSpPr txBox="1"/>
          <p:nvPr/>
        </p:nvSpPr>
        <p:spPr>
          <a:xfrm>
            <a:off x="1240125" y="2596350"/>
            <a:ext cx="22238400" cy="729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700">
                <a:solidFill>
                  <a:schemeClr val="dk1"/>
                </a:solidFill>
                <a:latin typeface="Bricolage Grotesque"/>
                <a:ea typeface="Bricolage Grotesque"/>
                <a:cs typeface="Bricolage Grotesque"/>
                <a:sym typeface="Bricolage Grotesque"/>
              </a:rPr>
              <a:t>75</a:t>
            </a:r>
            <a:r>
              <a:rPr lang="en-US" sz="2700">
                <a:solidFill>
                  <a:schemeClr val="dk1"/>
                </a:solidFill>
                <a:latin typeface="Bricolage Grotesque"/>
                <a:ea typeface="Bricolage Grotesque"/>
                <a:cs typeface="Bricolage Grotesque"/>
                <a:sym typeface="Bricolage Grotesque"/>
              </a:rPr>
              <a:t>0K hedefi çerçevesinde özellikle alternatif trafik kaynakları üzerinde duruyoruz. Google + AI destekli bir trafik için 2026 için planladığımız temel maddeler şunlardır:</a:t>
            </a:r>
            <a:endParaRPr sz="2700">
              <a:solidFill>
                <a:schemeClr val="dk1"/>
              </a:solidFill>
              <a:latin typeface="Bricolage Grotesque"/>
              <a:ea typeface="Bricolage Grotesque"/>
              <a:cs typeface="Bricolage Grotesque"/>
              <a:sym typeface="Bricolage Grotesque"/>
            </a:endParaRPr>
          </a:p>
          <a:p>
            <a:pPr indent="0" lvl="0" marL="0" rtl="0" algn="l">
              <a:lnSpc>
                <a:spcPct val="115000"/>
              </a:lnSpc>
              <a:spcBef>
                <a:spcPts val="0"/>
              </a:spcBef>
              <a:spcAft>
                <a:spcPts val="0"/>
              </a:spcAft>
              <a:buNone/>
            </a:pPr>
            <a:r>
              <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Data calculator, speed calculator gibi kullanıma göre data / internet ihtiyacı hesaplayıcı landing page’ler yaratılması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Persona bazlı internet tüketim sayfaları. (öğrenci evi, aile, home office odaklı sayfalar yaratmak) ile </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Yurtdışı benchmark çıktılarına göre hız testi sayfası geliştirmeleri ve içerik geliştirmeleri </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Kampanya sayfalarından internal link aktarımı, alan eklenmesi. </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Yardım sayfalarına yönlendirmek bir diğer adım olacak. AI odaklı da olabilmek için video önerisi de mevcut.</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SSS alanlarının optimizasyonu</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Tüm sayfa tipleri için schema markup optimizasyonları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Blog’un live’a alınması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Squad backlog’daki işlerin tamamlansı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AI odaklı short desc alanlarının kullanılması</a:t>
            </a:r>
            <a:endParaRPr sz="2700">
              <a:solidFill>
                <a:schemeClr val="dk1"/>
              </a:solidFill>
              <a:latin typeface="Bricolage Grotesque"/>
              <a:ea typeface="Bricolage Grotesque"/>
              <a:cs typeface="Bricolage Grotesque"/>
              <a:sym typeface="Bricolage Grotesque"/>
            </a:endParaRPr>
          </a:p>
          <a:p>
            <a:pPr indent="-400050" lvl="0" marL="457200" rtl="0" algn="l">
              <a:lnSpc>
                <a:spcPct val="115000"/>
              </a:lnSpc>
              <a:spcBef>
                <a:spcPts val="0"/>
              </a:spcBef>
              <a:spcAft>
                <a:spcPts val="0"/>
              </a:spcAft>
              <a:buClr>
                <a:schemeClr val="dk1"/>
              </a:buClr>
              <a:buSzPts val="2700"/>
              <a:buFont typeface="Bricolage Grotesque"/>
              <a:buChar char="●"/>
            </a:pPr>
            <a:r>
              <a:rPr lang="en-US" sz="2700">
                <a:solidFill>
                  <a:schemeClr val="dk1"/>
                </a:solidFill>
                <a:latin typeface="Bricolage Grotesque"/>
                <a:ea typeface="Bricolage Grotesque"/>
                <a:cs typeface="Bricolage Grotesque"/>
                <a:sym typeface="Bricolage Grotesque"/>
              </a:rPr>
              <a:t>Backlink çalışmaları</a:t>
            </a:r>
            <a:endParaRPr sz="2700">
              <a:solidFill>
                <a:schemeClr val="dk1"/>
              </a:solidFill>
              <a:latin typeface="Bricolage Grotesque"/>
              <a:ea typeface="Bricolage Grotesque"/>
              <a:cs typeface="Bricolage Grotesque"/>
              <a:sym typeface="Bricolage Grotesque"/>
            </a:endParaRPr>
          </a:p>
          <a:p>
            <a:pPr indent="0" lvl="0" marL="457200" rtl="0" algn="l">
              <a:lnSpc>
                <a:spcPct val="115000"/>
              </a:lnSpc>
              <a:spcBef>
                <a:spcPts val="0"/>
              </a:spcBef>
              <a:spcAft>
                <a:spcPts val="0"/>
              </a:spcAft>
              <a:buNone/>
            </a:pPr>
            <a:r>
              <a:t/>
            </a:r>
            <a:endParaRPr sz="2700">
              <a:solidFill>
                <a:schemeClr val="dk1"/>
              </a:solidFill>
              <a:latin typeface="Bricolage Grotesque"/>
              <a:ea typeface="Bricolage Grotesque"/>
              <a:cs typeface="Bricolage Grotesque"/>
              <a:sym typeface="Bricolage Grotesque"/>
            </a:endParaRPr>
          </a:p>
        </p:txBody>
      </p:sp>
      <p:sp>
        <p:nvSpPr>
          <p:cNvPr id="757" name="Google Shape;757;g3c33024ce86_0_408"/>
          <p:cNvSpPr/>
          <p:nvPr/>
        </p:nvSpPr>
        <p:spPr>
          <a:xfrm>
            <a:off x="3554125" y="12335150"/>
            <a:ext cx="16229754" cy="785106"/>
          </a:xfrm>
          <a:prstGeom prst="flowChartTerminator">
            <a:avLst/>
          </a:prstGeom>
          <a:solidFill>
            <a:schemeClr val="l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900">
                <a:solidFill>
                  <a:schemeClr val="lt1"/>
                </a:solidFill>
                <a:latin typeface="Bricolage Grotesque"/>
                <a:ea typeface="Bricolage Grotesque"/>
                <a:cs typeface="Bricolage Grotesque"/>
                <a:sym typeface="Bricolage Grotesque"/>
              </a:rPr>
              <a:t>2.2M</a:t>
            </a:r>
            <a:endParaRPr/>
          </a:p>
        </p:txBody>
      </p:sp>
      <p:sp>
        <p:nvSpPr>
          <p:cNvPr id="758" name="Google Shape;758;g3c33024ce86_0_408"/>
          <p:cNvSpPr/>
          <p:nvPr/>
        </p:nvSpPr>
        <p:spPr>
          <a:xfrm>
            <a:off x="3554125" y="12335150"/>
            <a:ext cx="9315972" cy="785106"/>
          </a:xfrm>
          <a:prstGeom prst="flowChartTerminator">
            <a:avLst/>
          </a:prstGeom>
          <a:solidFill>
            <a:schemeClr val="accent2"/>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9" name="Google Shape;759;g3c33024ce86_0_408"/>
          <p:cNvSpPr txBox="1"/>
          <p:nvPr/>
        </p:nvSpPr>
        <p:spPr>
          <a:xfrm>
            <a:off x="6814863" y="11569600"/>
            <a:ext cx="27945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700">
                <a:solidFill>
                  <a:schemeClr val="dk1"/>
                </a:solidFill>
                <a:latin typeface="Bricolage Grotesque"/>
                <a:ea typeface="Bricolage Grotesque"/>
                <a:cs typeface="Bricolage Grotesque"/>
                <a:sym typeface="Bricolage Grotesque"/>
              </a:rPr>
              <a:t>güncel durum</a:t>
            </a:r>
            <a:endParaRPr b="1" sz="1000"/>
          </a:p>
        </p:txBody>
      </p:sp>
      <p:sp>
        <p:nvSpPr>
          <p:cNvPr id="760" name="Google Shape;760;g3c33024ce86_0_408"/>
          <p:cNvSpPr txBox="1"/>
          <p:nvPr/>
        </p:nvSpPr>
        <p:spPr>
          <a:xfrm>
            <a:off x="7295625" y="12358238"/>
            <a:ext cx="1560300" cy="78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900">
                <a:solidFill>
                  <a:schemeClr val="lt1"/>
                </a:solidFill>
                <a:latin typeface="Bricolage Grotesque"/>
                <a:ea typeface="Bricolage Grotesque"/>
                <a:cs typeface="Bricolage Grotesque"/>
                <a:sym typeface="Bricolage Grotesque"/>
              </a:rPr>
              <a:t>440K</a:t>
            </a:r>
            <a:endParaRPr b="1" sz="2200">
              <a:solidFill>
                <a:schemeClr val="lt1"/>
              </a:solidFill>
            </a:endParaRPr>
          </a:p>
        </p:txBody>
      </p:sp>
      <p:sp>
        <p:nvSpPr>
          <p:cNvPr id="761" name="Google Shape;761;g3c33024ce86_0_408"/>
          <p:cNvSpPr txBox="1"/>
          <p:nvPr/>
        </p:nvSpPr>
        <p:spPr>
          <a:xfrm>
            <a:off x="13759275" y="11569600"/>
            <a:ext cx="46908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700">
                <a:solidFill>
                  <a:schemeClr val="dk1"/>
                </a:solidFill>
                <a:latin typeface="Bricolage Grotesque"/>
                <a:ea typeface="Bricolage Grotesque"/>
                <a:cs typeface="Bricolage Grotesque"/>
                <a:sym typeface="Bricolage Grotesque"/>
              </a:rPr>
              <a:t>hedef için gereken ek artış</a:t>
            </a:r>
            <a:endParaRPr b="1" sz="1000"/>
          </a:p>
        </p:txBody>
      </p:sp>
      <p:sp>
        <p:nvSpPr>
          <p:cNvPr id="762" name="Google Shape;762;g3c33024ce86_0_408"/>
          <p:cNvSpPr txBox="1"/>
          <p:nvPr/>
        </p:nvSpPr>
        <p:spPr>
          <a:xfrm>
            <a:off x="15324525" y="12335138"/>
            <a:ext cx="1560300" cy="78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900">
                <a:solidFill>
                  <a:schemeClr val="dk1"/>
                </a:solidFill>
                <a:latin typeface="Bricolage Grotesque"/>
                <a:ea typeface="Bricolage Grotesque"/>
                <a:cs typeface="Bricolage Grotesque"/>
                <a:sym typeface="Bricolage Grotesque"/>
              </a:rPr>
              <a:t>310</a:t>
            </a:r>
            <a:r>
              <a:rPr b="1" lang="en-US" sz="3900">
                <a:solidFill>
                  <a:schemeClr val="dk1"/>
                </a:solidFill>
                <a:latin typeface="Bricolage Grotesque"/>
                <a:ea typeface="Bricolage Grotesque"/>
                <a:cs typeface="Bricolage Grotesque"/>
                <a:sym typeface="Bricolage Grotesque"/>
              </a:rPr>
              <a:t>K</a:t>
            </a:r>
            <a:endParaRPr b="1" sz="2200">
              <a:solidFill>
                <a:schemeClr val="dk1"/>
              </a:solidFill>
            </a:endParaRPr>
          </a:p>
        </p:txBody>
      </p:sp>
      <p:sp>
        <p:nvSpPr>
          <p:cNvPr id="763" name="Google Shape;763;g3c33024ce86_0_408"/>
          <p:cNvSpPr txBox="1"/>
          <p:nvPr/>
        </p:nvSpPr>
        <p:spPr>
          <a:xfrm>
            <a:off x="11653637" y="9629775"/>
            <a:ext cx="11884800" cy="7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900">
                <a:solidFill>
                  <a:schemeClr val="dk1"/>
                </a:solidFill>
                <a:latin typeface="Bricolage Grotesque"/>
                <a:ea typeface="Bricolage Grotesque"/>
                <a:cs typeface="Bricolage Grotesque"/>
                <a:sym typeface="Bricolage Grotesque"/>
              </a:rPr>
              <a:t>~%50-55 click artış oranı ile beklenen:</a:t>
            </a:r>
            <a:r>
              <a:rPr lang="en-US" sz="2900">
                <a:solidFill>
                  <a:schemeClr val="accent6"/>
                </a:solidFill>
                <a:latin typeface="Bricolage Grotesque"/>
                <a:ea typeface="Bricolage Grotesque"/>
                <a:cs typeface="Bricolage Grotesque"/>
                <a:sym typeface="Bricolage Grotesque"/>
              </a:rPr>
              <a:t> </a:t>
            </a:r>
            <a:r>
              <a:rPr b="1" lang="en-US" sz="3800">
                <a:solidFill>
                  <a:schemeClr val="accent6"/>
                </a:solidFill>
                <a:latin typeface="Bricolage Grotesque"/>
                <a:ea typeface="Bricolage Grotesque"/>
                <a:cs typeface="Bricolage Grotesque"/>
                <a:sym typeface="Bricolage Grotesque"/>
              </a:rPr>
              <a:t>220-250K ek click</a:t>
            </a:r>
            <a:endParaRPr sz="2500"/>
          </a:p>
        </p:txBody>
      </p:sp>
      <p:cxnSp>
        <p:nvCxnSpPr>
          <p:cNvPr id="764" name="Google Shape;764;g3c33024ce86_0_408"/>
          <p:cNvCxnSpPr/>
          <p:nvPr/>
        </p:nvCxnSpPr>
        <p:spPr>
          <a:xfrm>
            <a:off x="848738" y="9624166"/>
            <a:ext cx="22505700" cy="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FFFA"/>
        </a:solidFill>
      </p:bgPr>
    </p:bg>
    <p:spTree>
      <p:nvGrpSpPr>
        <p:cNvPr id="769" name="Shape 769"/>
        <p:cNvGrpSpPr/>
        <p:nvPr/>
      </p:nvGrpSpPr>
      <p:grpSpPr>
        <a:xfrm>
          <a:off x="0" y="0"/>
          <a:ext cx="0" cy="0"/>
          <a:chOff x="0" y="0"/>
          <a:chExt cx="0" cy="0"/>
        </a:xfrm>
      </p:grpSpPr>
      <p:pic>
        <p:nvPicPr>
          <p:cNvPr descr=" " id="770" name="Google Shape;770;g3c881079c58_0_372"/>
          <p:cNvPicPr preferRelativeResize="0"/>
          <p:nvPr/>
        </p:nvPicPr>
        <p:blipFill rotWithShape="1">
          <a:blip r:embed="rId3">
            <a:alphaModFix/>
          </a:blip>
          <a:srcRect b="0" l="0" r="0" t="0"/>
          <a:stretch/>
        </p:blipFill>
        <p:spPr>
          <a:xfrm>
            <a:off x="1730150" y="1724375"/>
            <a:ext cx="4520649" cy="428775"/>
          </a:xfrm>
          <a:prstGeom prst="rect">
            <a:avLst/>
          </a:prstGeom>
          <a:noFill/>
          <a:ln>
            <a:noFill/>
          </a:ln>
        </p:spPr>
      </p:pic>
      <p:pic>
        <p:nvPicPr>
          <p:cNvPr descr=" " id="771" name="Google Shape;771;g3c881079c58_0_372"/>
          <p:cNvPicPr preferRelativeResize="0"/>
          <p:nvPr/>
        </p:nvPicPr>
        <p:blipFill rotWithShape="1">
          <a:blip r:embed="rId4">
            <a:alphaModFix/>
          </a:blip>
          <a:srcRect b="0" l="0" r="0" t="0"/>
          <a:stretch/>
        </p:blipFill>
        <p:spPr>
          <a:xfrm>
            <a:off x="406451" y="12242800"/>
            <a:ext cx="965321" cy="1016000"/>
          </a:xfrm>
          <a:prstGeom prst="rect">
            <a:avLst/>
          </a:prstGeom>
          <a:noFill/>
          <a:ln>
            <a:noFill/>
          </a:ln>
        </p:spPr>
      </p:pic>
      <p:pic>
        <p:nvPicPr>
          <p:cNvPr descr=" " id="772" name="Google Shape;772;g3c881079c58_0_372"/>
          <p:cNvPicPr preferRelativeResize="0"/>
          <p:nvPr/>
        </p:nvPicPr>
        <p:blipFill rotWithShape="1">
          <a:blip r:embed="rId5">
            <a:alphaModFix/>
          </a:blip>
          <a:srcRect b="0" l="0" r="0" t="0"/>
          <a:stretch/>
        </p:blipFill>
        <p:spPr>
          <a:xfrm>
            <a:off x="538081" y="12381347"/>
            <a:ext cx="702048" cy="738910"/>
          </a:xfrm>
          <a:prstGeom prst="rect">
            <a:avLst/>
          </a:prstGeom>
          <a:noFill/>
          <a:ln>
            <a:noFill/>
          </a:ln>
        </p:spPr>
      </p:pic>
      <p:sp>
        <p:nvSpPr>
          <p:cNvPr id="773" name="Google Shape;773;g3c881079c58_0_372"/>
          <p:cNvSpPr/>
          <p:nvPr/>
        </p:nvSpPr>
        <p:spPr>
          <a:xfrm>
            <a:off x="0" y="0"/>
            <a:ext cx="6554100" cy="121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g3c881079c58_0_372"/>
          <p:cNvSpPr/>
          <p:nvPr/>
        </p:nvSpPr>
        <p:spPr>
          <a:xfrm>
            <a:off x="406450" y="406400"/>
            <a:ext cx="10267800" cy="507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FF7B52"/>
              </a:buClr>
              <a:buSzPts val="2400"/>
              <a:buFont typeface="Outfit"/>
              <a:buNone/>
            </a:pPr>
            <a:r>
              <a:rPr b="1" lang="en-US" sz="2400">
                <a:solidFill>
                  <a:srgbClr val="FF7B52"/>
                </a:solidFill>
                <a:latin typeface="Outfit"/>
                <a:ea typeface="Outfit"/>
                <a:cs typeface="Outfit"/>
                <a:sym typeface="Outfit"/>
              </a:rPr>
              <a:t>Genel</a:t>
            </a:r>
            <a:endParaRPr b="0" i="0" sz="24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7B52"/>
              </a:buClr>
              <a:buSzPts val="2400"/>
              <a:buFont typeface="Outfit"/>
              <a:buNone/>
            </a:pPr>
            <a:r>
              <a:t/>
            </a:r>
            <a:endParaRPr b="1" i="0" sz="2400" u="none" cap="none" strike="noStrike">
              <a:solidFill>
                <a:srgbClr val="FF7B52"/>
              </a:solidFill>
              <a:latin typeface="Outfit"/>
              <a:ea typeface="Outfit"/>
              <a:cs typeface="Outfit"/>
              <a:sym typeface="Outfit"/>
            </a:endParaRPr>
          </a:p>
        </p:txBody>
      </p:sp>
      <p:sp>
        <p:nvSpPr>
          <p:cNvPr id="775" name="Google Shape;775;g3c881079c58_0_372"/>
          <p:cNvSpPr/>
          <p:nvPr/>
        </p:nvSpPr>
        <p:spPr>
          <a:xfrm>
            <a:off x="406450" y="1219200"/>
            <a:ext cx="24387300" cy="738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0332F"/>
              </a:buClr>
              <a:buSzPts val="7400"/>
              <a:buFont typeface="Bricolage Grotesque ExtraBold"/>
              <a:buNone/>
            </a:pPr>
            <a:r>
              <a:rPr b="1" lang="en-US" sz="5500">
                <a:solidFill>
                  <a:srgbClr val="313131"/>
                </a:solidFill>
                <a:latin typeface="Bricolage Grotesque"/>
                <a:ea typeface="Bricolage Grotesque"/>
                <a:cs typeface="Bricolage Grotesque"/>
                <a:sym typeface="Bricolage Grotesque"/>
              </a:rPr>
              <a:t>Ödüller</a:t>
            </a:r>
            <a:endParaRPr b="1" sz="5500">
              <a:solidFill>
                <a:srgbClr val="313131"/>
              </a:solidFill>
              <a:latin typeface="Bricolage Grotesque"/>
              <a:ea typeface="Bricolage Grotesque"/>
              <a:cs typeface="Bricolage Grotesque"/>
              <a:sym typeface="Bricolage Grotesque"/>
            </a:endParaRPr>
          </a:p>
          <a:p>
            <a:pPr indent="0" lvl="0" marL="0" marR="0" rtl="0" algn="l">
              <a:lnSpc>
                <a:spcPct val="115000"/>
              </a:lnSpc>
              <a:spcBef>
                <a:spcPts val="0"/>
              </a:spcBef>
              <a:spcAft>
                <a:spcPts val="0"/>
              </a:spcAft>
              <a:buClr>
                <a:srgbClr val="10332F"/>
              </a:buClr>
              <a:buSzPts val="7400"/>
              <a:buFont typeface="Bricolage Grotesque ExtraBold"/>
              <a:buNone/>
            </a:pPr>
            <a:r>
              <a:t/>
            </a:r>
            <a:endParaRPr b="1" i="0" sz="5500" u="none" cap="none" strike="noStrike">
              <a:solidFill>
                <a:srgbClr val="313131"/>
              </a:solidFill>
              <a:latin typeface="Bricolage Grotesque"/>
              <a:ea typeface="Bricolage Grotesque"/>
              <a:cs typeface="Bricolage Grotesque"/>
              <a:sym typeface="Bricolage Grotesque"/>
            </a:endParaRPr>
          </a:p>
        </p:txBody>
      </p:sp>
      <p:graphicFrame>
        <p:nvGraphicFramePr>
          <p:cNvPr id="776" name="Google Shape;776;g3c881079c58_0_372"/>
          <p:cNvGraphicFramePr/>
          <p:nvPr/>
        </p:nvGraphicFramePr>
        <p:xfrm>
          <a:off x="1240113" y="2658325"/>
          <a:ext cx="3000000" cy="3000000"/>
        </p:xfrm>
        <a:graphic>
          <a:graphicData uri="http://schemas.openxmlformats.org/drawingml/2006/table">
            <a:tbl>
              <a:tblPr>
                <a:noFill/>
                <a:tableStyleId>{941C18E8-B15E-492C-9B3D-6656E5B88652}</a:tableStyleId>
              </a:tblPr>
              <a:tblGrid>
                <a:gridCol w="2842925"/>
                <a:gridCol w="1469075"/>
                <a:gridCol w="2842925"/>
                <a:gridCol w="2081175"/>
                <a:gridCol w="2271625"/>
                <a:gridCol w="2013175"/>
                <a:gridCol w="3468650"/>
                <a:gridCol w="5808325"/>
              </a:tblGrid>
              <a:tr h="190500">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Ödül Adı</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0"/>
                      </a:ext>
                    </a:extLst>
                  </a:tcPr>
                </a:tc>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Bölge</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1"/>
                      </a:ext>
                    </a:extLst>
                  </a:tcPr>
                </a:tc>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Odak Alanı</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2"/>
                      </a:ext>
                    </a:extLst>
                  </a:tcPr>
                </a:tc>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Son Başvuru Tarihi</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3"/>
                      </a:ext>
                    </a:extLst>
                  </a:tcPr>
                </a:tc>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Durum</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4"/>
                      </a:ext>
                    </a:extLst>
                  </a:tcPr>
                </a:tc>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Tören / Sonuç Tarihi</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5"/>
                      </a:ext>
                    </a:extLst>
                  </a:tcPr>
                </a:tc>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Web Sitesi</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6"/>
                      </a:ext>
                    </a:extLst>
                  </a:tcPr>
                </a:tc>
                <a:tc>
                  <a:txBody>
                    <a:bodyPr/>
                    <a:lstStyle/>
                    <a:p>
                      <a:pPr indent="0" lvl="0" marL="0" rtl="0" algn="ctr">
                        <a:lnSpc>
                          <a:spcPct val="115000"/>
                        </a:lnSpc>
                        <a:spcBef>
                          <a:spcPts val="0"/>
                        </a:spcBef>
                        <a:spcAft>
                          <a:spcPts val="0"/>
                        </a:spcAft>
                        <a:buNone/>
                      </a:pPr>
                      <a:r>
                        <a:rPr b="1" lang="en-US" sz="1900">
                          <a:solidFill>
                            <a:srgbClr val="FFFFFF"/>
                          </a:solidFill>
                          <a:latin typeface="Bricolage Grotesque"/>
                          <a:ea typeface="Bricolage Grotesque"/>
                          <a:cs typeface="Bricolage Grotesque"/>
                          <a:sym typeface="Bricolage Grotesque"/>
                        </a:rPr>
                        <a:t>Notlar</a:t>
                      </a:r>
                      <a:endParaRPr b="1" sz="1900">
                        <a:solidFill>
                          <a:srgbClr val="FFFFFF"/>
                        </a:solidFill>
                        <a:latin typeface="Bricolage Grotesque"/>
                        <a:ea typeface="Bricolage Grotesque"/>
                        <a:cs typeface="Bricolage Grotesque"/>
                        <a:sym typeface="Bricolage Grotesque"/>
                      </a:endParaRPr>
                    </a:p>
                  </a:txBody>
                  <a:tcPr marT="91425" marB="91425"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2F5496"/>
                    </a:solidFill>
                    <a:extLst>
                      <a:ext uri="http://customooxmlschemas.google.com/">
                        <go:slidesCustomData xmlns:go="http://customooxmlschemas.google.com/" cellId="776:0:7"/>
                      </a:ext>
                    </a:extLst>
                  </a:tcPr>
                </a:tc>
              </a:tr>
              <a:tr h="190500">
                <a:tc gridSpan="8">
                  <a:txBody>
                    <a:bodyPr/>
                    <a:lstStyle/>
                    <a:p>
                      <a:pPr indent="0" lvl="0" marL="0" rtl="0" algn="l">
                        <a:lnSpc>
                          <a:spcPct val="115000"/>
                        </a:lnSpc>
                        <a:spcBef>
                          <a:spcPts val="0"/>
                        </a:spcBef>
                        <a:spcAft>
                          <a:spcPts val="0"/>
                        </a:spcAft>
                        <a:buNone/>
                      </a:pPr>
                      <a:r>
                        <a:rPr b="1" lang="en-US" sz="1900">
                          <a:latin typeface="Bricolage Grotesque"/>
                          <a:ea typeface="Bricolage Grotesque"/>
                          <a:cs typeface="Bricolage Grotesque"/>
                          <a:sym typeface="Bricolage Grotesque"/>
                        </a:rPr>
                        <a:t>AVRUPA &amp; ULUSLARARASI ÖDÜLLER</a:t>
                      </a:r>
                      <a:endParaRPr b="1" sz="1900">
                        <a:latin typeface="Bricolage Grotesque"/>
                        <a:ea typeface="Bricolage Grotesque"/>
                        <a:cs typeface="Bricolage Grotesque"/>
                        <a:sym typeface="Bricolage Grotesque"/>
                      </a:endParaRPr>
                    </a:p>
                  </a:txBody>
                  <a:tcPr marT="91425" marB="91425"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6E4F0"/>
                    </a:solidFill>
                    <a:extLst>
                      <a:ext uri="http://customooxmlschemas.google.com/">
                        <go:slidesCustomData xmlns:go="http://customooxmlschemas.google.com/" cellId="776:1:0"/>
                      </a:ext>
                    </a:extLst>
                  </a:tcPr>
                </a:tc>
                <a:tc hMerge="1"/>
                <a:tc hMerge="1"/>
                <a:tc hMerge="1"/>
                <a:tc hMerge="1"/>
                <a:tc hMerge="1"/>
                <a:tc hMerge="1"/>
                <a:tc hMerge="1"/>
              </a:tr>
              <a:tr h="295275">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Global Search Awards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2: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Global</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2: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SEO, PPC, Content Marketing</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2: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28 Mayıs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2:3"/>
                      </a:ext>
                    </a:extLst>
                  </a:tcPr>
                </a:tc>
                <a:tc>
                  <a:txBody>
                    <a:bodyPr/>
                    <a:lstStyle/>
                    <a:p>
                      <a:pPr indent="0" lvl="0" marL="0" rtl="0" algn="l">
                        <a:lnSpc>
                          <a:spcPct val="115000"/>
                        </a:lnSpc>
                        <a:spcBef>
                          <a:spcPts val="0"/>
                        </a:spcBef>
                        <a:spcAft>
                          <a:spcPts val="0"/>
                        </a:spcAft>
                        <a:buNone/>
                      </a:pPr>
                      <a:r>
                        <a:rPr b="1" lang="en-US" sz="1900">
                          <a:solidFill>
                            <a:srgbClr val="006100"/>
                          </a:solidFill>
                          <a:latin typeface="Bricolage Grotesque"/>
                          <a:ea typeface="Bricolage Grotesque"/>
                          <a:cs typeface="Bricolage Grotesque"/>
                          <a:sym typeface="Bricolage Grotesque"/>
                        </a:rPr>
                        <a:t>AÇIK - Başvuru alınıyor</a:t>
                      </a:r>
                      <a:endParaRPr b="1" sz="1900">
                        <a:solidFill>
                          <a:srgbClr val="006100"/>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6EFCE"/>
                    </a:solidFill>
                    <a:extLst>
                      <a:ext uri="http://customooxmlschemas.google.com/">
                        <go:slidesCustomData xmlns:go="http://customooxmlschemas.google.com/" cellId="776:2: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Eylül 2026 (Tören)</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2: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https://globalsearchawards.net/welcome/</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2: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Dünya çapında 195 ülkeden başvuru kabul ediyor. Küçük/büyük bütçe kategorileri mevcut.</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2:7"/>
                      </a:ext>
                    </a:extLst>
                  </a:tcPr>
                </a:tc>
              </a:tr>
              <a:tr h="295275">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European Content Awards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3: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Avrupa</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3: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İçerik Pazarlama</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3: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Henüz açıklanmadı</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3:3"/>
                      </a:ext>
                    </a:extLst>
                  </a:tcPr>
                </a:tc>
                <a:tc>
                  <a:txBody>
                    <a:bodyPr/>
                    <a:lstStyle/>
                    <a:p>
                      <a:pPr indent="0" lvl="0" marL="0" rtl="0" algn="l">
                        <a:lnSpc>
                          <a:spcPct val="115000"/>
                        </a:lnSpc>
                        <a:spcBef>
                          <a:spcPts val="0"/>
                        </a:spcBef>
                        <a:spcAft>
                          <a:spcPts val="0"/>
                        </a:spcAft>
                        <a:buNone/>
                      </a:pPr>
                      <a:r>
                        <a:rPr b="1" lang="en-US" sz="1900">
                          <a:solidFill>
                            <a:srgbClr val="006100"/>
                          </a:solidFill>
                          <a:latin typeface="Bricolage Grotesque"/>
                          <a:ea typeface="Bricolage Grotesque"/>
                          <a:cs typeface="Bricolage Grotesque"/>
                          <a:sym typeface="Bricolage Grotesque"/>
                        </a:rPr>
                        <a:t>AÇIK - Başvuru formu mevcut</a:t>
                      </a:r>
                      <a:endParaRPr b="1" sz="1900">
                        <a:solidFill>
                          <a:srgbClr val="006100"/>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6EFCE"/>
                    </a:solidFill>
                    <a:extLst>
                      <a:ext uri="http://customooxmlschemas.google.com/">
                        <go:slidesCustomData xmlns:go="http://customooxmlschemas.google.com/" cellId="776:3: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Henüz açıklanmadı</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3: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https://europeancontentawards.com/</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3: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Content marketing odaklı. Don't Panic Events düzenliyor.</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3:7"/>
                      </a:ext>
                    </a:extLst>
                  </a:tcPr>
                </a:tc>
              </a:tr>
              <a:tr h="190500">
                <a:tc gridSpan="8">
                  <a:txBody>
                    <a:bodyPr/>
                    <a:lstStyle/>
                    <a:p>
                      <a:pPr indent="0" lvl="0" marL="0" rtl="0" algn="l">
                        <a:lnSpc>
                          <a:spcPct val="115000"/>
                        </a:lnSpc>
                        <a:spcBef>
                          <a:spcPts val="0"/>
                        </a:spcBef>
                        <a:spcAft>
                          <a:spcPts val="0"/>
                        </a:spcAft>
                        <a:buNone/>
                      </a:pPr>
                      <a:r>
                        <a:rPr b="1" lang="en-US" sz="1900">
                          <a:latin typeface="Bricolage Grotesque"/>
                          <a:ea typeface="Bricolage Grotesque"/>
                          <a:cs typeface="Bricolage Grotesque"/>
                          <a:sym typeface="Bricolage Grotesque"/>
                        </a:rPr>
                        <a:t>MENA BÖLGESİ ÖDÜLLERİ</a:t>
                      </a:r>
                      <a:endParaRPr b="1" sz="1900">
                        <a:latin typeface="Bricolage Grotesque"/>
                        <a:ea typeface="Bricolage Grotesque"/>
                        <a:cs typeface="Bricolage Grotesque"/>
                        <a:sym typeface="Bricolage Grotesque"/>
                      </a:endParaRPr>
                    </a:p>
                  </a:txBody>
                  <a:tcPr marT="91425" marB="91425"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6E4F0"/>
                    </a:solidFill>
                    <a:extLst>
                      <a:ext uri="http://customooxmlschemas.google.com/">
                        <go:slidesCustomData xmlns:go="http://customooxmlschemas.google.com/" cellId="776:4:0"/>
                      </a:ext>
                    </a:extLst>
                  </a:tcPr>
                </a:tc>
                <a:tc hMerge="1"/>
                <a:tc hMerge="1"/>
                <a:tc hMerge="1"/>
                <a:tc hMerge="1"/>
                <a:tc hMerge="1"/>
                <a:tc hMerge="1"/>
                <a:tc hMerge="1"/>
              </a:tr>
              <a:tr h="438150">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MENA Search Awards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5: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MENA (Ortadoğu &amp; Kuzey Afrika)</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5: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SEO, PPC, Content Marketing</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5: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~Ağustos 2026 (tahmini)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5:3"/>
                      </a:ext>
                    </a:extLst>
                  </a:tcPr>
                </a:tc>
                <a:tc>
                  <a:txBody>
                    <a:bodyPr/>
                    <a:lstStyle/>
                    <a:p>
                      <a:pPr indent="0" lvl="0" marL="0" rtl="0" algn="l">
                        <a:lnSpc>
                          <a:spcPct val="115000"/>
                        </a:lnSpc>
                        <a:spcBef>
                          <a:spcPts val="0"/>
                        </a:spcBef>
                        <a:spcAft>
                          <a:spcPts val="0"/>
                        </a:spcAft>
                        <a:buNone/>
                      </a:pPr>
                      <a:r>
                        <a:rPr b="1" lang="en-US" sz="1900">
                          <a:solidFill>
                            <a:srgbClr val="006100"/>
                          </a:solidFill>
                          <a:latin typeface="Bricolage Grotesque"/>
                          <a:ea typeface="Bricolage Grotesque"/>
                          <a:cs typeface="Bricolage Grotesque"/>
                          <a:sym typeface="Bricolage Grotesque"/>
                        </a:rPr>
                        <a:t>AÇIK - Entry Kit indirilebilir</a:t>
                      </a:r>
                      <a:endParaRPr b="1" sz="1900">
                        <a:solidFill>
                          <a:srgbClr val="006100"/>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6EFCE"/>
                    </a:solidFill>
                    <a:extLst>
                      <a:ext uri="http://customooxmlschemas.google.com/">
                        <go:slidesCustomData xmlns:go="http://customooxmlschemas.google.com/" cellId="776:5: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~Kasım 2026 (tahmini, Dubai)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5: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https://menasearchawards.com/</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5: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2025 tarihleri: Super Early Bird 31 Temmuz, Early Bird 14 Ağustos, Final 28 Ağustos. Türk ajanslar başvurabiliyor.</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5:7"/>
                      </a:ext>
                    </a:extLst>
                  </a:tcPr>
                </a:tc>
              </a:tr>
              <a:tr h="190500">
                <a:tc gridSpan="8">
                  <a:txBody>
                    <a:bodyPr/>
                    <a:lstStyle/>
                    <a:p>
                      <a:pPr indent="0" lvl="0" marL="0" rtl="0" algn="l">
                        <a:lnSpc>
                          <a:spcPct val="115000"/>
                        </a:lnSpc>
                        <a:spcBef>
                          <a:spcPts val="0"/>
                        </a:spcBef>
                        <a:spcAft>
                          <a:spcPts val="0"/>
                        </a:spcAft>
                        <a:buNone/>
                      </a:pPr>
                      <a:r>
                        <a:rPr b="1" lang="en-US" sz="1900">
                          <a:latin typeface="Bricolage Grotesque"/>
                          <a:ea typeface="Bricolage Grotesque"/>
                          <a:cs typeface="Bricolage Grotesque"/>
                          <a:sym typeface="Bricolage Grotesque"/>
                        </a:rPr>
                        <a:t>TÜRKİYE ÖDÜLLERİ</a:t>
                      </a:r>
                      <a:endParaRPr b="1" sz="1900">
                        <a:latin typeface="Bricolage Grotesque"/>
                        <a:ea typeface="Bricolage Grotesque"/>
                        <a:cs typeface="Bricolage Grotesque"/>
                        <a:sym typeface="Bricolage Grotesque"/>
                      </a:endParaRPr>
                    </a:p>
                  </a:txBody>
                  <a:tcPr marT="91425" marB="91425"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6E4F0"/>
                    </a:solidFill>
                    <a:extLst>
                      <a:ext uri="http://customooxmlschemas.google.com/">
                        <go:slidesCustomData xmlns:go="http://customooxmlschemas.google.com/" cellId="776:6:0"/>
                      </a:ext>
                    </a:extLst>
                  </a:tcPr>
                </a:tc>
                <a:tc hMerge="1"/>
                <a:tc hMerge="1"/>
                <a:tc hMerge="1"/>
                <a:tc hMerge="1"/>
                <a:tc hMerge="1"/>
                <a:tc hMerge="1"/>
                <a:tc hMerge="1"/>
              </a:tr>
              <a:tr h="295275">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İstanbul Marketing Awards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7: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Türkiye</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7: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Pazarlama (6 ana kategori)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7: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~Ekim-Kasım 2026 (tahmini)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7:3"/>
                      </a:ext>
                    </a:extLst>
                  </a:tcPr>
                </a:tc>
                <a:tc>
                  <a:txBody>
                    <a:bodyPr/>
                    <a:lstStyle/>
                    <a:p>
                      <a:pPr indent="0" lvl="0" marL="0" rtl="0" algn="l">
                        <a:lnSpc>
                          <a:spcPct val="115000"/>
                        </a:lnSpc>
                        <a:spcBef>
                          <a:spcPts val="0"/>
                        </a:spcBef>
                        <a:spcAft>
                          <a:spcPts val="0"/>
                        </a:spcAft>
                        <a:buNone/>
                      </a:pPr>
                      <a:r>
                        <a:rPr b="1" lang="en-US" sz="1900">
                          <a:solidFill>
                            <a:srgbClr val="9C0006"/>
                          </a:solidFill>
                          <a:latin typeface="Bricolage Grotesque"/>
                          <a:ea typeface="Bricolage Grotesque"/>
                          <a:cs typeface="Bricolage Grotesque"/>
                          <a:sym typeface="Bricolage Grotesque"/>
                        </a:rPr>
                        <a:t>KAPALI - 2025 sezonu bitti</a:t>
                      </a:r>
                      <a:endParaRPr b="1" sz="1900">
                        <a:solidFill>
                          <a:srgbClr val="9C0006"/>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C7CE"/>
                    </a:solidFill>
                    <a:extLst>
                      <a:ext uri="http://customooxmlschemas.google.com/">
                        <go:slidesCustomData xmlns:go="http://customooxmlschemas.google.com/" cellId="776:7: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~Aralık 2026 (tahmini)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7: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https://istanbulmarketingawards.com/</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7: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2025 başvuru: 1 Ekim - 15 Kasım arası. Jüri oylaması Kasım sonu, tören Aralık.</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7:7"/>
                      </a:ext>
                    </a:extLst>
                  </a:tcPr>
                </a:tc>
              </a:tr>
              <a:tr h="295275">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MarTech Awards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8: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Türkiye</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8: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Pazarlama Teknolojileri (SEO, AI, Data vb.)</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8: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10 Şubat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8:3"/>
                      </a:ext>
                    </a:extLst>
                  </a:tcPr>
                </a:tc>
                <a:tc>
                  <a:txBody>
                    <a:bodyPr/>
                    <a:lstStyle/>
                    <a:p>
                      <a:pPr indent="0" lvl="0" marL="0" rtl="0" algn="l">
                        <a:lnSpc>
                          <a:spcPct val="115000"/>
                        </a:lnSpc>
                        <a:spcBef>
                          <a:spcPts val="0"/>
                        </a:spcBef>
                        <a:spcAft>
                          <a:spcPts val="0"/>
                        </a:spcAft>
                        <a:buNone/>
                      </a:pPr>
                      <a:r>
                        <a:rPr b="1" lang="en-US" sz="1900">
                          <a:solidFill>
                            <a:srgbClr val="9C0006"/>
                          </a:solidFill>
                          <a:latin typeface="Bricolage Grotesque"/>
                          <a:ea typeface="Bricolage Grotesque"/>
                          <a:cs typeface="Bricolage Grotesque"/>
                          <a:sym typeface="Bricolage Grotesque"/>
                        </a:rPr>
                        <a:t>KAPANDI (Normal dönem 30 Ocak)</a:t>
                      </a:r>
                      <a:endParaRPr b="1" sz="1900">
                        <a:solidFill>
                          <a:srgbClr val="9C0006"/>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C7CE"/>
                    </a:solidFill>
                    <a:extLst>
                      <a:ext uri="http://customooxmlschemas.google.com/">
                        <go:slidesCustomData xmlns:go="http://customooxmlschemas.google.com/" cellId="776:8: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~Nisan-Mayıs 2026 (tahmini)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8: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https://martechawards.org/</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8: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Pazarlamasyon tarafından düzenleniyor. 91 alt kategori. SEO teknoloji kullanımı kategorileri mevcut.</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8:7"/>
                      </a:ext>
                    </a:extLst>
                  </a:tcPr>
                </a:tc>
              </a:tr>
              <a:tr h="295275">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Brandverse Awards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9: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Türkiye</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9: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Pazarlama, İletişim, Reklam, Sosyal Medya</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9: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10 Mart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9:3"/>
                      </a:ext>
                    </a:extLst>
                  </a:tcPr>
                </a:tc>
                <a:tc>
                  <a:txBody>
                    <a:bodyPr/>
                    <a:lstStyle/>
                    <a:p>
                      <a:pPr indent="0" lvl="0" marL="0" rtl="0" algn="l">
                        <a:lnSpc>
                          <a:spcPct val="115000"/>
                        </a:lnSpc>
                        <a:spcBef>
                          <a:spcPts val="0"/>
                        </a:spcBef>
                        <a:spcAft>
                          <a:spcPts val="0"/>
                        </a:spcAft>
                        <a:buNone/>
                      </a:pPr>
                      <a:r>
                        <a:rPr b="1" lang="en-US" sz="1900">
                          <a:solidFill>
                            <a:srgbClr val="006100"/>
                          </a:solidFill>
                          <a:latin typeface="Bricolage Grotesque"/>
                          <a:ea typeface="Bricolage Grotesque"/>
                          <a:cs typeface="Bricolage Grotesque"/>
                          <a:sym typeface="Bricolage Grotesque"/>
                        </a:rPr>
                        <a:t>AÇIK - Başvuru devam ediyor</a:t>
                      </a:r>
                      <a:endParaRPr b="1" sz="1900">
                        <a:solidFill>
                          <a:srgbClr val="006100"/>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6EFCE"/>
                    </a:solidFill>
                    <a:extLst>
                      <a:ext uri="http://customooxmlschemas.google.com/">
                        <go:slidesCustomData xmlns:go="http://customooxmlschemas.google.com/" cellId="776:9: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Jüri: 13-15 Mayıs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9: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https://www.brandverseawards.com/</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9: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Marketing Türkiye &amp; BoomSonar düzenliyor. Deloitte destekli. Erken başvuru 13 Şubat'a uzatıldı.</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9:7"/>
                      </a:ext>
                    </a:extLst>
                  </a:tcPr>
                </a:tc>
              </a:tr>
              <a:tr h="295275">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MIXX Awards Turkey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0: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Türkiye</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0: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Dijital Reklamcılık, Dijital Pazarlama</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0: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~2026 (henüz açıklanmadı)</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0:3"/>
                      </a:ext>
                    </a:extLst>
                  </a:tcPr>
                </a:tc>
                <a:tc>
                  <a:txBody>
                    <a:bodyPr/>
                    <a:lstStyle/>
                    <a:p>
                      <a:pPr indent="0" lvl="0" marL="0" rtl="0" algn="l">
                        <a:lnSpc>
                          <a:spcPct val="115000"/>
                        </a:lnSpc>
                        <a:spcBef>
                          <a:spcPts val="0"/>
                        </a:spcBef>
                        <a:spcAft>
                          <a:spcPts val="0"/>
                        </a:spcAft>
                        <a:buNone/>
                      </a:pPr>
                      <a:r>
                        <a:rPr b="1" lang="en-US" sz="1900">
                          <a:solidFill>
                            <a:srgbClr val="9C6500"/>
                          </a:solidFill>
                          <a:latin typeface="Bricolage Grotesque"/>
                          <a:ea typeface="Bricolage Grotesque"/>
                          <a:cs typeface="Bricolage Grotesque"/>
                          <a:sym typeface="Bricolage Grotesque"/>
                        </a:rPr>
                        <a:t>HENÜZ AÇILMADI</a:t>
                      </a:r>
                      <a:endParaRPr b="1" sz="1900">
                        <a:solidFill>
                          <a:srgbClr val="9C6500"/>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EB9C"/>
                    </a:solidFill>
                    <a:extLst>
                      <a:ext uri="http://customooxmlschemas.google.com/">
                        <go:slidesCustomData xmlns:go="http://customooxmlschemas.google.com/" cellId="776:10: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0: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https://iabtr.org/</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0: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IAB Türkiye tarafından düzenleniyor. 2025'te 45 kategoride 764 başvuru yapıldı.</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0:7"/>
                      </a:ext>
                    </a:extLst>
                  </a:tcPr>
                </a:tc>
              </a:tr>
              <a:tr h="295275">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Kotler Awards Türkiye 2026</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1:0"/>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Türkiye / Global</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1:1"/>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Pazarlama (22 kategori, dijital pazarlama dahil)</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1:2"/>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~Mart 2026 (tahmini)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1:3"/>
                      </a:ext>
                    </a:extLst>
                  </a:tcPr>
                </a:tc>
                <a:tc>
                  <a:txBody>
                    <a:bodyPr/>
                    <a:lstStyle/>
                    <a:p>
                      <a:pPr indent="0" lvl="0" marL="0" rtl="0" algn="l">
                        <a:lnSpc>
                          <a:spcPct val="115000"/>
                        </a:lnSpc>
                        <a:spcBef>
                          <a:spcPts val="0"/>
                        </a:spcBef>
                        <a:spcAft>
                          <a:spcPts val="0"/>
                        </a:spcAft>
                        <a:buNone/>
                      </a:pPr>
                      <a:r>
                        <a:rPr b="1" lang="en-US" sz="1900">
                          <a:solidFill>
                            <a:srgbClr val="9C0006"/>
                          </a:solidFill>
                          <a:latin typeface="Bricolage Grotesque"/>
                          <a:ea typeface="Bricolage Grotesque"/>
                          <a:cs typeface="Bricolage Grotesque"/>
                          <a:sym typeface="Bricolage Grotesque"/>
                        </a:rPr>
                        <a:t>HENÜZ AÇILMADI (2025 dönemi bitti)</a:t>
                      </a:r>
                      <a:endParaRPr b="1" sz="1900">
                        <a:solidFill>
                          <a:srgbClr val="9C0006"/>
                        </a:solidFill>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C7CE"/>
                    </a:solidFill>
                    <a:extLst>
                      <a:ext uri="http://customooxmlschemas.google.com/">
                        <go:slidesCustomData xmlns:go="http://customooxmlschemas.google.com/" cellId="776:11:4"/>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~Nisan 2026 (tahmini)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1:5"/>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https://kotlerimpactturkiye.org/</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1:6"/>
                      </a:ext>
                    </a:extLst>
                  </a:tcPr>
                </a:tc>
                <a:tc>
                  <a:txBody>
                    <a:bodyPr/>
                    <a:lstStyle/>
                    <a:p>
                      <a:pPr indent="0" lvl="0" marL="0" rtl="0" algn="l">
                        <a:lnSpc>
                          <a:spcPct val="115000"/>
                        </a:lnSpc>
                        <a:spcBef>
                          <a:spcPts val="0"/>
                        </a:spcBef>
                        <a:spcAft>
                          <a:spcPts val="0"/>
                        </a:spcAft>
                        <a:buNone/>
                      </a:pPr>
                      <a:r>
                        <a:rPr lang="en-US" sz="1900">
                          <a:latin typeface="Bricolage Grotesque"/>
                          <a:ea typeface="Bricolage Grotesque"/>
                          <a:cs typeface="Bricolage Grotesque"/>
                          <a:sym typeface="Bricolage Grotesque"/>
                        </a:rPr>
                        <a:t>Pazarlamanın Oscar'ları olarak biliniyor. 2025'te ilk kez Türkiye'de düzenlendi.</a:t>
                      </a:r>
                      <a:endParaRPr sz="1900">
                        <a:latin typeface="Bricolage Grotesque"/>
                        <a:ea typeface="Bricolage Grotesque"/>
                        <a:cs typeface="Bricolage Grotesque"/>
                        <a:sym typeface="Bricolage Grotesque"/>
                      </a:endParaRPr>
                    </a:p>
                  </a:txBody>
                  <a:tcPr marT="91425" marB="91425" marR="28575" marL="2857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extLst>
                      <a:ext uri="http://customooxmlschemas.google.com/">
                        <go:slidesCustomData xmlns:go="http://customooxmlschemas.google.com/" cellId="776:11:7"/>
                      </a:ext>
                    </a:extLst>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7B52"/>
        </a:solidFill>
      </p:bgPr>
    </p:bg>
    <p:spTree>
      <p:nvGrpSpPr>
        <p:cNvPr id="781" name="Shape 781"/>
        <p:cNvGrpSpPr/>
        <p:nvPr/>
      </p:nvGrpSpPr>
      <p:grpSpPr>
        <a:xfrm>
          <a:off x="0" y="0"/>
          <a:ext cx="0" cy="0"/>
          <a:chOff x="0" y="0"/>
          <a:chExt cx="0" cy="0"/>
        </a:xfrm>
      </p:grpSpPr>
      <p:pic>
        <p:nvPicPr>
          <p:cNvPr descr=" " id="782" name="Google Shape;782;p44"/>
          <p:cNvPicPr preferRelativeResize="0"/>
          <p:nvPr/>
        </p:nvPicPr>
        <p:blipFill rotWithShape="1">
          <a:blip r:embed="rId3">
            <a:alphaModFix/>
          </a:blip>
          <a:srcRect b="0" l="0" r="0" t="0"/>
          <a:stretch/>
        </p:blipFill>
        <p:spPr>
          <a:xfrm>
            <a:off x="14429003" y="0"/>
            <a:ext cx="9958045" cy="13716000"/>
          </a:xfrm>
          <a:prstGeom prst="rect">
            <a:avLst/>
          </a:prstGeom>
          <a:noFill/>
          <a:ln>
            <a:noFill/>
          </a:ln>
        </p:spPr>
      </p:pic>
      <p:pic>
        <p:nvPicPr>
          <p:cNvPr descr=" " id="783" name="Google Shape;783;p44"/>
          <p:cNvPicPr preferRelativeResize="0"/>
          <p:nvPr/>
        </p:nvPicPr>
        <p:blipFill rotWithShape="1">
          <a:blip r:embed="rId4">
            <a:alphaModFix/>
          </a:blip>
          <a:srcRect b="0" l="0" r="0" t="0"/>
          <a:stretch/>
        </p:blipFill>
        <p:spPr>
          <a:xfrm>
            <a:off x="17108462" y="0"/>
            <a:ext cx="7278585" cy="13716000"/>
          </a:xfrm>
          <a:prstGeom prst="rect">
            <a:avLst/>
          </a:prstGeom>
          <a:noFill/>
          <a:ln>
            <a:noFill/>
          </a:ln>
        </p:spPr>
      </p:pic>
      <p:sp>
        <p:nvSpPr>
          <p:cNvPr id="784" name="Google Shape;784;p44"/>
          <p:cNvSpPr/>
          <p:nvPr/>
        </p:nvSpPr>
        <p:spPr>
          <a:xfrm>
            <a:off x="7862283" y="5676900"/>
            <a:ext cx="8675100" cy="309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85" name="Google Shape;785;p44"/>
          <p:cNvPicPr preferRelativeResize="0"/>
          <p:nvPr/>
        </p:nvPicPr>
        <p:blipFill rotWithShape="1">
          <a:blip r:embed="rId5">
            <a:alphaModFix/>
          </a:blip>
          <a:srcRect b="0" l="0" r="0" t="0"/>
          <a:stretch/>
        </p:blipFill>
        <p:spPr>
          <a:xfrm>
            <a:off x="11793424" y="5676900"/>
            <a:ext cx="812902" cy="25400"/>
          </a:xfrm>
          <a:prstGeom prst="rect">
            <a:avLst/>
          </a:prstGeom>
          <a:noFill/>
          <a:ln>
            <a:noFill/>
          </a:ln>
        </p:spPr>
      </p:pic>
      <p:sp>
        <p:nvSpPr>
          <p:cNvPr id="786" name="Google Shape;786;p44"/>
          <p:cNvSpPr/>
          <p:nvPr/>
        </p:nvSpPr>
        <p:spPr>
          <a:xfrm>
            <a:off x="7659057" y="6210300"/>
            <a:ext cx="9081600" cy="2031900"/>
          </a:xfrm>
          <a:prstGeom prst="rect">
            <a:avLst/>
          </a:prstGeom>
          <a:noFill/>
          <a:ln>
            <a:noFill/>
          </a:ln>
        </p:spPr>
        <p:txBody>
          <a:bodyPr anchorCtr="0" anchor="ctr" bIns="0" lIns="0" spcFirstLastPara="1" rIns="0" wrap="square" tIns="0">
            <a:noAutofit/>
          </a:bodyPr>
          <a:lstStyle/>
          <a:p>
            <a:pPr indent="0" lvl="0" marL="0" marR="0" rtl="0" algn="ctr">
              <a:lnSpc>
                <a:spcPct val="133333"/>
              </a:lnSpc>
              <a:spcBef>
                <a:spcPts val="0"/>
              </a:spcBef>
              <a:spcAft>
                <a:spcPts val="0"/>
              </a:spcAft>
              <a:buClr>
                <a:srgbClr val="FFFFFF"/>
              </a:buClr>
              <a:buSzPts val="9600"/>
              <a:buFont typeface="Bricolage Grotesque SemiBold"/>
              <a:buNone/>
            </a:pPr>
            <a:r>
              <a:rPr b="0" i="0" lang="en-US" sz="9600" u="none" cap="none" strike="noStrike">
                <a:solidFill>
                  <a:srgbClr val="FFFFFF"/>
                </a:solidFill>
                <a:latin typeface="Bricolage Grotesque SemiBold"/>
                <a:ea typeface="Bricolage Grotesque SemiBold"/>
                <a:cs typeface="Bricolage Grotesque SemiBold"/>
                <a:sym typeface="Bricolage Grotesque SemiBold"/>
              </a:rPr>
              <a:t>Teşekkürler</a:t>
            </a:r>
            <a:endParaRPr b="0" i="0" sz="9600" u="none" cap="none" strike="noStrike">
              <a:solidFill>
                <a:schemeClr val="dk1"/>
              </a:solidFill>
              <a:latin typeface="Calibri"/>
              <a:ea typeface="Calibri"/>
              <a:cs typeface="Calibri"/>
              <a:sym typeface="Calibri"/>
            </a:endParaRPr>
          </a:p>
        </p:txBody>
      </p:sp>
      <p:pic>
        <p:nvPicPr>
          <p:cNvPr descr=" " id="787" name="Google Shape;787;p44"/>
          <p:cNvPicPr preferRelativeResize="0"/>
          <p:nvPr/>
        </p:nvPicPr>
        <p:blipFill rotWithShape="1">
          <a:blip r:embed="rId5">
            <a:alphaModFix/>
          </a:blip>
          <a:srcRect b="0" l="0" r="0" t="0"/>
          <a:stretch/>
        </p:blipFill>
        <p:spPr>
          <a:xfrm>
            <a:off x="11793424" y="8750300"/>
            <a:ext cx="812902" cy="25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2025-01-28T13:27:20Z</dcterms:created>
  <dc:creator>PptxGenJS</dc:creator>
</cp:coreProperties>
</file>